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Bonjour. Je présente le projet de transition numérique que j’ai mené chez VINCI Facilities Tertiaire Aquitaine : la migration des formulaires opérationnels de Kizeo vers Teepee, de septembre 2025 à la phase de stabilisation.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Quatre temps : le contexte, le pilotage du projet, les résultats, puis le bilan.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projet répond à une directive du groupe VINCI et à des exigences de sécurité : le contrat cadre Kizeo n’a pas été renouvelé. Teepee est une solution propriétaire du groupe. Côté tarif, 7 euros par utilisateur et par mois contre 18 pour Kizeo, mais le coût de licence n’est pas le seul critère.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Kizeo était maîtrisé par les équipes terrain, alors que Teepee présentait au démarrage des bugs, des lenteurs et des difficultés de synchronisation. L’enjeu n’était donc pas seulement technique : il fallait conduire le changement en gardant la continuité.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comparatif du cadrage : Teepee est conforme aux exigences de sécurité du groupe et ouvre des perspectives que Kizeo n’offrait pas, comme les tableaux de bord et le connecteur Power BI. Le tarif est favorable, mais la valeur attendue est surtout la conformité et l’exploitation des données.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 de framework agile formel, mais un fonctionnement itératif : tester, recueillir les retours, corriger, redéployer et vérifier. La migration a été vue comme une occasion de rationaliser, pas de recopier l’existant.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Audit, paramétrage, tests, formation et déploiement ont été réalisés. La coupure de Kizeo a été décalée d’un mois, du 31 décembre au 31 janvier. Ce n’est pas un simple retard : c’est un arbitrage pour réduire le risque de rupture opérationnelle. La stabilisation est devenue une phase à part entière.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L’instabilité de Teepee était le principal risque : perte de confiance des utilisateurs et comparaison défavorable avec Kizeo. J’ai centralisé les anomalies, les ai classées par criticité, puis suivies avec les développeurs. Mon rôle a évolué : piloter le problème jusqu’à sa résolution plutôt que le résoudre moi-même.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J’ai utilisé le modèle ADKAR. L’étape critique est Ability : la capacité à utiliser l’outil malgré les bugs, grâce à la formation et à un accompagnement après la formation. Formations réalisées en janvier 2026, d’abord auprès des équipes terrain.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cadrage classait ces trois risques au niveau maximal de criticité, sur une échelle de 1 à 4. La réponse a été un suivi des anomalies, un accompagnement renforcé et le maintien temporaire de Kizeo.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Première étape : la cartographie des formulaires Kizeo dans un tableur, avec leur usage, pour distinguer les formulaires actifs, obsolètes ou redondants.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données ont ensuite été importées directement dans Teepee, sous forme de listes. 84 % des formulaires avec données ont pu être importés.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Chaque formulaire a été paramétré dans l’éditeur de Teepee, avec ses champs, ses composants et ses modèles d’export.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workflows automatisent les actions, comme l’envoi de mails de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Côté terrain, les utilisateurs saisissent les formulaires depuis l’application mobile, y compris hors réseau.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Et pour finir, les livrables sans capture : les modèles d’export, les supports de formation et le journal des anomalies, utilisé pour piloter la stabilisation.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Tous les formulaires actifs ont été migrés. 70 utilisateurs sur 91 ont été formés, soit environ 77 %, ce qui couvre tous les utilisateurs actifs et réguliers. L’import atteint 84 % : les données de certains formulaires n’ont pas pu être importées en raison de différences de fonctionnement, mais elles ont été sauvegardées. Les incidents bloquants sont passés sous un par mois.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Quatre objectifs sur cinq sont atteints. L’import de données est partiel, à 84 %, pour des raisons de différences de fonctionnement entre les deux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 posture a évolué : d’abord l’exécution et le paramétrage, puis la coordination et le pilotage entre le terrain, les autres entités et l’équipe Teepee. La difficulté la plus formatrice a été de gérer l’incertitude technique.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Avec le recul, trois améliorations auraient renforcé le projet. La stabilisation, initialement vue comme une étape après le déploiement, aurait dû être une phase projet à part entière.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prochaine étape est de consolider avant d’élargir. Une fois la stabilité suffisante, les données pourront être valorisées : tableaux de bord, Power BI, automatisation et analyse de performance.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projet a fait passer la transition d’un déploiement technique à une appropriation durable. Les bugs ne sont pas seulement des problèmes informatiques : ils touchent la productivité et l’adhésion. Sur le plan personnel, je suis passé d’exécutant à co-pilote. Merci de votre attention.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_0">
    <p:spTree>
      <p:nvGrpSpPr>
        <p:cNvPr id="1" name=""/>
        <p:cNvGrpSpPr/>
        <p:nvPr/>
      </p:nvGrpSpPr>
      <p:grpSpPr>
        <a:xfrm>
          <a:off x="0" y="0"/>
          <a:ext cx="0" cy="0"/>
          <a:chOff x="0" y="0"/>
          <a:chExt cx="0" cy="0"/>
        </a:xfrm>
      </p:grpSpPr>
      <p:sp>
        <p:nvSpPr>
          <p:cNvPr id="2" name="Text 0"/>
          <p:cNvSpPr/>
          <p:nvPr/>
        </p:nvSpPr>
        <p:spPr>
          <a:xfrm>
            <a:off x="812800" y="279400"/>
            <a:ext cx="1079500" cy="355600"/>
          </a:xfrm>
          <a:prstGeom prst="rect">
            <a:avLst/>
          </a:prstGeom>
          <a:solidFill>
            <a:srgbClr val="1C1917"/>
          </a:solidFill>
          <a:ln w="19050">
            <a:solidFill>
              <a:srgbClr val="1C1917"/>
            </a:solidFill>
          </a:ln>
        </p:spPr>
        <p:txBody>
          <a:bodyPr wrap="square" lIns="0" tIns="0" rIns="0" bIns="0" rtlCol="0" anchor="ctr"/>
          <a:lstStyle/>
          <a:p>
            <a:pPr algn="ctr" indent="0" marL="0">
              <a:buNone/>
            </a:pPr>
            <a:r>
              <a:rPr lang="en-US" sz="1200" b="1" spc="200" kern="0" dirty="0">
                <a:solidFill>
                  <a:srgbClr val="F1EFEA"/>
                </a:solidFill>
                <a:latin typeface="JetBrains Mono" pitchFamily="34" charset="0"/>
                <a:ea typeface="JetBrains Mono" pitchFamily="34" charset="-122"/>
                <a:cs typeface="JetBrains Mono" pitchFamily="34" charset="-120"/>
              </a:rPr>
              <a:t>01 / 22</a:t>
            </a:r>
            <a:endParaRPr lang="en-US" sz="1200" dirty="0"/>
          </a:p>
        </p:txBody>
      </p:sp>
      <p:sp>
        <p:nvSpPr>
          <p:cNvPr id="3" name="Text 1"/>
          <p:cNvSpPr/>
          <p:nvPr/>
        </p:nvSpPr>
        <p:spPr>
          <a:xfrm>
            <a:off x="1943100" y="279400"/>
            <a:ext cx="1358900" cy="355600"/>
          </a:xfrm>
          <a:prstGeom prst="rect">
            <a:avLst/>
          </a:prstGeom>
          <a:solidFill>
            <a:srgbClr val="FAF8F4"/>
          </a:solidFill>
          <a:ln w="19050">
            <a:solidFill>
              <a:srgbClr val="1C1917"/>
            </a:solidFill>
          </a:ln>
        </p:spPr>
        <p:txBody>
          <a:bodyPr wrap="square" lIns="0" tIns="0" rIns="0" bIns="0" rtlCol="0" anchor="ctr"/>
          <a:lstStyle/>
          <a:p>
            <a:pPr algn="ctr" indent="0" marL="0">
              <a:buNone/>
            </a:pPr>
            <a:r>
              <a:rPr lang="en-US" sz="1200" b="1" spc="200" kern="0" dirty="0">
                <a:solidFill>
                  <a:srgbClr val="1C1917"/>
                </a:solidFill>
                <a:latin typeface="JetBrains Mono" pitchFamily="34" charset="0"/>
                <a:ea typeface="JetBrains Mono" pitchFamily="34" charset="-122"/>
                <a:cs typeface="JetBrains Mono" pitchFamily="34" charset="-120"/>
              </a:rPr>
              <a:t>SOUTENANCE</a:t>
            </a: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M_1">
    <p:spTree>
      <p:nvGrpSpPr>
        <p:cNvPr id="1" name=""/>
        <p:cNvGrpSpPr/>
        <p:nvPr/>
      </p:nvGrpSpPr>
      <p:grpSpPr>
        <a:xfrm>
          <a:off x="0" y="0"/>
          <a:ext cx="0" cy="0"/>
          <a:chOff x="0" y="0"/>
          <a:chExt cx="0" cy="0"/>
        </a:xfrm>
      </p:grpSpPr>
      <p:sp>
        <p:nvSpPr>
          <p:cNvPr id="2" name="Text 0"/>
          <p:cNvSpPr/>
          <p:nvPr/>
        </p:nvSpPr>
        <p:spPr>
          <a:xfrm>
            <a:off x="812800" y="279400"/>
            <a:ext cx="1079500" cy="355600"/>
          </a:xfrm>
          <a:prstGeom prst="rect">
            <a:avLst/>
          </a:prstGeom>
          <a:solidFill>
            <a:srgbClr val="1C1917"/>
          </a:solidFill>
          <a:ln w="19050">
            <a:solidFill>
              <a:srgbClr val="1C1917"/>
            </a:solidFill>
          </a:ln>
        </p:spPr>
        <p:txBody>
          <a:bodyPr wrap="square" lIns="0" tIns="0" rIns="0" bIns="0" rtlCol="0" anchor="ctr"/>
          <a:lstStyle/>
          <a:p>
            <a:pPr algn="ctr" indent="0" marL="0">
              <a:buNone/>
            </a:pPr>
            <a:r>
              <a:rPr lang="en-US" sz="1200" b="1" spc="200" kern="0" dirty="0">
                <a:solidFill>
                  <a:srgbClr val="F1EFEA"/>
                </a:solidFill>
                <a:latin typeface="JetBrains Mono" pitchFamily="34" charset="0"/>
                <a:ea typeface="JetBrains Mono" pitchFamily="34" charset="-122"/>
                <a:cs typeface="JetBrains Mono" pitchFamily="34" charset="-120"/>
              </a:rPr>
              <a:t>02 / 22</a:t>
            </a:r>
            <a:endParaRPr lang="en-US" sz="1200" dirty="0"/>
          </a:p>
        </p:txBody>
      </p:sp>
      <p:sp>
        <p:nvSpPr>
          <p:cNvPr id="3" name="Text 1"/>
          <p:cNvSpPr/>
          <p:nvPr/>
        </p:nvSpPr>
        <p:spPr>
          <a:xfrm>
            <a:off x="1943100" y="279400"/>
            <a:ext cx="723900" cy="355600"/>
          </a:xfrm>
          <a:prstGeom prst="rect">
            <a:avLst/>
          </a:prstGeom>
          <a:solidFill>
            <a:srgbClr val="FAF8F4"/>
          </a:solidFill>
          <a:ln w="19050">
            <a:solidFill>
              <a:srgbClr val="1C1917"/>
            </a:solidFill>
          </a:ln>
        </p:spPr>
        <p:txBody>
          <a:bodyPr wrap="square" lIns="0" tIns="0" rIns="0" bIns="0" rtlCol="0" anchor="ctr"/>
          <a:lstStyle/>
          <a:p>
            <a:pPr algn="ctr" indent="0" marL="0">
              <a:buNone/>
            </a:pPr>
            <a:r>
              <a:rPr lang="en-US" sz="1200" b="1" spc="200" kern="0" dirty="0">
                <a:solidFill>
                  <a:srgbClr val="1C1917"/>
                </a:solidFill>
                <a:latin typeface="JetBrains Mono" pitchFamily="34" charset="0"/>
                <a:ea typeface="JetBrains Mono" pitchFamily="34" charset="-122"/>
                <a:cs typeface="JetBrains Mono" pitchFamily="34" charset="-120"/>
              </a:rPr>
              <a:t>PLAN</a:t>
            </a:r>
            <a:endParaRPr lang="en-US" sz="12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M_2">
    <p:spTree>
      <p:nvGrpSpPr>
        <p:cNvPr id="1" name=""/>
        <p:cNvGrpSpPr/>
        <p:nvPr/>
      </p:nvGrpSpPr>
      <p:grpSpPr>
        <a:xfrm>
          <a:off x="0" y="0"/>
          <a:ext cx="0" cy="0"/>
          <a:chOff x="0" y="0"/>
          <a:chExt cx="0" cy="0"/>
        </a:xfrm>
      </p:grpSpPr>
      <p:sp>
        <p:nvSpPr>
          <p:cNvPr id="2" name="Text 0"/>
          <p:cNvSpPr/>
          <p:nvPr/>
        </p:nvSpPr>
        <p:spPr>
          <a:xfrm>
            <a:off x="812800" y="279400"/>
            <a:ext cx="1079500" cy="355600"/>
          </a:xfrm>
          <a:prstGeom prst="rect">
            <a:avLst/>
          </a:prstGeom>
          <a:solidFill>
            <a:srgbClr val="1C1917"/>
          </a:solidFill>
          <a:ln w="19050">
            <a:solidFill>
              <a:srgbClr val="1C1917"/>
            </a:solidFill>
          </a:ln>
        </p:spPr>
        <p:txBody>
          <a:bodyPr wrap="square" lIns="0" tIns="0" rIns="0" bIns="0" rtlCol="0" anchor="ctr"/>
          <a:lstStyle/>
          <a:p>
            <a:pPr algn="ctr" indent="0" marL="0">
              <a:buNone/>
            </a:pPr>
            <a:r>
              <a:rPr lang="en-US" sz="1200" b="1" spc="200" kern="0" dirty="0">
                <a:solidFill>
                  <a:srgbClr val="F1EFEA"/>
                </a:solidFill>
                <a:latin typeface="JetBrains Mono" pitchFamily="34" charset="0"/>
                <a:ea typeface="JetBrains Mono" pitchFamily="34" charset="-122"/>
                <a:cs typeface="JetBrains Mono" pitchFamily="34" charset="-120"/>
              </a:rPr>
              <a:t>03 / 22</a:t>
            </a:r>
            <a:endParaRPr lang="en-US" sz="1200" dirty="0"/>
          </a:p>
        </p:txBody>
      </p:sp>
      <p:sp>
        <p:nvSpPr>
          <p:cNvPr id="3" name="Text 1"/>
          <p:cNvSpPr/>
          <p:nvPr/>
        </p:nvSpPr>
        <p:spPr>
          <a:xfrm>
            <a:off x="1943100" y="279400"/>
            <a:ext cx="1149350" cy="355600"/>
          </a:xfrm>
          <a:prstGeom prst="rect">
            <a:avLst/>
          </a:prstGeom>
          <a:solidFill>
            <a:srgbClr val="FAF8F4"/>
          </a:solidFill>
          <a:ln w="19050">
            <a:solidFill>
              <a:srgbClr val="1C1917"/>
            </a:solidFill>
          </a:ln>
        </p:spPr>
        <p:txBody>
          <a:bodyPr wrap="square" lIns="0" tIns="0" rIns="0" bIns="0" rtlCol="0" anchor="ctr"/>
          <a:lstStyle/>
          <a:p>
            <a:pPr algn="ctr" indent="0" marL="0">
              <a:buNone/>
            </a:pPr>
            <a:r>
              <a:rPr lang="en-US" sz="1200" b="1" spc="200" kern="0" dirty="0">
                <a:solidFill>
                  <a:srgbClr val="1C1917"/>
                </a:solidFill>
                <a:latin typeface="JetBrains Mono" pitchFamily="34" charset="0"/>
                <a:ea typeface="JetBrains Mono" pitchFamily="34" charset="-122"/>
                <a:cs typeface="JetBrains Mono" pitchFamily="34" charset="-120"/>
              </a:rPr>
              <a:t>CONTEXTE</a:t>
            </a:r>
            <a:endParaRPr lang="en-US" sz="12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M_3">
    <p:spTree>
      <p:nvGrpSpPr>
        <p:cNvPr id="1" name=""/>
        <p:cNvGrpSpPr/>
        <p:nvPr/>
      </p:nvGrpSpPr>
      <p:grpSpPr>
        <a:xfrm>
          <a:off x="0" y="0"/>
          <a:ext cx="0" cy="0"/>
          <a:chOff x="0" y="0"/>
          <a:chExt cx="0" cy="0"/>
        </a:xfrm>
      </p:grpSpPr>
      <p:sp>
        <p:nvSpPr>
          <p:cNvPr id="2" name="Text 0"/>
          <p:cNvSpPr/>
          <p:nvPr/>
        </p:nvSpPr>
        <p:spPr>
          <a:xfrm>
            <a:off x="812800" y="279400"/>
            <a:ext cx="1079500" cy="355600"/>
          </a:xfrm>
          <a:prstGeom prst="rect">
            <a:avLst/>
          </a:prstGeom>
          <a:solidFill>
            <a:srgbClr val="1C1917"/>
          </a:solidFill>
          <a:ln w="19050">
            <a:solidFill>
              <a:srgbClr val="1C1917"/>
            </a:solidFill>
          </a:ln>
        </p:spPr>
        <p:txBody>
          <a:bodyPr wrap="square" lIns="0" tIns="0" rIns="0" bIns="0" rtlCol="0" anchor="ctr"/>
          <a:lstStyle/>
          <a:p>
            <a:pPr algn="ctr" indent="0" marL="0">
              <a:buNone/>
            </a:pPr>
            <a:r>
              <a:rPr lang="en-US" sz="1200" b="1" spc="200" kern="0" dirty="0">
                <a:solidFill>
                  <a:srgbClr val="F1EFEA"/>
                </a:solidFill>
                <a:latin typeface="JetBrains Mono" pitchFamily="34" charset="0"/>
                <a:ea typeface="JetBrains Mono" pitchFamily="34" charset="-122"/>
                <a:cs typeface="JetBrains Mono" pitchFamily="34" charset="-120"/>
              </a:rPr>
              <a:t>04 / 22</a:t>
            </a:r>
            <a:endParaRPr lang="en-US" sz="1200" dirty="0"/>
          </a:p>
        </p:txBody>
      </p:sp>
      <p:sp>
        <p:nvSpPr>
          <p:cNvPr id="3" name="Text 1"/>
          <p:cNvSpPr/>
          <p:nvPr/>
        </p:nvSpPr>
        <p:spPr>
          <a:xfrm>
            <a:off x="1943100" y="279400"/>
            <a:ext cx="1676400" cy="355600"/>
          </a:xfrm>
          <a:prstGeom prst="rect">
            <a:avLst/>
          </a:prstGeom>
          <a:solidFill>
            <a:srgbClr val="FAF8F4"/>
          </a:solidFill>
          <a:ln w="19050">
            <a:solidFill>
              <a:srgbClr val="1C1917"/>
            </a:solidFill>
          </a:ln>
        </p:spPr>
        <p:txBody>
          <a:bodyPr wrap="square" lIns="0" tIns="0" rIns="0" bIns="0" rtlCol="0" anchor="ctr"/>
          <a:lstStyle/>
          <a:p>
            <a:pPr algn="ctr" indent="0" marL="0">
              <a:buNone/>
            </a:pPr>
            <a:r>
              <a:rPr lang="en-US" sz="1200" b="1" spc="200" kern="0" dirty="0">
                <a:solidFill>
                  <a:srgbClr val="1C1917"/>
                </a:solidFill>
                <a:latin typeface="JetBrains Mono" pitchFamily="34" charset="0"/>
                <a:ea typeface="JetBrains Mono" pitchFamily="34" charset="-122"/>
                <a:cs typeface="JetBrains Mono" pitchFamily="34" charset="-120"/>
              </a:rPr>
              <a:t>PROBLÉMATIQUE</a:t>
            </a:r>
            <a:endParaRPr lang="en-US" sz="1200"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M_4">
    <p:spTree>
      <p:nvGrpSpPr>
        <p:cNvPr id="1" name=""/>
        <p:cNvGrpSpPr/>
        <p:nvPr/>
      </p:nvGrpSpPr>
      <p:grpSpPr>
        <a:xfrm>
          <a:off x="0" y="0"/>
          <a:ext cx="0" cy="0"/>
          <a:chOff x="0" y="0"/>
          <a:chExt cx="0" cy="0"/>
        </a:xfrm>
      </p:grpSpPr>
      <p:sp>
        <p:nvSpPr>
          <p:cNvPr id="2" name="Text 0"/>
          <p:cNvSpPr/>
          <p:nvPr/>
        </p:nvSpPr>
        <p:spPr>
          <a:xfrm>
            <a:off x="812800" y="279400"/>
            <a:ext cx="1079500" cy="355600"/>
          </a:xfrm>
          <a:prstGeom prst="rect">
            <a:avLst/>
          </a:prstGeom>
          <a:solidFill>
            <a:srgbClr val="1C1917"/>
          </a:solidFill>
          <a:ln w="19050">
            <a:solidFill>
              <a:srgbClr val="1C1917"/>
            </a:solidFill>
          </a:ln>
        </p:spPr>
        <p:txBody>
          <a:bodyPr wrap="square" lIns="0" tIns="0" rIns="0" bIns="0" rtlCol="0" anchor="ctr"/>
          <a:lstStyle/>
          <a:p>
            <a:pPr algn="ctr" indent="0" marL="0">
              <a:buNone/>
            </a:pPr>
            <a:r>
              <a:rPr lang="en-US" sz="1200" b="1" spc="200" kern="0" dirty="0">
                <a:solidFill>
                  <a:srgbClr val="F1EFEA"/>
                </a:solidFill>
                <a:latin typeface="JetBrains Mono" pitchFamily="34" charset="0"/>
                <a:ea typeface="JetBrains Mono" pitchFamily="34" charset="-122"/>
                <a:cs typeface="JetBrains Mono" pitchFamily="34" charset="-120"/>
              </a:rPr>
              <a:t>05 / 22</a:t>
            </a:r>
            <a:endParaRPr lang="en-US" sz="1200" dirty="0"/>
          </a:p>
        </p:txBody>
      </p:sp>
      <p:sp>
        <p:nvSpPr>
          <p:cNvPr id="3" name="Text 1"/>
          <p:cNvSpPr/>
          <p:nvPr/>
        </p:nvSpPr>
        <p:spPr>
          <a:xfrm>
            <a:off x="1943100" y="279400"/>
            <a:ext cx="1149350" cy="355600"/>
          </a:xfrm>
          <a:prstGeom prst="rect">
            <a:avLst/>
          </a:prstGeom>
          <a:solidFill>
            <a:srgbClr val="FAF8F4"/>
          </a:solidFill>
          <a:ln w="19050">
            <a:solidFill>
              <a:srgbClr val="1C1917"/>
            </a:solidFill>
          </a:ln>
        </p:spPr>
        <p:txBody>
          <a:bodyPr wrap="square" lIns="0" tIns="0" rIns="0" bIns="0" rtlCol="0" anchor="ctr"/>
          <a:lstStyle/>
          <a:p>
            <a:pPr algn="ctr" indent="0" marL="0">
              <a:buNone/>
            </a:pPr>
            <a:r>
              <a:rPr lang="en-US" sz="1200" b="1" spc="200" kern="0" dirty="0">
                <a:solidFill>
                  <a:srgbClr val="1C1917"/>
                </a:solidFill>
                <a:latin typeface="JetBrains Mono" pitchFamily="34" charset="0"/>
                <a:ea typeface="JetBrains Mono" pitchFamily="34" charset="-122"/>
                <a:cs typeface="JetBrains Mono" pitchFamily="34" charset="-120"/>
              </a:rPr>
              <a:t>CONTEXTE</a:t>
            </a:r>
            <a:endParaRPr lang="en-US" sz="1200"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M_5">
    <p:spTree>
      <p:nvGrpSpPr>
        <p:cNvPr id="1" name=""/>
        <p:cNvGrpSpPr/>
        <p:nvPr/>
      </p:nvGrpSpPr>
      <p:grpSpPr>
        <a:xfrm>
          <a:off x="0" y="0"/>
          <a:ext cx="0" cy="0"/>
          <a:chOff x="0" y="0"/>
          <a:chExt cx="0" cy="0"/>
        </a:xfrm>
      </p:grpSpPr>
      <p:sp>
        <p:nvSpPr>
          <p:cNvPr id="2" name="Text 0"/>
          <p:cNvSpPr/>
          <p:nvPr/>
        </p:nvSpPr>
        <p:spPr>
          <a:xfrm>
            <a:off x="812800" y="279400"/>
            <a:ext cx="1079500" cy="355600"/>
          </a:xfrm>
          <a:prstGeom prst="rect">
            <a:avLst/>
          </a:prstGeom>
          <a:solidFill>
            <a:srgbClr val="1C1917"/>
          </a:solidFill>
          <a:ln w="19050">
            <a:solidFill>
              <a:srgbClr val="1C1917"/>
            </a:solidFill>
          </a:ln>
        </p:spPr>
        <p:txBody>
          <a:bodyPr wrap="square" lIns="0" tIns="0" rIns="0" bIns="0" rtlCol="0" anchor="ctr"/>
          <a:lstStyle/>
          <a:p>
            <a:pPr algn="ctr" indent="0" marL="0">
              <a:buNone/>
            </a:pPr>
            <a:r>
              <a:rPr lang="en-US" sz="1200" b="1" spc="200" kern="0" dirty="0">
                <a:solidFill>
                  <a:srgbClr val="F1EFEA"/>
                </a:solidFill>
                <a:latin typeface="JetBrains Mono" pitchFamily="34" charset="0"/>
                <a:ea typeface="JetBrains Mono" pitchFamily="34" charset="-122"/>
                <a:cs typeface="JetBrains Mono" pitchFamily="34" charset="-120"/>
              </a:rPr>
              <a:t>06 / 22</a:t>
            </a:r>
            <a:endParaRPr lang="en-US" sz="1200" dirty="0"/>
          </a:p>
        </p:txBody>
      </p:sp>
      <p:sp>
        <p:nvSpPr>
          <p:cNvPr id="3" name="Text 1"/>
          <p:cNvSpPr/>
          <p:nvPr/>
        </p:nvSpPr>
        <p:spPr>
          <a:xfrm>
            <a:off x="1943100" y="279400"/>
            <a:ext cx="1149350" cy="355600"/>
          </a:xfrm>
          <a:prstGeom prst="rect">
            <a:avLst/>
          </a:prstGeom>
          <a:solidFill>
            <a:srgbClr val="FAF8F4"/>
          </a:solidFill>
          <a:ln w="19050">
            <a:solidFill>
              <a:srgbClr val="1C1917"/>
            </a:solidFill>
          </a:ln>
        </p:spPr>
        <p:txBody>
          <a:bodyPr wrap="square" lIns="0" tIns="0" rIns="0" bIns="0" rtlCol="0" anchor="ctr"/>
          <a:lstStyle/>
          <a:p>
            <a:pPr algn="ctr" indent="0" marL="0">
              <a:buNone/>
            </a:pPr>
            <a:r>
              <a:rPr lang="en-US" sz="1200" b="1" spc="200" kern="0" dirty="0">
                <a:solidFill>
                  <a:srgbClr val="1C1917"/>
                </a:solidFill>
                <a:latin typeface="JetBrains Mono" pitchFamily="34" charset="0"/>
                <a:ea typeface="JetBrains Mono" pitchFamily="34" charset="-122"/>
                <a:cs typeface="JetBrains Mono" pitchFamily="34" charset="-120"/>
              </a:rPr>
              <a:t>PILOTAGE</a:t>
            </a:r>
            <a:endParaRPr lang="en-US" sz="1200"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M_6">
    <p:spTree>
      <p:nvGrpSpPr>
        <p:cNvPr id="1" name=""/>
        <p:cNvGrpSpPr/>
        <p:nvPr/>
      </p:nvGrpSpPr>
      <p:grpSpPr>
        <a:xfrm>
          <a:off x="0" y="0"/>
          <a:ext cx="0" cy="0"/>
          <a:chOff x="0" y="0"/>
          <a:chExt cx="0" cy="0"/>
        </a:xfrm>
      </p:grpSpPr>
      <p:sp>
        <p:nvSpPr>
          <p:cNvPr id="2" name="Text 0"/>
          <p:cNvSpPr/>
          <p:nvPr/>
        </p:nvSpPr>
        <p:spPr>
          <a:xfrm>
            <a:off x="812800" y="279400"/>
            <a:ext cx="1079500" cy="355600"/>
          </a:xfrm>
          <a:prstGeom prst="rect">
            <a:avLst/>
          </a:prstGeom>
          <a:solidFill>
            <a:srgbClr val="1C1917"/>
          </a:solidFill>
          <a:ln w="19050">
            <a:solidFill>
              <a:srgbClr val="1C1917"/>
            </a:solidFill>
          </a:ln>
        </p:spPr>
        <p:txBody>
          <a:bodyPr wrap="square" lIns="0" tIns="0" rIns="0" bIns="0" rtlCol="0" anchor="ctr"/>
          <a:lstStyle/>
          <a:p>
            <a:pPr algn="ctr" indent="0" marL="0">
              <a:buNone/>
            </a:pPr>
            <a:r>
              <a:rPr lang="en-US" sz="1200" b="1" spc="200" kern="0" dirty="0">
                <a:solidFill>
                  <a:srgbClr val="F1EFEA"/>
                </a:solidFill>
                <a:latin typeface="JetBrains Mono" pitchFamily="34" charset="0"/>
                <a:ea typeface="JetBrains Mono" pitchFamily="34" charset="-122"/>
                <a:cs typeface="JetBrains Mono" pitchFamily="34" charset="-120"/>
              </a:rPr>
              <a:t>07 / 22</a:t>
            </a:r>
            <a:endParaRPr lang="en-US" sz="1200" dirty="0"/>
          </a:p>
        </p:txBody>
      </p:sp>
      <p:sp>
        <p:nvSpPr>
          <p:cNvPr id="3" name="Text 1"/>
          <p:cNvSpPr/>
          <p:nvPr/>
        </p:nvSpPr>
        <p:spPr>
          <a:xfrm>
            <a:off x="1943100" y="279400"/>
            <a:ext cx="1149350" cy="355600"/>
          </a:xfrm>
          <a:prstGeom prst="rect">
            <a:avLst/>
          </a:prstGeom>
          <a:solidFill>
            <a:srgbClr val="FAF8F4"/>
          </a:solidFill>
          <a:ln w="19050">
            <a:solidFill>
              <a:srgbClr val="1C1917"/>
            </a:solidFill>
          </a:ln>
        </p:spPr>
        <p:txBody>
          <a:bodyPr wrap="square" lIns="0" tIns="0" rIns="0" bIns="0" rtlCol="0" anchor="ctr"/>
          <a:lstStyle/>
          <a:p>
            <a:pPr algn="ctr" indent="0" marL="0">
              <a:buNone/>
            </a:pPr>
            <a:r>
              <a:rPr lang="en-US" sz="1200" b="1" spc="200" kern="0" dirty="0">
                <a:solidFill>
                  <a:srgbClr val="1C1917"/>
                </a:solidFill>
                <a:latin typeface="JetBrains Mono" pitchFamily="34" charset="0"/>
                <a:ea typeface="JetBrains Mono" pitchFamily="34" charset="-122"/>
                <a:cs typeface="JetBrains Mono" pitchFamily="34" charset="-120"/>
              </a:rPr>
              <a:t>PILOTAGE</a:t>
            </a:r>
            <a:endParaRPr lang="en-US" sz="1200"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M_7">
    <p:spTree>
      <p:nvGrpSpPr>
        <p:cNvPr id="1" name=""/>
        <p:cNvGrpSpPr/>
        <p:nvPr/>
      </p:nvGrpSpPr>
      <p:grpSpPr>
        <a:xfrm>
          <a:off x="0" y="0"/>
          <a:ext cx="0" cy="0"/>
          <a:chOff x="0" y="0"/>
          <a:chExt cx="0" cy="0"/>
        </a:xfrm>
      </p:grpSpPr>
      <p:sp>
        <p:nvSpPr>
          <p:cNvPr id="2" name="Text 0"/>
          <p:cNvSpPr/>
          <p:nvPr/>
        </p:nvSpPr>
        <p:spPr>
          <a:xfrm>
            <a:off x="812800" y="279400"/>
            <a:ext cx="1079500" cy="355600"/>
          </a:xfrm>
          <a:prstGeom prst="rect">
            <a:avLst/>
          </a:prstGeom>
          <a:solidFill>
            <a:srgbClr val="1C1917"/>
          </a:solidFill>
          <a:ln w="19050">
            <a:solidFill>
              <a:srgbClr val="1C1917"/>
            </a:solidFill>
          </a:ln>
        </p:spPr>
        <p:txBody>
          <a:bodyPr wrap="square" lIns="0" tIns="0" rIns="0" bIns="0" rtlCol="0" anchor="ctr"/>
          <a:lstStyle/>
          <a:p>
            <a:pPr algn="ctr" indent="0" marL="0">
              <a:buNone/>
            </a:pPr>
            <a:r>
              <a:rPr lang="en-US" sz="1200" b="1" spc="200" kern="0" dirty="0">
                <a:solidFill>
                  <a:srgbClr val="F1EFEA"/>
                </a:solidFill>
                <a:latin typeface="JetBrains Mono" pitchFamily="34" charset="0"/>
                <a:ea typeface="JetBrains Mono" pitchFamily="34" charset="-122"/>
                <a:cs typeface="JetBrains Mono" pitchFamily="34" charset="-120"/>
              </a:rPr>
              <a:t>08 / 22</a:t>
            </a:r>
            <a:endParaRPr lang="en-US" sz="1200" dirty="0"/>
          </a:p>
        </p:txBody>
      </p:sp>
      <p:sp>
        <p:nvSpPr>
          <p:cNvPr id="3" name="Text 1"/>
          <p:cNvSpPr/>
          <p:nvPr/>
        </p:nvSpPr>
        <p:spPr>
          <a:xfrm>
            <a:off x="1943100" y="279400"/>
            <a:ext cx="1149350" cy="355600"/>
          </a:xfrm>
          <a:prstGeom prst="rect">
            <a:avLst/>
          </a:prstGeom>
          <a:solidFill>
            <a:srgbClr val="FAF8F4"/>
          </a:solidFill>
          <a:ln w="19050">
            <a:solidFill>
              <a:srgbClr val="1C1917"/>
            </a:solidFill>
          </a:ln>
        </p:spPr>
        <p:txBody>
          <a:bodyPr wrap="square" lIns="0" tIns="0" rIns="0" bIns="0" rtlCol="0" anchor="ctr"/>
          <a:lstStyle/>
          <a:p>
            <a:pPr algn="ctr" indent="0" marL="0">
              <a:buNone/>
            </a:pPr>
            <a:r>
              <a:rPr lang="en-US" sz="1200" b="1" spc="200" kern="0" dirty="0">
                <a:solidFill>
                  <a:srgbClr val="1C1917"/>
                </a:solidFill>
                <a:latin typeface="JetBrains Mono" pitchFamily="34" charset="0"/>
                <a:ea typeface="JetBrains Mono" pitchFamily="34" charset="-122"/>
                <a:cs typeface="JetBrains Mono" pitchFamily="34" charset="-120"/>
              </a:rPr>
              <a:t>PILOTAGE</a:t>
            </a:r>
            <a:endParaRPr lang="en-US" sz="1200"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M_8">
    <p:spTree>
      <p:nvGrpSpPr>
        <p:cNvPr id="1" name=""/>
        <p:cNvGrpSpPr/>
        <p:nvPr/>
      </p:nvGrpSpPr>
      <p:grpSpPr>
        <a:xfrm>
          <a:off x="0" y="0"/>
          <a:ext cx="0" cy="0"/>
          <a:chOff x="0" y="0"/>
          <a:chExt cx="0" cy="0"/>
        </a:xfrm>
      </p:grpSpPr>
      <p:sp>
        <p:nvSpPr>
          <p:cNvPr id="2" name="Text 0"/>
          <p:cNvSpPr/>
          <p:nvPr/>
        </p:nvSpPr>
        <p:spPr>
          <a:xfrm>
            <a:off x="812800" y="279400"/>
            <a:ext cx="1079500" cy="355600"/>
          </a:xfrm>
          <a:prstGeom prst="rect">
            <a:avLst/>
          </a:prstGeom>
          <a:solidFill>
            <a:srgbClr val="1C1917"/>
          </a:solidFill>
          <a:ln w="19050">
            <a:solidFill>
              <a:srgbClr val="1C1917"/>
            </a:solidFill>
          </a:ln>
        </p:spPr>
        <p:txBody>
          <a:bodyPr wrap="square" lIns="0" tIns="0" rIns="0" bIns="0" rtlCol="0" anchor="ctr"/>
          <a:lstStyle/>
          <a:p>
            <a:pPr algn="ctr" indent="0" marL="0">
              <a:buNone/>
            </a:pPr>
            <a:r>
              <a:rPr lang="en-US" sz="1200" b="1" spc="200" kern="0" dirty="0">
                <a:solidFill>
                  <a:srgbClr val="F1EFEA"/>
                </a:solidFill>
                <a:latin typeface="JetBrains Mono" pitchFamily="34" charset="0"/>
                <a:ea typeface="JetBrains Mono" pitchFamily="34" charset="-122"/>
                <a:cs typeface="JetBrains Mono" pitchFamily="34" charset="-120"/>
              </a:rPr>
              <a:t>09 / 22</a:t>
            </a:r>
            <a:endParaRPr lang="en-US" sz="1200" dirty="0"/>
          </a:p>
        </p:txBody>
      </p:sp>
      <p:sp>
        <p:nvSpPr>
          <p:cNvPr id="3" name="Text 1"/>
          <p:cNvSpPr/>
          <p:nvPr/>
        </p:nvSpPr>
        <p:spPr>
          <a:xfrm>
            <a:off x="1943100" y="279400"/>
            <a:ext cx="1149350" cy="355600"/>
          </a:xfrm>
          <a:prstGeom prst="rect">
            <a:avLst/>
          </a:prstGeom>
          <a:solidFill>
            <a:srgbClr val="FAF8F4"/>
          </a:solidFill>
          <a:ln w="19050">
            <a:solidFill>
              <a:srgbClr val="1C1917"/>
            </a:solidFill>
          </a:ln>
        </p:spPr>
        <p:txBody>
          <a:bodyPr wrap="square" lIns="0" tIns="0" rIns="0" bIns="0" rtlCol="0" anchor="ctr"/>
          <a:lstStyle/>
          <a:p>
            <a:pPr algn="ctr" indent="0" marL="0">
              <a:buNone/>
            </a:pPr>
            <a:r>
              <a:rPr lang="en-US" sz="1200" b="1" spc="200" kern="0" dirty="0">
                <a:solidFill>
                  <a:srgbClr val="1C1917"/>
                </a:solidFill>
                <a:latin typeface="JetBrains Mono" pitchFamily="34" charset="0"/>
                <a:ea typeface="JetBrains Mono" pitchFamily="34" charset="-122"/>
                <a:cs typeface="JetBrains Mono" pitchFamily="34" charset="-120"/>
              </a:rPr>
              <a:t>PILOTAGE</a:t>
            </a:r>
            <a:endParaRPr lang="en-US" sz="1200"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M_9">
    <p:spTree>
      <p:nvGrpSpPr>
        <p:cNvPr id="1" name=""/>
        <p:cNvGrpSpPr/>
        <p:nvPr/>
      </p:nvGrpSpPr>
      <p:grpSpPr>
        <a:xfrm>
          <a:off x="0" y="0"/>
          <a:ext cx="0" cy="0"/>
          <a:chOff x="0" y="0"/>
          <a:chExt cx="0" cy="0"/>
        </a:xfrm>
      </p:grpSpPr>
      <p:sp>
        <p:nvSpPr>
          <p:cNvPr id="2" name="Text 0"/>
          <p:cNvSpPr/>
          <p:nvPr/>
        </p:nvSpPr>
        <p:spPr>
          <a:xfrm>
            <a:off x="812800" y="279400"/>
            <a:ext cx="1079500" cy="355600"/>
          </a:xfrm>
          <a:prstGeom prst="rect">
            <a:avLst/>
          </a:prstGeom>
          <a:solidFill>
            <a:srgbClr val="1C1917"/>
          </a:solidFill>
          <a:ln w="19050">
            <a:solidFill>
              <a:srgbClr val="1C1917"/>
            </a:solidFill>
          </a:ln>
        </p:spPr>
        <p:txBody>
          <a:bodyPr wrap="square" lIns="0" tIns="0" rIns="0" bIns="0" rtlCol="0" anchor="ctr"/>
          <a:lstStyle/>
          <a:p>
            <a:pPr algn="ctr" indent="0" marL="0">
              <a:buNone/>
            </a:pPr>
            <a:r>
              <a:rPr lang="en-US" sz="1200" b="1" spc="200" kern="0" dirty="0">
                <a:solidFill>
                  <a:srgbClr val="F1EFEA"/>
                </a:solidFill>
                <a:latin typeface="JetBrains Mono" pitchFamily="34" charset="0"/>
                <a:ea typeface="JetBrains Mono" pitchFamily="34" charset="-122"/>
                <a:cs typeface="JetBrains Mono" pitchFamily="34" charset="-120"/>
              </a:rPr>
              <a:t>10 / 22</a:t>
            </a:r>
            <a:endParaRPr lang="en-US" sz="1200" dirty="0"/>
          </a:p>
        </p:txBody>
      </p:sp>
      <p:sp>
        <p:nvSpPr>
          <p:cNvPr id="3" name="Text 1"/>
          <p:cNvSpPr/>
          <p:nvPr/>
        </p:nvSpPr>
        <p:spPr>
          <a:xfrm>
            <a:off x="1943100" y="279400"/>
            <a:ext cx="1149350" cy="355600"/>
          </a:xfrm>
          <a:prstGeom prst="rect">
            <a:avLst/>
          </a:prstGeom>
          <a:solidFill>
            <a:srgbClr val="FAF8F4"/>
          </a:solidFill>
          <a:ln w="19050">
            <a:solidFill>
              <a:srgbClr val="1C1917"/>
            </a:solidFill>
          </a:ln>
        </p:spPr>
        <p:txBody>
          <a:bodyPr wrap="square" lIns="0" tIns="0" rIns="0" bIns="0" rtlCol="0" anchor="ctr"/>
          <a:lstStyle/>
          <a:p>
            <a:pPr algn="ctr" indent="0" marL="0">
              <a:buNone/>
            </a:pPr>
            <a:r>
              <a:rPr lang="en-US" sz="1200" b="1" spc="200" kern="0" dirty="0">
                <a:solidFill>
                  <a:srgbClr val="1C1917"/>
                </a:solidFill>
                <a:latin typeface="JetBrains Mono" pitchFamily="34" charset="0"/>
                <a:ea typeface="JetBrains Mono" pitchFamily="34" charset="-122"/>
                <a:cs typeface="JetBrains Mono" pitchFamily="34" charset="-120"/>
              </a:rPr>
              <a:t>PILOTAGE</a:t>
            </a:r>
            <a:endParaRPr lang="en-US" sz="1200"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M_10">
    <p:spTree>
      <p:nvGrpSpPr>
        <p:cNvPr id="1" name=""/>
        <p:cNvGrpSpPr/>
        <p:nvPr/>
      </p:nvGrpSpPr>
      <p:grpSpPr>
        <a:xfrm>
          <a:off x="0" y="0"/>
          <a:ext cx="0" cy="0"/>
          <a:chOff x="0" y="0"/>
          <a:chExt cx="0" cy="0"/>
        </a:xfrm>
      </p:grpSpPr>
      <p:sp>
        <p:nvSpPr>
          <p:cNvPr id="2" name="Text 0"/>
          <p:cNvSpPr/>
          <p:nvPr/>
        </p:nvSpPr>
        <p:spPr>
          <a:xfrm>
            <a:off x="812800" y="279400"/>
            <a:ext cx="1079500" cy="355600"/>
          </a:xfrm>
          <a:prstGeom prst="rect">
            <a:avLst/>
          </a:prstGeom>
          <a:solidFill>
            <a:srgbClr val="1C1917"/>
          </a:solidFill>
          <a:ln w="19050">
            <a:solidFill>
              <a:srgbClr val="1C1917"/>
            </a:solidFill>
          </a:ln>
        </p:spPr>
        <p:txBody>
          <a:bodyPr wrap="square" lIns="0" tIns="0" rIns="0" bIns="0" rtlCol="0" anchor="ctr"/>
          <a:lstStyle/>
          <a:p>
            <a:pPr algn="ctr" indent="0" marL="0">
              <a:buNone/>
            </a:pPr>
            <a:r>
              <a:rPr lang="en-US" sz="1200" b="1" spc="200" kern="0" dirty="0">
                <a:solidFill>
                  <a:srgbClr val="F1EFEA"/>
                </a:solidFill>
                <a:latin typeface="JetBrains Mono" pitchFamily="34" charset="0"/>
                <a:ea typeface="JetBrains Mono" pitchFamily="34" charset="-122"/>
                <a:cs typeface="JetBrains Mono" pitchFamily="34" charset="-120"/>
              </a:rPr>
              <a:t>11 / 22</a:t>
            </a:r>
            <a:endParaRPr lang="en-US" sz="1200" dirty="0"/>
          </a:p>
        </p:txBody>
      </p:sp>
      <p:sp>
        <p:nvSpPr>
          <p:cNvPr id="3" name="Text 1"/>
          <p:cNvSpPr/>
          <p:nvPr/>
        </p:nvSpPr>
        <p:spPr>
          <a:xfrm>
            <a:off x="1943100" y="279400"/>
            <a:ext cx="1250950" cy="355600"/>
          </a:xfrm>
          <a:prstGeom prst="rect">
            <a:avLst/>
          </a:prstGeom>
          <a:solidFill>
            <a:srgbClr val="FAF8F4"/>
          </a:solidFill>
          <a:ln w="19050">
            <a:solidFill>
              <a:srgbClr val="1C1917"/>
            </a:solidFill>
          </a:ln>
        </p:spPr>
        <p:txBody>
          <a:bodyPr wrap="square" lIns="0" tIns="0" rIns="0" bIns="0" rtlCol="0" anchor="ctr"/>
          <a:lstStyle/>
          <a:p>
            <a:pPr algn="ctr" indent="0" marL="0">
              <a:buNone/>
            </a:pPr>
            <a:r>
              <a:rPr lang="en-US" sz="1200" b="1" spc="200" kern="0" dirty="0">
                <a:solidFill>
                  <a:srgbClr val="1C1917"/>
                </a:solidFill>
                <a:latin typeface="JetBrains Mono" pitchFamily="34" charset="0"/>
                <a:ea typeface="JetBrains Mono" pitchFamily="34" charset="-122"/>
                <a:cs typeface="JetBrains Mono" pitchFamily="34" charset="-120"/>
              </a:rPr>
              <a:t>RÉSULTATS</a:t>
            </a:r>
            <a:endParaRPr lang="en-US" sz="1200" dirty="0"/>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M_11">
    <p:spTree>
      <p:nvGrpSpPr>
        <p:cNvPr id="1" name=""/>
        <p:cNvGrpSpPr/>
        <p:nvPr/>
      </p:nvGrpSpPr>
      <p:grpSpPr>
        <a:xfrm>
          <a:off x="0" y="0"/>
          <a:ext cx="0" cy="0"/>
          <a:chOff x="0" y="0"/>
          <a:chExt cx="0" cy="0"/>
        </a:xfrm>
      </p:grpSpPr>
      <p:sp>
        <p:nvSpPr>
          <p:cNvPr id="2" name="Text 0"/>
          <p:cNvSpPr/>
          <p:nvPr/>
        </p:nvSpPr>
        <p:spPr>
          <a:xfrm>
            <a:off x="812800" y="279400"/>
            <a:ext cx="1079500" cy="355600"/>
          </a:xfrm>
          <a:prstGeom prst="rect">
            <a:avLst/>
          </a:prstGeom>
          <a:solidFill>
            <a:srgbClr val="1C1917"/>
          </a:solidFill>
          <a:ln w="19050">
            <a:solidFill>
              <a:srgbClr val="1C1917"/>
            </a:solidFill>
          </a:ln>
        </p:spPr>
        <p:txBody>
          <a:bodyPr wrap="square" lIns="0" tIns="0" rIns="0" bIns="0" rtlCol="0" anchor="ctr"/>
          <a:lstStyle/>
          <a:p>
            <a:pPr algn="ctr" indent="0" marL="0">
              <a:buNone/>
            </a:pPr>
            <a:r>
              <a:rPr lang="en-US" sz="1200" b="1" spc="200" kern="0" dirty="0">
                <a:solidFill>
                  <a:srgbClr val="F1EFEA"/>
                </a:solidFill>
                <a:latin typeface="JetBrains Mono" pitchFamily="34" charset="0"/>
                <a:ea typeface="JetBrains Mono" pitchFamily="34" charset="-122"/>
                <a:cs typeface="JetBrains Mono" pitchFamily="34" charset="-120"/>
              </a:rPr>
              <a:t>12 / 22</a:t>
            </a:r>
            <a:endParaRPr lang="en-US" sz="1200" dirty="0"/>
          </a:p>
        </p:txBody>
      </p:sp>
      <p:sp>
        <p:nvSpPr>
          <p:cNvPr id="3" name="Text 1"/>
          <p:cNvSpPr/>
          <p:nvPr/>
        </p:nvSpPr>
        <p:spPr>
          <a:xfrm>
            <a:off x="1943100" y="279400"/>
            <a:ext cx="1250950" cy="355600"/>
          </a:xfrm>
          <a:prstGeom prst="rect">
            <a:avLst/>
          </a:prstGeom>
          <a:solidFill>
            <a:srgbClr val="FAF8F4"/>
          </a:solidFill>
          <a:ln w="19050">
            <a:solidFill>
              <a:srgbClr val="1C1917"/>
            </a:solidFill>
          </a:ln>
        </p:spPr>
        <p:txBody>
          <a:bodyPr wrap="square" lIns="0" tIns="0" rIns="0" bIns="0" rtlCol="0" anchor="ctr"/>
          <a:lstStyle/>
          <a:p>
            <a:pPr algn="ctr" indent="0" marL="0">
              <a:buNone/>
            </a:pPr>
            <a:r>
              <a:rPr lang="en-US" sz="1200" b="1" spc="200" kern="0" dirty="0">
                <a:solidFill>
                  <a:srgbClr val="1C1917"/>
                </a:solidFill>
                <a:latin typeface="JetBrains Mono" pitchFamily="34" charset="0"/>
                <a:ea typeface="JetBrains Mono" pitchFamily="34" charset="-122"/>
                <a:cs typeface="JetBrains Mono" pitchFamily="34" charset="-120"/>
              </a:rPr>
              <a:t>RÉSULTATS</a:t>
            </a:r>
            <a:endParaRPr lang="en-US" sz="1200" dirty="0"/>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M_12">
    <p:spTree>
      <p:nvGrpSpPr>
        <p:cNvPr id="1" name=""/>
        <p:cNvGrpSpPr/>
        <p:nvPr/>
      </p:nvGrpSpPr>
      <p:grpSpPr>
        <a:xfrm>
          <a:off x="0" y="0"/>
          <a:ext cx="0" cy="0"/>
          <a:chOff x="0" y="0"/>
          <a:chExt cx="0" cy="0"/>
        </a:xfrm>
      </p:grpSpPr>
      <p:sp>
        <p:nvSpPr>
          <p:cNvPr id="2" name="Text 0"/>
          <p:cNvSpPr/>
          <p:nvPr/>
        </p:nvSpPr>
        <p:spPr>
          <a:xfrm>
            <a:off x="812800" y="279400"/>
            <a:ext cx="1079500" cy="355600"/>
          </a:xfrm>
          <a:prstGeom prst="rect">
            <a:avLst/>
          </a:prstGeom>
          <a:solidFill>
            <a:srgbClr val="1C1917"/>
          </a:solidFill>
          <a:ln w="19050">
            <a:solidFill>
              <a:srgbClr val="1C1917"/>
            </a:solidFill>
          </a:ln>
        </p:spPr>
        <p:txBody>
          <a:bodyPr wrap="square" lIns="0" tIns="0" rIns="0" bIns="0" rtlCol="0" anchor="ctr"/>
          <a:lstStyle/>
          <a:p>
            <a:pPr algn="ctr" indent="0" marL="0">
              <a:buNone/>
            </a:pPr>
            <a:r>
              <a:rPr lang="en-US" sz="1200" b="1" spc="200" kern="0" dirty="0">
                <a:solidFill>
                  <a:srgbClr val="F1EFEA"/>
                </a:solidFill>
                <a:latin typeface="JetBrains Mono" pitchFamily="34" charset="0"/>
                <a:ea typeface="JetBrains Mono" pitchFamily="34" charset="-122"/>
                <a:cs typeface="JetBrains Mono" pitchFamily="34" charset="-120"/>
              </a:rPr>
              <a:t>13 / 22</a:t>
            </a:r>
            <a:endParaRPr lang="en-US" sz="1200" dirty="0"/>
          </a:p>
        </p:txBody>
      </p:sp>
      <p:sp>
        <p:nvSpPr>
          <p:cNvPr id="3" name="Text 1"/>
          <p:cNvSpPr/>
          <p:nvPr/>
        </p:nvSpPr>
        <p:spPr>
          <a:xfrm>
            <a:off x="1943100" y="279400"/>
            <a:ext cx="1250950" cy="355600"/>
          </a:xfrm>
          <a:prstGeom prst="rect">
            <a:avLst/>
          </a:prstGeom>
          <a:solidFill>
            <a:srgbClr val="FAF8F4"/>
          </a:solidFill>
          <a:ln w="19050">
            <a:solidFill>
              <a:srgbClr val="1C1917"/>
            </a:solidFill>
          </a:ln>
        </p:spPr>
        <p:txBody>
          <a:bodyPr wrap="square" lIns="0" tIns="0" rIns="0" bIns="0" rtlCol="0" anchor="ctr"/>
          <a:lstStyle/>
          <a:p>
            <a:pPr algn="ctr" indent="0" marL="0">
              <a:buNone/>
            </a:pPr>
            <a:r>
              <a:rPr lang="en-US" sz="1200" b="1" spc="200" kern="0" dirty="0">
                <a:solidFill>
                  <a:srgbClr val="1C1917"/>
                </a:solidFill>
                <a:latin typeface="JetBrains Mono" pitchFamily="34" charset="0"/>
                <a:ea typeface="JetBrains Mono" pitchFamily="34" charset="-122"/>
                <a:cs typeface="JetBrains Mono" pitchFamily="34" charset="-120"/>
              </a:rPr>
              <a:t>RÉSULTATS</a:t>
            </a:r>
            <a:endParaRPr lang="en-US" sz="1200" dirty="0"/>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M_13">
    <p:spTree>
      <p:nvGrpSpPr>
        <p:cNvPr id="1" name=""/>
        <p:cNvGrpSpPr/>
        <p:nvPr/>
      </p:nvGrpSpPr>
      <p:grpSpPr>
        <a:xfrm>
          <a:off x="0" y="0"/>
          <a:ext cx="0" cy="0"/>
          <a:chOff x="0" y="0"/>
          <a:chExt cx="0" cy="0"/>
        </a:xfrm>
      </p:grpSpPr>
      <p:sp>
        <p:nvSpPr>
          <p:cNvPr id="2" name="Text 0"/>
          <p:cNvSpPr/>
          <p:nvPr/>
        </p:nvSpPr>
        <p:spPr>
          <a:xfrm>
            <a:off x="812800" y="279400"/>
            <a:ext cx="1079500" cy="355600"/>
          </a:xfrm>
          <a:prstGeom prst="rect">
            <a:avLst/>
          </a:prstGeom>
          <a:solidFill>
            <a:srgbClr val="1C1917"/>
          </a:solidFill>
          <a:ln w="19050">
            <a:solidFill>
              <a:srgbClr val="1C1917"/>
            </a:solidFill>
          </a:ln>
        </p:spPr>
        <p:txBody>
          <a:bodyPr wrap="square" lIns="0" tIns="0" rIns="0" bIns="0" rtlCol="0" anchor="ctr"/>
          <a:lstStyle/>
          <a:p>
            <a:pPr algn="ctr" indent="0" marL="0">
              <a:buNone/>
            </a:pPr>
            <a:r>
              <a:rPr lang="en-US" sz="1200" b="1" spc="200" kern="0" dirty="0">
                <a:solidFill>
                  <a:srgbClr val="F1EFEA"/>
                </a:solidFill>
                <a:latin typeface="JetBrains Mono" pitchFamily="34" charset="0"/>
                <a:ea typeface="JetBrains Mono" pitchFamily="34" charset="-122"/>
                <a:cs typeface="JetBrains Mono" pitchFamily="34" charset="-120"/>
              </a:rPr>
              <a:t>14 / 22</a:t>
            </a:r>
            <a:endParaRPr lang="en-US" sz="1200" dirty="0"/>
          </a:p>
        </p:txBody>
      </p:sp>
      <p:sp>
        <p:nvSpPr>
          <p:cNvPr id="3" name="Text 1"/>
          <p:cNvSpPr/>
          <p:nvPr/>
        </p:nvSpPr>
        <p:spPr>
          <a:xfrm>
            <a:off x="1943100" y="279400"/>
            <a:ext cx="1250950" cy="355600"/>
          </a:xfrm>
          <a:prstGeom prst="rect">
            <a:avLst/>
          </a:prstGeom>
          <a:solidFill>
            <a:srgbClr val="FAF8F4"/>
          </a:solidFill>
          <a:ln w="19050">
            <a:solidFill>
              <a:srgbClr val="1C1917"/>
            </a:solidFill>
          </a:ln>
        </p:spPr>
        <p:txBody>
          <a:bodyPr wrap="square" lIns="0" tIns="0" rIns="0" bIns="0" rtlCol="0" anchor="ctr"/>
          <a:lstStyle/>
          <a:p>
            <a:pPr algn="ctr" indent="0" marL="0">
              <a:buNone/>
            </a:pPr>
            <a:r>
              <a:rPr lang="en-US" sz="1200" b="1" spc="200" kern="0" dirty="0">
                <a:solidFill>
                  <a:srgbClr val="1C1917"/>
                </a:solidFill>
                <a:latin typeface="JetBrains Mono" pitchFamily="34" charset="0"/>
                <a:ea typeface="JetBrains Mono" pitchFamily="34" charset="-122"/>
                <a:cs typeface="JetBrains Mono" pitchFamily="34" charset="-120"/>
              </a:rPr>
              <a:t>RÉSULTATS</a:t>
            </a:r>
            <a:endParaRPr lang="en-US" sz="1200" dirty="0"/>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M_14">
    <p:spTree>
      <p:nvGrpSpPr>
        <p:cNvPr id="1" name=""/>
        <p:cNvGrpSpPr/>
        <p:nvPr/>
      </p:nvGrpSpPr>
      <p:grpSpPr>
        <a:xfrm>
          <a:off x="0" y="0"/>
          <a:ext cx="0" cy="0"/>
          <a:chOff x="0" y="0"/>
          <a:chExt cx="0" cy="0"/>
        </a:xfrm>
      </p:grpSpPr>
      <p:sp>
        <p:nvSpPr>
          <p:cNvPr id="2" name="Text 0"/>
          <p:cNvSpPr/>
          <p:nvPr/>
        </p:nvSpPr>
        <p:spPr>
          <a:xfrm>
            <a:off x="812800" y="279400"/>
            <a:ext cx="1079500" cy="355600"/>
          </a:xfrm>
          <a:prstGeom prst="rect">
            <a:avLst/>
          </a:prstGeom>
          <a:solidFill>
            <a:srgbClr val="1C1917"/>
          </a:solidFill>
          <a:ln w="19050">
            <a:solidFill>
              <a:srgbClr val="1C1917"/>
            </a:solidFill>
          </a:ln>
        </p:spPr>
        <p:txBody>
          <a:bodyPr wrap="square" lIns="0" tIns="0" rIns="0" bIns="0" rtlCol="0" anchor="ctr"/>
          <a:lstStyle/>
          <a:p>
            <a:pPr algn="ctr" indent="0" marL="0">
              <a:buNone/>
            </a:pPr>
            <a:r>
              <a:rPr lang="en-US" sz="1200" b="1" spc="200" kern="0" dirty="0">
                <a:solidFill>
                  <a:srgbClr val="F1EFEA"/>
                </a:solidFill>
                <a:latin typeface="JetBrains Mono" pitchFamily="34" charset="0"/>
                <a:ea typeface="JetBrains Mono" pitchFamily="34" charset="-122"/>
                <a:cs typeface="JetBrains Mono" pitchFamily="34" charset="-120"/>
              </a:rPr>
              <a:t>15 / 22</a:t>
            </a:r>
            <a:endParaRPr lang="en-US" sz="1200" dirty="0"/>
          </a:p>
        </p:txBody>
      </p:sp>
      <p:sp>
        <p:nvSpPr>
          <p:cNvPr id="3" name="Text 1"/>
          <p:cNvSpPr/>
          <p:nvPr/>
        </p:nvSpPr>
        <p:spPr>
          <a:xfrm>
            <a:off x="1943100" y="279400"/>
            <a:ext cx="1250950" cy="355600"/>
          </a:xfrm>
          <a:prstGeom prst="rect">
            <a:avLst/>
          </a:prstGeom>
          <a:solidFill>
            <a:srgbClr val="FAF8F4"/>
          </a:solidFill>
          <a:ln w="19050">
            <a:solidFill>
              <a:srgbClr val="1C1917"/>
            </a:solidFill>
          </a:ln>
        </p:spPr>
        <p:txBody>
          <a:bodyPr wrap="square" lIns="0" tIns="0" rIns="0" bIns="0" rtlCol="0" anchor="ctr"/>
          <a:lstStyle/>
          <a:p>
            <a:pPr algn="ctr" indent="0" marL="0">
              <a:buNone/>
            </a:pPr>
            <a:r>
              <a:rPr lang="en-US" sz="1200" b="1" spc="200" kern="0" dirty="0">
                <a:solidFill>
                  <a:srgbClr val="1C1917"/>
                </a:solidFill>
                <a:latin typeface="JetBrains Mono" pitchFamily="34" charset="0"/>
                <a:ea typeface="JetBrains Mono" pitchFamily="34" charset="-122"/>
                <a:cs typeface="JetBrains Mono" pitchFamily="34" charset="-120"/>
              </a:rPr>
              <a:t>RÉSULTATS</a:t>
            </a:r>
            <a:endParaRPr lang="en-US" sz="1200" dirty="0"/>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M_15">
    <p:spTree>
      <p:nvGrpSpPr>
        <p:cNvPr id="1" name=""/>
        <p:cNvGrpSpPr/>
        <p:nvPr/>
      </p:nvGrpSpPr>
      <p:grpSpPr>
        <a:xfrm>
          <a:off x="0" y="0"/>
          <a:ext cx="0" cy="0"/>
          <a:chOff x="0" y="0"/>
          <a:chExt cx="0" cy="0"/>
        </a:xfrm>
      </p:grpSpPr>
      <p:sp>
        <p:nvSpPr>
          <p:cNvPr id="2" name="Text 0"/>
          <p:cNvSpPr/>
          <p:nvPr/>
        </p:nvSpPr>
        <p:spPr>
          <a:xfrm>
            <a:off x="812800" y="279400"/>
            <a:ext cx="1079500" cy="355600"/>
          </a:xfrm>
          <a:prstGeom prst="rect">
            <a:avLst/>
          </a:prstGeom>
          <a:solidFill>
            <a:srgbClr val="1C1917"/>
          </a:solidFill>
          <a:ln w="19050">
            <a:solidFill>
              <a:srgbClr val="1C1917"/>
            </a:solidFill>
          </a:ln>
        </p:spPr>
        <p:txBody>
          <a:bodyPr wrap="square" lIns="0" tIns="0" rIns="0" bIns="0" rtlCol="0" anchor="ctr"/>
          <a:lstStyle/>
          <a:p>
            <a:pPr algn="ctr" indent="0" marL="0">
              <a:buNone/>
            </a:pPr>
            <a:r>
              <a:rPr lang="en-US" sz="1200" b="1" spc="200" kern="0" dirty="0">
                <a:solidFill>
                  <a:srgbClr val="F1EFEA"/>
                </a:solidFill>
                <a:latin typeface="JetBrains Mono" pitchFamily="34" charset="0"/>
                <a:ea typeface="JetBrains Mono" pitchFamily="34" charset="-122"/>
                <a:cs typeface="JetBrains Mono" pitchFamily="34" charset="-120"/>
              </a:rPr>
              <a:t>16 / 22</a:t>
            </a:r>
            <a:endParaRPr lang="en-US" sz="1200" dirty="0"/>
          </a:p>
        </p:txBody>
      </p:sp>
      <p:sp>
        <p:nvSpPr>
          <p:cNvPr id="3" name="Text 1"/>
          <p:cNvSpPr/>
          <p:nvPr/>
        </p:nvSpPr>
        <p:spPr>
          <a:xfrm>
            <a:off x="1943100" y="279400"/>
            <a:ext cx="1250950" cy="355600"/>
          </a:xfrm>
          <a:prstGeom prst="rect">
            <a:avLst/>
          </a:prstGeom>
          <a:solidFill>
            <a:srgbClr val="FAF8F4"/>
          </a:solidFill>
          <a:ln w="19050">
            <a:solidFill>
              <a:srgbClr val="1C1917"/>
            </a:solidFill>
          </a:ln>
        </p:spPr>
        <p:txBody>
          <a:bodyPr wrap="square" lIns="0" tIns="0" rIns="0" bIns="0" rtlCol="0" anchor="ctr"/>
          <a:lstStyle/>
          <a:p>
            <a:pPr algn="ctr" indent="0" marL="0">
              <a:buNone/>
            </a:pPr>
            <a:r>
              <a:rPr lang="en-US" sz="1200" b="1" spc="200" kern="0" dirty="0">
                <a:solidFill>
                  <a:srgbClr val="1C1917"/>
                </a:solidFill>
                <a:latin typeface="JetBrains Mono" pitchFamily="34" charset="0"/>
                <a:ea typeface="JetBrains Mono" pitchFamily="34" charset="-122"/>
                <a:cs typeface="JetBrains Mono" pitchFamily="34" charset="-120"/>
              </a:rPr>
              <a:t>RÉSULTATS</a:t>
            </a:r>
            <a:endParaRPr lang="en-US" sz="1200" dirty="0"/>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M_16">
    <p:spTree>
      <p:nvGrpSpPr>
        <p:cNvPr id="1" name=""/>
        <p:cNvGrpSpPr/>
        <p:nvPr/>
      </p:nvGrpSpPr>
      <p:grpSpPr>
        <a:xfrm>
          <a:off x="0" y="0"/>
          <a:ext cx="0" cy="0"/>
          <a:chOff x="0" y="0"/>
          <a:chExt cx="0" cy="0"/>
        </a:xfrm>
      </p:grpSpPr>
      <p:sp>
        <p:nvSpPr>
          <p:cNvPr id="2" name="Text 0"/>
          <p:cNvSpPr/>
          <p:nvPr/>
        </p:nvSpPr>
        <p:spPr>
          <a:xfrm>
            <a:off x="812800" y="279400"/>
            <a:ext cx="1079500" cy="355600"/>
          </a:xfrm>
          <a:prstGeom prst="rect">
            <a:avLst/>
          </a:prstGeom>
          <a:solidFill>
            <a:srgbClr val="1C1917"/>
          </a:solidFill>
          <a:ln w="19050">
            <a:solidFill>
              <a:srgbClr val="1C1917"/>
            </a:solidFill>
          </a:ln>
        </p:spPr>
        <p:txBody>
          <a:bodyPr wrap="square" lIns="0" tIns="0" rIns="0" bIns="0" rtlCol="0" anchor="ctr"/>
          <a:lstStyle/>
          <a:p>
            <a:pPr algn="ctr" indent="0" marL="0">
              <a:buNone/>
            </a:pPr>
            <a:r>
              <a:rPr lang="en-US" sz="1200" b="1" spc="200" kern="0" dirty="0">
                <a:solidFill>
                  <a:srgbClr val="F1EFEA"/>
                </a:solidFill>
                <a:latin typeface="JetBrains Mono" pitchFamily="34" charset="0"/>
                <a:ea typeface="JetBrains Mono" pitchFamily="34" charset="-122"/>
                <a:cs typeface="JetBrains Mono" pitchFamily="34" charset="-120"/>
              </a:rPr>
              <a:t>17 / 22</a:t>
            </a:r>
            <a:endParaRPr lang="en-US" sz="1200" dirty="0"/>
          </a:p>
        </p:txBody>
      </p:sp>
      <p:sp>
        <p:nvSpPr>
          <p:cNvPr id="3" name="Text 1"/>
          <p:cNvSpPr/>
          <p:nvPr/>
        </p:nvSpPr>
        <p:spPr>
          <a:xfrm>
            <a:off x="1943100" y="279400"/>
            <a:ext cx="1250950" cy="355600"/>
          </a:xfrm>
          <a:prstGeom prst="rect">
            <a:avLst/>
          </a:prstGeom>
          <a:solidFill>
            <a:srgbClr val="FAF8F4"/>
          </a:solidFill>
          <a:ln w="19050">
            <a:solidFill>
              <a:srgbClr val="1C1917"/>
            </a:solidFill>
          </a:ln>
        </p:spPr>
        <p:txBody>
          <a:bodyPr wrap="square" lIns="0" tIns="0" rIns="0" bIns="0" rtlCol="0" anchor="ctr"/>
          <a:lstStyle/>
          <a:p>
            <a:pPr algn="ctr" indent="0" marL="0">
              <a:buNone/>
            </a:pPr>
            <a:r>
              <a:rPr lang="en-US" sz="1200" b="1" spc="200" kern="0" dirty="0">
                <a:solidFill>
                  <a:srgbClr val="1C1917"/>
                </a:solidFill>
                <a:latin typeface="JetBrains Mono" pitchFamily="34" charset="0"/>
                <a:ea typeface="JetBrains Mono" pitchFamily="34" charset="-122"/>
                <a:cs typeface="JetBrains Mono" pitchFamily="34" charset="-120"/>
              </a:rPr>
              <a:t>RÉSULTATS</a:t>
            </a:r>
            <a:endParaRPr lang="en-US" sz="1200" dirty="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M_17">
    <p:spTree>
      <p:nvGrpSpPr>
        <p:cNvPr id="1" name=""/>
        <p:cNvGrpSpPr/>
        <p:nvPr/>
      </p:nvGrpSpPr>
      <p:grpSpPr>
        <a:xfrm>
          <a:off x="0" y="0"/>
          <a:ext cx="0" cy="0"/>
          <a:chOff x="0" y="0"/>
          <a:chExt cx="0" cy="0"/>
        </a:xfrm>
      </p:grpSpPr>
      <p:sp>
        <p:nvSpPr>
          <p:cNvPr id="2" name="Text 0"/>
          <p:cNvSpPr/>
          <p:nvPr/>
        </p:nvSpPr>
        <p:spPr>
          <a:xfrm>
            <a:off x="812800" y="279400"/>
            <a:ext cx="1079500" cy="355600"/>
          </a:xfrm>
          <a:prstGeom prst="rect">
            <a:avLst/>
          </a:prstGeom>
          <a:solidFill>
            <a:srgbClr val="1C1917"/>
          </a:solidFill>
          <a:ln w="19050">
            <a:solidFill>
              <a:srgbClr val="1C1917"/>
            </a:solidFill>
          </a:ln>
        </p:spPr>
        <p:txBody>
          <a:bodyPr wrap="square" lIns="0" tIns="0" rIns="0" bIns="0" rtlCol="0" anchor="ctr"/>
          <a:lstStyle/>
          <a:p>
            <a:pPr algn="ctr" indent="0" marL="0">
              <a:buNone/>
            </a:pPr>
            <a:r>
              <a:rPr lang="en-US" sz="1200" b="1" spc="200" kern="0" dirty="0">
                <a:solidFill>
                  <a:srgbClr val="F1EFEA"/>
                </a:solidFill>
                <a:latin typeface="JetBrains Mono" pitchFamily="34" charset="0"/>
                <a:ea typeface="JetBrains Mono" pitchFamily="34" charset="-122"/>
                <a:cs typeface="JetBrains Mono" pitchFamily="34" charset="-120"/>
              </a:rPr>
              <a:t>18 / 22</a:t>
            </a:r>
            <a:endParaRPr lang="en-US" sz="1200" dirty="0"/>
          </a:p>
        </p:txBody>
      </p:sp>
      <p:sp>
        <p:nvSpPr>
          <p:cNvPr id="3" name="Text 1"/>
          <p:cNvSpPr/>
          <p:nvPr/>
        </p:nvSpPr>
        <p:spPr>
          <a:xfrm>
            <a:off x="1943100" y="279400"/>
            <a:ext cx="831850" cy="355600"/>
          </a:xfrm>
          <a:prstGeom prst="rect">
            <a:avLst/>
          </a:prstGeom>
          <a:solidFill>
            <a:srgbClr val="FAF8F4"/>
          </a:solidFill>
          <a:ln w="19050">
            <a:solidFill>
              <a:srgbClr val="1C1917"/>
            </a:solidFill>
          </a:ln>
        </p:spPr>
        <p:txBody>
          <a:bodyPr wrap="square" lIns="0" tIns="0" rIns="0" bIns="0" rtlCol="0" anchor="ctr"/>
          <a:lstStyle/>
          <a:p>
            <a:pPr algn="ctr" indent="0" marL="0">
              <a:buNone/>
            </a:pPr>
            <a:r>
              <a:rPr lang="en-US" sz="1200" b="1" spc="200" kern="0" dirty="0">
                <a:solidFill>
                  <a:srgbClr val="1C1917"/>
                </a:solidFill>
                <a:latin typeface="JetBrains Mono" pitchFamily="34" charset="0"/>
                <a:ea typeface="JetBrains Mono" pitchFamily="34" charset="-122"/>
                <a:cs typeface="JetBrains Mono" pitchFamily="34" charset="-120"/>
              </a:rPr>
              <a:t>BILAN</a:t>
            </a:r>
            <a:endParaRPr lang="en-US" sz="1200" dirty="0"/>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M_18">
    <p:spTree>
      <p:nvGrpSpPr>
        <p:cNvPr id="1" name=""/>
        <p:cNvGrpSpPr/>
        <p:nvPr/>
      </p:nvGrpSpPr>
      <p:grpSpPr>
        <a:xfrm>
          <a:off x="0" y="0"/>
          <a:ext cx="0" cy="0"/>
          <a:chOff x="0" y="0"/>
          <a:chExt cx="0" cy="0"/>
        </a:xfrm>
      </p:grpSpPr>
      <p:sp>
        <p:nvSpPr>
          <p:cNvPr id="2" name="Text 0"/>
          <p:cNvSpPr/>
          <p:nvPr/>
        </p:nvSpPr>
        <p:spPr>
          <a:xfrm>
            <a:off x="812800" y="279400"/>
            <a:ext cx="1079500" cy="355600"/>
          </a:xfrm>
          <a:prstGeom prst="rect">
            <a:avLst/>
          </a:prstGeom>
          <a:solidFill>
            <a:srgbClr val="1C1917"/>
          </a:solidFill>
          <a:ln w="19050">
            <a:solidFill>
              <a:srgbClr val="1C1917"/>
            </a:solidFill>
          </a:ln>
        </p:spPr>
        <p:txBody>
          <a:bodyPr wrap="square" lIns="0" tIns="0" rIns="0" bIns="0" rtlCol="0" anchor="ctr"/>
          <a:lstStyle/>
          <a:p>
            <a:pPr algn="ctr" indent="0" marL="0">
              <a:buNone/>
            </a:pPr>
            <a:r>
              <a:rPr lang="en-US" sz="1200" b="1" spc="200" kern="0" dirty="0">
                <a:solidFill>
                  <a:srgbClr val="F1EFEA"/>
                </a:solidFill>
                <a:latin typeface="JetBrains Mono" pitchFamily="34" charset="0"/>
                <a:ea typeface="JetBrains Mono" pitchFamily="34" charset="-122"/>
                <a:cs typeface="JetBrains Mono" pitchFamily="34" charset="-120"/>
              </a:rPr>
              <a:t>19 / 22</a:t>
            </a:r>
            <a:endParaRPr lang="en-US" sz="1200" dirty="0"/>
          </a:p>
        </p:txBody>
      </p:sp>
      <p:sp>
        <p:nvSpPr>
          <p:cNvPr id="3" name="Text 1"/>
          <p:cNvSpPr/>
          <p:nvPr/>
        </p:nvSpPr>
        <p:spPr>
          <a:xfrm>
            <a:off x="1943100" y="279400"/>
            <a:ext cx="831850" cy="355600"/>
          </a:xfrm>
          <a:prstGeom prst="rect">
            <a:avLst/>
          </a:prstGeom>
          <a:solidFill>
            <a:srgbClr val="FAF8F4"/>
          </a:solidFill>
          <a:ln w="19050">
            <a:solidFill>
              <a:srgbClr val="1C1917"/>
            </a:solidFill>
          </a:ln>
        </p:spPr>
        <p:txBody>
          <a:bodyPr wrap="square" lIns="0" tIns="0" rIns="0" bIns="0" rtlCol="0" anchor="ctr"/>
          <a:lstStyle/>
          <a:p>
            <a:pPr algn="ctr" indent="0" marL="0">
              <a:buNone/>
            </a:pPr>
            <a:r>
              <a:rPr lang="en-US" sz="1200" b="1" spc="200" kern="0" dirty="0">
                <a:solidFill>
                  <a:srgbClr val="1C1917"/>
                </a:solidFill>
                <a:latin typeface="JetBrains Mono" pitchFamily="34" charset="0"/>
                <a:ea typeface="JetBrains Mono" pitchFamily="34" charset="-122"/>
                <a:cs typeface="JetBrains Mono" pitchFamily="34" charset="-120"/>
              </a:rPr>
              <a:t>BILAN</a:t>
            </a:r>
            <a:endParaRPr lang="en-US" sz="1200" dirty="0"/>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M_19">
    <p:spTree>
      <p:nvGrpSpPr>
        <p:cNvPr id="1" name=""/>
        <p:cNvGrpSpPr/>
        <p:nvPr/>
      </p:nvGrpSpPr>
      <p:grpSpPr>
        <a:xfrm>
          <a:off x="0" y="0"/>
          <a:ext cx="0" cy="0"/>
          <a:chOff x="0" y="0"/>
          <a:chExt cx="0" cy="0"/>
        </a:xfrm>
      </p:grpSpPr>
      <p:sp>
        <p:nvSpPr>
          <p:cNvPr id="2" name="Text 0"/>
          <p:cNvSpPr/>
          <p:nvPr/>
        </p:nvSpPr>
        <p:spPr>
          <a:xfrm>
            <a:off x="812800" y="279400"/>
            <a:ext cx="1079500" cy="355600"/>
          </a:xfrm>
          <a:prstGeom prst="rect">
            <a:avLst/>
          </a:prstGeom>
          <a:solidFill>
            <a:srgbClr val="1C1917"/>
          </a:solidFill>
          <a:ln w="19050">
            <a:solidFill>
              <a:srgbClr val="1C1917"/>
            </a:solidFill>
          </a:ln>
        </p:spPr>
        <p:txBody>
          <a:bodyPr wrap="square" lIns="0" tIns="0" rIns="0" bIns="0" rtlCol="0" anchor="ctr"/>
          <a:lstStyle/>
          <a:p>
            <a:pPr algn="ctr" indent="0" marL="0">
              <a:buNone/>
            </a:pPr>
            <a:r>
              <a:rPr lang="en-US" sz="1200" b="1" spc="200" kern="0" dirty="0">
                <a:solidFill>
                  <a:srgbClr val="F1EFEA"/>
                </a:solidFill>
                <a:latin typeface="JetBrains Mono" pitchFamily="34" charset="0"/>
                <a:ea typeface="JetBrains Mono" pitchFamily="34" charset="-122"/>
                <a:cs typeface="JetBrains Mono" pitchFamily="34" charset="-120"/>
              </a:rPr>
              <a:t>20 / 22</a:t>
            </a:r>
            <a:endParaRPr lang="en-US" sz="1200" dirty="0"/>
          </a:p>
        </p:txBody>
      </p:sp>
      <p:sp>
        <p:nvSpPr>
          <p:cNvPr id="3" name="Text 1"/>
          <p:cNvSpPr/>
          <p:nvPr/>
        </p:nvSpPr>
        <p:spPr>
          <a:xfrm>
            <a:off x="1943100" y="279400"/>
            <a:ext cx="831850" cy="355600"/>
          </a:xfrm>
          <a:prstGeom prst="rect">
            <a:avLst/>
          </a:prstGeom>
          <a:solidFill>
            <a:srgbClr val="FAF8F4"/>
          </a:solidFill>
          <a:ln w="19050">
            <a:solidFill>
              <a:srgbClr val="1C1917"/>
            </a:solidFill>
          </a:ln>
        </p:spPr>
        <p:txBody>
          <a:bodyPr wrap="square" lIns="0" tIns="0" rIns="0" bIns="0" rtlCol="0" anchor="ctr"/>
          <a:lstStyle/>
          <a:p>
            <a:pPr algn="ctr" indent="0" marL="0">
              <a:buNone/>
            </a:pPr>
            <a:r>
              <a:rPr lang="en-US" sz="1200" b="1" spc="200" kern="0" dirty="0">
                <a:solidFill>
                  <a:srgbClr val="1C1917"/>
                </a:solidFill>
                <a:latin typeface="JetBrains Mono" pitchFamily="34" charset="0"/>
                <a:ea typeface="JetBrains Mono" pitchFamily="34" charset="-122"/>
                <a:cs typeface="JetBrains Mono" pitchFamily="34" charset="-120"/>
              </a:rPr>
              <a:t>BILAN</a:t>
            </a:r>
            <a:endParaRPr lang="en-US" sz="1200" dirty="0"/>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M_20">
    <p:spTree>
      <p:nvGrpSpPr>
        <p:cNvPr id="1" name=""/>
        <p:cNvGrpSpPr/>
        <p:nvPr/>
      </p:nvGrpSpPr>
      <p:grpSpPr>
        <a:xfrm>
          <a:off x="0" y="0"/>
          <a:ext cx="0" cy="0"/>
          <a:chOff x="0" y="0"/>
          <a:chExt cx="0" cy="0"/>
        </a:xfrm>
      </p:grpSpPr>
      <p:sp>
        <p:nvSpPr>
          <p:cNvPr id="2" name="Text 0"/>
          <p:cNvSpPr/>
          <p:nvPr/>
        </p:nvSpPr>
        <p:spPr>
          <a:xfrm>
            <a:off x="812800" y="279400"/>
            <a:ext cx="1079500" cy="355600"/>
          </a:xfrm>
          <a:prstGeom prst="rect">
            <a:avLst/>
          </a:prstGeom>
          <a:solidFill>
            <a:srgbClr val="1C1917"/>
          </a:solidFill>
          <a:ln w="19050">
            <a:solidFill>
              <a:srgbClr val="1C1917"/>
            </a:solidFill>
          </a:ln>
        </p:spPr>
        <p:txBody>
          <a:bodyPr wrap="square" lIns="0" tIns="0" rIns="0" bIns="0" rtlCol="0" anchor="ctr"/>
          <a:lstStyle/>
          <a:p>
            <a:pPr algn="ctr" indent="0" marL="0">
              <a:buNone/>
            </a:pPr>
            <a:r>
              <a:rPr lang="en-US" sz="1200" b="1" spc="200" kern="0" dirty="0">
                <a:solidFill>
                  <a:srgbClr val="F1EFEA"/>
                </a:solidFill>
                <a:latin typeface="JetBrains Mono" pitchFamily="34" charset="0"/>
                <a:ea typeface="JetBrains Mono" pitchFamily="34" charset="-122"/>
                <a:cs typeface="JetBrains Mono" pitchFamily="34" charset="-120"/>
              </a:rPr>
              <a:t>21 / 22</a:t>
            </a:r>
            <a:endParaRPr lang="en-US" sz="1200" dirty="0"/>
          </a:p>
        </p:txBody>
      </p:sp>
      <p:sp>
        <p:nvSpPr>
          <p:cNvPr id="3" name="Text 1"/>
          <p:cNvSpPr/>
          <p:nvPr/>
        </p:nvSpPr>
        <p:spPr>
          <a:xfrm>
            <a:off x="1943100" y="279400"/>
            <a:ext cx="831850" cy="355600"/>
          </a:xfrm>
          <a:prstGeom prst="rect">
            <a:avLst/>
          </a:prstGeom>
          <a:solidFill>
            <a:srgbClr val="FAF8F4"/>
          </a:solidFill>
          <a:ln w="19050">
            <a:solidFill>
              <a:srgbClr val="1C1917"/>
            </a:solidFill>
          </a:ln>
        </p:spPr>
        <p:txBody>
          <a:bodyPr wrap="square" lIns="0" tIns="0" rIns="0" bIns="0" rtlCol="0" anchor="ctr"/>
          <a:lstStyle/>
          <a:p>
            <a:pPr algn="ctr" indent="0" marL="0">
              <a:buNone/>
            </a:pPr>
            <a:r>
              <a:rPr lang="en-US" sz="1200" b="1" spc="200" kern="0" dirty="0">
                <a:solidFill>
                  <a:srgbClr val="1C1917"/>
                </a:solidFill>
                <a:latin typeface="JetBrains Mono" pitchFamily="34" charset="0"/>
                <a:ea typeface="JetBrains Mono" pitchFamily="34" charset="-122"/>
                <a:cs typeface="JetBrains Mono" pitchFamily="34" charset="-120"/>
              </a:rPr>
              <a:t>BILAN</a:t>
            </a:r>
            <a:endParaRPr lang="en-US" sz="1200" dirty="0"/>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M_21">
    <p:spTree>
      <p:nvGrpSpPr>
        <p:cNvPr id="1" name=""/>
        <p:cNvGrpSpPr/>
        <p:nvPr/>
      </p:nvGrpSpPr>
      <p:grpSpPr>
        <a:xfrm>
          <a:off x="0" y="0"/>
          <a:ext cx="0" cy="0"/>
          <a:chOff x="0" y="0"/>
          <a:chExt cx="0" cy="0"/>
        </a:xfrm>
      </p:grpSpPr>
      <p:sp>
        <p:nvSpPr>
          <p:cNvPr id="2" name="Text 0"/>
          <p:cNvSpPr/>
          <p:nvPr/>
        </p:nvSpPr>
        <p:spPr>
          <a:xfrm>
            <a:off x="812800" y="279400"/>
            <a:ext cx="1079500" cy="355600"/>
          </a:xfrm>
          <a:prstGeom prst="rect">
            <a:avLst/>
          </a:prstGeom>
          <a:solidFill>
            <a:srgbClr val="1C1917"/>
          </a:solidFill>
          <a:ln w="19050">
            <a:solidFill>
              <a:srgbClr val="1C1917"/>
            </a:solidFill>
          </a:ln>
        </p:spPr>
        <p:txBody>
          <a:bodyPr wrap="square" lIns="0" tIns="0" rIns="0" bIns="0" rtlCol="0" anchor="ctr"/>
          <a:lstStyle/>
          <a:p>
            <a:pPr algn="ctr" indent="0" marL="0">
              <a:buNone/>
            </a:pPr>
            <a:r>
              <a:rPr lang="en-US" sz="1200" b="1" spc="200" kern="0" dirty="0">
                <a:solidFill>
                  <a:srgbClr val="F1EFEA"/>
                </a:solidFill>
                <a:latin typeface="JetBrains Mono" pitchFamily="34" charset="0"/>
                <a:ea typeface="JetBrains Mono" pitchFamily="34" charset="-122"/>
                <a:cs typeface="JetBrains Mono" pitchFamily="34" charset="-120"/>
              </a:rPr>
              <a:t>22 / 22</a:t>
            </a:r>
            <a:endParaRPr lang="en-US" sz="1200" dirty="0"/>
          </a:p>
        </p:txBody>
      </p:sp>
      <p:sp>
        <p:nvSpPr>
          <p:cNvPr id="3" name="Text 1"/>
          <p:cNvSpPr/>
          <p:nvPr/>
        </p:nvSpPr>
        <p:spPr>
          <a:xfrm>
            <a:off x="1943100" y="279400"/>
            <a:ext cx="1358900" cy="355600"/>
          </a:xfrm>
          <a:prstGeom prst="rect">
            <a:avLst/>
          </a:prstGeom>
          <a:solidFill>
            <a:srgbClr val="FAF8F4"/>
          </a:solidFill>
          <a:ln w="19050">
            <a:solidFill>
              <a:srgbClr val="1C1917"/>
            </a:solidFill>
          </a:ln>
        </p:spPr>
        <p:txBody>
          <a:bodyPr wrap="square" lIns="0" tIns="0" rIns="0" bIns="0" rtlCol="0" anchor="ctr"/>
          <a:lstStyle/>
          <a:p>
            <a:pPr algn="ctr" indent="0" marL="0">
              <a:buNone/>
            </a:pPr>
            <a:r>
              <a:rPr lang="en-US" sz="1200" b="1" spc="200" kern="0" dirty="0">
                <a:solidFill>
                  <a:srgbClr val="1C1917"/>
                </a:solidFill>
                <a:latin typeface="JetBrains Mono" pitchFamily="34" charset="0"/>
                <a:ea typeface="JetBrains Mono" pitchFamily="34" charset="-122"/>
                <a:cs typeface="JetBrains Mono" pitchFamily="34" charset="-120"/>
              </a:rPr>
              <a:t>CONCLUSION</a:t>
            </a:r>
            <a:endParaRPr lang="en-US" sz="12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 Id="rIdNav2" Type="http://schemas.openxmlformats.org/officeDocument/2006/relationships/slide" Target="slide2.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3.xml"/><Relationship Id="rId4" Type="http://schemas.openxmlformats.org/officeDocument/2006/relationships/notesSlide" Target="../notesSlides/notesSlide2.xml"/><Relationship Id="rIdNav3" Type="http://schemas.openxmlformats.org/officeDocument/2006/relationships/slide" Target="slide3.xml"/><Relationship Id="rIdNav6" Type="http://schemas.openxmlformats.org/officeDocument/2006/relationships/slide" Target="slide6.xml"/><Relationship Id="rIdNav11" Type="http://schemas.openxmlformats.org/officeDocument/2006/relationships/slide" Target="slide11.xml"/><Relationship Id="rIdNav18" Type="http://schemas.openxmlformats.org/officeDocument/2006/relationships/slide" Target="slide18.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4.xml"/><Relationship Id="rId4" Type="http://schemas.openxmlformats.org/officeDocument/2006/relationships/notesSlide" Target="../notesSlides/notesSlide3.xml"/><Relationship Id="rIdNav2" Type="http://schemas.openxmlformats.org/officeDocument/2006/relationships/slide" Target="slide2.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5.xml"/><Relationship Id="rId4" Type="http://schemas.openxmlformats.org/officeDocument/2006/relationships/notesSlide" Target="../notesSlides/notesSlide4.xml"/><Relationship Id="rIdNav2" Type="http://schemas.openxmlformats.org/officeDocument/2006/relationships/slide" Target="slide2.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6.xml"/><Relationship Id="rId4" Type="http://schemas.openxmlformats.org/officeDocument/2006/relationships/notesSlide" Target="../notesSlides/notesSlide5.xml"/><Relationship Id="rIdNav2" Type="http://schemas.openxmlformats.org/officeDocument/2006/relationships/slide" Target="slide2.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7.xml"/><Relationship Id="rId4" Type="http://schemas.openxmlformats.org/officeDocument/2006/relationships/notesSlide" Target="../notesSlides/notesSlide6.xml"/><Relationship Id="rIdNav2" Type="http://schemas.openxmlformats.org/officeDocument/2006/relationships/slide" Target="slide2.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8.xml"/><Relationship Id="rId5" Type="http://schemas.openxmlformats.org/officeDocument/2006/relationships/notesSlide" Target="../notesSlides/notesSlide7.xml"/><Relationship Id="rIdNav2" Type="http://schemas.openxmlformats.org/officeDocument/2006/relationships/slide" Target="slide2.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9.xml"/><Relationship Id="rId4" Type="http://schemas.openxmlformats.org/officeDocument/2006/relationships/notesSlide" Target="../notesSlides/notesSlide8.xml"/><Relationship Id="rIdNav2" Type="http://schemas.openxmlformats.org/officeDocument/2006/relationships/slide" Target="slide2.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0.xml"/><Relationship Id="rId4" Type="http://schemas.openxmlformats.org/officeDocument/2006/relationships/notesSlide" Target="../notesSlides/notesSlide9.xml"/><Relationship Id="rIdNav2" Type="http://schemas.openxmlformats.org/officeDocument/2006/relationships/slide" Target="slide2.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1.xml"/><Relationship Id="rId4" Type="http://schemas.openxmlformats.org/officeDocument/2006/relationships/notesSlide" Target="../notesSlides/notesSlide10.xml"/><Relationship Id="rIdNav2" Type="http://schemas.openxmlformats.org/officeDocument/2006/relationships/slide" Target="slide2.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slideLayout" Target="../slideLayouts/slideLayout12.xml"/><Relationship Id="rId9" Type="http://schemas.openxmlformats.org/officeDocument/2006/relationships/notesSlide" Target="../notesSlides/notesSlide11.xml"/><Relationship Id="rIdNav2" Type="http://schemas.openxmlformats.org/officeDocument/2006/relationships/slide" Target="slide2.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slideLayout" Target="../slideLayouts/slideLayout13.xml"/><Relationship Id="rId9" Type="http://schemas.openxmlformats.org/officeDocument/2006/relationships/notesSlide" Target="../notesSlides/notesSlide12.xml"/><Relationship Id="rIdNav2" Type="http://schemas.openxmlformats.org/officeDocument/2006/relationships/slide" Target="slide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slideLayout" Target="../slideLayouts/slideLayout14.xml"/><Relationship Id="rId9" Type="http://schemas.openxmlformats.org/officeDocument/2006/relationships/notesSlide" Target="../notesSlides/notesSlide13.xml"/><Relationship Id="rIdNav2" Type="http://schemas.openxmlformats.org/officeDocument/2006/relationships/slide" Target="slide2.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slideLayout" Target="../slideLayouts/slideLayout15.xml"/><Relationship Id="rId9" Type="http://schemas.openxmlformats.org/officeDocument/2006/relationships/notesSlide" Target="../notesSlides/notesSlide14.xml"/><Relationship Id="rIdNav2" Type="http://schemas.openxmlformats.org/officeDocument/2006/relationships/slide" Target="slide2.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slideLayout" Target="../slideLayouts/slideLayout16.xml"/><Relationship Id="rId9" Type="http://schemas.openxmlformats.org/officeDocument/2006/relationships/notesSlide" Target="../notesSlides/notesSlide15.xml"/><Relationship Id="rIdNav2" Type="http://schemas.openxmlformats.org/officeDocument/2006/relationships/slide" Target="slide2.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slideLayout" Target="../slideLayouts/slideLayout17.xml"/><Relationship Id="rId9" Type="http://schemas.openxmlformats.org/officeDocument/2006/relationships/notesSlide" Target="../notesSlides/notesSlide16.xml"/><Relationship Id="rIdNav2" Type="http://schemas.openxmlformats.org/officeDocument/2006/relationships/slide" Target="slide2.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8.xml"/><Relationship Id="rId4" Type="http://schemas.openxmlformats.org/officeDocument/2006/relationships/notesSlide" Target="../notesSlides/notesSlide17.xml"/><Relationship Id="rIdNav2" Type="http://schemas.openxmlformats.org/officeDocument/2006/relationships/slide" Target="slide2.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9.xml"/><Relationship Id="rId4" Type="http://schemas.openxmlformats.org/officeDocument/2006/relationships/notesSlide" Target="../notesSlides/notesSlide18.xml"/><Relationship Id="rIdNav2" Type="http://schemas.openxmlformats.org/officeDocument/2006/relationships/slide" Target="slide2.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20.xml"/><Relationship Id="rId4" Type="http://schemas.openxmlformats.org/officeDocument/2006/relationships/notesSlide" Target="../notesSlides/notesSlide19.xml"/><Relationship Id="rIdNav2" Type="http://schemas.openxmlformats.org/officeDocument/2006/relationships/slide" Target="slide2.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21.xml"/><Relationship Id="rId4" Type="http://schemas.openxmlformats.org/officeDocument/2006/relationships/notesSlide" Target="../notesSlides/notesSlide20.xml"/><Relationship Id="rIdNav2" Type="http://schemas.openxmlformats.org/officeDocument/2006/relationships/slide" Target="slide2.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22.xml"/><Relationship Id="rId4" Type="http://schemas.openxmlformats.org/officeDocument/2006/relationships/notesSlide" Target="../notesSlides/notesSlide21.xml"/><Relationship Id="rIdNav2" Type="http://schemas.openxmlformats.org/officeDocument/2006/relationships/slide" Target="slide2.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23.xml"/><Relationship Id="rId4" Type="http://schemas.openxmlformats.org/officeDocument/2006/relationships/notesSlide" Target="../notesSlides/notesSlide22.xml"/><Relationship Id="rIdNav2" Type="http://schemas.openxmlformats.org/officeDocument/2006/relationships/slide" Target="slide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1EFEA"/>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1EFEA"/>
          </a:solidFill>
          <a:ln w="19050">
            <a:solidFill>
              <a:srgbClr val="1C1917"/>
            </a:solidFill>
            <a:prstDash val="solid"/>
          </a:ln>
        </p:spPr>
      </p:sp>
      <p:sp>
        <p:nvSpPr>
          <p:cNvPr id="3" name="!!mk-bar"/>
          <p:cNvSpPr/>
          <p:nvPr/>
        </p:nvSpPr>
        <p:spPr>
          <a:xfrm>
            <a:off x="812800" y="6299200"/>
            <a:ext cx="482600" cy="127000"/>
          </a:xfrm>
          <a:prstGeom prst="rect">
            <a:avLst/>
          </a:prstGeom>
          <a:solidFill>
            <a:srgbClr val="C2570C"/>
          </a:solidFill>
          <a:ln w="19050">
            <a:solidFill>
              <a:srgbClr val="1C1917"/>
            </a:solidFill>
            <a:prstDash val="solid"/>
          </a:ln>
        </p:spPr>
      </p:sp>
      <p:sp>
        <p:nvSpPr>
          <p:cNvPr id="4" name="!!mk-sq"/>
          <p:cNvSpPr/>
          <p:nvPr/>
        </p:nvSpPr>
        <p:spPr>
          <a:xfrm>
            <a:off x="7823200" y="1270000"/>
            <a:ext cx="3048000" cy="3048000"/>
          </a:xfrm>
          <a:prstGeom prst="rect">
            <a:avLst/>
          </a:prstGeom>
          <a:solidFill>
            <a:srgbClr val="C2570C"/>
          </a:solidFill>
          <a:ln w="25400">
            <a:solidFill>
              <a:srgbClr val="1C1917"/>
            </a:solidFill>
            <a:prstDash val="solid"/>
          </a:ln>
          <a:effectLst>
            <a:outerShdw sx="100000" sy="100000" kx="0" ky="0" algn="bl" rotWithShape="0" blurRad="101600" dist="143662" dir="2700000">
              <a:srgbClr val="1C1917">
                <a:alpha val="100000"/>
              </a:srgbClr>
            </a:outerShdw>
          </a:effectLst>
        </p:spPr>
      </p:sp>
      <p:sp>
        <p:nvSpPr>
          <p:cNvPr id="5" name="!!mk-logos"/>
          <p:cNvSpPr/>
          <p:nvPr/>
        </p:nvSpPr>
        <p:spPr>
          <a:xfrm>
            <a:off x="7823200" y="4699000"/>
            <a:ext cx="3556000" cy="508000"/>
          </a:xfrm>
          <a:prstGeom prst="rect">
            <a:avLst/>
          </a:prstGeom>
          <a:solidFill>
            <a:srgbClr val="FAF8F4"/>
          </a:solidFill>
          <a:ln w="19050">
            <a:solidFill>
              <a:srgbClr val="1C1917"/>
            </a:solidFill>
            <a:prstDash val="solid"/>
          </a:ln>
          <a:effectLst>
            <a:outerShdw sx="100000" sy="100000" kx="0" ky="0" algn="bl" rotWithShape="0" blurRad="101600" dist="71831" dir="2700000">
              <a:srgbClr val="1C1917">
                <a:alpha val="100000"/>
              </a:srgbClr>
            </a:outerShdw>
          </a:effectLst>
        </p:spPr>
      </p:sp>
      <p:pic>
        <p:nvPicPr>
          <p:cNvPr id="6" name="!!mk-logo-1" descr="Logo VINCI Facilities">    </p:cNvPr>
          <p:cNvPicPr>
            <a:picLocks noChangeAspect="1"/>
          </p:cNvPicPr>
          <p:nvPr/>
        </p:nvPicPr>
        <p:blipFill>
          <a:blip r:embed="rId1"/>
          <a:stretch>
            <a:fillRect/>
          </a:stretch>
        </p:blipFill>
        <p:spPr>
          <a:xfrm>
            <a:off x="8636000" y="4768850"/>
            <a:ext cx="1092200" cy="361950"/>
          </a:xfrm>
          <a:prstGeom prst="rect">
            <a:avLst/>
          </a:prstGeom>
        </p:spPr>
      </p:pic>
      <p:pic>
        <p:nvPicPr>
          <p:cNvPr id="7" name="!!mk-logo-2" descr="Logo Icam">    </p:cNvPr>
          <p:cNvPicPr>
            <a:picLocks noChangeAspect="1"/>
          </p:cNvPicPr>
          <p:nvPr/>
        </p:nvPicPr>
        <p:blipFill>
          <a:blip r:embed="rId2"/>
          <a:stretch>
            <a:fillRect/>
          </a:stretch>
        </p:blipFill>
        <p:spPr>
          <a:xfrm>
            <a:off x="9950450" y="4768850"/>
            <a:ext cx="615950" cy="361950"/>
          </a:xfrm>
          <a:prstGeom prst="rect">
            <a:avLst/>
          </a:prstGeom>
        </p:spPr>
      </p:pic>
      <p:sp>
        <p:nvSpPr>
          <p:cNvPr id="8" name="Text 4-s1"/>
          <p:cNvSpPr txBox="1"/>
          <p:nvPr/>
        </p:nvSpPr>
        <p:spPr>
          <a:xfrm>
            <a:off x="812800" y="812800"/>
            <a:ext cx="6604000" cy="254000"/>
          </a:xfrm>
          <a:prstGeom prst="rect">
            <a:avLst/>
          </a:prstGeom>
          <a:noFill/>
          <a:ln/>
        </p:spPr>
        <p:txBody>
          <a:bodyPr wrap="square" lIns="0" tIns="0" rIns="0" bIns="0" rtlCol="0" anchor="t"/>
          <a:lstStyle/>
          <a:p>
            <a:pPr algn="l" indent="0" marL="0">
              <a:lnSpc>
                <a:spcPct val="104167"/>
              </a:lnSpc>
              <a:buNone/>
            </a:pPr>
            <a:r>
              <a:rPr lang="en-US" sz="1400" b="1" spc="200" kern="0" dirty="0">
                <a:solidFill>
                  <a:srgbClr val="C2570C"/>
                </a:solidFill>
                <a:latin typeface="JetBrains Mono" pitchFamily="34" charset="0"/>
                <a:ea typeface="JetBrains Mono" pitchFamily="34" charset="-122"/>
                <a:cs typeface="JetBrains Mono" pitchFamily="34" charset="-120"/>
              </a:rPr>
              <a:t>RAPPORT DE PROJET TECHNICIEN · VINCI FACILITIES × ICAM</a:t>
            </a:r>
            <a:endParaRPr lang="en-US" sz="1400" dirty="0"/>
          </a:p>
        </p:txBody>
      </p:sp>
      <p:sp>
        <p:nvSpPr>
          <p:cNvPr id="9" name="Text 5-s1"/>
          <p:cNvSpPr txBox="1"/>
          <p:nvPr/>
        </p:nvSpPr>
        <p:spPr>
          <a:xfrm>
            <a:off x="812800" y="2095500"/>
            <a:ext cx="6604000" cy="1587500"/>
          </a:xfrm>
          <a:prstGeom prst="rect">
            <a:avLst/>
          </a:prstGeom>
          <a:noFill/>
          <a:ln/>
        </p:spPr>
        <p:txBody>
          <a:bodyPr wrap="square" lIns="0" tIns="0" rIns="0" bIns="0" rtlCol="0" anchor="t"/>
          <a:lstStyle/>
          <a:p>
            <a:pPr algn="l" indent="0" marL="0">
              <a:lnSpc>
                <a:spcPct val="83333"/>
              </a:lnSpc>
              <a:buNone/>
            </a:pPr>
            <a:r>
              <a:rPr lang="en-US" sz="12000" b="1" dirty="0">
                <a:solidFill>
                  <a:srgbClr val="1C1917"/>
                </a:solidFill>
                <a:latin typeface="Space Grotesk" pitchFamily="34" charset="0"/>
                <a:ea typeface="Space Grotesk" pitchFamily="34" charset="-122"/>
                <a:cs typeface="Space Grotesk" pitchFamily="34" charset="-120"/>
              </a:rPr>
              <a:t>Teepee</a:t>
            </a:r>
            <a:endParaRPr lang="en-US" sz="12000" dirty="0"/>
          </a:p>
        </p:txBody>
      </p:sp>
      <p:sp>
        <p:nvSpPr>
          <p:cNvPr id="10" name="Text 6-s1"/>
          <p:cNvSpPr txBox="1"/>
          <p:nvPr/>
        </p:nvSpPr>
        <p:spPr>
          <a:xfrm>
            <a:off x="812800" y="3810000"/>
            <a:ext cx="6350000" cy="825500"/>
          </a:xfrm>
          <a:prstGeom prst="rect">
            <a:avLst/>
          </a:prstGeom>
          <a:noFill/>
          <a:ln/>
        </p:spPr>
        <p:txBody>
          <a:bodyPr wrap="square" lIns="0" tIns="0" rIns="0" bIns="0" rtlCol="0" anchor="t"/>
          <a:lstStyle/>
          <a:p>
            <a:pPr algn="l" indent="0" marL="0">
              <a:lnSpc>
                <a:spcPct val="95833"/>
              </a:lnSpc>
              <a:buNone/>
            </a:pPr>
            <a:r>
              <a:rPr lang="en-US" sz="2400" b="1" dirty="0">
                <a:solidFill>
                  <a:srgbClr val="1C1917"/>
                </a:solidFill>
                <a:latin typeface="IBM Plex Sans" pitchFamily="34" charset="0"/>
                <a:ea typeface="IBM Plex Sans" pitchFamily="34" charset="-122"/>
                <a:cs typeface="IBM Plex Sans" pitchFamily="34" charset="-120"/>
              </a:rPr>
              <a:t>Migration des formulaires opérationnels de Kizeo vers Teepee</a:t>
            </a:r>
            <a:endParaRPr lang="en-US" sz="2400" dirty="0"/>
          </a:p>
        </p:txBody>
      </p:sp>
      <p:sp>
        <p:nvSpPr>
          <p:cNvPr id="11" name="Text 7-s1"/>
          <p:cNvSpPr txBox="1"/>
          <p:nvPr/>
        </p:nvSpPr>
        <p:spPr>
          <a:xfrm>
            <a:off x="812800" y="5016500"/>
            <a:ext cx="6604000" cy="304800"/>
          </a:xfrm>
          <a:prstGeom prst="rect">
            <a:avLst/>
          </a:prstGeom>
          <a:noFill/>
          <a:ln/>
        </p:spPr>
        <p:txBody>
          <a:bodyPr wrap="square" lIns="0" tIns="0" rIns="0" bIns="0" rtlCol="0" anchor="t"/>
          <a:lstStyle/>
          <a:p>
            <a:pPr algn="l" indent="0" marL="0">
              <a:lnSpc>
                <a:spcPct val="104167"/>
              </a:lnSpc>
              <a:buNone/>
            </a:pPr>
            <a:r>
              <a:rPr lang="en-US" sz="1800" b="1" dirty="0">
                <a:solidFill>
                  <a:srgbClr val="1C1917"/>
                </a:solidFill>
                <a:latin typeface="IBM Plex Sans" pitchFamily="34" charset="0"/>
                <a:ea typeface="IBM Plex Sans" pitchFamily="34" charset="-122"/>
                <a:cs typeface="IBM Plex Sans" pitchFamily="34" charset="-120"/>
              </a:rPr>
              <a:t>Yann YANKAM TCHAPDA</a:t>
            </a:r>
            <a:endParaRPr lang="en-US" sz="1800" dirty="0"/>
          </a:p>
        </p:txBody>
      </p:sp>
      <p:sp>
        <p:nvSpPr>
          <p:cNvPr id="12" name="Text 8-s1"/>
          <p:cNvSpPr txBox="1"/>
          <p:nvPr/>
        </p:nvSpPr>
        <p:spPr>
          <a:xfrm>
            <a:off x="812800" y="5334000"/>
            <a:ext cx="6604000" cy="228600"/>
          </a:xfrm>
          <a:prstGeom prst="rect">
            <a:avLst/>
          </a:prstGeom>
          <a:noFill/>
          <a:ln/>
        </p:spPr>
        <p:txBody>
          <a:bodyPr wrap="square" lIns="0" tIns="0" rIns="0" bIns="0" rtlCol="0" anchor="t"/>
          <a:lstStyle/>
          <a:p>
            <a:pPr algn="l" indent="0" marL="0">
              <a:lnSpc>
                <a:spcPct val="104167"/>
              </a:lnSpc>
              <a:buNone/>
            </a:pPr>
            <a:r>
              <a:rPr lang="en-US" sz="1400" dirty="0">
                <a:solidFill>
                  <a:srgbClr val="57534E"/>
                </a:solidFill>
                <a:latin typeface="IBM Plex Sans" pitchFamily="34" charset="0"/>
                <a:ea typeface="IBM Plex Sans" pitchFamily="34" charset="-122"/>
                <a:cs typeface="IBM Plex Sans" pitchFamily="34" charset="-120"/>
              </a:rPr>
              <a:t>Ingénieur Systèmes Numériques et Génie Industriel · 2025–2026</a:t>
            </a:r>
            <a:endParaRPr lang="en-US" sz="1400" dirty="0"/>
          </a:p>
        </p:txBody>
      </p:sp>
      <p:sp>
        <p:nvSpPr>
          <p:cNvPr id="13" name="Text 9-s1"/>
          <p:cNvSpPr txBox="1"/>
          <p:nvPr/>
        </p:nvSpPr>
        <p:spPr>
          <a:xfrm>
            <a:off x="812800" y="5568950"/>
            <a:ext cx="6604000" cy="228600"/>
          </a:xfrm>
          <a:prstGeom prst="rect">
            <a:avLst/>
          </a:prstGeom>
          <a:noFill/>
          <a:ln/>
        </p:spPr>
        <p:txBody>
          <a:bodyPr wrap="square" lIns="0" tIns="0" rIns="0" bIns="0" rtlCol="0" anchor="t"/>
          <a:lstStyle/>
          <a:p>
            <a:pPr algn="l" indent="0" marL="0">
              <a:lnSpc>
                <a:spcPct val="104167"/>
              </a:lnSpc>
              <a:buNone/>
            </a:pPr>
            <a:r>
              <a:rPr lang="en-US" sz="1400" dirty="0">
                <a:solidFill>
                  <a:srgbClr val="57534E"/>
                </a:solidFill>
                <a:latin typeface="IBM Plex Sans" pitchFamily="34" charset="0"/>
                <a:ea typeface="IBM Plex Sans" pitchFamily="34" charset="-122"/>
                <a:cs typeface="IBM Plex Sans" pitchFamily="34" charset="-120"/>
              </a:rPr>
              <a:t>VINCI Facilities Tertiaire Aquitaine</a:t>
            </a:r>
            <a:endParaRPr lang="en-US" sz="1400" dirty="0"/>
          </a:p>
        </p:txBody>
      </p:sp>
      <p:sp>
        <p:nvSpPr>
          <p:cNvPr id="14" name="Text 10-s1"/>
          <p:cNvSpPr txBox="1"/>
          <p:nvPr/>
        </p:nvSpPr>
        <p:spPr>
          <a:xfrm>
            <a:off x="812800" y="5803900"/>
            <a:ext cx="6604000" cy="228600"/>
          </a:xfrm>
          <a:prstGeom prst="rect">
            <a:avLst/>
          </a:prstGeom>
          <a:noFill/>
          <a:ln/>
        </p:spPr>
        <p:txBody>
          <a:bodyPr wrap="square" lIns="0" tIns="0" rIns="0" bIns="0" rtlCol="0" anchor="t"/>
          <a:lstStyle/>
          <a:p>
            <a:pPr algn="l" indent="0" marL="0">
              <a:lnSpc>
                <a:spcPct val="104167"/>
              </a:lnSpc>
              <a:buNone/>
            </a:pPr>
            <a:r>
              <a:rPr lang="en-US" sz="1400" dirty="0">
                <a:solidFill>
                  <a:srgbClr val="57534E"/>
                </a:solidFill>
                <a:latin typeface="IBM Plex Sans" pitchFamily="34" charset="0"/>
                <a:ea typeface="IBM Plex Sans" pitchFamily="34" charset="-122"/>
                <a:cs typeface="IBM Plex Sans" pitchFamily="34" charset="-120"/>
              </a:rPr>
              <a:t>Déploiement et stabilisation</a:t>
            </a:r>
            <a:endParaRPr lang="en-US" sz="1400" dirty="0"/>
          </a:p>
        </p:txBody>
      </p:sp>
      <p:sp>
        <p:nvSpPr>
          <p:cNvPr id="15" name="nav:2-s1">
            <a:hlinkClick r:id="rIdNav2" action="ppaction://hlinksldjump"/>
          </p:cNvPr>
          <p:cNvSpPr/>
          <p:nvPr/>
        </p:nvSpPr>
        <p:spPr>
          <a:xfrm>
            <a:off x="7823200" y="1270000"/>
            <a:ext cx="3048000" cy="3048000"/>
          </a:xfrm>
          <a:prstGeom prst="rect">
            <a:avLst/>
          </a:prstGeom>
          <a:solidFill>
            <a:srgbClr val="FFFFFF">
              <a:alpha val="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1EFEA"/>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1EFEA"/>
          </a:solidFill>
          <a:ln w="19050">
            <a:solidFill>
              <a:srgbClr val="1C1917"/>
            </a:solidFill>
            <a:prstDash val="solid"/>
          </a:ln>
        </p:spPr>
      </p:sp>
      <p:sp>
        <p:nvSpPr>
          <p:cNvPr id="3" name="!!mk-bar"/>
          <p:cNvSpPr/>
          <p:nvPr/>
        </p:nvSpPr>
        <p:spPr>
          <a:xfrm>
            <a:off x="812800" y="6299200"/>
            <a:ext cx="958850" cy="127000"/>
          </a:xfrm>
          <a:prstGeom prst="rect">
            <a:avLst/>
          </a:prstGeom>
          <a:solidFill>
            <a:srgbClr val="C2570C"/>
          </a:solidFill>
          <a:ln w="19050">
            <a:solidFill>
              <a:srgbClr val="1C1917"/>
            </a:solidFill>
            <a:prstDash val="solid"/>
          </a:ln>
        </p:spPr>
      </p:sp>
      <p:sp>
        <p:nvSpPr>
          <p:cNvPr id="4" name="!!mk-sq"/>
          <p:cNvSpPr/>
          <p:nvPr/>
        </p:nvSpPr>
        <p:spPr>
          <a:xfrm rot="900000">
            <a:off x="10922000" y="254000"/>
            <a:ext cx="457200" cy="457200"/>
          </a:xfrm>
          <a:prstGeom prst="rect">
            <a:avLst/>
          </a:prstGeom>
          <a:solidFill>
            <a:srgbClr val="C2570C"/>
          </a:solidFill>
          <a:ln w="25400">
            <a:solidFill>
              <a:srgbClr val="1C1917"/>
            </a:solidFill>
            <a:prstDash val="solid"/>
          </a:ln>
          <a:effectLst>
            <a:outerShdw sx="100000" sy="100000" kx="0" ky="0" algn="bl" rotWithShape="0" blurRad="101600" dist="71831" dir="2700000">
              <a:srgbClr val="1C1917">
                <a:alpha val="100000"/>
              </a:srgbClr>
            </a:outerShdw>
          </a:effectLst>
        </p:spPr>
      </p:sp>
      <p:sp>
        <p:nvSpPr>
          <p:cNvPr id="5" name="!!mk-logos"/>
          <p:cNvSpPr/>
          <p:nvPr/>
        </p:nvSpPr>
        <p:spPr>
          <a:xfrm>
            <a:off x="8191500" y="279400"/>
            <a:ext cx="2476500" cy="355600"/>
          </a:xfrm>
          <a:prstGeom prst="rect">
            <a:avLst/>
          </a:prstGeom>
          <a:solidFill>
            <a:srgbClr val="FAF8F4"/>
          </a:solidFill>
          <a:ln w="19050">
            <a:solidFill>
              <a:srgbClr val="1C1917"/>
            </a:solidFill>
            <a:prstDash val="solid"/>
          </a:ln>
          <a:effectLst>
            <a:outerShdw sx="100000" sy="100000" kx="0" ky="0" algn="bl" rotWithShape="0" blurRad="101600" dist="53873" dir="2700000">
              <a:srgbClr val="1C1917">
                <a:alpha val="100000"/>
              </a:srgbClr>
            </a:outerShdw>
          </a:effectLst>
        </p:spPr>
      </p:sp>
      <p:pic>
        <p:nvPicPr>
          <p:cNvPr id="6" name="!!mk-logo-1" descr="Logo VINCI Facilities">    </p:cNvPr>
          <p:cNvPicPr>
            <a:picLocks noChangeAspect="1"/>
          </p:cNvPicPr>
          <p:nvPr/>
        </p:nvPicPr>
        <p:blipFill>
          <a:blip r:embed="rId1"/>
          <a:stretch>
            <a:fillRect/>
          </a:stretch>
        </p:blipFill>
        <p:spPr>
          <a:xfrm>
            <a:off x="8756650" y="330200"/>
            <a:ext cx="762000" cy="254000"/>
          </a:xfrm>
          <a:prstGeom prst="rect">
            <a:avLst/>
          </a:prstGeom>
        </p:spPr>
      </p:pic>
      <p:pic>
        <p:nvPicPr>
          <p:cNvPr id="7" name="!!mk-logo-2" descr="Logo Icam">    </p:cNvPr>
          <p:cNvPicPr>
            <a:picLocks noChangeAspect="1"/>
          </p:cNvPicPr>
          <p:nvPr/>
        </p:nvPicPr>
        <p:blipFill>
          <a:blip r:embed="rId2"/>
          <a:stretch>
            <a:fillRect/>
          </a:stretch>
        </p:blipFill>
        <p:spPr>
          <a:xfrm>
            <a:off x="9671050" y="330200"/>
            <a:ext cx="431800" cy="254000"/>
          </a:xfrm>
          <a:prstGeom prst="rect">
            <a:avLst/>
          </a:prstGeom>
        </p:spPr>
      </p:pic>
      <p:sp>
        <p:nvSpPr>
          <p:cNvPr id="8" name="Text 4-s2"/>
          <p:cNvSpPr txBox="1"/>
          <p:nvPr/>
        </p:nvSpPr>
        <p:spPr>
          <a:xfrm>
            <a:off x="812800" y="812800"/>
            <a:ext cx="10566400" cy="571500"/>
          </a:xfrm>
          <a:prstGeom prst="rect">
            <a:avLst/>
          </a:prstGeom>
          <a:noFill/>
          <a:ln/>
        </p:spPr>
        <p:txBody>
          <a:bodyPr wrap="square" lIns="0" tIns="0" rIns="0" bIns="0" rtlCol="0" anchor="t"/>
          <a:lstStyle/>
          <a:p>
            <a:pPr algn="l" indent="0" marL="0">
              <a:lnSpc>
                <a:spcPct val="87500"/>
              </a:lnSpc>
              <a:buNone/>
            </a:pPr>
            <a:r>
              <a:rPr lang="en-US" sz="3600" b="1" dirty="0">
                <a:solidFill>
                  <a:srgbClr val="1C1917"/>
                </a:solidFill>
                <a:latin typeface="Space Grotesk" pitchFamily="34" charset="0"/>
                <a:ea typeface="Space Grotesk" pitchFamily="34" charset="-122"/>
                <a:cs typeface="Space Grotesk" pitchFamily="34" charset="-120"/>
              </a:rPr>
              <a:t>Plan de la présentation</a:t>
            </a:r>
            <a:endParaRPr lang="en-US" sz="3600" dirty="0"/>
          </a:p>
        </p:txBody>
      </p:sp>
      <p:sp>
        <p:nvSpPr>
          <p:cNvPr id="9" name="Shape 5-s2"/>
          <p:cNvSpPr/>
          <p:nvPr/>
        </p:nvSpPr>
        <p:spPr>
          <a:xfrm>
            <a:off x="812800" y="1905000"/>
            <a:ext cx="2489200" cy="2159000"/>
          </a:xfrm>
          <a:prstGeom prst="rect">
            <a:avLst/>
          </a:prstGeom>
          <a:solidFill>
            <a:srgbClr val="FAF8F4"/>
          </a:solidFill>
          <a:ln w="25400">
            <a:solidFill>
              <a:srgbClr val="1C1917"/>
            </a:solidFill>
            <a:prstDash val="solid"/>
          </a:ln>
          <a:effectLst>
            <a:outerShdw sx="100000" sy="100000" kx="0" ky="0" algn="bl" rotWithShape="0" blurRad="101600" dist="89789" dir="2700000">
              <a:srgbClr val="1C1917">
                <a:alpha val="100000"/>
              </a:srgbClr>
            </a:outerShdw>
          </a:effectLst>
        </p:spPr>
      </p:sp>
      <p:sp>
        <p:nvSpPr>
          <p:cNvPr id="10" name="Text 6-s2"/>
          <p:cNvSpPr txBox="1"/>
          <p:nvPr/>
        </p:nvSpPr>
        <p:spPr>
          <a:xfrm>
            <a:off x="1041400" y="2133600"/>
            <a:ext cx="1600200" cy="254000"/>
          </a:xfrm>
          <a:prstGeom prst="rect">
            <a:avLst/>
          </a:prstGeom>
          <a:noFill/>
          <a:ln/>
        </p:spPr>
        <p:txBody>
          <a:bodyPr wrap="square" lIns="0" tIns="0" rIns="0" bIns="0" rtlCol="0" anchor="t"/>
          <a:lstStyle/>
          <a:p>
            <a:pPr algn="l" indent="0" marL="0">
              <a:lnSpc>
                <a:spcPct val="104167"/>
              </a:lnSpc>
              <a:buNone/>
            </a:pPr>
            <a:r>
              <a:rPr lang="en-US" sz="1400" b="1" dirty="0">
                <a:solidFill>
                  <a:srgbClr val="C2570C"/>
                </a:solidFill>
                <a:latin typeface="JetBrains Mono" pitchFamily="34" charset="0"/>
                <a:ea typeface="JetBrains Mono" pitchFamily="34" charset="-122"/>
                <a:cs typeface="JetBrains Mono" pitchFamily="34" charset="-120"/>
              </a:rPr>
              <a:t>01</a:t>
            </a:r>
            <a:endParaRPr lang="en-US" sz="1400" dirty="0"/>
          </a:p>
        </p:txBody>
      </p:sp>
      <p:sp>
        <p:nvSpPr>
          <p:cNvPr id="11" name="Text 7-s2"/>
          <p:cNvSpPr txBox="1"/>
          <p:nvPr/>
        </p:nvSpPr>
        <p:spPr>
          <a:xfrm>
            <a:off x="1041400" y="2489200"/>
            <a:ext cx="2032000" cy="355600"/>
          </a:xfrm>
          <a:prstGeom prst="rect">
            <a:avLst/>
          </a:prstGeom>
          <a:noFill/>
          <a:ln/>
        </p:spPr>
        <p:txBody>
          <a:bodyPr wrap="square" lIns="0" tIns="0" rIns="0" bIns="0" rtlCol="0" anchor="t"/>
          <a:lstStyle/>
          <a:p>
            <a:pPr algn="l" indent="0" marL="0">
              <a:lnSpc>
                <a:spcPct val="95833"/>
              </a:lnSpc>
              <a:buNone/>
            </a:pPr>
            <a:r>
              <a:rPr lang="en-US" sz="2000" b="1" dirty="0">
                <a:solidFill>
                  <a:srgbClr val="1C1917"/>
                </a:solidFill>
                <a:latin typeface="Space Grotesk" pitchFamily="34" charset="0"/>
                <a:ea typeface="Space Grotesk" pitchFamily="34" charset="-122"/>
                <a:cs typeface="Space Grotesk" pitchFamily="34" charset="-120"/>
              </a:rPr>
              <a:t>Contexte</a:t>
            </a:r>
            <a:endParaRPr lang="en-US" sz="2000" dirty="0"/>
          </a:p>
        </p:txBody>
      </p:sp>
      <p:sp>
        <p:nvSpPr>
          <p:cNvPr id="12" name="Text 8-s2"/>
          <p:cNvSpPr txBox="1"/>
          <p:nvPr/>
        </p:nvSpPr>
        <p:spPr>
          <a:xfrm>
            <a:off x="1041400" y="2984500"/>
            <a:ext cx="2032000" cy="952500"/>
          </a:xfrm>
          <a:prstGeom prst="rect">
            <a:avLst/>
          </a:prstGeom>
          <a:noFill/>
          <a:ln/>
        </p:spPr>
        <p:txBody>
          <a:bodyPr wrap="square" lIns="0" tIns="0" rIns="0" bIns="0" rtlCol="0" anchor="t"/>
          <a:lstStyle/>
          <a:p>
            <a:pPr algn="l" indent="0" marL="0">
              <a:lnSpc>
                <a:spcPct val="108333"/>
              </a:lnSpc>
              <a:buNone/>
            </a:pPr>
            <a:r>
              <a:rPr lang="en-US" sz="1400" dirty="0">
                <a:solidFill>
                  <a:srgbClr val="57534E"/>
                </a:solidFill>
                <a:latin typeface="IBM Plex Sans" pitchFamily="34" charset="0"/>
                <a:ea typeface="IBM Plex Sans" pitchFamily="34" charset="-122"/>
                <a:cs typeface="IBM Plex Sans" pitchFamily="34" charset="-120"/>
              </a:rPr>
              <a:t>Pourquoi changer d’outil, et la problématique</a:t>
            </a:r>
            <a:endParaRPr lang="en-US" sz="1400" dirty="0"/>
          </a:p>
        </p:txBody>
      </p:sp>
      <p:sp>
        <p:nvSpPr>
          <p:cNvPr id="13" name="nav:3-s2">
            <a:hlinkClick r:id="rIdNav3" action="ppaction://hlinksldjump"/>
          </p:cNvPr>
          <p:cNvSpPr/>
          <p:nvPr/>
        </p:nvSpPr>
        <p:spPr>
          <a:xfrm>
            <a:off x="812800" y="1905000"/>
            <a:ext cx="2489200" cy="2159000"/>
          </a:xfrm>
          <a:prstGeom prst="rect">
            <a:avLst/>
          </a:prstGeom>
          <a:solidFill>
            <a:srgbClr val="FFFFFF">
              <a:alpha val="0"/>
            </a:srgbClr>
          </a:solidFill>
          <a:ln/>
        </p:spPr>
      </p:sp>
      <p:sp>
        <p:nvSpPr>
          <p:cNvPr id="14" name="Shape 10-s2"/>
          <p:cNvSpPr/>
          <p:nvPr/>
        </p:nvSpPr>
        <p:spPr>
          <a:xfrm>
            <a:off x="3505200" y="1905000"/>
            <a:ext cx="2489200" cy="2159000"/>
          </a:xfrm>
          <a:prstGeom prst="rect">
            <a:avLst/>
          </a:prstGeom>
          <a:solidFill>
            <a:srgbClr val="FAF8F4"/>
          </a:solidFill>
          <a:ln w="25400">
            <a:solidFill>
              <a:srgbClr val="1C1917"/>
            </a:solidFill>
            <a:prstDash val="solid"/>
          </a:ln>
          <a:effectLst>
            <a:outerShdw sx="100000" sy="100000" kx="0" ky="0" algn="bl" rotWithShape="0" blurRad="101600" dist="89789" dir="2700000">
              <a:srgbClr val="1C1917">
                <a:alpha val="100000"/>
              </a:srgbClr>
            </a:outerShdw>
          </a:effectLst>
        </p:spPr>
      </p:sp>
      <p:sp>
        <p:nvSpPr>
          <p:cNvPr id="15" name="Text 11-s2"/>
          <p:cNvSpPr txBox="1"/>
          <p:nvPr/>
        </p:nvSpPr>
        <p:spPr>
          <a:xfrm>
            <a:off x="3733800" y="2133600"/>
            <a:ext cx="1600200" cy="254000"/>
          </a:xfrm>
          <a:prstGeom prst="rect">
            <a:avLst/>
          </a:prstGeom>
          <a:noFill/>
          <a:ln/>
        </p:spPr>
        <p:txBody>
          <a:bodyPr wrap="square" lIns="0" tIns="0" rIns="0" bIns="0" rtlCol="0" anchor="t"/>
          <a:lstStyle/>
          <a:p>
            <a:pPr algn="l" indent="0" marL="0">
              <a:lnSpc>
                <a:spcPct val="104167"/>
              </a:lnSpc>
              <a:buNone/>
            </a:pPr>
            <a:r>
              <a:rPr lang="en-US" sz="1400" b="1" dirty="0">
                <a:solidFill>
                  <a:srgbClr val="C2570C"/>
                </a:solidFill>
                <a:latin typeface="JetBrains Mono" pitchFamily="34" charset="0"/>
                <a:ea typeface="JetBrains Mono" pitchFamily="34" charset="-122"/>
                <a:cs typeface="JetBrains Mono" pitchFamily="34" charset="-120"/>
              </a:rPr>
              <a:t>02</a:t>
            </a:r>
            <a:endParaRPr lang="en-US" sz="1400" dirty="0"/>
          </a:p>
        </p:txBody>
      </p:sp>
      <p:sp>
        <p:nvSpPr>
          <p:cNvPr id="16" name="Text 12-s2"/>
          <p:cNvSpPr txBox="1"/>
          <p:nvPr/>
        </p:nvSpPr>
        <p:spPr>
          <a:xfrm>
            <a:off x="3733800" y="2489200"/>
            <a:ext cx="2032000" cy="355600"/>
          </a:xfrm>
          <a:prstGeom prst="rect">
            <a:avLst/>
          </a:prstGeom>
          <a:noFill/>
          <a:ln/>
        </p:spPr>
        <p:txBody>
          <a:bodyPr wrap="square" lIns="0" tIns="0" rIns="0" bIns="0" rtlCol="0" anchor="t"/>
          <a:lstStyle/>
          <a:p>
            <a:pPr algn="l" indent="0" marL="0">
              <a:lnSpc>
                <a:spcPct val="95833"/>
              </a:lnSpc>
              <a:buNone/>
            </a:pPr>
            <a:r>
              <a:rPr lang="en-US" sz="2000" b="1" dirty="0">
                <a:solidFill>
                  <a:srgbClr val="1C1917"/>
                </a:solidFill>
                <a:latin typeface="Space Grotesk" pitchFamily="34" charset="0"/>
                <a:ea typeface="Space Grotesk" pitchFamily="34" charset="-122"/>
                <a:cs typeface="Space Grotesk" pitchFamily="34" charset="-120"/>
              </a:rPr>
              <a:t>Pilotage</a:t>
            </a:r>
            <a:endParaRPr lang="en-US" sz="2000" dirty="0"/>
          </a:p>
        </p:txBody>
      </p:sp>
      <p:sp>
        <p:nvSpPr>
          <p:cNvPr id="17" name="Text 13-s2"/>
          <p:cNvSpPr txBox="1"/>
          <p:nvPr/>
        </p:nvSpPr>
        <p:spPr>
          <a:xfrm>
            <a:off x="3733800" y="2984500"/>
            <a:ext cx="2032000" cy="952500"/>
          </a:xfrm>
          <a:prstGeom prst="rect">
            <a:avLst/>
          </a:prstGeom>
          <a:noFill/>
          <a:ln/>
        </p:spPr>
        <p:txBody>
          <a:bodyPr wrap="square" lIns="0" tIns="0" rIns="0" bIns="0" rtlCol="0" anchor="t"/>
          <a:lstStyle/>
          <a:p>
            <a:pPr algn="l" indent="0" marL="0">
              <a:lnSpc>
                <a:spcPct val="108333"/>
              </a:lnSpc>
              <a:buNone/>
            </a:pPr>
            <a:r>
              <a:rPr lang="en-US" sz="1400" dirty="0">
                <a:solidFill>
                  <a:srgbClr val="57534E"/>
                </a:solidFill>
                <a:latin typeface="IBM Plex Sans" pitchFamily="34" charset="0"/>
                <a:ea typeface="IBM Plex Sans" pitchFamily="34" charset="-122"/>
                <a:cs typeface="IBM Plex Sans" pitchFamily="34" charset="-120"/>
              </a:rPr>
              <a:t>Démarche, bugs, conduite du changement</a:t>
            </a:r>
            <a:endParaRPr lang="en-US" sz="1400" dirty="0"/>
          </a:p>
        </p:txBody>
      </p:sp>
      <p:sp>
        <p:nvSpPr>
          <p:cNvPr id="18" name="nav:6-s2">
            <a:hlinkClick r:id="rIdNav6" action="ppaction://hlinksldjump"/>
          </p:cNvPr>
          <p:cNvSpPr/>
          <p:nvPr/>
        </p:nvSpPr>
        <p:spPr>
          <a:xfrm>
            <a:off x="3505200" y="1905000"/>
            <a:ext cx="2489200" cy="2159000"/>
          </a:xfrm>
          <a:prstGeom prst="rect">
            <a:avLst/>
          </a:prstGeom>
          <a:solidFill>
            <a:srgbClr val="FFFFFF">
              <a:alpha val="0"/>
            </a:srgbClr>
          </a:solidFill>
          <a:ln/>
        </p:spPr>
      </p:sp>
      <p:sp>
        <p:nvSpPr>
          <p:cNvPr id="19" name="Shape 15-s2"/>
          <p:cNvSpPr/>
          <p:nvPr/>
        </p:nvSpPr>
        <p:spPr>
          <a:xfrm>
            <a:off x="6197600" y="1905000"/>
            <a:ext cx="2489200" cy="2159000"/>
          </a:xfrm>
          <a:prstGeom prst="rect">
            <a:avLst/>
          </a:prstGeom>
          <a:solidFill>
            <a:srgbClr val="FAF8F4"/>
          </a:solidFill>
          <a:ln w="25400">
            <a:solidFill>
              <a:srgbClr val="1C1917"/>
            </a:solidFill>
            <a:prstDash val="solid"/>
          </a:ln>
          <a:effectLst>
            <a:outerShdw sx="100000" sy="100000" kx="0" ky="0" algn="bl" rotWithShape="0" blurRad="101600" dist="89789" dir="2700000">
              <a:srgbClr val="1C1917">
                <a:alpha val="100000"/>
              </a:srgbClr>
            </a:outerShdw>
          </a:effectLst>
        </p:spPr>
      </p:sp>
      <p:sp>
        <p:nvSpPr>
          <p:cNvPr id="20" name="Text 16-s2"/>
          <p:cNvSpPr txBox="1"/>
          <p:nvPr/>
        </p:nvSpPr>
        <p:spPr>
          <a:xfrm>
            <a:off x="6426200" y="2133600"/>
            <a:ext cx="1600200" cy="254000"/>
          </a:xfrm>
          <a:prstGeom prst="rect">
            <a:avLst/>
          </a:prstGeom>
          <a:noFill/>
          <a:ln/>
        </p:spPr>
        <p:txBody>
          <a:bodyPr wrap="square" lIns="0" tIns="0" rIns="0" bIns="0" rtlCol="0" anchor="t"/>
          <a:lstStyle/>
          <a:p>
            <a:pPr algn="l" indent="0" marL="0">
              <a:lnSpc>
                <a:spcPct val="104167"/>
              </a:lnSpc>
              <a:buNone/>
            </a:pPr>
            <a:r>
              <a:rPr lang="en-US" sz="1400" b="1" dirty="0">
                <a:solidFill>
                  <a:srgbClr val="C2570C"/>
                </a:solidFill>
                <a:latin typeface="JetBrains Mono" pitchFamily="34" charset="0"/>
                <a:ea typeface="JetBrains Mono" pitchFamily="34" charset="-122"/>
                <a:cs typeface="JetBrains Mono" pitchFamily="34" charset="-120"/>
              </a:rPr>
              <a:t>03</a:t>
            </a:r>
            <a:endParaRPr lang="en-US" sz="1400" dirty="0"/>
          </a:p>
        </p:txBody>
      </p:sp>
      <p:sp>
        <p:nvSpPr>
          <p:cNvPr id="21" name="Text 17-s2"/>
          <p:cNvSpPr txBox="1"/>
          <p:nvPr/>
        </p:nvSpPr>
        <p:spPr>
          <a:xfrm>
            <a:off x="6426200" y="2489200"/>
            <a:ext cx="2032000" cy="355600"/>
          </a:xfrm>
          <a:prstGeom prst="rect">
            <a:avLst/>
          </a:prstGeom>
          <a:noFill/>
          <a:ln/>
        </p:spPr>
        <p:txBody>
          <a:bodyPr wrap="square" lIns="0" tIns="0" rIns="0" bIns="0" rtlCol="0" anchor="t"/>
          <a:lstStyle/>
          <a:p>
            <a:pPr algn="l" indent="0" marL="0">
              <a:lnSpc>
                <a:spcPct val="95833"/>
              </a:lnSpc>
              <a:buNone/>
            </a:pPr>
            <a:r>
              <a:rPr lang="en-US" sz="2000" b="1" dirty="0">
                <a:solidFill>
                  <a:srgbClr val="1C1917"/>
                </a:solidFill>
                <a:latin typeface="Space Grotesk" pitchFamily="34" charset="0"/>
                <a:ea typeface="Space Grotesk" pitchFamily="34" charset="-122"/>
                <a:cs typeface="Space Grotesk" pitchFamily="34" charset="-120"/>
              </a:rPr>
              <a:t>Résultats</a:t>
            </a:r>
            <a:endParaRPr lang="en-US" sz="2000" dirty="0"/>
          </a:p>
        </p:txBody>
      </p:sp>
      <p:sp>
        <p:nvSpPr>
          <p:cNvPr id="22" name="Text 18-s2"/>
          <p:cNvSpPr txBox="1"/>
          <p:nvPr/>
        </p:nvSpPr>
        <p:spPr>
          <a:xfrm>
            <a:off x="6426200" y="2984500"/>
            <a:ext cx="2032000" cy="952500"/>
          </a:xfrm>
          <a:prstGeom prst="rect">
            <a:avLst/>
          </a:prstGeom>
          <a:noFill/>
          <a:ln/>
        </p:spPr>
        <p:txBody>
          <a:bodyPr wrap="square" lIns="0" tIns="0" rIns="0" bIns="0" rtlCol="0" anchor="t"/>
          <a:lstStyle/>
          <a:p>
            <a:pPr algn="l" indent="0" marL="0">
              <a:lnSpc>
                <a:spcPct val="108333"/>
              </a:lnSpc>
              <a:buNone/>
            </a:pPr>
            <a:r>
              <a:rPr lang="en-US" sz="1400" dirty="0">
                <a:solidFill>
                  <a:srgbClr val="57534E"/>
                </a:solidFill>
                <a:latin typeface="IBM Plex Sans" pitchFamily="34" charset="0"/>
                <a:ea typeface="IBM Plex Sans" pitchFamily="34" charset="-122"/>
                <a:cs typeface="IBM Plex Sans" pitchFamily="34" charset="-120"/>
              </a:rPr>
              <a:t>Livrables, chiffres et écarts</a:t>
            </a:r>
            <a:endParaRPr lang="en-US" sz="1400" dirty="0"/>
          </a:p>
        </p:txBody>
      </p:sp>
      <p:sp>
        <p:nvSpPr>
          <p:cNvPr id="23" name="nav:11-s2">
            <a:hlinkClick r:id="rIdNav11" action="ppaction://hlinksldjump"/>
          </p:cNvPr>
          <p:cNvSpPr/>
          <p:nvPr/>
        </p:nvSpPr>
        <p:spPr>
          <a:xfrm>
            <a:off x="6197600" y="1905000"/>
            <a:ext cx="2489200" cy="2159000"/>
          </a:xfrm>
          <a:prstGeom prst="rect">
            <a:avLst/>
          </a:prstGeom>
          <a:solidFill>
            <a:srgbClr val="FFFFFF">
              <a:alpha val="0"/>
            </a:srgbClr>
          </a:solidFill>
          <a:ln/>
        </p:spPr>
      </p:sp>
      <p:sp>
        <p:nvSpPr>
          <p:cNvPr id="24" name="Shape 20-s2"/>
          <p:cNvSpPr/>
          <p:nvPr/>
        </p:nvSpPr>
        <p:spPr>
          <a:xfrm>
            <a:off x="8890000" y="1905000"/>
            <a:ext cx="2489200" cy="2159000"/>
          </a:xfrm>
          <a:prstGeom prst="rect">
            <a:avLst/>
          </a:prstGeom>
          <a:solidFill>
            <a:srgbClr val="FAF8F4"/>
          </a:solidFill>
          <a:ln w="25400">
            <a:solidFill>
              <a:srgbClr val="1C1917"/>
            </a:solidFill>
            <a:prstDash val="solid"/>
          </a:ln>
          <a:effectLst>
            <a:outerShdw sx="100000" sy="100000" kx="0" ky="0" algn="bl" rotWithShape="0" blurRad="101600" dist="89789" dir="2700000">
              <a:srgbClr val="1C1917">
                <a:alpha val="100000"/>
              </a:srgbClr>
            </a:outerShdw>
          </a:effectLst>
        </p:spPr>
      </p:sp>
      <p:sp>
        <p:nvSpPr>
          <p:cNvPr id="25" name="Text 21-s2"/>
          <p:cNvSpPr txBox="1"/>
          <p:nvPr/>
        </p:nvSpPr>
        <p:spPr>
          <a:xfrm>
            <a:off x="9118600" y="2133600"/>
            <a:ext cx="1600200" cy="254000"/>
          </a:xfrm>
          <a:prstGeom prst="rect">
            <a:avLst/>
          </a:prstGeom>
          <a:noFill/>
          <a:ln/>
        </p:spPr>
        <p:txBody>
          <a:bodyPr wrap="square" lIns="0" tIns="0" rIns="0" bIns="0" rtlCol="0" anchor="t"/>
          <a:lstStyle/>
          <a:p>
            <a:pPr algn="l" indent="0" marL="0">
              <a:lnSpc>
                <a:spcPct val="104167"/>
              </a:lnSpc>
              <a:buNone/>
            </a:pPr>
            <a:r>
              <a:rPr lang="en-US" sz="1400" b="1" dirty="0">
                <a:solidFill>
                  <a:srgbClr val="C2570C"/>
                </a:solidFill>
                <a:latin typeface="JetBrains Mono" pitchFamily="34" charset="0"/>
                <a:ea typeface="JetBrains Mono" pitchFamily="34" charset="-122"/>
                <a:cs typeface="JetBrains Mono" pitchFamily="34" charset="-120"/>
              </a:rPr>
              <a:t>04</a:t>
            </a:r>
            <a:endParaRPr lang="en-US" sz="1400" dirty="0"/>
          </a:p>
        </p:txBody>
      </p:sp>
      <p:sp>
        <p:nvSpPr>
          <p:cNvPr id="26" name="Text 22-s2"/>
          <p:cNvSpPr txBox="1"/>
          <p:nvPr/>
        </p:nvSpPr>
        <p:spPr>
          <a:xfrm>
            <a:off x="9118600" y="2489200"/>
            <a:ext cx="2032000" cy="355600"/>
          </a:xfrm>
          <a:prstGeom prst="rect">
            <a:avLst/>
          </a:prstGeom>
          <a:noFill/>
          <a:ln/>
        </p:spPr>
        <p:txBody>
          <a:bodyPr wrap="square" lIns="0" tIns="0" rIns="0" bIns="0" rtlCol="0" anchor="t"/>
          <a:lstStyle/>
          <a:p>
            <a:pPr algn="l" indent="0" marL="0">
              <a:lnSpc>
                <a:spcPct val="95833"/>
              </a:lnSpc>
              <a:buNone/>
            </a:pPr>
            <a:r>
              <a:rPr lang="en-US" sz="2000" b="1" dirty="0">
                <a:solidFill>
                  <a:srgbClr val="1C1917"/>
                </a:solidFill>
                <a:latin typeface="Space Grotesk" pitchFamily="34" charset="0"/>
                <a:ea typeface="Space Grotesk" pitchFamily="34" charset="-122"/>
                <a:cs typeface="Space Grotesk" pitchFamily="34" charset="-120"/>
              </a:rPr>
              <a:t>Bilan</a:t>
            </a:r>
            <a:endParaRPr lang="en-US" sz="2000" dirty="0"/>
          </a:p>
        </p:txBody>
      </p:sp>
      <p:sp>
        <p:nvSpPr>
          <p:cNvPr id="27" name="Text 23-s2"/>
          <p:cNvSpPr txBox="1"/>
          <p:nvPr/>
        </p:nvSpPr>
        <p:spPr>
          <a:xfrm>
            <a:off x="9118600" y="2984500"/>
            <a:ext cx="2032000" cy="952500"/>
          </a:xfrm>
          <a:prstGeom prst="rect">
            <a:avLst/>
          </a:prstGeom>
          <a:noFill/>
          <a:ln/>
        </p:spPr>
        <p:txBody>
          <a:bodyPr wrap="square" lIns="0" tIns="0" rIns="0" bIns="0" rtlCol="0" anchor="t"/>
          <a:lstStyle/>
          <a:p>
            <a:pPr algn="l" indent="0" marL="0">
              <a:lnSpc>
                <a:spcPct val="108333"/>
              </a:lnSpc>
              <a:buNone/>
            </a:pPr>
            <a:r>
              <a:rPr lang="en-US" sz="1400" dirty="0">
                <a:solidFill>
                  <a:srgbClr val="57534E"/>
                </a:solidFill>
                <a:latin typeface="IBM Plex Sans" pitchFamily="34" charset="0"/>
                <a:ea typeface="IBM Plex Sans" pitchFamily="34" charset="-122"/>
                <a:cs typeface="IBM Plex Sans" pitchFamily="34" charset="-120"/>
              </a:rPr>
              <a:t>Compétences, retour critique, perspectives</a:t>
            </a:r>
            <a:endParaRPr lang="en-US" sz="1400" dirty="0"/>
          </a:p>
        </p:txBody>
      </p:sp>
      <p:sp>
        <p:nvSpPr>
          <p:cNvPr id="28" name="nav:18-s2">
            <a:hlinkClick r:id="rIdNav18" action="ppaction://hlinksldjump"/>
          </p:cNvPr>
          <p:cNvSpPr/>
          <p:nvPr/>
        </p:nvSpPr>
        <p:spPr>
          <a:xfrm>
            <a:off x="8890000" y="1905000"/>
            <a:ext cx="2489200" cy="2159000"/>
          </a:xfrm>
          <a:prstGeom prst="rect">
            <a:avLst/>
          </a:prstGeom>
          <a:solidFill>
            <a:srgbClr val="FFFFFF">
              <a:alpha val="0"/>
            </a:srgbClr>
          </a:solidFill>
          <a:ln/>
        </p:spPr>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1EFEA"/>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1EFEA"/>
          </a:solidFill>
          <a:ln w="19050">
            <a:solidFill>
              <a:srgbClr val="1C1917"/>
            </a:solidFill>
            <a:prstDash val="solid"/>
          </a:ln>
        </p:spPr>
      </p:sp>
      <p:sp>
        <p:nvSpPr>
          <p:cNvPr id="3" name="!!mk-bar"/>
          <p:cNvSpPr/>
          <p:nvPr/>
        </p:nvSpPr>
        <p:spPr>
          <a:xfrm>
            <a:off x="812800" y="6299200"/>
            <a:ext cx="1441450" cy="127000"/>
          </a:xfrm>
          <a:prstGeom prst="rect">
            <a:avLst/>
          </a:prstGeom>
          <a:solidFill>
            <a:srgbClr val="C2570C"/>
          </a:solidFill>
          <a:ln w="19050">
            <a:solidFill>
              <a:srgbClr val="1C1917"/>
            </a:solidFill>
            <a:prstDash val="solid"/>
          </a:ln>
        </p:spPr>
      </p:sp>
      <p:sp>
        <p:nvSpPr>
          <p:cNvPr id="4" name="!!mk-sq"/>
          <p:cNvSpPr/>
          <p:nvPr/>
        </p:nvSpPr>
        <p:spPr>
          <a:xfrm rot="-900000">
            <a:off x="10922000" y="254000"/>
            <a:ext cx="457200" cy="457200"/>
          </a:xfrm>
          <a:prstGeom prst="rect">
            <a:avLst/>
          </a:prstGeom>
          <a:solidFill>
            <a:srgbClr val="C2570C"/>
          </a:solidFill>
          <a:ln w="25400">
            <a:solidFill>
              <a:srgbClr val="1C1917"/>
            </a:solidFill>
            <a:prstDash val="solid"/>
          </a:ln>
          <a:effectLst>
            <a:outerShdw sx="100000" sy="100000" kx="0" ky="0" algn="bl" rotWithShape="0" blurRad="101600" dist="71831" dir="2700000">
              <a:srgbClr val="1C1917">
                <a:alpha val="100000"/>
              </a:srgbClr>
            </a:outerShdw>
          </a:effectLst>
        </p:spPr>
      </p:sp>
      <p:sp>
        <p:nvSpPr>
          <p:cNvPr id="5" name="!!mk-logos"/>
          <p:cNvSpPr/>
          <p:nvPr/>
        </p:nvSpPr>
        <p:spPr>
          <a:xfrm>
            <a:off x="8191500" y="279400"/>
            <a:ext cx="2476500" cy="355600"/>
          </a:xfrm>
          <a:prstGeom prst="rect">
            <a:avLst/>
          </a:prstGeom>
          <a:solidFill>
            <a:srgbClr val="FAF8F4"/>
          </a:solidFill>
          <a:ln w="19050">
            <a:solidFill>
              <a:srgbClr val="1C1917"/>
            </a:solidFill>
            <a:prstDash val="solid"/>
          </a:ln>
          <a:effectLst>
            <a:outerShdw sx="100000" sy="100000" kx="0" ky="0" algn="bl" rotWithShape="0" blurRad="101600" dist="53873" dir="2700000">
              <a:srgbClr val="1C1917">
                <a:alpha val="100000"/>
              </a:srgbClr>
            </a:outerShdw>
          </a:effectLst>
        </p:spPr>
      </p:sp>
      <p:pic>
        <p:nvPicPr>
          <p:cNvPr id="6" name="!!mk-logo-1" descr="Logo VINCI Facilities">    </p:cNvPr>
          <p:cNvPicPr>
            <a:picLocks noChangeAspect="1"/>
          </p:cNvPicPr>
          <p:nvPr/>
        </p:nvPicPr>
        <p:blipFill>
          <a:blip r:embed="rId1"/>
          <a:stretch>
            <a:fillRect/>
          </a:stretch>
        </p:blipFill>
        <p:spPr>
          <a:xfrm>
            <a:off x="8756650" y="330200"/>
            <a:ext cx="762000" cy="254000"/>
          </a:xfrm>
          <a:prstGeom prst="rect">
            <a:avLst/>
          </a:prstGeom>
        </p:spPr>
      </p:pic>
      <p:pic>
        <p:nvPicPr>
          <p:cNvPr id="7" name="!!mk-logo-2" descr="Logo Icam">    </p:cNvPr>
          <p:cNvPicPr>
            <a:picLocks noChangeAspect="1"/>
          </p:cNvPicPr>
          <p:nvPr/>
        </p:nvPicPr>
        <p:blipFill>
          <a:blip r:embed="rId2"/>
          <a:stretch>
            <a:fillRect/>
          </a:stretch>
        </p:blipFill>
        <p:spPr>
          <a:xfrm>
            <a:off x="9671050" y="330200"/>
            <a:ext cx="431800" cy="254000"/>
          </a:xfrm>
          <a:prstGeom prst="rect">
            <a:avLst/>
          </a:prstGeom>
        </p:spPr>
      </p:pic>
      <p:sp>
        <p:nvSpPr>
          <p:cNvPr id="8" name="Text 4-s3"/>
          <p:cNvSpPr txBox="1"/>
          <p:nvPr/>
        </p:nvSpPr>
        <p:spPr>
          <a:xfrm>
            <a:off x="812800" y="812800"/>
            <a:ext cx="10566400" cy="571500"/>
          </a:xfrm>
          <a:prstGeom prst="rect">
            <a:avLst/>
          </a:prstGeom>
          <a:noFill/>
          <a:ln/>
        </p:spPr>
        <p:txBody>
          <a:bodyPr wrap="square" lIns="0" tIns="0" rIns="0" bIns="0" rtlCol="0" anchor="t"/>
          <a:lstStyle/>
          <a:p>
            <a:pPr algn="l" indent="0" marL="0">
              <a:lnSpc>
                <a:spcPct val="87500"/>
              </a:lnSpc>
              <a:buNone/>
            </a:pPr>
            <a:r>
              <a:rPr lang="en-US" sz="3600" b="1" dirty="0">
                <a:solidFill>
                  <a:srgbClr val="1C1917"/>
                </a:solidFill>
                <a:latin typeface="Space Grotesk" pitchFamily="34" charset="0"/>
                <a:ea typeface="Space Grotesk" pitchFamily="34" charset="-122"/>
                <a:cs typeface="Space Grotesk" pitchFamily="34" charset="-120"/>
              </a:rPr>
              <a:t>Un changement décidé par le groupe</a:t>
            </a:r>
            <a:endParaRPr lang="en-US" sz="3600" dirty="0"/>
          </a:p>
        </p:txBody>
      </p:sp>
      <p:sp>
        <p:nvSpPr>
          <p:cNvPr id="9" name="Shape 5-s3"/>
          <p:cNvSpPr/>
          <p:nvPr/>
        </p:nvSpPr>
        <p:spPr>
          <a:xfrm>
            <a:off x="812800" y="1587500"/>
            <a:ext cx="3352800" cy="2222500"/>
          </a:xfrm>
          <a:prstGeom prst="rect">
            <a:avLst/>
          </a:prstGeom>
          <a:solidFill>
            <a:srgbClr val="FAF8F4"/>
          </a:solidFill>
          <a:ln w="25400">
            <a:solidFill>
              <a:srgbClr val="1C1917"/>
            </a:solidFill>
            <a:prstDash val="solid"/>
          </a:ln>
          <a:effectLst>
            <a:outerShdw sx="100000" sy="100000" kx="0" ky="0" algn="bl" rotWithShape="0" blurRad="101600" dist="89789" dir="2700000">
              <a:srgbClr val="1C1917">
                <a:alpha val="100000"/>
              </a:srgbClr>
            </a:outerShdw>
          </a:effectLst>
        </p:spPr>
      </p:sp>
      <p:sp>
        <p:nvSpPr>
          <p:cNvPr id="10" name="Text 6-s3"/>
          <p:cNvSpPr txBox="1"/>
          <p:nvPr/>
        </p:nvSpPr>
        <p:spPr>
          <a:xfrm>
            <a:off x="1041400" y="1752600"/>
            <a:ext cx="2400300" cy="762000"/>
          </a:xfrm>
          <a:prstGeom prst="rect">
            <a:avLst/>
          </a:prstGeom>
          <a:noFill/>
          <a:ln/>
        </p:spPr>
        <p:txBody>
          <a:bodyPr wrap="square" lIns="0" tIns="0" rIns="0" bIns="0" rtlCol="0" anchor="t"/>
          <a:lstStyle/>
          <a:p>
            <a:pPr algn="l" indent="0" marL="0">
              <a:lnSpc>
                <a:spcPct val="91667"/>
              </a:lnSpc>
              <a:buNone/>
            </a:pPr>
            <a:r>
              <a:rPr lang="en-US" sz="4800" b="1" dirty="0">
                <a:solidFill>
                  <a:srgbClr val="C2570C"/>
                </a:solidFill>
                <a:latin typeface="Space Grotesk" pitchFamily="34" charset="0"/>
                <a:ea typeface="Space Grotesk" pitchFamily="34" charset="-122"/>
                <a:cs typeface="Space Grotesk" pitchFamily="34" charset="-120"/>
              </a:rPr>
              <a:t>31/01</a:t>
            </a:r>
            <a:endParaRPr lang="en-US" sz="4800" dirty="0"/>
          </a:p>
        </p:txBody>
      </p:sp>
      <p:sp>
        <p:nvSpPr>
          <p:cNvPr id="11" name="Text 7-s3"/>
          <p:cNvSpPr txBox="1"/>
          <p:nvPr/>
        </p:nvSpPr>
        <p:spPr>
          <a:xfrm>
            <a:off x="1041400" y="2603500"/>
            <a:ext cx="2895600" cy="1079500"/>
          </a:xfrm>
          <a:prstGeom prst="rect">
            <a:avLst/>
          </a:prstGeom>
          <a:noFill/>
          <a:ln/>
        </p:spPr>
        <p:txBody>
          <a:bodyPr wrap="square" lIns="0" tIns="0" rIns="0" bIns="0" rtlCol="0" anchor="t"/>
          <a:lstStyle/>
          <a:p>
            <a:pPr algn="l" indent="0" marL="0">
              <a:lnSpc>
                <a:spcPct val="108333"/>
              </a:lnSpc>
              <a:buNone/>
            </a:pPr>
            <a:r>
              <a:rPr lang="en-US" sz="1600" dirty="0">
                <a:solidFill>
                  <a:srgbClr val="1C1917"/>
                </a:solidFill>
                <a:latin typeface="IBM Plex Sans" pitchFamily="34" charset="0"/>
                <a:ea typeface="IBM Plex Sans" pitchFamily="34" charset="-122"/>
                <a:cs typeface="IBM Plex Sans" pitchFamily="34" charset="-120"/>
              </a:rPr>
              <a:t>2026 : coupure définitive de Kizeo (prévue le 31/12/2025)</a:t>
            </a:r>
            <a:endParaRPr lang="en-US" sz="1600" dirty="0"/>
          </a:p>
        </p:txBody>
      </p:sp>
      <p:sp>
        <p:nvSpPr>
          <p:cNvPr id="12" name="Shape 8-s3"/>
          <p:cNvSpPr/>
          <p:nvPr/>
        </p:nvSpPr>
        <p:spPr>
          <a:xfrm>
            <a:off x="4419600" y="1587500"/>
            <a:ext cx="3352800" cy="2222500"/>
          </a:xfrm>
          <a:prstGeom prst="rect">
            <a:avLst/>
          </a:prstGeom>
          <a:solidFill>
            <a:srgbClr val="FAF8F4"/>
          </a:solidFill>
          <a:ln w="25400">
            <a:solidFill>
              <a:srgbClr val="1C1917"/>
            </a:solidFill>
            <a:prstDash val="solid"/>
          </a:ln>
          <a:effectLst>
            <a:outerShdw sx="100000" sy="100000" kx="0" ky="0" algn="bl" rotWithShape="0" blurRad="101600" dist="89789" dir="2700000">
              <a:srgbClr val="1C1917">
                <a:alpha val="100000"/>
              </a:srgbClr>
            </a:outerShdw>
          </a:effectLst>
        </p:spPr>
      </p:sp>
      <p:sp>
        <p:nvSpPr>
          <p:cNvPr id="13" name="Text 9-s3"/>
          <p:cNvSpPr txBox="1"/>
          <p:nvPr/>
        </p:nvSpPr>
        <p:spPr>
          <a:xfrm>
            <a:off x="4648200" y="1752600"/>
            <a:ext cx="2400300" cy="762000"/>
          </a:xfrm>
          <a:prstGeom prst="rect">
            <a:avLst/>
          </a:prstGeom>
          <a:noFill/>
          <a:ln/>
        </p:spPr>
        <p:txBody>
          <a:bodyPr wrap="square" lIns="0" tIns="0" rIns="0" bIns="0" rtlCol="0" anchor="t"/>
          <a:lstStyle/>
          <a:p>
            <a:pPr algn="l" indent="0" marL="0">
              <a:lnSpc>
                <a:spcPct val="91667"/>
              </a:lnSpc>
              <a:buNone/>
            </a:pPr>
            <a:r>
              <a:rPr lang="en-US" sz="4800" b="1" dirty="0">
                <a:solidFill>
                  <a:srgbClr val="C2570C"/>
                </a:solidFill>
                <a:latin typeface="Space Grotesk" pitchFamily="34" charset="0"/>
                <a:ea typeface="Space Grotesk" pitchFamily="34" charset="-122"/>
                <a:cs typeface="Space Grotesk" pitchFamily="34" charset="-120"/>
              </a:rPr>
              <a:t>91</a:t>
            </a:r>
            <a:endParaRPr lang="en-US" sz="4800" dirty="0"/>
          </a:p>
        </p:txBody>
      </p:sp>
      <p:sp>
        <p:nvSpPr>
          <p:cNvPr id="14" name="Text 10-s3"/>
          <p:cNvSpPr txBox="1"/>
          <p:nvPr/>
        </p:nvSpPr>
        <p:spPr>
          <a:xfrm>
            <a:off x="4648200" y="2603500"/>
            <a:ext cx="2895600" cy="1079500"/>
          </a:xfrm>
          <a:prstGeom prst="rect">
            <a:avLst/>
          </a:prstGeom>
          <a:noFill/>
          <a:ln/>
        </p:spPr>
        <p:txBody>
          <a:bodyPr wrap="square" lIns="0" tIns="0" rIns="0" bIns="0" rtlCol="0" anchor="t"/>
          <a:lstStyle/>
          <a:p>
            <a:pPr algn="l" indent="0" marL="0">
              <a:lnSpc>
                <a:spcPct val="108333"/>
              </a:lnSpc>
              <a:buNone/>
            </a:pPr>
            <a:r>
              <a:rPr lang="en-US" sz="1600" dirty="0">
                <a:solidFill>
                  <a:srgbClr val="1C1917"/>
                </a:solidFill>
                <a:latin typeface="IBM Plex Sans" pitchFamily="34" charset="0"/>
                <a:ea typeface="IBM Plex Sans" pitchFamily="34" charset="-122"/>
                <a:cs typeface="IBM Plex Sans" pitchFamily="34" charset="-120"/>
              </a:rPr>
              <a:t>utilisateurs concernés par le changement d’outil</a:t>
            </a:r>
            <a:endParaRPr lang="en-US" sz="1600" dirty="0"/>
          </a:p>
        </p:txBody>
      </p:sp>
      <p:sp>
        <p:nvSpPr>
          <p:cNvPr id="15" name="Shape 11-s3"/>
          <p:cNvSpPr/>
          <p:nvPr/>
        </p:nvSpPr>
        <p:spPr>
          <a:xfrm>
            <a:off x="8026400" y="1587500"/>
            <a:ext cx="3352800" cy="2222500"/>
          </a:xfrm>
          <a:prstGeom prst="rect">
            <a:avLst/>
          </a:prstGeom>
          <a:solidFill>
            <a:srgbClr val="FAF8F4"/>
          </a:solidFill>
          <a:ln w="25400">
            <a:solidFill>
              <a:srgbClr val="1C1917"/>
            </a:solidFill>
            <a:prstDash val="solid"/>
          </a:ln>
          <a:effectLst>
            <a:outerShdw sx="100000" sy="100000" kx="0" ky="0" algn="bl" rotWithShape="0" blurRad="101600" dist="89789" dir="2700000">
              <a:srgbClr val="1C1917">
                <a:alpha val="100000"/>
              </a:srgbClr>
            </a:outerShdw>
          </a:effectLst>
        </p:spPr>
      </p:sp>
      <p:sp>
        <p:nvSpPr>
          <p:cNvPr id="16" name="Text 12-s3"/>
          <p:cNvSpPr txBox="1"/>
          <p:nvPr/>
        </p:nvSpPr>
        <p:spPr>
          <a:xfrm>
            <a:off x="8255000" y="1752600"/>
            <a:ext cx="2400300" cy="762000"/>
          </a:xfrm>
          <a:prstGeom prst="rect">
            <a:avLst/>
          </a:prstGeom>
          <a:noFill/>
          <a:ln/>
        </p:spPr>
        <p:txBody>
          <a:bodyPr wrap="square" lIns="0" tIns="0" rIns="0" bIns="0" rtlCol="0" anchor="t"/>
          <a:lstStyle/>
          <a:p>
            <a:pPr algn="l" indent="0" marL="0">
              <a:lnSpc>
                <a:spcPct val="91667"/>
              </a:lnSpc>
              <a:buNone/>
            </a:pPr>
            <a:r>
              <a:rPr lang="en-US" sz="4800" b="1" dirty="0">
                <a:solidFill>
                  <a:srgbClr val="C2570C"/>
                </a:solidFill>
                <a:latin typeface="Space Grotesk" pitchFamily="34" charset="0"/>
                <a:ea typeface="Space Grotesk" pitchFamily="34" charset="-122"/>
                <a:cs typeface="Space Grotesk" pitchFamily="34" charset="-120"/>
              </a:rPr>
              <a:t>7 €</a:t>
            </a:r>
            <a:endParaRPr lang="en-US" sz="4800" dirty="0"/>
          </a:p>
        </p:txBody>
      </p:sp>
      <p:sp>
        <p:nvSpPr>
          <p:cNvPr id="17" name="Text 13-s3"/>
          <p:cNvSpPr txBox="1"/>
          <p:nvPr/>
        </p:nvSpPr>
        <p:spPr>
          <a:xfrm>
            <a:off x="8255000" y="2603500"/>
            <a:ext cx="2895600" cy="1079500"/>
          </a:xfrm>
          <a:prstGeom prst="rect">
            <a:avLst/>
          </a:prstGeom>
          <a:noFill/>
          <a:ln/>
        </p:spPr>
        <p:txBody>
          <a:bodyPr wrap="square" lIns="0" tIns="0" rIns="0" bIns="0" rtlCol="0" anchor="t"/>
          <a:lstStyle/>
          <a:p>
            <a:pPr algn="l" indent="0" marL="0">
              <a:lnSpc>
                <a:spcPct val="108333"/>
              </a:lnSpc>
              <a:buNone/>
            </a:pPr>
            <a:r>
              <a:rPr lang="en-US" sz="1600" dirty="0">
                <a:solidFill>
                  <a:srgbClr val="1C1917"/>
                </a:solidFill>
                <a:latin typeface="IBM Plex Sans" pitchFamily="34" charset="0"/>
                <a:ea typeface="IBM Plex Sans" pitchFamily="34" charset="-122"/>
                <a:cs typeface="IBM Plex Sans" pitchFamily="34" charset="-120"/>
              </a:rPr>
              <a:t>par utilisateur et par mois, contre 18 € pour Kizeo</a:t>
            </a:r>
            <a:endParaRPr lang="en-US" sz="1600" dirty="0"/>
          </a:p>
        </p:txBody>
      </p:sp>
      <p:sp>
        <p:nvSpPr>
          <p:cNvPr id="18" name="Text 14-s3"/>
          <p:cNvSpPr txBox="1"/>
          <p:nvPr/>
        </p:nvSpPr>
        <p:spPr>
          <a:xfrm>
            <a:off x="812800" y="4127500"/>
            <a:ext cx="10566400" cy="635000"/>
          </a:xfrm>
          <a:prstGeom prst="rect">
            <a:avLst/>
          </a:prstGeom>
          <a:noFill/>
          <a:ln/>
        </p:spPr>
        <p:txBody>
          <a:bodyPr wrap="square" lIns="0" tIns="0" rIns="0" bIns="0" rtlCol="0" anchor="t"/>
          <a:lstStyle/>
          <a:p>
            <a:pPr algn="l" indent="0" marL="0">
              <a:lnSpc>
                <a:spcPct val="108333"/>
              </a:lnSpc>
              <a:buNone/>
            </a:pPr>
            <a:r>
              <a:rPr lang="en-US" sz="1600" dirty="0">
                <a:solidFill>
                  <a:srgbClr val="57534E"/>
                </a:solidFill>
                <a:latin typeface="IBM Plex Sans" pitchFamily="34" charset="0"/>
                <a:ea typeface="IBM Plex Sans" pitchFamily="34" charset="-122"/>
                <a:cs typeface="IBM Plex Sans" pitchFamily="34" charset="-120"/>
              </a:rPr>
              <a:t>Le contrat cadre Kizeo n’a pas été renouvelé : Teepee est la solution propriétaire du groupe VINCI, développée par Actemium Lille Digital Solutions.</a:t>
            </a:r>
            <a:endParaRPr lang="en-US" sz="1600" dirty="0"/>
          </a:p>
        </p:txBody>
      </p:sp>
      <p:sp>
        <p:nvSpPr>
          <p:cNvPr id="19" name="nav:2-s3">
            <a:hlinkClick r:id="rIdNav2" action="ppaction://hlinksldjump"/>
          </p:cNvPr>
          <p:cNvSpPr/>
          <p:nvPr/>
        </p:nvSpPr>
        <p:spPr>
          <a:xfrm>
            <a:off x="10922000" y="254000"/>
            <a:ext cx="457200" cy="457200"/>
          </a:xfrm>
          <a:prstGeom prst="rect">
            <a:avLst/>
          </a:prstGeom>
          <a:solidFill>
            <a:srgbClr val="FFFFFF">
              <a:alpha val="0"/>
            </a:srgbClr>
          </a:solidFill>
          <a:ln/>
        </p:spPr>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C2570C"/>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C2570C"/>
          </a:solidFill>
          <a:ln w="19050">
            <a:solidFill>
              <a:srgbClr val="F1EFEA"/>
            </a:solidFill>
            <a:prstDash val="solid"/>
          </a:ln>
        </p:spPr>
      </p:sp>
      <p:sp>
        <p:nvSpPr>
          <p:cNvPr id="3" name="!!mk-bar"/>
          <p:cNvSpPr/>
          <p:nvPr/>
        </p:nvSpPr>
        <p:spPr>
          <a:xfrm>
            <a:off x="812800" y="6299200"/>
            <a:ext cx="1924050" cy="127000"/>
          </a:xfrm>
          <a:prstGeom prst="rect">
            <a:avLst/>
          </a:prstGeom>
          <a:solidFill>
            <a:srgbClr val="F1EFEA"/>
          </a:solidFill>
          <a:ln w="19050">
            <a:solidFill>
              <a:srgbClr val="F1EFEA"/>
            </a:solidFill>
            <a:prstDash val="solid"/>
          </a:ln>
        </p:spPr>
      </p:sp>
      <p:sp>
        <p:nvSpPr>
          <p:cNvPr id="4" name="!!mk-sq"/>
          <p:cNvSpPr/>
          <p:nvPr/>
        </p:nvSpPr>
        <p:spPr>
          <a:xfrm>
            <a:off x="10922000" y="254000"/>
            <a:ext cx="457200" cy="457200"/>
          </a:xfrm>
          <a:prstGeom prst="rect">
            <a:avLst/>
          </a:prstGeom>
          <a:solidFill>
            <a:srgbClr val="F1EFEA"/>
          </a:solidFill>
          <a:ln w="25400">
            <a:solidFill>
              <a:srgbClr val="1C1917"/>
            </a:solidFill>
            <a:prstDash val="solid"/>
          </a:ln>
          <a:effectLst>
            <a:outerShdw sx="100000" sy="100000" kx="0" ky="0" algn="bl" rotWithShape="0" blurRad="101600" dist="71831" dir="2700000">
              <a:srgbClr val="1C1917">
                <a:alpha val="100000"/>
              </a:srgbClr>
            </a:outerShdw>
          </a:effectLst>
        </p:spPr>
      </p:sp>
      <p:sp>
        <p:nvSpPr>
          <p:cNvPr id="5" name="!!mk-logos"/>
          <p:cNvSpPr/>
          <p:nvPr/>
        </p:nvSpPr>
        <p:spPr>
          <a:xfrm>
            <a:off x="8191500" y="279400"/>
            <a:ext cx="2476500" cy="355600"/>
          </a:xfrm>
          <a:prstGeom prst="rect">
            <a:avLst/>
          </a:prstGeom>
          <a:solidFill>
            <a:srgbClr val="FAF8F4"/>
          </a:solidFill>
          <a:ln w="19050">
            <a:solidFill>
              <a:srgbClr val="1C1917"/>
            </a:solidFill>
            <a:prstDash val="solid"/>
          </a:ln>
          <a:effectLst>
            <a:outerShdw sx="100000" sy="100000" kx="0" ky="0" algn="bl" rotWithShape="0" blurRad="101600" dist="53873" dir="2700000">
              <a:srgbClr val="1C1917">
                <a:alpha val="100000"/>
              </a:srgbClr>
            </a:outerShdw>
          </a:effectLst>
        </p:spPr>
      </p:sp>
      <p:pic>
        <p:nvPicPr>
          <p:cNvPr id="6" name="!!mk-logo-1" descr="Logo VINCI Facilities">    </p:cNvPr>
          <p:cNvPicPr>
            <a:picLocks noChangeAspect="1"/>
          </p:cNvPicPr>
          <p:nvPr/>
        </p:nvPicPr>
        <p:blipFill>
          <a:blip r:embed="rId1"/>
          <a:stretch>
            <a:fillRect/>
          </a:stretch>
        </p:blipFill>
        <p:spPr>
          <a:xfrm>
            <a:off x="8756650" y="330200"/>
            <a:ext cx="762000" cy="254000"/>
          </a:xfrm>
          <a:prstGeom prst="rect">
            <a:avLst/>
          </a:prstGeom>
        </p:spPr>
      </p:pic>
      <p:pic>
        <p:nvPicPr>
          <p:cNvPr id="7" name="!!mk-logo-2" descr="Logo Icam">    </p:cNvPr>
          <p:cNvPicPr>
            <a:picLocks noChangeAspect="1"/>
          </p:cNvPicPr>
          <p:nvPr/>
        </p:nvPicPr>
        <p:blipFill>
          <a:blip r:embed="rId2"/>
          <a:stretch>
            <a:fillRect/>
          </a:stretch>
        </p:blipFill>
        <p:spPr>
          <a:xfrm>
            <a:off x="9671050" y="330200"/>
            <a:ext cx="431800" cy="254000"/>
          </a:xfrm>
          <a:prstGeom prst="rect">
            <a:avLst/>
          </a:prstGeom>
        </p:spPr>
      </p:pic>
      <p:sp>
        <p:nvSpPr>
          <p:cNvPr id="8" name="Text 4-s4"/>
          <p:cNvSpPr txBox="1"/>
          <p:nvPr/>
        </p:nvSpPr>
        <p:spPr>
          <a:xfrm>
            <a:off x="812800" y="812800"/>
            <a:ext cx="5715000" cy="215900"/>
          </a:xfrm>
          <a:prstGeom prst="rect">
            <a:avLst/>
          </a:prstGeom>
          <a:noFill/>
          <a:ln/>
        </p:spPr>
        <p:txBody>
          <a:bodyPr wrap="square" lIns="0" tIns="0" rIns="0" bIns="0" rtlCol="0" anchor="t"/>
          <a:lstStyle/>
          <a:p>
            <a:pPr algn="l" indent="0" marL="0">
              <a:lnSpc>
                <a:spcPct val="104167"/>
              </a:lnSpc>
              <a:buNone/>
            </a:pPr>
            <a:r>
              <a:rPr lang="en-US" sz="1200" b="1" spc="200" kern="0" dirty="0">
                <a:solidFill>
                  <a:srgbClr val="F1EFEA"/>
                </a:solidFill>
                <a:latin typeface="JetBrains Mono" pitchFamily="34" charset="0"/>
                <a:ea typeface="JetBrains Mono" pitchFamily="34" charset="-122"/>
                <a:cs typeface="JetBrains Mono" pitchFamily="34" charset="-120"/>
              </a:rPr>
              <a:t>PROBLÉMATIQUE RETENUE</a:t>
            </a:r>
            <a:endParaRPr lang="en-US" sz="1200" dirty="0"/>
          </a:p>
        </p:txBody>
      </p:sp>
      <p:sp>
        <p:nvSpPr>
          <p:cNvPr id="9" name="Text 5-s4"/>
          <p:cNvSpPr txBox="1"/>
          <p:nvPr/>
        </p:nvSpPr>
        <p:spPr>
          <a:xfrm>
            <a:off x="812800" y="1270000"/>
            <a:ext cx="9906000" cy="2984500"/>
          </a:xfrm>
          <a:prstGeom prst="rect">
            <a:avLst/>
          </a:prstGeom>
          <a:noFill/>
          <a:ln/>
        </p:spPr>
        <p:txBody>
          <a:bodyPr wrap="square" lIns="0" tIns="0" rIns="0" bIns="0" rtlCol="0" anchor="t"/>
          <a:lstStyle/>
          <a:p>
            <a:pPr algn="l" indent="0" marL="0">
              <a:lnSpc>
                <a:spcPct val="100000"/>
              </a:lnSpc>
              <a:buNone/>
            </a:pPr>
            <a:r>
              <a:rPr lang="en-US" sz="2800" b="1" dirty="0">
                <a:solidFill>
                  <a:srgbClr val="F1EFEA"/>
                </a:solidFill>
                <a:latin typeface="Space Grotesk" pitchFamily="34" charset="0"/>
                <a:ea typeface="Space Grotesk" pitchFamily="34" charset="-122"/>
                <a:cs typeface="Space Grotesk" pitchFamily="34" charset="-120"/>
              </a:rPr>
              <a:t>Comment conduire une migration numérique attendue par le groupe sans dégrader la performance opérationnelle ni compromettre l’adhésion des équipes terrain, dans un contexte de maturité progressive de la solution cible ?</a:t>
            </a:r>
            <a:endParaRPr lang="en-US" sz="2800" dirty="0"/>
          </a:p>
        </p:txBody>
      </p:sp>
      <p:sp>
        <p:nvSpPr>
          <p:cNvPr id="10" name="Shape 6-s4"/>
          <p:cNvSpPr/>
          <p:nvPr/>
        </p:nvSpPr>
        <p:spPr>
          <a:xfrm>
            <a:off x="812800" y="4572000"/>
            <a:ext cx="5156200" cy="825500"/>
          </a:xfrm>
          <a:prstGeom prst="rect">
            <a:avLst/>
          </a:prstGeom>
          <a:solidFill>
            <a:srgbClr val="FAF8F4"/>
          </a:solidFill>
          <a:ln w="25400">
            <a:solidFill>
              <a:srgbClr val="1C1917"/>
            </a:solidFill>
            <a:prstDash val="solid"/>
          </a:ln>
          <a:effectLst>
            <a:outerShdw sx="100000" sy="100000" kx="0" ky="0" algn="bl" rotWithShape="0" blurRad="101600" dist="89789" dir="2700000">
              <a:srgbClr val="1C1917">
                <a:alpha val="100000"/>
              </a:srgbClr>
            </a:outerShdw>
          </a:effectLst>
        </p:spPr>
      </p:sp>
      <p:sp>
        <p:nvSpPr>
          <p:cNvPr id="11" name="Text 7-s4"/>
          <p:cNvSpPr txBox="1"/>
          <p:nvPr/>
        </p:nvSpPr>
        <p:spPr>
          <a:xfrm>
            <a:off x="1041400" y="4572000"/>
            <a:ext cx="4699000" cy="825500"/>
          </a:xfrm>
          <a:prstGeom prst="rect">
            <a:avLst/>
          </a:prstGeom>
          <a:noFill/>
          <a:ln/>
        </p:spPr>
        <p:txBody>
          <a:bodyPr wrap="square" lIns="0" tIns="0" rIns="0" bIns="0" rtlCol="0" anchor="ctr"/>
          <a:lstStyle/>
          <a:p>
            <a:pPr algn="l" indent="0" marL="0">
              <a:lnSpc>
                <a:spcPct val="104167"/>
              </a:lnSpc>
              <a:buNone/>
            </a:pPr>
            <a:r>
              <a:rPr lang="en-US" sz="2000" b="1" dirty="0">
                <a:solidFill>
                  <a:srgbClr val="1C1917"/>
                </a:solidFill>
                <a:latin typeface="Space Grotesk" pitchFamily="34" charset="0"/>
                <a:ea typeface="Space Grotesk" pitchFamily="34" charset="-122"/>
                <a:cs typeface="Space Grotesk" pitchFamily="34" charset="-120"/>
              </a:rPr>
              <a:t>Axe 1 · Continuité opérationnelle</a:t>
            </a:r>
            <a:endParaRPr lang="en-US" sz="2000" dirty="0"/>
          </a:p>
        </p:txBody>
      </p:sp>
      <p:sp>
        <p:nvSpPr>
          <p:cNvPr id="12" name="Shape 8-s4"/>
          <p:cNvSpPr/>
          <p:nvPr/>
        </p:nvSpPr>
        <p:spPr>
          <a:xfrm>
            <a:off x="6223000" y="4572000"/>
            <a:ext cx="5156200" cy="825500"/>
          </a:xfrm>
          <a:prstGeom prst="rect">
            <a:avLst/>
          </a:prstGeom>
          <a:solidFill>
            <a:srgbClr val="FAF8F4"/>
          </a:solidFill>
          <a:ln w="25400">
            <a:solidFill>
              <a:srgbClr val="1C1917"/>
            </a:solidFill>
            <a:prstDash val="solid"/>
          </a:ln>
          <a:effectLst>
            <a:outerShdw sx="100000" sy="100000" kx="0" ky="0" algn="bl" rotWithShape="0" blurRad="101600" dist="89789" dir="2700000">
              <a:srgbClr val="1C1917">
                <a:alpha val="100000"/>
              </a:srgbClr>
            </a:outerShdw>
          </a:effectLst>
        </p:spPr>
      </p:sp>
      <p:sp>
        <p:nvSpPr>
          <p:cNvPr id="13" name="Text 9-s4"/>
          <p:cNvSpPr txBox="1"/>
          <p:nvPr/>
        </p:nvSpPr>
        <p:spPr>
          <a:xfrm>
            <a:off x="6451600" y="4572000"/>
            <a:ext cx="4699000" cy="825500"/>
          </a:xfrm>
          <a:prstGeom prst="rect">
            <a:avLst/>
          </a:prstGeom>
          <a:noFill/>
          <a:ln/>
        </p:spPr>
        <p:txBody>
          <a:bodyPr wrap="square" lIns="0" tIns="0" rIns="0" bIns="0" rtlCol="0" anchor="ctr"/>
          <a:lstStyle/>
          <a:p>
            <a:pPr algn="l" indent="0" marL="0">
              <a:lnSpc>
                <a:spcPct val="104167"/>
              </a:lnSpc>
              <a:buNone/>
            </a:pPr>
            <a:r>
              <a:rPr lang="en-US" sz="2000" b="1" dirty="0">
                <a:solidFill>
                  <a:srgbClr val="1C1917"/>
                </a:solidFill>
                <a:latin typeface="Space Grotesk" pitchFamily="34" charset="0"/>
                <a:ea typeface="Space Grotesk" pitchFamily="34" charset="-122"/>
                <a:cs typeface="Space Grotesk" pitchFamily="34" charset="-120"/>
              </a:rPr>
              <a:t>Axe 2 · Adhésion des équipes</a:t>
            </a:r>
            <a:endParaRPr lang="en-US" sz="2000" dirty="0"/>
          </a:p>
        </p:txBody>
      </p:sp>
      <p:sp>
        <p:nvSpPr>
          <p:cNvPr id="14" name="nav:2-s4">
            <a:hlinkClick r:id="rIdNav2" action="ppaction://hlinksldjump"/>
          </p:cNvPr>
          <p:cNvSpPr/>
          <p:nvPr/>
        </p:nvSpPr>
        <p:spPr>
          <a:xfrm>
            <a:off x="10922000" y="254000"/>
            <a:ext cx="457200" cy="457200"/>
          </a:xfrm>
          <a:prstGeom prst="rect">
            <a:avLst/>
          </a:prstGeom>
          <a:solidFill>
            <a:srgbClr val="FFFFFF">
              <a:alpha val="0"/>
            </a:srgbClr>
          </a:solidFill>
          <a:ln/>
        </p:spPr>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1EFEA"/>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1EFEA"/>
          </a:solidFill>
          <a:ln w="19050">
            <a:solidFill>
              <a:srgbClr val="1C1917"/>
            </a:solidFill>
            <a:prstDash val="solid"/>
          </a:ln>
        </p:spPr>
      </p:sp>
      <p:sp>
        <p:nvSpPr>
          <p:cNvPr id="3" name="!!mk-bar"/>
          <p:cNvSpPr/>
          <p:nvPr/>
        </p:nvSpPr>
        <p:spPr>
          <a:xfrm>
            <a:off x="812800" y="6299200"/>
            <a:ext cx="2400300" cy="127000"/>
          </a:xfrm>
          <a:prstGeom prst="rect">
            <a:avLst/>
          </a:prstGeom>
          <a:solidFill>
            <a:srgbClr val="C2570C"/>
          </a:solidFill>
          <a:ln w="19050">
            <a:solidFill>
              <a:srgbClr val="1C1917"/>
            </a:solidFill>
            <a:prstDash val="solid"/>
          </a:ln>
        </p:spPr>
      </p:sp>
      <p:sp>
        <p:nvSpPr>
          <p:cNvPr id="4" name="!!mk-sq"/>
          <p:cNvSpPr/>
          <p:nvPr/>
        </p:nvSpPr>
        <p:spPr>
          <a:xfrm rot="1800000">
            <a:off x="10922000" y="254000"/>
            <a:ext cx="457200" cy="457200"/>
          </a:xfrm>
          <a:prstGeom prst="rect">
            <a:avLst/>
          </a:prstGeom>
          <a:solidFill>
            <a:srgbClr val="C2570C"/>
          </a:solidFill>
          <a:ln w="25400">
            <a:solidFill>
              <a:srgbClr val="1C1917"/>
            </a:solidFill>
            <a:prstDash val="solid"/>
          </a:ln>
          <a:effectLst>
            <a:outerShdw sx="100000" sy="100000" kx="0" ky="0" algn="bl" rotWithShape="0" blurRad="101600" dist="71831" dir="2700000">
              <a:srgbClr val="1C1917">
                <a:alpha val="100000"/>
              </a:srgbClr>
            </a:outerShdw>
          </a:effectLst>
        </p:spPr>
      </p:sp>
      <p:sp>
        <p:nvSpPr>
          <p:cNvPr id="5" name="!!mk-logos"/>
          <p:cNvSpPr/>
          <p:nvPr/>
        </p:nvSpPr>
        <p:spPr>
          <a:xfrm>
            <a:off x="8191500" y="279400"/>
            <a:ext cx="2476500" cy="355600"/>
          </a:xfrm>
          <a:prstGeom prst="rect">
            <a:avLst/>
          </a:prstGeom>
          <a:solidFill>
            <a:srgbClr val="FAF8F4"/>
          </a:solidFill>
          <a:ln w="19050">
            <a:solidFill>
              <a:srgbClr val="1C1917"/>
            </a:solidFill>
            <a:prstDash val="solid"/>
          </a:ln>
          <a:effectLst>
            <a:outerShdw sx="100000" sy="100000" kx="0" ky="0" algn="bl" rotWithShape="0" blurRad="101600" dist="53873" dir="2700000">
              <a:srgbClr val="1C1917">
                <a:alpha val="100000"/>
              </a:srgbClr>
            </a:outerShdw>
          </a:effectLst>
        </p:spPr>
      </p:sp>
      <p:pic>
        <p:nvPicPr>
          <p:cNvPr id="6" name="!!mk-logo-1" descr="Logo VINCI Facilities">    </p:cNvPr>
          <p:cNvPicPr>
            <a:picLocks noChangeAspect="1"/>
          </p:cNvPicPr>
          <p:nvPr/>
        </p:nvPicPr>
        <p:blipFill>
          <a:blip r:embed="rId1"/>
          <a:stretch>
            <a:fillRect/>
          </a:stretch>
        </p:blipFill>
        <p:spPr>
          <a:xfrm>
            <a:off x="8756650" y="330200"/>
            <a:ext cx="762000" cy="254000"/>
          </a:xfrm>
          <a:prstGeom prst="rect">
            <a:avLst/>
          </a:prstGeom>
        </p:spPr>
      </p:pic>
      <p:pic>
        <p:nvPicPr>
          <p:cNvPr id="7" name="!!mk-logo-2" descr="Logo Icam">    </p:cNvPr>
          <p:cNvPicPr>
            <a:picLocks noChangeAspect="1"/>
          </p:cNvPicPr>
          <p:nvPr/>
        </p:nvPicPr>
        <p:blipFill>
          <a:blip r:embed="rId2"/>
          <a:stretch>
            <a:fillRect/>
          </a:stretch>
        </p:blipFill>
        <p:spPr>
          <a:xfrm>
            <a:off x="9671050" y="330200"/>
            <a:ext cx="431800" cy="254000"/>
          </a:xfrm>
          <a:prstGeom prst="rect">
            <a:avLst/>
          </a:prstGeom>
        </p:spPr>
      </p:pic>
      <p:sp>
        <p:nvSpPr>
          <p:cNvPr id="8" name="Text 4-s5"/>
          <p:cNvSpPr txBox="1"/>
          <p:nvPr/>
        </p:nvSpPr>
        <p:spPr>
          <a:xfrm>
            <a:off x="812800" y="812800"/>
            <a:ext cx="10566400" cy="571500"/>
          </a:xfrm>
          <a:prstGeom prst="rect">
            <a:avLst/>
          </a:prstGeom>
          <a:noFill/>
          <a:ln/>
        </p:spPr>
        <p:txBody>
          <a:bodyPr wrap="square" lIns="0" tIns="0" rIns="0" bIns="0" rtlCol="0" anchor="t"/>
          <a:lstStyle/>
          <a:p>
            <a:pPr algn="l" indent="0" marL="0">
              <a:lnSpc>
                <a:spcPct val="87500"/>
              </a:lnSpc>
              <a:buNone/>
            </a:pPr>
            <a:r>
              <a:rPr lang="en-US" sz="3600" b="1" dirty="0">
                <a:solidFill>
                  <a:srgbClr val="1C1917"/>
                </a:solidFill>
                <a:latin typeface="Space Grotesk" pitchFamily="34" charset="0"/>
                <a:ea typeface="Space Grotesk" pitchFamily="34" charset="-122"/>
                <a:cs typeface="Space Grotesk" pitchFamily="34" charset="-120"/>
              </a:rPr>
              <a:t>Kizeo et Teepee comparés</a:t>
            </a:r>
            <a:endParaRPr lang="en-US" sz="3600" dirty="0"/>
          </a:p>
        </p:txBody>
      </p:sp>
      <p:graphicFrame>
        <p:nvGraphicFramePr>
          <p:cNvPr id="6" name="Table 0-s5"/>
          <p:cNvGraphicFramePr>
            <a:graphicFrameLocks noGrp="1"/>
          </p:cNvGraphicFramePr>
          <p:nvPr>
            <p:extLst>
              <p:ext uri="{D42A27DB-BD31-4B8C-83A1-F6EECF244321}">
                <p14:modId xmlns:p14="http://schemas.microsoft.com/office/powerpoint/2010/main" val="1579011935"/>
              </p:ext>
            </p:extLst>
          </p:nvPr>
        </p:nvGraphicFramePr>
        <p:xfrm>
          <a:off x="812800" y="1587500"/>
          <a:ext cx="10566400" cy="914400"/>
        </p:xfrm>
        <a:graphic>
          <a:graphicData uri="http://schemas.openxmlformats.org/drawingml/2006/table">
            <a:tbl>
              <a:tblPr/>
              <a:tblGrid>
                <a:gridCol w="3594100"/>
                <a:gridCol w="2959100"/>
                <a:gridCol w="4013200"/>
              </a:tblGrid>
              <a:tr h="431800">
                <a:tc>
                  <a:txBody>
                    <a:bodyPr/>
                    <a:lstStyle/>
                    <a:p>
                      <a:pPr algn="l" indent="0" marL="0">
                        <a:buNone/>
                      </a:pPr>
                      <a:r>
                        <a:rPr lang="en-US" sz="1500" b="1" dirty="0">
                          <a:solidFill>
                            <a:srgbClr val="F1EFEA"/>
                          </a:solidFill>
                          <a:latin typeface="Space Grotesk" pitchFamily="34" charset="0"/>
                          <a:ea typeface="Space Grotesk" pitchFamily="34" charset="-122"/>
                          <a:cs typeface="Space Grotesk" pitchFamily="34" charset="-120"/>
                        </a:rPr>
                        <a:t>Critère</a:t>
                      </a:r>
                      <a:endParaRPr lang="en-US" sz="1500" dirty="0">
                        <a:latin typeface="Space Grotesk" charset="0"/>
                        <a:ea typeface="Space Grotesk" charset="0"/>
                        <a:cs typeface="Space Grotesk" charset="0"/>
                      </a:endParaRPr>
                    </a:p>
                  </a:txBody>
                  <a:tcPr marL="91440" marR="91440" marT="45720" marB="45720" anchor="ctr">
                    <a:lnL w="19050" cap="flat" cmpd="sng" algn="ctr">
                      <a:solidFill>
                        <a:srgbClr val="1C1917"/>
                      </a:solidFill>
                      <a:prstDash val="solid"/>
                      <a:round/>
                      <a:headEnd type="none" w="med" len="med"/>
                      <a:tailEnd type="none" w="med" len="med"/>
                    </a:lnL>
                    <a:lnR w="19050" cap="flat" cmpd="sng" algn="ctr">
                      <a:solidFill>
                        <a:srgbClr val="1C1917"/>
                      </a:solidFill>
                      <a:prstDash val="solid"/>
                      <a:round/>
                      <a:headEnd type="none" w="med" len="med"/>
                      <a:tailEnd type="none" w="med" len="med"/>
                    </a:lnR>
                    <a:lnT w="19050" cap="flat" cmpd="sng" algn="ctr">
                      <a:solidFill>
                        <a:srgbClr val="1C1917"/>
                      </a:solidFill>
                      <a:prstDash val="solid"/>
                      <a:round/>
                      <a:headEnd type="none" w="med" len="med"/>
                      <a:tailEnd type="none" w="med" len="med"/>
                    </a:lnT>
                    <a:lnB w="19050" cap="flat" cmpd="sng" algn="ctr">
                      <a:solidFill>
                        <a:srgbClr val="1C1917"/>
                      </a:solidFill>
                      <a:prstDash val="solid"/>
                      <a:round/>
                      <a:headEnd type="none" w="med" len="med"/>
                      <a:tailEnd type="none" w="med" len="med"/>
                    </a:lnB>
                    <a:solidFill>
                      <a:srgbClr val="1C1917"/>
                    </a:solidFill>
                  </a:tcPr>
                </a:tc>
                <a:tc>
                  <a:txBody>
                    <a:bodyPr/>
                    <a:lstStyle/>
                    <a:p>
                      <a:pPr algn="l" indent="0" marL="0">
                        <a:buNone/>
                      </a:pPr>
                      <a:r>
                        <a:rPr lang="en-US" sz="1500" b="1" dirty="0">
                          <a:solidFill>
                            <a:srgbClr val="F1EFEA"/>
                          </a:solidFill>
                          <a:latin typeface="Space Grotesk" pitchFamily="34" charset="0"/>
                          <a:ea typeface="Space Grotesk" pitchFamily="34" charset="-122"/>
                          <a:cs typeface="Space Grotesk" pitchFamily="34" charset="-120"/>
                        </a:rPr>
                        <a:t>Kizeo (externe)</a:t>
                      </a:r>
                      <a:endParaRPr lang="en-US" sz="1500" dirty="0">
                        <a:latin typeface="Space Grotesk" charset="0"/>
                        <a:ea typeface="Space Grotesk" charset="0"/>
                        <a:cs typeface="Space Grotesk" charset="0"/>
                      </a:endParaRPr>
                    </a:p>
                  </a:txBody>
                  <a:tcPr marL="91440" marR="91440" marT="45720" marB="45720" anchor="ctr">
                    <a:lnL w="19050" cap="flat" cmpd="sng" algn="ctr">
                      <a:solidFill>
                        <a:srgbClr val="1C1917"/>
                      </a:solidFill>
                      <a:prstDash val="solid"/>
                      <a:round/>
                      <a:headEnd type="none" w="med" len="med"/>
                      <a:tailEnd type="none" w="med" len="med"/>
                    </a:lnL>
                    <a:lnR w="19050" cap="flat" cmpd="sng" algn="ctr">
                      <a:solidFill>
                        <a:srgbClr val="1C1917"/>
                      </a:solidFill>
                      <a:prstDash val="solid"/>
                      <a:round/>
                      <a:headEnd type="none" w="med" len="med"/>
                      <a:tailEnd type="none" w="med" len="med"/>
                    </a:lnR>
                    <a:lnT w="19050" cap="flat" cmpd="sng" algn="ctr">
                      <a:solidFill>
                        <a:srgbClr val="1C1917"/>
                      </a:solidFill>
                      <a:prstDash val="solid"/>
                      <a:round/>
                      <a:headEnd type="none" w="med" len="med"/>
                      <a:tailEnd type="none" w="med" len="med"/>
                    </a:lnT>
                    <a:lnB w="19050" cap="flat" cmpd="sng" algn="ctr">
                      <a:solidFill>
                        <a:srgbClr val="1C1917"/>
                      </a:solidFill>
                      <a:prstDash val="solid"/>
                      <a:round/>
                      <a:headEnd type="none" w="med" len="med"/>
                      <a:tailEnd type="none" w="med" len="med"/>
                    </a:lnB>
                    <a:solidFill>
                      <a:srgbClr val="1C1917"/>
                    </a:solidFill>
                  </a:tcPr>
                </a:tc>
                <a:tc>
                  <a:txBody>
                    <a:bodyPr/>
                    <a:lstStyle/>
                    <a:p>
                      <a:pPr algn="l" indent="0" marL="0">
                        <a:buNone/>
                      </a:pPr>
                      <a:r>
                        <a:rPr lang="en-US" sz="1500" b="1" dirty="0">
                          <a:solidFill>
                            <a:srgbClr val="F1EFEA"/>
                          </a:solidFill>
                          <a:latin typeface="Space Grotesk" pitchFamily="34" charset="0"/>
                          <a:ea typeface="Space Grotesk" pitchFamily="34" charset="-122"/>
                          <a:cs typeface="Space Grotesk" pitchFamily="34" charset="-120"/>
                        </a:rPr>
                        <a:t>Teepee (interne VINCI)</a:t>
                      </a:r>
                      <a:endParaRPr lang="en-US" sz="1500" dirty="0">
                        <a:latin typeface="Space Grotesk" charset="0"/>
                        <a:ea typeface="Space Grotesk" charset="0"/>
                        <a:cs typeface="Space Grotesk" charset="0"/>
                      </a:endParaRPr>
                    </a:p>
                  </a:txBody>
                  <a:tcPr marL="91440" marR="91440" marT="45720" marB="45720" anchor="ctr">
                    <a:lnL w="19050" cap="flat" cmpd="sng" algn="ctr">
                      <a:solidFill>
                        <a:srgbClr val="1C1917"/>
                      </a:solidFill>
                      <a:prstDash val="solid"/>
                      <a:round/>
                      <a:headEnd type="none" w="med" len="med"/>
                      <a:tailEnd type="none" w="med" len="med"/>
                    </a:lnL>
                    <a:lnR w="19050" cap="flat" cmpd="sng" algn="ctr">
                      <a:solidFill>
                        <a:srgbClr val="1C1917"/>
                      </a:solidFill>
                      <a:prstDash val="solid"/>
                      <a:round/>
                      <a:headEnd type="none" w="med" len="med"/>
                      <a:tailEnd type="none" w="med" len="med"/>
                    </a:lnR>
                    <a:lnT w="19050" cap="flat" cmpd="sng" algn="ctr">
                      <a:solidFill>
                        <a:srgbClr val="1C1917"/>
                      </a:solidFill>
                      <a:prstDash val="solid"/>
                      <a:round/>
                      <a:headEnd type="none" w="med" len="med"/>
                      <a:tailEnd type="none" w="med" len="med"/>
                    </a:lnT>
                    <a:lnB w="19050" cap="flat" cmpd="sng" algn="ctr">
                      <a:solidFill>
                        <a:srgbClr val="1C1917"/>
                      </a:solidFill>
                      <a:prstDash val="solid"/>
                      <a:round/>
                      <a:headEnd type="none" w="med" len="med"/>
                      <a:tailEnd type="none" w="med" len="med"/>
                    </a:lnB>
                    <a:solidFill>
                      <a:srgbClr val="1C1917"/>
                    </a:solidFill>
                  </a:tcPr>
                </a:tc>
              </a:tr>
              <a:tr h="431800">
                <a:tc>
                  <a:txBody>
                    <a:bodyPr/>
                    <a:lstStyle/>
                    <a:p>
                      <a:pPr algn="l" indent="0" marL="0">
                        <a:buNone/>
                      </a:pPr>
                      <a:r>
                        <a:rPr lang="en-US" sz="1500" dirty="0">
                          <a:solidFill>
                            <a:srgbClr val="1C1917"/>
                          </a:solidFill>
                          <a:latin typeface="IBM Plex Sans" pitchFamily="34" charset="0"/>
                          <a:ea typeface="IBM Plex Sans" pitchFamily="34" charset="-122"/>
                          <a:cs typeface="IBM Plex Sans" pitchFamily="34" charset="-120"/>
                        </a:rPr>
                        <a:t>Conformité sécurité VINCI</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C1917"/>
                      </a:solidFill>
                      <a:prstDash val="solid"/>
                      <a:round/>
                      <a:headEnd type="none" w="med" len="med"/>
                      <a:tailEnd type="none" w="med" len="med"/>
                    </a:lnL>
                    <a:lnR w="19050" cap="flat" cmpd="sng" algn="ctr">
                      <a:solidFill>
                        <a:srgbClr val="1C1917"/>
                      </a:solidFill>
                      <a:prstDash val="solid"/>
                      <a:round/>
                      <a:headEnd type="none" w="med" len="med"/>
                      <a:tailEnd type="none" w="med" len="med"/>
                    </a:lnR>
                    <a:lnT w="19050" cap="flat" cmpd="sng" algn="ctr">
                      <a:solidFill>
                        <a:srgbClr val="1C1917"/>
                      </a:solidFill>
                      <a:prstDash val="solid"/>
                      <a:round/>
                      <a:headEnd type="none" w="med" len="med"/>
                      <a:tailEnd type="none" w="med" len="med"/>
                    </a:lnT>
                    <a:lnB w="19050" cap="flat" cmpd="sng" algn="ctr">
                      <a:solidFill>
                        <a:srgbClr val="1C1917"/>
                      </a:solidFill>
                      <a:prstDash val="solid"/>
                      <a:round/>
                      <a:headEnd type="none" w="med" len="med"/>
                      <a:tailEnd type="none" w="med" len="med"/>
                    </a:lnB>
                    <a:solidFill>
                      <a:srgbClr val="FAF8F4"/>
                    </a:solidFill>
                  </a:tcPr>
                </a:tc>
                <a:tc>
                  <a:txBody>
                    <a:bodyPr/>
                    <a:lstStyle/>
                    <a:p>
                      <a:pPr algn="l" indent="0" marL="0">
                        <a:buNone/>
                      </a:pPr>
                      <a:r>
                        <a:rPr lang="en-US" sz="1500" dirty="0">
                          <a:solidFill>
                            <a:srgbClr val="1C1917"/>
                          </a:solidFill>
                          <a:latin typeface="IBM Plex Sans" pitchFamily="34" charset="0"/>
                          <a:ea typeface="IBM Plex Sans" pitchFamily="34" charset="-122"/>
                          <a:cs typeface="IBM Plex Sans" pitchFamily="34" charset="-120"/>
                        </a:rPr>
                        <a:t>Non : contrat non renouvelé</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C1917"/>
                      </a:solidFill>
                      <a:prstDash val="solid"/>
                      <a:round/>
                      <a:headEnd type="none" w="med" len="med"/>
                      <a:tailEnd type="none" w="med" len="med"/>
                    </a:lnL>
                    <a:lnR w="19050" cap="flat" cmpd="sng" algn="ctr">
                      <a:solidFill>
                        <a:srgbClr val="1C1917"/>
                      </a:solidFill>
                      <a:prstDash val="solid"/>
                      <a:round/>
                      <a:headEnd type="none" w="med" len="med"/>
                      <a:tailEnd type="none" w="med" len="med"/>
                    </a:lnR>
                    <a:lnT w="19050" cap="flat" cmpd="sng" algn="ctr">
                      <a:solidFill>
                        <a:srgbClr val="1C1917"/>
                      </a:solidFill>
                      <a:prstDash val="solid"/>
                      <a:round/>
                      <a:headEnd type="none" w="med" len="med"/>
                      <a:tailEnd type="none" w="med" len="med"/>
                    </a:lnT>
                    <a:lnB w="19050" cap="flat" cmpd="sng" algn="ctr">
                      <a:solidFill>
                        <a:srgbClr val="1C1917"/>
                      </a:solidFill>
                      <a:prstDash val="solid"/>
                      <a:round/>
                      <a:headEnd type="none" w="med" len="med"/>
                      <a:tailEnd type="none" w="med" len="med"/>
                    </a:lnB>
                    <a:solidFill>
                      <a:srgbClr val="FAF8F4"/>
                    </a:solidFill>
                  </a:tcPr>
                </a:tc>
                <a:tc>
                  <a:txBody>
                    <a:bodyPr/>
                    <a:lstStyle/>
                    <a:p>
                      <a:pPr algn="l" indent="0" marL="0">
                        <a:buNone/>
                      </a:pPr>
                      <a:r>
                        <a:rPr lang="en-US" sz="1500" b="1" dirty="0">
                          <a:solidFill>
                            <a:srgbClr val="1C1917"/>
                          </a:solidFill>
                          <a:latin typeface="IBM Plex Sans" pitchFamily="34" charset="0"/>
                          <a:ea typeface="IBM Plex Sans" pitchFamily="34" charset="-122"/>
                          <a:cs typeface="IBM Plex Sans" pitchFamily="34" charset="-120"/>
                        </a:rPr>
                        <a:t>Oui : solution propriétaire</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C1917"/>
                      </a:solidFill>
                      <a:prstDash val="solid"/>
                      <a:round/>
                      <a:headEnd type="none" w="med" len="med"/>
                      <a:tailEnd type="none" w="med" len="med"/>
                    </a:lnL>
                    <a:lnR w="19050" cap="flat" cmpd="sng" algn="ctr">
                      <a:solidFill>
                        <a:srgbClr val="1C1917"/>
                      </a:solidFill>
                      <a:prstDash val="solid"/>
                      <a:round/>
                      <a:headEnd type="none" w="med" len="med"/>
                      <a:tailEnd type="none" w="med" len="med"/>
                    </a:lnR>
                    <a:lnT w="19050" cap="flat" cmpd="sng" algn="ctr">
                      <a:solidFill>
                        <a:srgbClr val="1C1917"/>
                      </a:solidFill>
                      <a:prstDash val="solid"/>
                      <a:round/>
                      <a:headEnd type="none" w="med" len="med"/>
                      <a:tailEnd type="none" w="med" len="med"/>
                    </a:lnT>
                    <a:lnB w="19050" cap="flat" cmpd="sng" algn="ctr">
                      <a:solidFill>
                        <a:srgbClr val="1C1917"/>
                      </a:solidFill>
                      <a:prstDash val="solid"/>
                      <a:round/>
                      <a:headEnd type="none" w="med" len="med"/>
                      <a:tailEnd type="none" w="med" len="med"/>
                    </a:lnB>
                    <a:solidFill>
                      <a:srgbClr val="FAF8F4"/>
                    </a:solidFill>
                  </a:tcPr>
                </a:tc>
              </a:tr>
              <a:tr h="431800">
                <a:tc>
                  <a:txBody>
                    <a:bodyPr/>
                    <a:lstStyle/>
                    <a:p>
                      <a:pPr algn="l" indent="0" marL="0">
                        <a:buNone/>
                      </a:pPr>
                      <a:r>
                        <a:rPr lang="en-US" sz="1500" dirty="0">
                          <a:solidFill>
                            <a:srgbClr val="1C1917"/>
                          </a:solidFill>
                          <a:latin typeface="IBM Plex Sans" pitchFamily="34" charset="0"/>
                          <a:ea typeface="IBM Plex Sans" pitchFamily="34" charset="-122"/>
                          <a:cs typeface="IBM Plex Sans" pitchFamily="34" charset="-120"/>
                        </a:rPr>
                        <a:t>Tableaux de bord</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C1917"/>
                      </a:solidFill>
                      <a:prstDash val="solid"/>
                      <a:round/>
                      <a:headEnd type="none" w="med" len="med"/>
                      <a:tailEnd type="none" w="med" len="med"/>
                    </a:lnL>
                    <a:lnR w="19050" cap="flat" cmpd="sng" algn="ctr">
                      <a:solidFill>
                        <a:srgbClr val="1C1917"/>
                      </a:solidFill>
                      <a:prstDash val="solid"/>
                      <a:round/>
                      <a:headEnd type="none" w="med" len="med"/>
                      <a:tailEnd type="none" w="med" len="med"/>
                    </a:lnR>
                    <a:lnT w="19050" cap="flat" cmpd="sng" algn="ctr">
                      <a:solidFill>
                        <a:srgbClr val="1C1917"/>
                      </a:solidFill>
                      <a:prstDash val="solid"/>
                      <a:round/>
                      <a:headEnd type="none" w="med" len="med"/>
                      <a:tailEnd type="none" w="med" len="med"/>
                    </a:lnT>
                    <a:lnB w="19050" cap="flat" cmpd="sng" algn="ctr">
                      <a:solidFill>
                        <a:srgbClr val="1C1917"/>
                      </a:solidFill>
                      <a:prstDash val="solid"/>
                      <a:round/>
                      <a:headEnd type="none" w="med" len="med"/>
                      <a:tailEnd type="none" w="med" len="med"/>
                    </a:lnB>
                    <a:solidFill>
                      <a:srgbClr val="FAF8F4"/>
                    </a:solidFill>
                  </a:tcPr>
                </a:tc>
                <a:tc>
                  <a:txBody>
                    <a:bodyPr/>
                    <a:lstStyle/>
                    <a:p>
                      <a:pPr algn="l" indent="0" marL="0">
                        <a:buNone/>
                      </a:pPr>
                      <a:r>
                        <a:rPr lang="en-US" sz="1500" dirty="0">
                          <a:solidFill>
                            <a:srgbClr val="1C1917"/>
                          </a:solidFill>
                          <a:latin typeface="IBM Plex Sans" pitchFamily="34" charset="0"/>
                          <a:ea typeface="IBM Plex Sans" pitchFamily="34" charset="-122"/>
                          <a:cs typeface="IBM Plex Sans" pitchFamily="34" charset="-120"/>
                        </a:rPr>
                        <a:t>Non</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C1917"/>
                      </a:solidFill>
                      <a:prstDash val="solid"/>
                      <a:round/>
                      <a:headEnd type="none" w="med" len="med"/>
                      <a:tailEnd type="none" w="med" len="med"/>
                    </a:lnL>
                    <a:lnR w="19050" cap="flat" cmpd="sng" algn="ctr">
                      <a:solidFill>
                        <a:srgbClr val="1C1917"/>
                      </a:solidFill>
                      <a:prstDash val="solid"/>
                      <a:round/>
                      <a:headEnd type="none" w="med" len="med"/>
                      <a:tailEnd type="none" w="med" len="med"/>
                    </a:lnR>
                    <a:lnT w="19050" cap="flat" cmpd="sng" algn="ctr">
                      <a:solidFill>
                        <a:srgbClr val="1C1917"/>
                      </a:solidFill>
                      <a:prstDash val="solid"/>
                      <a:round/>
                      <a:headEnd type="none" w="med" len="med"/>
                      <a:tailEnd type="none" w="med" len="med"/>
                    </a:lnT>
                    <a:lnB w="19050" cap="flat" cmpd="sng" algn="ctr">
                      <a:solidFill>
                        <a:srgbClr val="1C1917"/>
                      </a:solidFill>
                      <a:prstDash val="solid"/>
                      <a:round/>
                      <a:headEnd type="none" w="med" len="med"/>
                      <a:tailEnd type="none" w="med" len="med"/>
                    </a:lnB>
                    <a:solidFill>
                      <a:srgbClr val="FAF8F4"/>
                    </a:solidFill>
                  </a:tcPr>
                </a:tc>
                <a:tc>
                  <a:txBody>
                    <a:bodyPr/>
                    <a:lstStyle/>
                    <a:p>
                      <a:pPr algn="l" indent="0" marL="0">
                        <a:buNone/>
                      </a:pPr>
                      <a:r>
                        <a:rPr lang="en-US" sz="1500" b="1" dirty="0">
                          <a:solidFill>
                            <a:srgbClr val="1C1917"/>
                          </a:solidFill>
                          <a:latin typeface="IBM Plex Sans" pitchFamily="34" charset="0"/>
                          <a:ea typeface="IBM Plex Sans" pitchFamily="34" charset="-122"/>
                          <a:cs typeface="IBM Plex Sans" pitchFamily="34" charset="-120"/>
                        </a:rPr>
                        <a:t>Oui : module Dashboard</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C1917"/>
                      </a:solidFill>
                      <a:prstDash val="solid"/>
                      <a:round/>
                      <a:headEnd type="none" w="med" len="med"/>
                      <a:tailEnd type="none" w="med" len="med"/>
                    </a:lnL>
                    <a:lnR w="19050" cap="flat" cmpd="sng" algn="ctr">
                      <a:solidFill>
                        <a:srgbClr val="1C1917"/>
                      </a:solidFill>
                      <a:prstDash val="solid"/>
                      <a:round/>
                      <a:headEnd type="none" w="med" len="med"/>
                      <a:tailEnd type="none" w="med" len="med"/>
                    </a:lnR>
                    <a:lnT w="19050" cap="flat" cmpd="sng" algn="ctr">
                      <a:solidFill>
                        <a:srgbClr val="1C1917"/>
                      </a:solidFill>
                      <a:prstDash val="solid"/>
                      <a:round/>
                      <a:headEnd type="none" w="med" len="med"/>
                      <a:tailEnd type="none" w="med" len="med"/>
                    </a:lnT>
                    <a:lnB w="19050" cap="flat" cmpd="sng" algn="ctr">
                      <a:solidFill>
                        <a:srgbClr val="1C1917"/>
                      </a:solidFill>
                      <a:prstDash val="solid"/>
                      <a:round/>
                      <a:headEnd type="none" w="med" len="med"/>
                      <a:tailEnd type="none" w="med" len="med"/>
                    </a:lnB>
                    <a:solidFill>
                      <a:srgbClr val="FAF8F4"/>
                    </a:solidFill>
                  </a:tcPr>
                </a:tc>
              </a:tr>
              <a:tr h="431800">
                <a:tc>
                  <a:txBody>
                    <a:bodyPr/>
                    <a:lstStyle/>
                    <a:p>
                      <a:pPr algn="l" indent="0" marL="0">
                        <a:buNone/>
                      </a:pPr>
                      <a:r>
                        <a:rPr lang="en-US" sz="1500" dirty="0">
                          <a:solidFill>
                            <a:srgbClr val="1C1917"/>
                          </a:solidFill>
                          <a:latin typeface="IBM Plex Sans" pitchFamily="34" charset="0"/>
                          <a:ea typeface="IBM Plex Sans" pitchFamily="34" charset="-122"/>
                          <a:cs typeface="IBM Plex Sans" pitchFamily="34" charset="-120"/>
                        </a:rPr>
                        <a:t>Automatisation des processus</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C1917"/>
                      </a:solidFill>
                      <a:prstDash val="solid"/>
                      <a:round/>
                      <a:headEnd type="none" w="med" len="med"/>
                      <a:tailEnd type="none" w="med" len="med"/>
                    </a:lnL>
                    <a:lnR w="19050" cap="flat" cmpd="sng" algn="ctr">
                      <a:solidFill>
                        <a:srgbClr val="1C1917"/>
                      </a:solidFill>
                      <a:prstDash val="solid"/>
                      <a:round/>
                      <a:headEnd type="none" w="med" len="med"/>
                      <a:tailEnd type="none" w="med" len="med"/>
                    </a:lnR>
                    <a:lnT w="19050" cap="flat" cmpd="sng" algn="ctr">
                      <a:solidFill>
                        <a:srgbClr val="1C1917"/>
                      </a:solidFill>
                      <a:prstDash val="solid"/>
                      <a:round/>
                      <a:headEnd type="none" w="med" len="med"/>
                      <a:tailEnd type="none" w="med" len="med"/>
                    </a:lnT>
                    <a:lnB w="19050" cap="flat" cmpd="sng" algn="ctr">
                      <a:solidFill>
                        <a:srgbClr val="1C1917"/>
                      </a:solidFill>
                      <a:prstDash val="solid"/>
                      <a:round/>
                      <a:headEnd type="none" w="med" len="med"/>
                      <a:tailEnd type="none" w="med" len="med"/>
                    </a:lnB>
                    <a:solidFill>
                      <a:srgbClr val="FAF8F4"/>
                    </a:solidFill>
                  </a:tcPr>
                </a:tc>
                <a:tc>
                  <a:txBody>
                    <a:bodyPr/>
                    <a:lstStyle/>
                    <a:p>
                      <a:pPr algn="l" indent="0" marL="0">
                        <a:buNone/>
                      </a:pPr>
                      <a:r>
                        <a:rPr lang="en-US" sz="1500" dirty="0">
                          <a:solidFill>
                            <a:srgbClr val="1C1917"/>
                          </a:solidFill>
                          <a:latin typeface="IBM Plex Sans" pitchFamily="34" charset="0"/>
                          <a:ea typeface="IBM Plex Sans" pitchFamily="34" charset="-122"/>
                          <a:cs typeface="IBM Plex Sans" pitchFamily="34" charset="-120"/>
                        </a:rPr>
                        <a:t>Oui</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C1917"/>
                      </a:solidFill>
                      <a:prstDash val="solid"/>
                      <a:round/>
                      <a:headEnd type="none" w="med" len="med"/>
                      <a:tailEnd type="none" w="med" len="med"/>
                    </a:lnL>
                    <a:lnR w="19050" cap="flat" cmpd="sng" algn="ctr">
                      <a:solidFill>
                        <a:srgbClr val="1C1917"/>
                      </a:solidFill>
                      <a:prstDash val="solid"/>
                      <a:round/>
                      <a:headEnd type="none" w="med" len="med"/>
                      <a:tailEnd type="none" w="med" len="med"/>
                    </a:lnR>
                    <a:lnT w="19050" cap="flat" cmpd="sng" algn="ctr">
                      <a:solidFill>
                        <a:srgbClr val="1C1917"/>
                      </a:solidFill>
                      <a:prstDash val="solid"/>
                      <a:round/>
                      <a:headEnd type="none" w="med" len="med"/>
                      <a:tailEnd type="none" w="med" len="med"/>
                    </a:lnT>
                    <a:lnB w="19050" cap="flat" cmpd="sng" algn="ctr">
                      <a:solidFill>
                        <a:srgbClr val="1C1917"/>
                      </a:solidFill>
                      <a:prstDash val="solid"/>
                      <a:round/>
                      <a:headEnd type="none" w="med" len="med"/>
                      <a:tailEnd type="none" w="med" len="med"/>
                    </a:lnB>
                    <a:solidFill>
                      <a:srgbClr val="FAF8F4"/>
                    </a:solidFill>
                  </a:tcPr>
                </a:tc>
                <a:tc>
                  <a:txBody>
                    <a:bodyPr/>
                    <a:lstStyle/>
                    <a:p>
                      <a:pPr algn="l" indent="0" marL="0">
                        <a:buNone/>
                      </a:pPr>
                      <a:r>
                        <a:rPr lang="en-US" sz="1500" b="1" dirty="0">
                          <a:solidFill>
                            <a:srgbClr val="1C1917"/>
                          </a:solidFill>
                          <a:latin typeface="IBM Plex Sans" pitchFamily="34" charset="0"/>
                          <a:ea typeface="IBM Plex Sans" pitchFamily="34" charset="-122"/>
                          <a:cs typeface="IBM Plex Sans" pitchFamily="34" charset="-120"/>
                        </a:rPr>
                        <a:t>Oui : module Workflow</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C1917"/>
                      </a:solidFill>
                      <a:prstDash val="solid"/>
                      <a:round/>
                      <a:headEnd type="none" w="med" len="med"/>
                      <a:tailEnd type="none" w="med" len="med"/>
                    </a:lnL>
                    <a:lnR w="19050" cap="flat" cmpd="sng" algn="ctr">
                      <a:solidFill>
                        <a:srgbClr val="1C1917"/>
                      </a:solidFill>
                      <a:prstDash val="solid"/>
                      <a:round/>
                      <a:headEnd type="none" w="med" len="med"/>
                      <a:tailEnd type="none" w="med" len="med"/>
                    </a:lnR>
                    <a:lnT w="19050" cap="flat" cmpd="sng" algn="ctr">
                      <a:solidFill>
                        <a:srgbClr val="1C1917"/>
                      </a:solidFill>
                      <a:prstDash val="solid"/>
                      <a:round/>
                      <a:headEnd type="none" w="med" len="med"/>
                      <a:tailEnd type="none" w="med" len="med"/>
                    </a:lnT>
                    <a:lnB w="19050" cap="flat" cmpd="sng" algn="ctr">
                      <a:solidFill>
                        <a:srgbClr val="1C1917"/>
                      </a:solidFill>
                      <a:prstDash val="solid"/>
                      <a:round/>
                      <a:headEnd type="none" w="med" len="med"/>
                      <a:tailEnd type="none" w="med" len="med"/>
                    </a:lnB>
                    <a:solidFill>
                      <a:srgbClr val="FAF8F4"/>
                    </a:solidFill>
                  </a:tcPr>
                </a:tc>
              </a:tr>
              <a:tr h="431800">
                <a:tc>
                  <a:txBody>
                    <a:bodyPr/>
                    <a:lstStyle/>
                    <a:p>
                      <a:pPr algn="l" indent="0" marL="0">
                        <a:buNone/>
                      </a:pPr>
                      <a:r>
                        <a:rPr lang="en-US" sz="1500" dirty="0">
                          <a:solidFill>
                            <a:srgbClr val="1C1917"/>
                          </a:solidFill>
                          <a:latin typeface="IBM Plex Sans" pitchFamily="34" charset="0"/>
                          <a:ea typeface="IBM Plex Sans" pitchFamily="34" charset="-122"/>
                          <a:cs typeface="IBM Plex Sans" pitchFamily="34" charset="-120"/>
                        </a:rPr>
                        <a:t>Plans et schémas</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C1917"/>
                      </a:solidFill>
                      <a:prstDash val="solid"/>
                      <a:round/>
                      <a:headEnd type="none" w="med" len="med"/>
                      <a:tailEnd type="none" w="med" len="med"/>
                    </a:lnL>
                    <a:lnR w="19050" cap="flat" cmpd="sng" algn="ctr">
                      <a:solidFill>
                        <a:srgbClr val="1C1917"/>
                      </a:solidFill>
                      <a:prstDash val="solid"/>
                      <a:round/>
                      <a:headEnd type="none" w="med" len="med"/>
                      <a:tailEnd type="none" w="med" len="med"/>
                    </a:lnR>
                    <a:lnT w="19050" cap="flat" cmpd="sng" algn="ctr">
                      <a:solidFill>
                        <a:srgbClr val="1C1917"/>
                      </a:solidFill>
                      <a:prstDash val="solid"/>
                      <a:round/>
                      <a:headEnd type="none" w="med" len="med"/>
                      <a:tailEnd type="none" w="med" len="med"/>
                    </a:lnT>
                    <a:lnB w="19050" cap="flat" cmpd="sng" algn="ctr">
                      <a:solidFill>
                        <a:srgbClr val="1C1917"/>
                      </a:solidFill>
                      <a:prstDash val="solid"/>
                      <a:round/>
                      <a:headEnd type="none" w="med" len="med"/>
                      <a:tailEnd type="none" w="med" len="med"/>
                    </a:lnB>
                    <a:solidFill>
                      <a:srgbClr val="FAF8F4"/>
                    </a:solidFill>
                  </a:tcPr>
                </a:tc>
                <a:tc>
                  <a:txBody>
                    <a:bodyPr/>
                    <a:lstStyle/>
                    <a:p>
                      <a:pPr algn="l" indent="0" marL="0">
                        <a:buNone/>
                      </a:pPr>
                      <a:r>
                        <a:rPr lang="en-US" sz="1500" dirty="0">
                          <a:solidFill>
                            <a:srgbClr val="1C1917"/>
                          </a:solidFill>
                          <a:latin typeface="IBM Plex Sans" pitchFamily="34" charset="0"/>
                          <a:ea typeface="IBM Plex Sans" pitchFamily="34" charset="-122"/>
                          <a:cs typeface="IBM Plex Sans" pitchFamily="34" charset="-120"/>
                        </a:rPr>
                        <a:t>Non</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C1917"/>
                      </a:solidFill>
                      <a:prstDash val="solid"/>
                      <a:round/>
                      <a:headEnd type="none" w="med" len="med"/>
                      <a:tailEnd type="none" w="med" len="med"/>
                    </a:lnL>
                    <a:lnR w="19050" cap="flat" cmpd="sng" algn="ctr">
                      <a:solidFill>
                        <a:srgbClr val="1C1917"/>
                      </a:solidFill>
                      <a:prstDash val="solid"/>
                      <a:round/>
                      <a:headEnd type="none" w="med" len="med"/>
                      <a:tailEnd type="none" w="med" len="med"/>
                    </a:lnR>
                    <a:lnT w="19050" cap="flat" cmpd="sng" algn="ctr">
                      <a:solidFill>
                        <a:srgbClr val="1C1917"/>
                      </a:solidFill>
                      <a:prstDash val="solid"/>
                      <a:round/>
                      <a:headEnd type="none" w="med" len="med"/>
                      <a:tailEnd type="none" w="med" len="med"/>
                    </a:lnT>
                    <a:lnB w="19050" cap="flat" cmpd="sng" algn="ctr">
                      <a:solidFill>
                        <a:srgbClr val="1C1917"/>
                      </a:solidFill>
                      <a:prstDash val="solid"/>
                      <a:round/>
                      <a:headEnd type="none" w="med" len="med"/>
                      <a:tailEnd type="none" w="med" len="med"/>
                    </a:lnB>
                    <a:solidFill>
                      <a:srgbClr val="FAF8F4"/>
                    </a:solidFill>
                  </a:tcPr>
                </a:tc>
                <a:tc>
                  <a:txBody>
                    <a:bodyPr/>
                    <a:lstStyle/>
                    <a:p>
                      <a:pPr algn="l" indent="0" marL="0">
                        <a:buNone/>
                      </a:pPr>
                      <a:r>
                        <a:rPr lang="en-US" sz="1500" b="1" dirty="0">
                          <a:solidFill>
                            <a:srgbClr val="1C1917"/>
                          </a:solidFill>
                          <a:latin typeface="IBM Plex Sans" pitchFamily="34" charset="0"/>
                          <a:ea typeface="IBM Plex Sans" pitchFamily="34" charset="-122"/>
                          <a:cs typeface="IBM Plex Sans" pitchFamily="34" charset="-120"/>
                        </a:rPr>
                        <a:t>Oui : module Plans</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C1917"/>
                      </a:solidFill>
                      <a:prstDash val="solid"/>
                      <a:round/>
                      <a:headEnd type="none" w="med" len="med"/>
                      <a:tailEnd type="none" w="med" len="med"/>
                    </a:lnL>
                    <a:lnR w="19050" cap="flat" cmpd="sng" algn="ctr">
                      <a:solidFill>
                        <a:srgbClr val="1C1917"/>
                      </a:solidFill>
                      <a:prstDash val="solid"/>
                      <a:round/>
                      <a:headEnd type="none" w="med" len="med"/>
                      <a:tailEnd type="none" w="med" len="med"/>
                    </a:lnR>
                    <a:lnT w="19050" cap="flat" cmpd="sng" algn="ctr">
                      <a:solidFill>
                        <a:srgbClr val="1C1917"/>
                      </a:solidFill>
                      <a:prstDash val="solid"/>
                      <a:round/>
                      <a:headEnd type="none" w="med" len="med"/>
                      <a:tailEnd type="none" w="med" len="med"/>
                    </a:lnT>
                    <a:lnB w="19050" cap="flat" cmpd="sng" algn="ctr">
                      <a:solidFill>
                        <a:srgbClr val="1C1917"/>
                      </a:solidFill>
                      <a:prstDash val="solid"/>
                      <a:round/>
                      <a:headEnd type="none" w="med" len="med"/>
                      <a:tailEnd type="none" w="med" len="med"/>
                    </a:lnB>
                    <a:solidFill>
                      <a:srgbClr val="FAF8F4"/>
                    </a:solidFill>
                  </a:tcPr>
                </a:tc>
              </a:tr>
              <a:tr h="431800">
                <a:tc>
                  <a:txBody>
                    <a:bodyPr/>
                    <a:lstStyle/>
                    <a:p>
                      <a:pPr algn="l" indent="0" marL="0">
                        <a:buNone/>
                      </a:pPr>
                      <a:r>
                        <a:rPr lang="en-US" sz="1500" dirty="0">
                          <a:solidFill>
                            <a:srgbClr val="1C1917"/>
                          </a:solidFill>
                          <a:latin typeface="IBM Plex Sans" pitchFamily="34" charset="0"/>
                          <a:ea typeface="IBM Plex Sans" pitchFamily="34" charset="-122"/>
                          <a:cs typeface="IBM Plex Sans" pitchFamily="34" charset="-120"/>
                        </a:rPr>
                        <a:t>Connecteur Power BI</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C1917"/>
                      </a:solidFill>
                      <a:prstDash val="solid"/>
                      <a:round/>
                      <a:headEnd type="none" w="med" len="med"/>
                      <a:tailEnd type="none" w="med" len="med"/>
                    </a:lnL>
                    <a:lnR w="19050" cap="flat" cmpd="sng" algn="ctr">
                      <a:solidFill>
                        <a:srgbClr val="1C1917"/>
                      </a:solidFill>
                      <a:prstDash val="solid"/>
                      <a:round/>
                      <a:headEnd type="none" w="med" len="med"/>
                      <a:tailEnd type="none" w="med" len="med"/>
                    </a:lnR>
                    <a:lnT w="19050" cap="flat" cmpd="sng" algn="ctr">
                      <a:solidFill>
                        <a:srgbClr val="1C1917"/>
                      </a:solidFill>
                      <a:prstDash val="solid"/>
                      <a:round/>
                      <a:headEnd type="none" w="med" len="med"/>
                      <a:tailEnd type="none" w="med" len="med"/>
                    </a:lnT>
                    <a:lnB w="19050" cap="flat" cmpd="sng" algn="ctr">
                      <a:solidFill>
                        <a:srgbClr val="1C1917"/>
                      </a:solidFill>
                      <a:prstDash val="solid"/>
                      <a:round/>
                      <a:headEnd type="none" w="med" len="med"/>
                      <a:tailEnd type="none" w="med" len="med"/>
                    </a:lnB>
                    <a:solidFill>
                      <a:srgbClr val="FAF8F4"/>
                    </a:solidFill>
                  </a:tcPr>
                </a:tc>
                <a:tc>
                  <a:txBody>
                    <a:bodyPr/>
                    <a:lstStyle/>
                    <a:p>
                      <a:pPr algn="l" indent="0" marL="0">
                        <a:buNone/>
                      </a:pPr>
                      <a:r>
                        <a:rPr lang="en-US" sz="1500" dirty="0">
                          <a:solidFill>
                            <a:srgbClr val="1C1917"/>
                          </a:solidFill>
                          <a:latin typeface="IBM Plex Sans" pitchFamily="34" charset="0"/>
                          <a:ea typeface="IBM Plex Sans" pitchFamily="34" charset="-122"/>
                          <a:cs typeface="IBM Plex Sans" pitchFamily="34" charset="-120"/>
                        </a:rPr>
                        <a:t>Non</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C1917"/>
                      </a:solidFill>
                      <a:prstDash val="solid"/>
                      <a:round/>
                      <a:headEnd type="none" w="med" len="med"/>
                      <a:tailEnd type="none" w="med" len="med"/>
                    </a:lnL>
                    <a:lnR w="19050" cap="flat" cmpd="sng" algn="ctr">
                      <a:solidFill>
                        <a:srgbClr val="1C1917"/>
                      </a:solidFill>
                      <a:prstDash val="solid"/>
                      <a:round/>
                      <a:headEnd type="none" w="med" len="med"/>
                      <a:tailEnd type="none" w="med" len="med"/>
                    </a:lnR>
                    <a:lnT w="19050" cap="flat" cmpd="sng" algn="ctr">
                      <a:solidFill>
                        <a:srgbClr val="1C1917"/>
                      </a:solidFill>
                      <a:prstDash val="solid"/>
                      <a:round/>
                      <a:headEnd type="none" w="med" len="med"/>
                      <a:tailEnd type="none" w="med" len="med"/>
                    </a:lnT>
                    <a:lnB w="19050" cap="flat" cmpd="sng" algn="ctr">
                      <a:solidFill>
                        <a:srgbClr val="1C1917"/>
                      </a:solidFill>
                      <a:prstDash val="solid"/>
                      <a:round/>
                      <a:headEnd type="none" w="med" len="med"/>
                      <a:tailEnd type="none" w="med" len="med"/>
                    </a:lnB>
                    <a:solidFill>
                      <a:srgbClr val="FAF8F4"/>
                    </a:solidFill>
                  </a:tcPr>
                </a:tc>
                <a:tc>
                  <a:txBody>
                    <a:bodyPr/>
                    <a:lstStyle/>
                    <a:p>
                      <a:pPr algn="l" indent="0" marL="0">
                        <a:buNone/>
                      </a:pPr>
                      <a:r>
                        <a:rPr lang="en-US" sz="1500" b="1" dirty="0">
                          <a:solidFill>
                            <a:srgbClr val="1C1917"/>
                          </a:solidFill>
                          <a:latin typeface="IBM Plex Sans" pitchFamily="34" charset="0"/>
                          <a:ea typeface="IBM Plex Sans" pitchFamily="34" charset="-122"/>
                          <a:cs typeface="IBM Plex Sans" pitchFamily="34" charset="-120"/>
                        </a:rPr>
                        <a:t>Oui : 2 synchros par jour</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C1917"/>
                      </a:solidFill>
                      <a:prstDash val="solid"/>
                      <a:round/>
                      <a:headEnd type="none" w="med" len="med"/>
                      <a:tailEnd type="none" w="med" len="med"/>
                    </a:lnL>
                    <a:lnR w="19050" cap="flat" cmpd="sng" algn="ctr">
                      <a:solidFill>
                        <a:srgbClr val="1C1917"/>
                      </a:solidFill>
                      <a:prstDash val="solid"/>
                      <a:round/>
                      <a:headEnd type="none" w="med" len="med"/>
                      <a:tailEnd type="none" w="med" len="med"/>
                    </a:lnR>
                    <a:lnT w="19050" cap="flat" cmpd="sng" algn="ctr">
                      <a:solidFill>
                        <a:srgbClr val="1C1917"/>
                      </a:solidFill>
                      <a:prstDash val="solid"/>
                      <a:round/>
                      <a:headEnd type="none" w="med" len="med"/>
                      <a:tailEnd type="none" w="med" len="med"/>
                    </a:lnT>
                    <a:lnB w="19050" cap="flat" cmpd="sng" algn="ctr">
                      <a:solidFill>
                        <a:srgbClr val="1C1917"/>
                      </a:solidFill>
                      <a:prstDash val="solid"/>
                      <a:round/>
                      <a:headEnd type="none" w="med" len="med"/>
                      <a:tailEnd type="none" w="med" len="med"/>
                    </a:lnB>
                    <a:solidFill>
                      <a:srgbClr val="FAF8F4"/>
                    </a:solidFill>
                  </a:tcPr>
                </a:tc>
              </a:tr>
              <a:tr h="431800">
                <a:tc>
                  <a:txBody>
                    <a:bodyPr/>
                    <a:lstStyle/>
                    <a:p>
                      <a:pPr algn="l" indent="0" marL="0">
                        <a:buNone/>
                      </a:pPr>
                      <a:r>
                        <a:rPr lang="en-US" sz="1500" dirty="0">
                          <a:solidFill>
                            <a:srgbClr val="1C1917"/>
                          </a:solidFill>
                          <a:latin typeface="IBM Plex Sans" pitchFamily="34" charset="0"/>
                          <a:ea typeface="IBM Plex Sans" pitchFamily="34" charset="-122"/>
                          <a:cs typeface="IBM Plex Sans" pitchFamily="34" charset="-120"/>
                        </a:rPr>
                        <a:t>Mode hors réseau</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C1917"/>
                      </a:solidFill>
                      <a:prstDash val="solid"/>
                      <a:round/>
                      <a:headEnd type="none" w="med" len="med"/>
                      <a:tailEnd type="none" w="med" len="med"/>
                    </a:lnL>
                    <a:lnR w="19050" cap="flat" cmpd="sng" algn="ctr">
                      <a:solidFill>
                        <a:srgbClr val="1C1917"/>
                      </a:solidFill>
                      <a:prstDash val="solid"/>
                      <a:round/>
                      <a:headEnd type="none" w="med" len="med"/>
                      <a:tailEnd type="none" w="med" len="med"/>
                    </a:lnR>
                    <a:lnT w="19050" cap="flat" cmpd="sng" algn="ctr">
                      <a:solidFill>
                        <a:srgbClr val="1C1917"/>
                      </a:solidFill>
                      <a:prstDash val="solid"/>
                      <a:round/>
                      <a:headEnd type="none" w="med" len="med"/>
                      <a:tailEnd type="none" w="med" len="med"/>
                    </a:lnT>
                    <a:lnB w="19050" cap="flat" cmpd="sng" algn="ctr">
                      <a:solidFill>
                        <a:srgbClr val="1C1917"/>
                      </a:solidFill>
                      <a:prstDash val="solid"/>
                      <a:round/>
                      <a:headEnd type="none" w="med" len="med"/>
                      <a:tailEnd type="none" w="med" len="med"/>
                    </a:lnB>
                    <a:solidFill>
                      <a:srgbClr val="FAF8F4"/>
                    </a:solidFill>
                  </a:tcPr>
                </a:tc>
                <a:tc>
                  <a:txBody>
                    <a:bodyPr/>
                    <a:lstStyle/>
                    <a:p>
                      <a:pPr algn="l" indent="0" marL="0">
                        <a:buNone/>
                      </a:pPr>
                      <a:r>
                        <a:rPr lang="en-US" sz="1500" dirty="0">
                          <a:solidFill>
                            <a:srgbClr val="1C1917"/>
                          </a:solidFill>
                          <a:latin typeface="IBM Plex Sans" pitchFamily="34" charset="0"/>
                          <a:ea typeface="IBM Plex Sans" pitchFamily="34" charset="-122"/>
                          <a:cs typeface="IBM Plex Sans" pitchFamily="34" charset="-120"/>
                        </a:rPr>
                        <a:t>Oui (Android)</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C1917"/>
                      </a:solidFill>
                      <a:prstDash val="solid"/>
                      <a:round/>
                      <a:headEnd type="none" w="med" len="med"/>
                      <a:tailEnd type="none" w="med" len="med"/>
                    </a:lnL>
                    <a:lnR w="19050" cap="flat" cmpd="sng" algn="ctr">
                      <a:solidFill>
                        <a:srgbClr val="1C1917"/>
                      </a:solidFill>
                      <a:prstDash val="solid"/>
                      <a:round/>
                      <a:headEnd type="none" w="med" len="med"/>
                      <a:tailEnd type="none" w="med" len="med"/>
                    </a:lnR>
                    <a:lnT w="19050" cap="flat" cmpd="sng" algn="ctr">
                      <a:solidFill>
                        <a:srgbClr val="1C1917"/>
                      </a:solidFill>
                      <a:prstDash val="solid"/>
                      <a:round/>
                      <a:headEnd type="none" w="med" len="med"/>
                      <a:tailEnd type="none" w="med" len="med"/>
                    </a:lnT>
                    <a:lnB w="19050" cap="flat" cmpd="sng" algn="ctr">
                      <a:solidFill>
                        <a:srgbClr val="1C1917"/>
                      </a:solidFill>
                      <a:prstDash val="solid"/>
                      <a:round/>
                      <a:headEnd type="none" w="med" len="med"/>
                      <a:tailEnd type="none" w="med" len="med"/>
                    </a:lnB>
                    <a:solidFill>
                      <a:srgbClr val="FAF8F4"/>
                    </a:solidFill>
                  </a:tcPr>
                </a:tc>
                <a:tc>
                  <a:txBody>
                    <a:bodyPr/>
                    <a:lstStyle/>
                    <a:p>
                      <a:pPr algn="l" indent="0" marL="0">
                        <a:buNone/>
                      </a:pPr>
                      <a:r>
                        <a:rPr lang="en-US" sz="1500" b="1" dirty="0">
                          <a:solidFill>
                            <a:srgbClr val="1C1917"/>
                          </a:solidFill>
                          <a:latin typeface="IBM Plex Sans" pitchFamily="34" charset="0"/>
                          <a:ea typeface="IBM Plex Sans" pitchFamily="34" charset="-122"/>
                          <a:cs typeface="IBM Plex Sans" pitchFamily="34" charset="-120"/>
                        </a:rPr>
                        <a:t>Oui (Android), PWA iOS</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C1917"/>
                      </a:solidFill>
                      <a:prstDash val="solid"/>
                      <a:round/>
                      <a:headEnd type="none" w="med" len="med"/>
                      <a:tailEnd type="none" w="med" len="med"/>
                    </a:lnL>
                    <a:lnR w="19050" cap="flat" cmpd="sng" algn="ctr">
                      <a:solidFill>
                        <a:srgbClr val="1C1917"/>
                      </a:solidFill>
                      <a:prstDash val="solid"/>
                      <a:round/>
                      <a:headEnd type="none" w="med" len="med"/>
                      <a:tailEnd type="none" w="med" len="med"/>
                    </a:lnR>
                    <a:lnT w="19050" cap="flat" cmpd="sng" algn="ctr">
                      <a:solidFill>
                        <a:srgbClr val="1C1917"/>
                      </a:solidFill>
                      <a:prstDash val="solid"/>
                      <a:round/>
                      <a:headEnd type="none" w="med" len="med"/>
                      <a:tailEnd type="none" w="med" len="med"/>
                    </a:lnT>
                    <a:lnB w="19050" cap="flat" cmpd="sng" algn="ctr">
                      <a:solidFill>
                        <a:srgbClr val="1C1917"/>
                      </a:solidFill>
                      <a:prstDash val="solid"/>
                      <a:round/>
                      <a:headEnd type="none" w="med" len="med"/>
                      <a:tailEnd type="none" w="med" len="med"/>
                    </a:lnB>
                    <a:solidFill>
                      <a:srgbClr val="FAF8F4"/>
                    </a:solidFill>
                  </a:tcPr>
                </a:tc>
              </a:tr>
              <a:tr h="431800">
                <a:tc>
                  <a:txBody>
                    <a:bodyPr/>
                    <a:lstStyle/>
                    <a:p>
                      <a:pPr algn="l" indent="0" marL="0">
                        <a:buNone/>
                      </a:pPr>
                      <a:r>
                        <a:rPr lang="en-US" sz="1500" dirty="0">
                          <a:solidFill>
                            <a:srgbClr val="1C1917"/>
                          </a:solidFill>
                          <a:latin typeface="IBM Plex Sans" pitchFamily="34" charset="0"/>
                          <a:ea typeface="IBM Plex Sans" pitchFamily="34" charset="-122"/>
                          <a:cs typeface="IBM Plex Sans" pitchFamily="34" charset="-120"/>
                        </a:rPr>
                        <a:t>Tarif</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C1917"/>
                      </a:solidFill>
                      <a:prstDash val="solid"/>
                      <a:round/>
                      <a:headEnd type="none" w="med" len="med"/>
                      <a:tailEnd type="none" w="med" len="med"/>
                    </a:lnL>
                    <a:lnR w="19050" cap="flat" cmpd="sng" algn="ctr">
                      <a:solidFill>
                        <a:srgbClr val="1C1917"/>
                      </a:solidFill>
                      <a:prstDash val="solid"/>
                      <a:round/>
                      <a:headEnd type="none" w="med" len="med"/>
                      <a:tailEnd type="none" w="med" len="med"/>
                    </a:lnR>
                    <a:lnT w="19050" cap="flat" cmpd="sng" algn="ctr">
                      <a:solidFill>
                        <a:srgbClr val="1C1917"/>
                      </a:solidFill>
                      <a:prstDash val="solid"/>
                      <a:round/>
                      <a:headEnd type="none" w="med" len="med"/>
                      <a:tailEnd type="none" w="med" len="med"/>
                    </a:lnT>
                    <a:lnB w="19050" cap="flat" cmpd="sng" algn="ctr">
                      <a:solidFill>
                        <a:srgbClr val="1C1917"/>
                      </a:solidFill>
                      <a:prstDash val="solid"/>
                      <a:round/>
                      <a:headEnd type="none" w="med" len="med"/>
                      <a:tailEnd type="none" w="med" len="med"/>
                    </a:lnB>
                    <a:solidFill>
                      <a:srgbClr val="FAF8F4"/>
                    </a:solidFill>
                  </a:tcPr>
                </a:tc>
                <a:tc>
                  <a:txBody>
                    <a:bodyPr/>
                    <a:lstStyle/>
                    <a:p>
                      <a:pPr algn="l" indent="0" marL="0">
                        <a:buNone/>
                      </a:pPr>
                      <a:r>
                        <a:rPr lang="en-US" sz="1500" dirty="0">
                          <a:solidFill>
                            <a:srgbClr val="1C1917"/>
                          </a:solidFill>
                          <a:latin typeface="IBM Plex Sans" pitchFamily="34" charset="0"/>
                          <a:ea typeface="IBM Plex Sans" pitchFamily="34" charset="-122"/>
                          <a:cs typeface="IBM Plex Sans" pitchFamily="34" charset="-120"/>
                        </a:rPr>
                        <a:t>18 € / utilisateur / mois</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C1917"/>
                      </a:solidFill>
                      <a:prstDash val="solid"/>
                      <a:round/>
                      <a:headEnd type="none" w="med" len="med"/>
                      <a:tailEnd type="none" w="med" len="med"/>
                    </a:lnL>
                    <a:lnR w="19050" cap="flat" cmpd="sng" algn="ctr">
                      <a:solidFill>
                        <a:srgbClr val="1C1917"/>
                      </a:solidFill>
                      <a:prstDash val="solid"/>
                      <a:round/>
                      <a:headEnd type="none" w="med" len="med"/>
                      <a:tailEnd type="none" w="med" len="med"/>
                    </a:lnR>
                    <a:lnT w="19050" cap="flat" cmpd="sng" algn="ctr">
                      <a:solidFill>
                        <a:srgbClr val="1C1917"/>
                      </a:solidFill>
                      <a:prstDash val="solid"/>
                      <a:round/>
                      <a:headEnd type="none" w="med" len="med"/>
                      <a:tailEnd type="none" w="med" len="med"/>
                    </a:lnT>
                    <a:lnB w="19050" cap="flat" cmpd="sng" algn="ctr">
                      <a:solidFill>
                        <a:srgbClr val="1C1917"/>
                      </a:solidFill>
                      <a:prstDash val="solid"/>
                      <a:round/>
                      <a:headEnd type="none" w="med" len="med"/>
                      <a:tailEnd type="none" w="med" len="med"/>
                    </a:lnB>
                    <a:solidFill>
                      <a:srgbClr val="FAF8F4"/>
                    </a:solidFill>
                  </a:tcPr>
                </a:tc>
                <a:tc>
                  <a:txBody>
                    <a:bodyPr/>
                    <a:lstStyle/>
                    <a:p>
                      <a:pPr algn="l" indent="0" marL="0">
                        <a:buNone/>
                      </a:pPr>
                      <a:r>
                        <a:rPr lang="en-US" sz="1500" b="1" dirty="0">
                          <a:solidFill>
                            <a:srgbClr val="1C1917"/>
                          </a:solidFill>
                          <a:latin typeface="IBM Plex Sans" pitchFamily="34" charset="0"/>
                          <a:ea typeface="IBM Plex Sans" pitchFamily="34" charset="-122"/>
                          <a:cs typeface="IBM Plex Sans" pitchFamily="34" charset="-120"/>
                        </a:rPr>
                        <a:t>7 € / utilisateur / mois</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C1917"/>
                      </a:solidFill>
                      <a:prstDash val="solid"/>
                      <a:round/>
                      <a:headEnd type="none" w="med" len="med"/>
                      <a:tailEnd type="none" w="med" len="med"/>
                    </a:lnL>
                    <a:lnR w="19050" cap="flat" cmpd="sng" algn="ctr">
                      <a:solidFill>
                        <a:srgbClr val="1C1917"/>
                      </a:solidFill>
                      <a:prstDash val="solid"/>
                      <a:round/>
                      <a:headEnd type="none" w="med" len="med"/>
                      <a:tailEnd type="none" w="med" len="med"/>
                    </a:lnR>
                    <a:lnT w="19050" cap="flat" cmpd="sng" algn="ctr">
                      <a:solidFill>
                        <a:srgbClr val="1C1917"/>
                      </a:solidFill>
                      <a:prstDash val="solid"/>
                      <a:round/>
                      <a:headEnd type="none" w="med" len="med"/>
                      <a:tailEnd type="none" w="med" len="med"/>
                    </a:lnT>
                    <a:lnB w="19050" cap="flat" cmpd="sng" algn="ctr">
                      <a:solidFill>
                        <a:srgbClr val="1C1917"/>
                      </a:solidFill>
                      <a:prstDash val="solid"/>
                      <a:round/>
                      <a:headEnd type="none" w="med" len="med"/>
                      <a:tailEnd type="none" w="med" len="med"/>
                    </a:lnB>
                    <a:solidFill>
                      <a:srgbClr val="FAF8F4"/>
                    </a:solidFill>
                  </a:tcPr>
                </a:tc>
              </a:tr>
            </a:tbl>
          </a:graphicData>
        </a:graphic>
      </p:graphicFrame>
      <p:sp>
        <p:nvSpPr>
          <p:cNvPr id="10" name="nav:2-s5">
            <a:hlinkClick r:id="rIdNav2" action="ppaction://hlinksldjump"/>
          </p:cNvPr>
          <p:cNvSpPr/>
          <p:nvPr/>
        </p:nvSpPr>
        <p:spPr>
          <a:xfrm>
            <a:off x="10922000" y="254000"/>
            <a:ext cx="457200" cy="457200"/>
          </a:xfrm>
          <a:prstGeom prst="rect">
            <a:avLst/>
          </a:prstGeom>
          <a:solidFill>
            <a:srgbClr val="FFFFFF">
              <a:alpha val="0"/>
            </a:srgbClr>
          </a:solidFill>
          <a:ln/>
        </p:spPr>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1EFEA"/>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1EFEA"/>
          </a:solidFill>
          <a:ln w="19050">
            <a:solidFill>
              <a:srgbClr val="1C1917"/>
            </a:solidFill>
            <a:prstDash val="solid"/>
          </a:ln>
        </p:spPr>
      </p:sp>
      <p:sp>
        <p:nvSpPr>
          <p:cNvPr id="3" name="!!mk-bar"/>
          <p:cNvSpPr/>
          <p:nvPr/>
        </p:nvSpPr>
        <p:spPr>
          <a:xfrm>
            <a:off x="812800" y="6299200"/>
            <a:ext cx="2882900" cy="127000"/>
          </a:xfrm>
          <a:prstGeom prst="rect">
            <a:avLst/>
          </a:prstGeom>
          <a:solidFill>
            <a:srgbClr val="C2570C"/>
          </a:solidFill>
          <a:ln w="19050">
            <a:solidFill>
              <a:srgbClr val="1C1917"/>
            </a:solidFill>
            <a:prstDash val="solid"/>
          </a:ln>
        </p:spPr>
      </p:sp>
      <p:sp>
        <p:nvSpPr>
          <p:cNvPr id="4" name="!!mk-sq"/>
          <p:cNvSpPr/>
          <p:nvPr/>
        </p:nvSpPr>
        <p:spPr>
          <a:xfrm rot="-900000">
            <a:off x="10922000" y="254000"/>
            <a:ext cx="457200" cy="457200"/>
          </a:xfrm>
          <a:prstGeom prst="rect">
            <a:avLst/>
          </a:prstGeom>
          <a:solidFill>
            <a:srgbClr val="C2570C"/>
          </a:solidFill>
          <a:ln w="25400">
            <a:solidFill>
              <a:srgbClr val="1C1917"/>
            </a:solidFill>
            <a:prstDash val="solid"/>
          </a:ln>
          <a:effectLst>
            <a:outerShdw sx="100000" sy="100000" kx="0" ky="0" algn="bl" rotWithShape="0" blurRad="101600" dist="71831" dir="2700000">
              <a:srgbClr val="1C1917">
                <a:alpha val="100000"/>
              </a:srgbClr>
            </a:outerShdw>
          </a:effectLst>
        </p:spPr>
      </p:sp>
      <p:sp>
        <p:nvSpPr>
          <p:cNvPr id="5" name="!!mk-logos"/>
          <p:cNvSpPr/>
          <p:nvPr/>
        </p:nvSpPr>
        <p:spPr>
          <a:xfrm>
            <a:off x="8191500" y="279400"/>
            <a:ext cx="2476500" cy="355600"/>
          </a:xfrm>
          <a:prstGeom prst="rect">
            <a:avLst/>
          </a:prstGeom>
          <a:solidFill>
            <a:srgbClr val="FAF8F4"/>
          </a:solidFill>
          <a:ln w="19050">
            <a:solidFill>
              <a:srgbClr val="1C1917"/>
            </a:solidFill>
            <a:prstDash val="solid"/>
          </a:ln>
          <a:effectLst>
            <a:outerShdw sx="100000" sy="100000" kx="0" ky="0" algn="bl" rotWithShape="0" blurRad="101600" dist="53873" dir="2700000">
              <a:srgbClr val="1C1917">
                <a:alpha val="100000"/>
              </a:srgbClr>
            </a:outerShdw>
          </a:effectLst>
        </p:spPr>
      </p:sp>
      <p:pic>
        <p:nvPicPr>
          <p:cNvPr id="6" name="!!mk-logo-1" descr="Logo VINCI Facilities">    </p:cNvPr>
          <p:cNvPicPr>
            <a:picLocks noChangeAspect="1"/>
          </p:cNvPicPr>
          <p:nvPr/>
        </p:nvPicPr>
        <p:blipFill>
          <a:blip r:embed="rId1"/>
          <a:stretch>
            <a:fillRect/>
          </a:stretch>
        </p:blipFill>
        <p:spPr>
          <a:xfrm>
            <a:off x="8756650" y="330200"/>
            <a:ext cx="762000" cy="254000"/>
          </a:xfrm>
          <a:prstGeom prst="rect">
            <a:avLst/>
          </a:prstGeom>
        </p:spPr>
      </p:pic>
      <p:pic>
        <p:nvPicPr>
          <p:cNvPr id="7" name="!!mk-logo-2" descr="Logo Icam">    </p:cNvPr>
          <p:cNvPicPr>
            <a:picLocks noChangeAspect="1"/>
          </p:cNvPicPr>
          <p:nvPr/>
        </p:nvPicPr>
        <p:blipFill>
          <a:blip r:embed="rId2"/>
          <a:stretch>
            <a:fillRect/>
          </a:stretch>
        </p:blipFill>
        <p:spPr>
          <a:xfrm>
            <a:off x="9671050" y="330200"/>
            <a:ext cx="431800" cy="254000"/>
          </a:xfrm>
          <a:prstGeom prst="rect">
            <a:avLst/>
          </a:prstGeom>
        </p:spPr>
      </p:pic>
      <p:sp>
        <p:nvSpPr>
          <p:cNvPr id="8" name="Text 4-s6"/>
          <p:cNvSpPr txBox="1"/>
          <p:nvPr/>
        </p:nvSpPr>
        <p:spPr>
          <a:xfrm>
            <a:off x="812800" y="812800"/>
            <a:ext cx="10566400" cy="571500"/>
          </a:xfrm>
          <a:prstGeom prst="rect">
            <a:avLst/>
          </a:prstGeom>
          <a:noFill/>
          <a:ln/>
        </p:spPr>
        <p:txBody>
          <a:bodyPr wrap="square" lIns="0" tIns="0" rIns="0" bIns="0" rtlCol="0" anchor="t"/>
          <a:lstStyle/>
          <a:p>
            <a:pPr algn="l" indent="0" marL="0">
              <a:lnSpc>
                <a:spcPct val="87500"/>
              </a:lnSpc>
              <a:buNone/>
            </a:pPr>
            <a:r>
              <a:rPr lang="en-US" sz="3600" b="1" dirty="0">
                <a:solidFill>
                  <a:srgbClr val="1C1917"/>
                </a:solidFill>
                <a:latin typeface="Space Grotesk" pitchFamily="34" charset="0"/>
                <a:ea typeface="Space Grotesk" pitchFamily="34" charset="-122"/>
                <a:cs typeface="Space Grotesk" pitchFamily="34" charset="-120"/>
              </a:rPr>
              <a:t>Une démarche itérative en cinq temps</a:t>
            </a:r>
            <a:endParaRPr lang="en-US" sz="3600" dirty="0"/>
          </a:p>
        </p:txBody>
      </p:sp>
      <p:sp>
        <p:nvSpPr>
          <p:cNvPr id="9" name="Shape 5-s6"/>
          <p:cNvSpPr/>
          <p:nvPr/>
        </p:nvSpPr>
        <p:spPr>
          <a:xfrm>
            <a:off x="812800" y="1587500"/>
            <a:ext cx="609600" cy="609600"/>
          </a:xfrm>
          <a:prstGeom prst="rect">
            <a:avLst/>
          </a:prstGeom>
          <a:solidFill>
            <a:srgbClr val="1C1917"/>
          </a:solidFill>
          <a:ln w="25400">
            <a:solidFill>
              <a:srgbClr val="1C1917"/>
            </a:solidFill>
            <a:prstDash val="solid"/>
          </a:ln>
        </p:spPr>
      </p:sp>
      <p:sp>
        <p:nvSpPr>
          <p:cNvPr id="10" name="Text 6-s6"/>
          <p:cNvSpPr txBox="1"/>
          <p:nvPr/>
        </p:nvSpPr>
        <p:spPr>
          <a:xfrm>
            <a:off x="812800" y="1587500"/>
            <a:ext cx="609600" cy="609600"/>
          </a:xfrm>
          <a:prstGeom prst="rect">
            <a:avLst/>
          </a:prstGeom>
          <a:noFill/>
          <a:ln/>
        </p:spPr>
        <p:txBody>
          <a:bodyPr wrap="square" lIns="0" tIns="0" rIns="0" bIns="0" rtlCol="0" anchor="ctr"/>
          <a:lstStyle/>
          <a:p>
            <a:pPr algn="ctr" indent="0" marL="0">
              <a:lnSpc>
                <a:spcPct val="104167"/>
              </a:lnSpc>
              <a:buNone/>
            </a:pPr>
            <a:r>
              <a:rPr lang="en-US" sz="2000" b="1" dirty="0">
                <a:solidFill>
                  <a:srgbClr val="F1EFEA"/>
                </a:solidFill>
                <a:latin typeface="Space Grotesk" pitchFamily="34" charset="0"/>
                <a:ea typeface="Space Grotesk" pitchFamily="34" charset="-122"/>
                <a:cs typeface="Space Grotesk" pitchFamily="34" charset="-120"/>
              </a:rPr>
              <a:t>01</a:t>
            </a:r>
            <a:endParaRPr lang="en-US" sz="2000" dirty="0"/>
          </a:p>
        </p:txBody>
      </p:sp>
      <p:sp>
        <p:nvSpPr>
          <p:cNvPr id="11" name="Shape 7-s6"/>
          <p:cNvSpPr/>
          <p:nvPr/>
        </p:nvSpPr>
        <p:spPr>
          <a:xfrm>
            <a:off x="1422400" y="1587500"/>
            <a:ext cx="9956800" cy="609600"/>
          </a:xfrm>
          <a:prstGeom prst="rect">
            <a:avLst/>
          </a:prstGeom>
          <a:solidFill>
            <a:srgbClr val="FAF8F4"/>
          </a:solidFill>
          <a:ln w="25400">
            <a:solidFill>
              <a:srgbClr val="1C1917"/>
            </a:solidFill>
            <a:prstDash val="solid"/>
          </a:ln>
        </p:spPr>
      </p:sp>
      <p:sp>
        <p:nvSpPr>
          <p:cNvPr id="12" name="Text 8-s6"/>
          <p:cNvSpPr txBox="1"/>
          <p:nvPr/>
        </p:nvSpPr>
        <p:spPr>
          <a:xfrm>
            <a:off x="1625600" y="1587500"/>
            <a:ext cx="9588500" cy="609600"/>
          </a:xfrm>
          <a:prstGeom prst="rect">
            <a:avLst/>
          </a:prstGeom>
          <a:noFill/>
          <a:ln/>
        </p:spPr>
        <p:txBody>
          <a:bodyPr wrap="square" lIns="0" tIns="0" rIns="0" bIns="0" rtlCol="0" anchor="ctr"/>
          <a:lstStyle/>
          <a:p>
            <a:pPr algn="l" indent="0" marL="0">
              <a:lnSpc>
                <a:spcPct val="104167"/>
              </a:lnSpc>
              <a:buNone/>
            </a:pPr>
            <a:r>
              <a:rPr lang="en-US" sz="1600" dirty="0">
                <a:solidFill>
                  <a:srgbClr val="1C1917"/>
                </a:solidFill>
                <a:latin typeface="IBM Plex Sans" pitchFamily="34" charset="0"/>
                <a:ea typeface="IBM Plex Sans" pitchFamily="34" charset="-122"/>
                <a:cs typeface="IBM Plex Sans" pitchFamily="34" charset="-120"/>
              </a:rPr>
              <a:t>Cartographier l’existant : formulaires actifs, obsolètes, doublons</a:t>
            </a:r>
            <a:endParaRPr lang="en-US" sz="1600" dirty="0"/>
          </a:p>
        </p:txBody>
      </p:sp>
      <p:sp>
        <p:nvSpPr>
          <p:cNvPr id="13" name="Shape 9-s6"/>
          <p:cNvSpPr/>
          <p:nvPr/>
        </p:nvSpPr>
        <p:spPr>
          <a:xfrm>
            <a:off x="812800" y="2324100"/>
            <a:ext cx="609600" cy="609600"/>
          </a:xfrm>
          <a:prstGeom prst="rect">
            <a:avLst/>
          </a:prstGeom>
          <a:solidFill>
            <a:srgbClr val="1C1917"/>
          </a:solidFill>
          <a:ln w="25400">
            <a:solidFill>
              <a:srgbClr val="1C1917"/>
            </a:solidFill>
            <a:prstDash val="solid"/>
          </a:ln>
        </p:spPr>
      </p:sp>
      <p:sp>
        <p:nvSpPr>
          <p:cNvPr id="14" name="Text 10-s6"/>
          <p:cNvSpPr txBox="1"/>
          <p:nvPr/>
        </p:nvSpPr>
        <p:spPr>
          <a:xfrm>
            <a:off x="812800" y="2324100"/>
            <a:ext cx="609600" cy="609600"/>
          </a:xfrm>
          <a:prstGeom prst="rect">
            <a:avLst/>
          </a:prstGeom>
          <a:noFill/>
          <a:ln/>
        </p:spPr>
        <p:txBody>
          <a:bodyPr wrap="square" lIns="0" tIns="0" rIns="0" bIns="0" rtlCol="0" anchor="ctr"/>
          <a:lstStyle/>
          <a:p>
            <a:pPr algn="ctr" indent="0" marL="0">
              <a:lnSpc>
                <a:spcPct val="104167"/>
              </a:lnSpc>
              <a:buNone/>
            </a:pPr>
            <a:r>
              <a:rPr lang="en-US" sz="2000" b="1" dirty="0">
                <a:solidFill>
                  <a:srgbClr val="F1EFEA"/>
                </a:solidFill>
                <a:latin typeface="Space Grotesk" pitchFamily="34" charset="0"/>
                <a:ea typeface="Space Grotesk" pitchFamily="34" charset="-122"/>
                <a:cs typeface="Space Grotesk" pitchFamily="34" charset="-120"/>
              </a:rPr>
              <a:t>02</a:t>
            </a:r>
            <a:endParaRPr lang="en-US" sz="2000" dirty="0"/>
          </a:p>
        </p:txBody>
      </p:sp>
      <p:sp>
        <p:nvSpPr>
          <p:cNvPr id="15" name="Shape 11-s6"/>
          <p:cNvSpPr/>
          <p:nvPr/>
        </p:nvSpPr>
        <p:spPr>
          <a:xfrm>
            <a:off x="1422400" y="2324100"/>
            <a:ext cx="9956800" cy="609600"/>
          </a:xfrm>
          <a:prstGeom prst="rect">
            <a:avLst/>
          </a:prstGeom>
          <a:solidFill>
            <a:srgbClr val="FAF8F4"/>
          </a:solidFill>
          <a:ln w="25400">
            <a:solidFill>
              <a:srgbClr val="1C1917"/>
            </a:solidFill>
            <a:prstDash val="solid"/>
          </a:ln>
        </p:spPr>
      </p:sp>
      <p:sp>
        <p:nvSpPr>
          <p:cNvPr id="16" name="Text 12-s6"/>
          <p:cNvSpPr txBox="1"/>
          <p:nvPr/>
        </p:nvSpPr>
        <p:spPr>
          <a:xfrm>
            <a:off x="1625600" y="2324100"/>
            <a:ext cx="9588500" cy="609600"/>
          </a:xfrm>
          <a:prstGeom prst="rect">
            <a:avLst/>
          </a:prstGeom>
          <a:noFill/>
          <a:ln/>
        </p:spPr>
        <p:txBody>
          <a:bodyPr wrap="square" lIns="0" tIns="0" rIns="0" bIns="0" rtlCol="0" anchor="ctr"/>
          <a:lstStyle/>
          <a:p>
            <a:pPr algn="l" indent="0" marL="0">
              <a:lnSpc>
                <a:spcPct val="104167"/>
              </a:lnSpc>
              <a:buNone/>
            </a:pPr>
            <a:r>
              <a:rPr lang="en-US" sz="1600" dirty="0">
                <a:solidFill>
                  <a:srgbClr val="1C1917"/>
                </a:solidFill>
                <a:latin typeface="IBM Plex Sans" pitchFamily="34" charset="0"/>
                <a:ea typeface="IBM Plex Sans" pitchFamily="34" charset="-122"/>
                <a:cs typeface="IBM Plex Sans" pitchFamily="34" charset="-120"/>
              </a:rPr>
              <a:t>Rationaliser et concevoir : garder l’essentiel, simplifier le reste</a:t>
            </a:r>
            <a:endParaRPr lang="en-US" sz="1600" dirty="0"/>
          </a:p>
        </p:txBody>
      </p:sp>
      <p:sp>
        <p:nvSpPr>
          <p:cNvPr id="17" name="Shape 13-s6"/>
          <p:cNvSpPr/>
          <p:nvPr/>
        </p:nvSpPr>
        <p:spPr>
          <a:xfrm>
            <a:off x="812800" y="3060700"/>
            <a:ext cx="609600" cy="609600"/>
          </a:xfrm>
          <a:prstGeom prst="rect">
            <a:avLst/>
          </a:prstGeom>
          <a:solidFill>
            <a:srgbClr val="1C1917"/>
          </a:solidFill>
          <a:ln w="25400">
            <a:solidFill>
              <a:srgbClr val="1C1917"/>
            </a:solidFill>
            <a:prstDash val="solid"/>
          </a:ln>
        </p:spPr>
      </p:sp>
      <p:sp>
        <p:nvSpPr>
          <p:cNvPr id="18" name="Text 14-s6"/>
          <p:cNvSpPr txBox="1"/>
          <p:nvPr/>
        </p:nvSpPr>
        <p:spPr>
          <a:xfrm>
            <a:off x="812800" y="3060700"/>
            <a:ext cx="609600" cy="609600"/>
          </a:xfrm>
          <a:prstGeom prst="rect">
            <a:avLst/>
          </a:prstGeom>
          <a:noFill/>
          <a:ln/>
        </p:spPr>
        <p:txBody>
          <a:bodyPr wrap="square" lIns="0" tIns="0" rIns="0" bIns="0" rtlCol="0" anchor="ctr"/>
          <a:lstStyle/>
          <a:p>
            <a:pPr algn="ctr" indent="0" marL="0">
              <a:lnSpc>
                <a:spcPct val="104167"/>
              </a:lnSpc>
              <a:buNone/>
            </a:pPr>
            <a:r>
              <a:rPr lang="en-US" sz="2000" b="1" dirty="0">
                <a:solidFill>
                  <a:srgbClr val="F1EFEA"/>
                </a:solidFill>
                <a:latin typeface="Space Grotesk" pitchFamily="34" charset="0"/>
                <a:ea typeface="Space Grotesk" pitchFamily="34" charset="-122"/>
                <a:cs typeface="Space Grotesk" pitchFamily="34" charset="-120"/>
              </a:rPr>
              <a:t>03</a:t>
            </a:r>
            <a:endParaRPr lang="en-US" sz="2000" dirty="0"/>
          </a:p>
        </p:txBody>
      </p:sp>
      <p:sp>
        <p:nvSpPr>
          <p:cNvPr id="19" name="Shape 15-s6"/>
          <p:cNvSpPr/>
          <p:nvPr/>
        </p:nvSpPr>
        <p:spPr>
          <a:xfrm>
            <a:off x="1422400" y="3060700"/>
            <a:ext cx="9956800" cy="609600"/>
          </a:xfrm>
          <a:prstGeom prst="rect">
            <a:avLst/>
          </a:prstGeom>
          <a:solidFill>
            <a:srgbClr val="FAF8F4"/>
          </a:solidFill>
          <a:ln w="25400">
            <a:solidFill>
              <a:srgbClr val="1C1917"/>
            </a:solidFill>
            <a:prstDash val="solid"/>
          </a:ln>
        </p:spPr>
      </p:sp>
      <p:sp>
        <p:nvSpPr>
          <p:cNvPr id="20" name="Text 16-s6"/>
          <p:cNvSpPr txBox="1"/>
          <p:nvPr/>
        </p:nvSpPr>
        <p:spPr>
          <a:xfrm>
            <a:off x="1625600" y="3060700"/>
            <a:ext cx="9588500" cy="609600"/>
          </a:xfrm>
          <a:prstGeom prst="rect">
            <a:avLst/>
          </a:prstGeom>
          <a:noFill/>
          <a:ln/>
        </p:spPr>
        <p:txBody>
          <a:bodyPr wrap="square" lIns="0" tIns="0" rIns="0" bIns="0" rtlCol="0" anchor="ctr"/>
          <a:lstStyle/>
          <a:p>
            <a:pPr algn="l" indent="0" marL="0">
              <a:lnSpc>
                <a:spcPct val="104167"/>
              </a:lnSpc>
              <a:buNone/>
            </a:pPr>
            <a:r>
              <a:rPr lang="en-US" sz="1600" dirty="0">
                <a:solidFill>
                  <a:srgbClr val="1C1917"/>
                </a:solidFill>
                <a:latin typeface="IBM Plex Sans" pitchFamily="34" charset="0"/>
                <a:ea typeface="IBM Plex Sans" pitchFamily="34" charset="-122"/>
                <a:cs typeface="IBM Plex Sans" pitchFamily="34" charset="-120"/>
              </a:rPr>
              <a:t>Paramétrer : formulaires, workflows et modèles d’export</a:t>
            </a:r>
            <a:endParaRPr lang="en-US" sz="1600" dirty="0"/>
          </a:p>
        </p:txBody>
      </p:sp>
      <p:sp>
        <p:nvSpPr>
          <p:cNvPr id="21" name="Shape 17-s6"/>
          <p:cNvSpPr/>
          <p:nvPr/>
        </p:nvSpPr>
        <p:spPr>
          <a:xfrm>
            <a:off x="812800" y="3797300"/>
            <a:ext cx="609600" cy="609600"/>
          </a:xfrm>
          <a:prstGeom prst="rect">
            <a:avLst/>
          </a:prstGeom>
          <a:solidFill>
            <a:srgbClr val="1C1917"/>
          </a:solidFill>
          <a:ln w="25400">
            <a:solidFill>
              <a:srgbClr val="1C1917"/>
            </a:solidFill>
            <a:prstDash val="solid"/>
          </a:ln>
        </p:spPr>
      </p:sp>
      <p:sp>
        <p:nvSpPr>
          <p:cNvPr id="22" name="Text 18-s6"/>
          <p:cNvSpPr txBox="1"/>
          <p:nvPr/>
        </p:nvSpPr>
        <p:spPr>
          <a:xfrm>
            <a:off x="812800" y="3797300"/>
            <a:ext cx="609600" cy="609600"/>
          </a:xfrm>
          <a:prstGeom prst="rect">
            <a:avLst/>
          </a:prstGeom>
          <a:noFill/>
          <a:ln/>
        </p:spPr>
        <p:txBody>
          <a:bodyPr wrap="square" lIns="0" tIns="0" rIns="0" bIns="0" rtlCol="0" anchor="ctr"/>
          <a:lstStyle/>
          <a:p>
            <a:pPr algn="ctr" indent="0" marL="0">
              <a:lnSpc>
                <a:spcPct val="104167"/>
              </a:lnSpc>
              <a:buNone/>
            </a:pPr>
            <a:r>
              <a:rPr lang="en-US" sz="2000" b="1" dirty="0">
                <a:solidFill>
                  <a:srgbClr val="F1EFEA"/>
                </a:solidFill>
                <a:latin typeface="Space Grotesk" pitchFamily="34" charset="0"/>
                <a:ea typeface="Space Grotesk" pitchFamily="34" charset="-122"/>
                <a:cs typeface="Space Grotesk" pitchFamily="34" charset="-120"/>
              </a:rPr>
              <a:t>04</a:t>
            </a:r>
            <a:endParaRPr lang="en-US" sz="2000" dirty="0"/>
          </a:p>
        </p:txBody>
      </p:sp>
      <p:sp>
        <p:nvSpPr>
          <p:cNvPr id="23" name="Shape 19-s6"/>
          <p:cNvSpPr/>
          <p:nvPr/>
        </p:nvSpPr>
        <p:spPr>
          <a:xfrm>
            <a:off x="1422400" y="3797300"/>
            <a:ext cx="9956800" cy="609600"/>
          </a:xfrm>
          <a:prstGeom prst="rect">
            <a:avLst/>
          </a:prstGeom>
          <a:solidFill>
            <a:srgbClr val="FAF8F4"/>
          </a:solidFill>
          <a:ln w="25400">
            <a:solidFill>
              <a:srgbClr val="1C1917"/>
            </a:solidFill>
            <a:prstDash val="solid"/>
          </a:ln>
        </p:spPr>
      </p:sp>
      <p:sp>
        <p:nvSpPr>
          <p:cNvPr id="24" name="Text 20-s6"/>
          <p:cNvSpPr txBox="1"/>
          <p:nvPr/>
        </p:nvSpPr>
        <p:spPr>
          <a:xfrm>
            <a:off x="1625600" y="3797300"/>
            <a:ext cx="9588500" cy="609600"/>
          </a:xfrm>
          <a:prstGeom prst="rect">
            <a:avLst/>
          </a:prstGeom>
          <a:noFill/>
          <a:ln/>
        </p:spPr>
        <p:txBody>
          <a:bodyPr wrap="square" lIns="0" tIns="0" rIns="0" bIns="0" rtlCol="0" anchor="ctr"/>
          <a:lstStyle/>
          <a:p>
            <a:pPr algn="l" indent="0" marL="0">
              <a:lnSpc>
                <a:spcPct val="104167"/>
              </a:lnSpc>
              <a:buNone/>
            </a:pPr>
            <a:r>
              <a:rPr lang="en-US" sz="1600" dirty="0">
                <a:solidFill>
                  <a:srgbClr val="1C1917"/>
                </a:solidFill>
                <a:latin typeface="IBM Plex Sans" pitchFamily="34" charset="0"/>
                <a:ea typeface="IBM Plex Sans" pitchFamily="34" charset="-122"/>
                <a:cs typeface="IBM Plex Sans" pitchFamily="34" charset="-120"/>
              </a:rPr>
              <a:t>Tester : fonctionnel, métier, workflow, export et terrain</a:t>
            </a:r>
            <a:endParaRPr lang="en-US" sz="1600" dirty="0"/>
          </a:p>
        </p:txBody>
      </p:sp>
      <p:sp>
        <p:nvSpPr>
          <p:cNvPr id="25" name="Shape 21-s6"/>
          <p:cNvSpPr/>
          <p:nvPr/>
        </p:nvSpPr>
        <p:spPr>
          <a:xfrm>
            <a:off x="812800" y="4533900"/>
            <a:ext cx="609600" cy="609600"/>
          </a:xfrm>
          <a:prstGeom prst="rect">
            <a:avLst/>
          </a:prstGeom>
          <a:solidFill>
            <a:srgbClr val="1C1917"/>
          </a:solidFill>
          <a:ln w="25400">
            <a:solidFill>
              <a:srgbClr val="1C1917"/>
            </a:solidFill>
            <a:prstDash val="solid"/>
          </a:ln>
        </p:spPr>
      </p:sp>
      <p:sp>
        <p:nvSpPr>
          <p:cNvPr id="26" name="Text 22-s6"/>
          <p:cNvSpPr txBox="1"/>
          <p:nvPr/>
        </p:nvSpPr>
        <p:spPr>
          <a:xfrm>
            <a:off x="812800" y="4533900"/>
            <a:ext cx="609600" cy="609600"/>
          </a:xfrm>
          <a:prstGeom prst="rect">
            <a:avLst/>
          </a:prstGeom>
          <a:noFill/>
          <a:ln/>
        </p:spPr>
        <p:txBody>
          <a:bodyPr wrap="square" lIns="0" tIns="0" rIns="0" bIns="0" rtlCol="0" anchor="ctr"/>
          <a:lstStyle/>
          <a:p>
            <a:pPr algn="ctr" indent="0" marL="0">
              <a:lnSpc>
                <a:spcPct val="104167"/>
              </a:lnSpc>
              <a:buNone/>
            </a:pPr>
            <a:r>
              <a:rPr lang="en-US" sz="2000" b="1" dirty="0">
                <a:solidFill>
                  <a:srgbClr val="F1EFEA"/>
                </a:solidFill>
                <a:latin typeface="Space Grotesk" pitchFamily="34" charset="0"/>
                <a:ea typeface="Space Grotesk" pitchFamily="34" charset="-122"/>
                <a:cs typeface="Space Grotesk" pitchFamily="34" charset="-120"/>
              </a:rPr>
              <a:t>05</a:t>
            </a:r>
            <a:endParaRPr lang="en-US" sz="2000" dirty="0"/>
          </a:p>
        </p:txBody>
      </p:sp>
      <p:sp>
        <p:nvSpPr>
          <p:cNvPr id="27" name="Shape 23-s6"/>
          <p:cNvSpPr/>
          <p:nvPr/>
        </p:nvSpPr>
        <p:spPr>
          <a:xfrm>
            <a:off x="1422400" y="4533900"/>
            <a:ext cx="9956800" cy="609600"/>
          </a:xfrm>
          <a:prstGeom prst="rect">
            <a:avLst/>
          </a:prstGeom>
          <a:solidFill>
            <a:srgbClr val="FAF8F4"/>
          </a:solidFill>
          <a:ln w="25400">
            <a:solidFill>
              <a:srgbClr val="1C1917"/>
            </a:solidFill>
            <a:prstDash val="solid"/>
          </a:ln>
        </p:spPr>
      </p:sp>
      <p:sp>
        <p:nvSpPr>
          <p:cNvPr id="28" name="Text 24-s6"/>
          <p:cNvSpPr txBox="1"/>
          <p:nvPr/>
        </p:nvSpPr>
        <p:spPr>
          <a:xfrm>
            <a:off x="1625600" y="4533900"/>
            <a:ext cx="9588500" cy="609600"/>
          </a:xfrm>
          <a:prstGeom prst="rect">
            <a:avLst/>
          </a:prstGeom>
          <a:noFill/>
          <a:ln/>
        </p:spPr>
        <p:txBody>
          <a:bodyPr wrap="square" lIns="0" tIns="0" rIns="0" bIns="0" rtlCol="0" anchor="ctr"/>
          <a:lstStyle/>
          <a:p>
            <a:pPr algn="l" indent="0" marL="0">
              <a:lnSpc>
                <a:spcPct val="104167"/>
              </a:lnSpc>
              <a:buNone/>
            </a:pPr>
            <a:r>
              <a:rPr lang="en-US" sz="1600" dirty="0">
                <a:solidFill>
                  <a:srgbClr val="1C1917"/>
                </a:solidFill>
                <a:latin typeface="IBM Plex Sans" pitchFamily="34" charset="0"/>
                <a:ea typeface="IBM Plex Sans" pitchFamily="34" charset="-122"/>
                <a:cs typeface="IBM Plex Sans" pitchFamily="34" charset="-120"/>
              </a:rPr>
              <a:t>Former, déployer, puis stabiliser avec les retours des utilisateurs</a:t>
            </a:r>
            <a:endParaRPr lang="en-US" sz="1600" dirty="0"/>
          </a:p>
        </p:txBody>
      </p:sp>
      <p:sp>
        <p:nvSpPr>
          <p:cNvPr id="29" name="nav:2-s6">
            <a:hlinkClick r:id="rIdNav2" action="ppaction://hlinksldjump"/>
          </p:cNvPr>
          <p:cNvSpPr/>
          <p:nvPr/>
        </p:nvSpPr>
        <p:spPr>
          <a:xfrm>
            <a:off x="10922000" y="254000"/>
            <a:ext cx="457200" cy="457200"/>
          </a:xfrm>
          <a:prstGeom prst="rect">
            <a:avLst/>
          </a:prstGeom>
          <a:solidFill>
            <a:srgbClr val="FFFFFF">
              <a:alpha val="0"/>
            </a:srgbClr>
          </a:solidFill>
          <a:ln/>
        </p:spPr>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1EFEA"/>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1EFEA"/>
          </a:solidFill>
          <a:ln w="19050">
            <a:solidFill>
              <a:srgbClr val="1C1917"/>
            </a:solidFill>
            <a:prstDash val="solid"/>
          </a:ln>
        </p:spPr>
      </p:sp>
      <p:sp>
        <p:nvSpPr>
          <p:cNvPr id="3" name="!!mk-bar"/>
          <p:cNvSpPr/>
          <p:nvPr/>
        </p:nvSpPr>
        <p:spPr>
          <a:xfrm>
            <a:off x="812800" y="6299200"/>
            <a:ext cx="3359150" cy="127000"/>
          </a:xfrm>
          <a:prstGeom prst="rect">
            <a:avLst/>
          </a:prstGeom>
          <a:solidFill>
            <a:srgbClr val="C2570C"/>
          </a:solidFill>
          <a:ln w="19050">
            <a:solidFill>
              <a:srgbClr val="1C1917"/>
            </a:solidFill>
            <a:prstDash val="solid"/>
          </a:ln>
        </p:spPr>
      </p:sp>
      <p:sp>
        <p:nvSpPr>
          <p:cNvPr id="4" name="!!mk-sq"/>
          <p:cNvSpPr/>
          <p:nvPr/>
        </p:nvSpPr>
        <p:spPr>
          <a:xfrm rot="900000">
            <a:off x="10922000" y="254000"/>
            <a:ext cx="457200" cy="457200"/>
          </a:xfrm>
          <a:prstGeom prst="rect">
            <a:avLst/>
          </a:prstGeom>
          <a:solidFill>
            <a:srgbClr val="C2570C"/>
          </a:solidFill>
          <a:ln w="25400">
            <a:solidFill>
              <a:srgbClr val="1C1917"/>
            </a:solidFill>
            <a:prstDash val="solid"/>
          </a:ln>
          <a:effectLst>
            <a:outerShdw sx="100000" sy="100000" kx="0" ky="0" algn="bl" rotWithShape="0" blurRad="101600" dist="71831" dir="2700000">
              <a:srgbClr val="1C1917">
                <a:alpha val="100000"/>
              </a:srgbClr>
            </a:outerShdw>
          </a:effectLst>
        </p:spPr>
      </p:sp>
      <p:sp>
        <p:nvSpPr>
          <p:cNvPr id="5" name="!!mk-logos"/>
          <p:cNvSpPr/>
          <p:nvPr/>
        </p:nvSpPr>
        <p:spPr>
          <a:xfrm>
            <a:off x="8191500" y="279400"/>
            <a:ext cx="2476500" cy="355600"/>
          </a:xfrm>
          <a:prstGeom prst="rect">
            <a:avLst/>
          </a:prstGeom>
          <a:solidFill>
            <a:srgbClr val="FAF8F4"/>
          </a:solidFill>
          <a:ln w="19050">
            <a:solidFill>
              <a:srgbClr val="1C1917"/>
            </a:solidFill>
            <a:prstDash val="solid"/>
          </a:ln>
          <a:effectLst>
            <a:outerShdw sx="100000" sy="100000" kx="0" ky="0" algn="bl" rotWithShape="0" blurRad="101600" dist="53873" dir="2700000">
              <a:srgbClr val="1C1917">
                <a:alpha val="100000"/>
              </a:srgbClr>
            </a:outerShdw>
          </a:effectLst>
        </p:spPr>
      </p:sp>
      <p:pic>
        <p:nvPicPr>
          <p:cNvPr id="6" name="!!mk-logo-1" descr="Logo VINCI Facilities">    </p:cNvPr>
          <p:cNvPicPr>
            <a:picLocks noChangeAspect="1"/>
          </p:cNvPicPr>
          <p:nvPr/>
        </p:nvPicPr>
        <p:blipFill>
          <a:blip r:embed="rId1"/>
          <a:stretch>
            <a:fillRect/>
          </a:stretch>
        </p:blipFill>
        <p:spPr>
          <a:xfrm>
            <a:off x="8756650" y="330200"/>
            <a:ext cx="762000" cy="254000"/>
          </a:xfrm>
          <a:prstGeom prst="rect">
            <a:avLst/>
          </a:prstGeom>
        </p:spPr>
      </p:pic>
      <p:pic>
        <p:nvPicPr>
          <p:cNvPr id="7" name="!!mk-logo-2" descr="Logo Icam">    </p:cNvPr>
          <p:cNvPicPr>
            <a:picLocks noChangeAspect="1"/>
          </p:cNvPicPr>
          <p:nvPr/>
        </p:nvPicPr>
        <p:blipFill>
          <a:blip r:embed="rId2"/>
          <a:stretch>
            <a:fillRect/>
          </a:stretch>
        </p:blipFill>
        <p:spPr>
          <a:xfrm>
            <a:off x="9671050" y="330200"/>
            <a:ext cx="431800" cy="254000"/>
          </a:xfrm>
          <a:prstGeom prst="rect">
            <a:avLst/>
          </a:prstGeom>
        </p:spPr>
      </p:pic>
      <p:sp>
        <p:nvSpPr>
          <p:cNvPr id="8" name="Text 4-s7"/>
          <p:cNvSpPr txBox="1"/>
          <p:nvPr/>
        </p:nvSpPr>
        <p:spPr>
          <a:xfrm>
            <a:off x="812800" y="812800"/>
            <a:ext cx="10566400" cy="571500"/>
          </a:xfrm>
          <a:prstGeom prst="rect">
            <a:avLst/>
          </a:prstGeom>
          <a:noFill/>
          <a:ln/>
        </p:spPr>
        <p:txBody>
          <a:bodyPr wrap="square" lIns="0" tIns="0" rIns="0" bIns="0" rtlCol="0" anchor="t"/>
          <a:lstStyle/>
          <a:p>
            <a:pPr algn="l" indent="0" marL="0">
              <a:lnSpc>
                <a:spcPct val="87500"/>
              </a:lnSpc>
              <a:buNone/>
            </a:pPr>
            <a:r>
              <a:rPr lang="en-US" sz="3600" b="1" dirty="0">
                <a:solidFill>
                  <a:srgbClr val="1C1917"/>
                </a:solidFill>
                <a:latin typeface="Space Grotesk" pitchFamily="34" charset="0"/>
                <a:ea typeface="Space Grotesk" pitchFamily="34" charset="-122"/>
                <a:cs typeface="Space Grotesk" pitchFamily="34" charset="-120"/>
              </a:rPr>
              <a:t>Planning du projet</a:t>
            </a:r>
            <a:endParaRPr lang="en-US" sz="3600" dirty="0"/>
          </a:p>
        </p:txBody>
      </p:sp>
      <p:sp>
        <p:nvSpPr>
          <p:cNvPr id="9" name="Shape 5-s7"/>
          <p:cNvSpPr/>
          <p:nvPr/>
        </p:nvSpPr>
        <p:spPr>
          <a:xfrm>
            <a:off x="812800" y="1587500"/>
            <a:ext cx="6985000" cy="3625850"/>
          </a:xfrm>
          <a:prstGeom prst="rect">
            <a:avLst/>
          </a:prstGeom>
          <a:solidFill>
            <a:srgbClr val="FAF8F4"/>
          </a:solidFill>
          <a:ln w="25400">
            <a:solidFill>
              <a:srgbClr val="1C1917"/>
            </a:solidFill>
            <a:prstDash val="solid"/>
          </a:ln>
          <a:effectLst>
            <a:outerShdw sx="100000" sy="100000" kx="0" ky="0" algn="bl" rotWithShape="0" blurRad="101600" dist="89789" dir="2700000">
              <a:srgbClr val="1C1917">
                <a:alpha val="100000"/>
              </a:srgbClr>
            </a:outerShdw>
          </a:effectLst>
        </p:spPr>
      </p:sp>
      <p:pic>
        <p:nvPicPr>
          <p:cNvPr id="10" name="Image 2-s7" descr="Chronologie synthétique du projet en mois relatifs au lancement">    </p:cNvPr>
          <p:cNvPicPr>
            <a:picLocks noChangeAspect="1"/>
          </p:cNvPicPr>
          <p:nvPr/>
        </p:nvPicPr>
        <p:blipFill>
          <a:blip r:embed="rId3"/>
          <a:stretch>
            <a:fillRect/>
          </a:stretch>
        </p:blipFill>
        <p:spPr>
          <a:xfrm>
            <a:off x="838200" y="1612900"/>
            <a:ext cx="6934200" cy="3575050"/>
          </a:xfrm>
          <a:prstGeom prst="rect">
            <a:avLst/>
          </a:prstGeom>
        </p:spPr>
      </p:pic>
      <p:sp>
        <p:nvSpPr>
          <p:cNvPr id="11" name="Text 6-s7"/>
          <p:cNvSpPr txBox="1"/>
          <p:nvPr/>
        </p:nvSpPr>
        <p:spPr>
          <a:xfrm>
            <a:off x="812800" y="5365750"/>
            <a:ext cx="6985000" cy="228600"/>
          </a:xfrm>
          <a:prstGeom prst="rect">
            <a:avLst/>
          </a:prstGeom>
          <a:noFill/>
          <a:ln/>
        </p:spPr>
        <p:txBody>
          <a:bodyPr wrap="square" lIns="0" tIns="0" rIns="0" bIns="0" rtlCol="0" anchor="t"/>
          <a:lstStyle/>
          <a:p>
            <a:pPr algn="l" indent="0" marL="0">
              <a:lnSpc>
                <a:spcPct val="104167"/>
              </a:lnSpc>
              <a:buNone/>
            </a:pPr>
            <a:r>
              <a:rPr lang="en-US" sz="1200" i="1" dirty="0">
                <a:solidFill>
                  <a:srgbClr val="57534E"/>
                </a:solidFill>
                <a:latin typeface="IBM Plex Sans" pitchFamily="34" charset="0"/>
                <a:ea typeface="IBM Plex Sans" pitchFamily="34" charset="-122"/>
                <a:cs typeface="IBM Plex Sans" pitchFamily="34" charset="-120"/>
              </a:rPr>
              <a:t>Figure 1 : chronologie synthétique du projet, en mois relatifs au lancement</a:t>
            </a:r>
            <a:endParaRPr lang="en-US" sz="1200" dirty="0"/>
          </a:p>
        </p:txBody>
      </p:sp>
      <p:sp>
        <p:nvSpPr>
          <p:cNvPr id="12" name="Shape 7-s7"/>
          <p:cNvSpPr/>
          <p:nvPr/>
        </p:nvSpPr>
        <p:spPr>
          <a:xfrm>
            <a:off x="8102600" y="1587500"/>
            <a:ext cx="3276600" cy="1397000"/>
          </a:xfrm>
          <a:prstGeom prst="rect">
            <a:avLst/>
          </a:prstGeom>
          <a:solidFill>
            <a:srgbClr val="FAF8F4"/>
          </a:solidFill>
          <a:ln w="25400">
            <a:solidFill>
              <a:srgbClr val="1C1917"/>
            </a:solidFill>
            <a:prstDash val="solid"/>
          </a:ln>
          <a:effectLst>
            <a:outerShdw sx="100000" sy="100000" kx="0" ky="0" algn="bl" rotWithShape="0" blurRad="101600" dist="89789" dir="2700000">
              <a:srgbClr val="1C1917">
                <a:alpha val="100000"/>
              </a:srgbClr>
            </a:outerShdw>
          </a:effectLst>
        </p:spPr>
      </p:sp>
      <p:sp>
        <p:nvSpPr>
          <p:cNvPr id="13" name="Text 8-s7"/>
          <p:cNvSpPr txBox="1"/>
          <p:nvPr/>
        </p:nvSpPr>
        <p:spPr>
          <a:xfrm>
            <a:off x="8331200" y="1841500"/>
            <a:ext cx="2794000" cy="215900"/>
          </a:xfrm>
          <a:prstGeom prst="rect">
            <a:avLst/>
          </a:prstGeom>
          <a:noFill/>
          <a:ln/>
        </p:spPr>
        <p:txBody>
          <a:bodyPr wrap="square" lIns="0" tIns="0" rIns="0" bIns="0" rtlCol="0" anchor="t"/>
          <a:lstStyle/>
          <a:p>
            <a:pPr algn="l" indent="0" marL="0">
              <a:lnSpc>
                <a:spcPct val="104167"/>
              </a:lnSpc>
              <a:buNone/>
            </a:pPr>
            <a:r>
              <a:rPr lang="en-US" sz="1200" b="1" spc="200" kern="0" dirty="0">
                <a:solidFill>
                  <a:srgbClr val="C2570C"/>
                </a:solidFill>
                <a:latin typeface="JetBrains Mono" pitchFamily="34" charset="0"/>
                <a:ea typeface="JetBrains Mono" pitchFamily="34" charset="-122"/>
                <a:cs typeface="JetBrains Mono" pitchFamily="34" charset="-120"/>
              </a:rPr>
              <a:t>COUPURE PRÉVUE</a:t>
            </a:r>
            <a:endParaRPr lang="en-US" sz="1200" dirty="0"/>
          </a:p>
        </p:txBody>
      </p:sp>
      <p:sp>
        <p:nvSpPr>
          <p:cNvPr id="14" name="Text 9-s7"/>
          <p:cNvSpPr txBox="1"/>
          <p:nvPr/>
        </p:nvSpPr>
        <p:spPr>
          <a:xfrm>
            <a:off x="8331200" y="2222500"/>
            <a:ext cx="2794000" cy="406400"/>
          </a:xfrm>
          <a:prstGeom prst="rect">
            <a:avLst/>
          </a:prstGeom>
          <a:noFill/>
          <a:ln/>
        </p:spPr>
        <p:txBody>
          <a:bodyPr wrap="square" lIns="0" tIns="0" rIns="0" bIns="0" rtlCol="0" anchor="t"/>
          <a:lstStyle/>
          <a:p>
            <a:pPr algn="l" indent="0" marL="0">
              <a:lnSpc>
                <a:spcPct val="104167"/>
              </a:lnSpc>
              <a:buNone/>
            </a:pPr>
            <a:r>
              <a:rPr lang="en-US" sz="2000" b="1" dirty="0">
                <a:solidFill>
                  <a:srgbClr val="1C1917"/>
                </a:solidFill>
                <a:latin typeface="Space Grotesk" pitchFamily="34" charset="0"/>
                <a:ea typeface="Space Grotesk" pitchFamily="34" charset="-122"/>
                <a:cs typeface="Space Grotesk" pitchFamily="34" charset="-120"/>
              </a:rPr>
              <a:t>31/12/2025</a:t>
            </a:r>
            <a:endParaRPr lang="en-US" sz="2000" dirty="0"/>
          </a:p>
        </p:txBody>
      </p:sp>
      <p:sp>
        <p:nvSpPr>
          <p:cNvPr id="15" name="Shape 10-s7"/>
          <p:cNvSpPr/>
          <p:nvPr/>
        </p:nvSpPr>
        <p:spPr>
          <a:xfrm>
            <a:off x="8102600" y="3136900"/>
            <a:ext cx="3276600" cy="1397000"/>
          </a:xfrm>
          <a:prstGeom prst="rect">
            <a:avLst/>
          </a:prstGeom>
          <a:solidFill>
            <a:srgbClr val="FAF8F4"/>
          </a:solidFill>
          <a:ln w="25400">
            <a:solidFill>
              <a:srgbClr val="1C1917"/>
            </a:solidFill>
            <a:prstDash val="solid"/>
          </a:ln>
          <a:effectLst>
            <a:outerShdw sx="100000" sy="100000" kx="0" ky="0" algn="bl" rotWithShape="0" blurRad="101600" dist="89789" dir="2700000">
              <a:srgbClr val="1C1917">
                <a:alpha val="100000"/>
              </a:srgbClr>
            </a:outerShdw>
          </a:effectLst>
        </p:spPr>
      </p:sp>
      <p:sp>
        <p:nvSpPr>
          <p:cNvPr id="16" name="Text 11-s7"/>
          <p:cNvSpPr txBox="1"/>
          <p:nvPr/>
        </p:nvSpPr>
        <p:spPr>
          <a:xfrm>
            <a:off x="8331200" y="3390900"/>
            <a:ext cx="2794000" cy="215900"/>
          </a:xfrm>
          <a:prstGeom prst="rect">
            <a:avLst/>
          </a:prstGeom>
          <a:noFill/>
          <a:ln/>
        </p:spPr>
        <p:txBody>
          <a:bodyPr wrap="square" lIns="0" tIns="0" rIns="0" bIns="0" rtlCol="0" anchor="t"/>
          <a:lstStyle/>
          <a:p>
            <a:pPr algn="l" indent="0" marL="0">
              <a:lnSpc>
                <a:spcPct val="104167"/>
              </a:lnSpc>
              <a:buNone/>
            </a:pPr>
            <a:r>
              <a:rPr lang="en-US" sz="1200" b="1" spc="200" kern="0" dirty="0">
                <a:solidFill>
                  <a:srgbClr val="C2570C"/>
                </a:solidFill>
                <a:latin typeface="JetBrains Mono" pitchFamily="34" charset="0"/>
                <a:ea typeface="JetBrains Mono" pitchFamily="34" charset="-122"/>
                <a:cs typeface="JetBrains Mono" pitchFamily="34" charset="-120"/>
              </a:rPr>
              <a:t>COUPURE RÉALISÉE</a:t>
            </a:r>
            <a:endParaRPr lang="en-US" sz="1200" dirty="0"/>
          </a:p>
        </p:txBody>
      </p:sp>
      <p:sp>
        <p:nvSpPr>
          <p:cNvPr id="17" name="Text 12-s7"/>
          <p:cNvSpPr txBox="1"/>
          <p:nvPr/>
        </p:nvSpPr>
        <p:spPr>
          <a:xfrm>
            <a:off x="8331200" y="3771900"/>
            <a:ext cx="2794000" cy="406400"/>
          </a:xfrm>
          <a:prstGeom prst="rect">
            <a:avLst/>
          </a:prstGeom>
          <a:noFill/>
          <a:ln/>
        </p:spPr>
        <p:txBody>
          <a:bodyPr wrap="square" lIns="0" tIns="0" rIns="0" bIns="0" rtlCol="0" anchor="t"/>
          <a:lstStyle/>
          <a:p>
            <a:pPr algn="l" indent="0" marL="0">
              <a:lnSpc>
                <a:spcPct val="104167"/>
              </a:lnSpc>
              <a:buNone/>
            </a:pPr>
            <a:r>
              <a:rPr lang="en-US" sz="2000" b="1" dirty="0">
                <a:solidFill>
                  <a:srgbClr val="1C1917"/>
                </a:solidFill>
                <a:latin typeface="Space Grotesk" pitchFamily="34" charset="0"/>
                <a:ea typeface="Space Grotesk" pitchFamily="34" charset="-122"/>
                <a:cs typeface="Space Grotesk" pitchFamily="34" charset="-120"/>
              </a:rPr>
              <a:t>31/01/2026</a:t>
            </a:r>
            <a:endParaRPr lang="en-US" sz="2000" dirty="0"/>
          </a:p>
        </p:txBody>
      </p:sp>
      <p:sp>
        <p:nvSpPr>
          <p:cNvPr id="18" name="nav:2-s7">
            <a:hlinkClick r:id="rIdNav2" action="ppaction://hlinksldjump"/>
          </p:cNvPr>
          <p:cNvSpPr/>
          <p:nvPr/>
        </p:nvSpPr>
        <p:spPr>
          <a:xfrm>
            <a:off x="10922000" y="254000"/>
            <a:ext cx="457200" cy="457200"/>
          </a:xfrm>
          <a:prstGeom prst="rect">
            <a:avLst/>
          </a:prstGeom>
          <a:solidFill>
            <a:srgbClr val="FFFFFF">
              <a:alpha val="0"/>
            </a:srgbClr>
          </a:solidFill>
          <a:ln/>
        </p:spPr>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1EFEA"/>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1EFEA"/>
          </a:solidFill>
          <a:ln w="19050">
            <a:solidFill>
              <a:srgbClr val="1C1917"/>
            </a:solidFill>
            <a:prstDash val="solid"/>
          </a:ln>
        </p:spPr>
      </p:sp>
      <p:sp>
        <p:nvSpPr>
          <p:cNvPr id="3" name="!!mk-bar"/>
          <p:cNvSpPr/>
          <p:nvPr/>
        </p:nvSpPr>
        <p:spPr>
          <a:xfrm>
            <a:off x="812800" y="6299200"/>
            <a:ext cx="3841750" cy="127000"/>
          </a:xfrm>
          <a:prstGeom prst="rect">
            <a:avLst/>
          </a:prstGeom>
          <a:solidFill>
            <a:srgbClr val="C2570C"/>
          </a:solidFill>
          <a:ln w="19050">
            <a:solidFill>
              <a:srgbClr val="1C1917"/>
            </a:solidFill>
            <a:prstDash val="solid"/>
          </a:ln>
        </p:spPr>
      </p:sp>
      <p:sp>
        <p:nvSpPr>
          <p:cNvPr id="4" name="!!mk-sq"/>
          <p:cNvSpPr/>
          <p:nvPr/>
        </p:nvSpPr>
        <p:spPr>
          <a:xfrm>
            <a:off x="10922000" y="254000"/>
            <a:ext cx="457200" cy="457200"/>
          </a:xfrm>
          <a:prstGeom prst="rect">
            <a:avLst/>
          </a:prstGeom>
          <a:solidFill>
            <a:srgbClr val="C2570C"/>
          </a:solidFill>
          <a:ln w="25400">
            <a:solidFill>
              <a:srgbClr val="1C1917"/>
            </a:solidFill>
            <a:prstDash val="solid"/>
          </a:ln>
          <a:effectLst>
            <a:outerShdw sx="100000" sy="100000" kx="0" ky="0" algn="bl" rotWithShape="0" blurRad="101600" dist="71831" dir="2700000">
              <a:srgbClr val="1C1917">
                <a:alpha val="100000"/>
              </a:srgbClr>
            </a:outerShdw>
          </a:effectLst>
        </p:spPr>
      </p:sp>
      <p:sp>
        <p:nvSpPr>
          <p:cNvPr id="5" name="!!mk-logos"/>
          <p:cNvSpPr/>
          <p:nvPr/>
        </p:nvSpPr>
        <p:spPr>
          <a:xfrm>
            <a:off x="8191500" y="279400"/>
            <a:ext cx="2476500" cy="355600"/>
          </a:xfrm>
          <a:prstGeom prst="rect">
            <a:avLst/>
          </a:prstGeom>
          <a:solidFill>
            <a:srgbClr val="FAF8F4"/>
          </a:solidFill>
          <a:ln w="19050">
            <a:solidFill>
              <a:srgbClr val="1C1917"/>
            </a:solidFill>
            <a:prstDash val="solid"/>
          </a:ln>
          <a:effectLst>
            <a:outerShdw sx="100000" sy="100000" kx="0" ky="0" algn="bl" rotWithShape="0" blurRad="101600" dist="53873" dir="2700000">
              <a:srgbClr val="1C1917">
                <a:alpha val="100000"/>
              </a:srgbClr>
            </a:outerShdw>
          </a:effectLst>
        </p:spPr>
      </p:sp>
      <p:pic>
        <p:nvPicPr>
          <p:cNvPr id="6" name="!!mk-logo-1" descr="Logo VINCI Facilities">    </p:cNvPr>
          <p:cNvPicPr>
            <a:picLocks noChangeAspect="1"/>
          </p:cNvPicPr>
          <p:nvPr/>
        </p:nvPicPr>
        <p:blipFill>
          <a:blip r:embed="rId1"/>
          <a:stretch>
            <a:fillRect/>
          </a:stretch>
        </p:blipFill>
        <p:spPr>
          <a:xfrm>
            <a:off x="8756650" y="330200"/>
            <a:ext cx="762000" cy="254000"/>
          </a:xfrm>
          <a:prstGeom prst="rect">
            <a:avLst/>
          </a:prstGeom>
        </p:spPr>
      </p:pic>
      <p:pic>
        <p:nvPicPr>
          <p:cNvPr id="7" name="!!mk-logo-2" descr="Logo Icam">    </p:cNvPr>
          <p:cNvPicPr>
            <a:picLocks noChangeAspect="1"/>
          </p:cNvPicPr>
          <p:nvPr/>
        </p:nvPicPr>
        <p:blipFill>
          <a:blip r:embed="rId2"/>
          <a:stretch>
            <a:fillRect/>
          </a:stretch>
        </p:blipFill>
        <p:spPr>
          <a:xfrm>
            <a:off x="9671050" y="330200"/>
            <a:ext cx="431800" cy="254000"/>
          </a:xfrm>
          <a:prstGeom prst="rect">
            <a:avLst/>
          </a:prstGeom>
        </p:spPr>
      </p:pic>
      <p:sp>
        <p:nvSpPr>
          <p:cNvPr id="8" name="Text 4-s8"/>
          <p:cNvSpPr txBox="1"/>
          <p:nvPr/>
        </p:nvSpPr>
        <p:spPr>
          <a:xfrm>
            <a:off x="812800" y="812800"/>
            <a:ext cx="10566400" cy="571500"/>
          </a:xfrm>
          <a:prstGeom prst="rect">
            <a:avLst/>
          </a:prstGeom>
          <a:noFill/>
          <a:ln/>
        </p:spPr>
        <p:txBody>
          <a:bodyPr wrap="square" lIns="0" tIns="0" rIns="0" bIns="0" rtlCol="0" anchor="t"/>
          <a:lstStyle/>
          <a:p>
            <a:pPr algn="l" indent="0" marL="0">
              <a:lnSpc>
                <a:spcPct val="87500"/>
              </a:lnSpc>
              <a:buNone/>
            </a:pPr>
            <a:r>
              <a:rPr lang="en-US" sz="3600" b="1" dirty="0">
                <a:solidFill>
                  <a:srgbClr val="1C1917"/>
                </a:solidFill>
                <a:latin typeface="Space Grotesk" pitchFamily="34" charset="0"/>
                <a:ea typeface="Space Grotesk" pitchFamily="34" charset="-122"/>
                <a:cs typeface="Space Grotesk" pitchFamily="34" charset="-120"/>
              </a:rPr>
              <a:t>Gérer les bugs : cinq niveaux</a:t>
            </a:r>
            <a:endParaRPr lang="en-US" sz="3600" dirty="0"/>
          </a:p>
        </p:txBody>
      </p:sp>
      <p:graphicFrame>
        <p:nvGraphicFramePr>
          <p:cNvPr id="9" name="Table 0-s8"/>
          <p:cNvGraphicFramePr>
            <a:graphicFrameLocks noGrp="1"/>
          </p:cNvGraphicFramePr>
          <p:nvPr>
            <p:extLst>
              <p:ext uri="{D42A27DB-BD31-4B8C-83A1-F6EECF244321}">
                <p14:modId xmlns:p14="http://schemas.microsoft.com/office/powerpoint/2010/main" val="1579011935"/>
              </p:ext>
            </p:extLst>
          </p:nvPr>
        </p:nvGraphicFramePr>
        <p:xfrm>
          <a:off x="812800" y="1587500"/>
          <a:ext cx="10566400" cy="914400"/>
        </p:xfrm>
        <a:graphic>
          <a:graphicData uri="http://schemas.openxmlformats.org/drawingml/2006/table">
            <a:tbl>
              <a:tblPr/>
              <a:tblGrid>
                <a:gridCol w="2324100"/>
                <a:gridCol w="4013200"/>
                <a:gridCol w="4229100"/>
              </a:tblGrid>
              <a:tr h="431800">
                <a:tc>
                  <a:txBody>
                    <a:bodyPr/>
                    <a:lstStyle/>
                    <a:p>
                      <a:pPr algn="l" indent="0" marL="0">
                        <a:buNone/>
                      </a:pPr>
                      <a:r>
                        <a:rPr lang="en-US" sz="1500" b="1" dirty="0">
                          <a:solidFill>
                            <a:srgbClr val="F1EFEA"/>
                          </a:solidFill>
                          <a:latin typeface="Space Grotesk" pitchFamily="34" charset="0"/>
                          <a:ea typeface="Space Grotesk" pitchFamily="34" charset="-122"/>
                          <a:cs typeface="Space Grotesk" pitchFamily="34" charset="-120"/>
                        </a:rPr>
                        <a:t>Niveau</a:t>
                      </a:r>
                      <a:endParaRPr lang="en-US" sz="1500" dirty="0">
                        <a:latin typeface="Space Grotesk" charset="0"/>
                        <a:ea typeface="Space Grotesk" charset="0"/>
                        <a:cs typeface="Space Grotesk" charset="0"/>
                      </a:endParaRPr>
                    </a:p>
                  </a:txBody>
                  <a:tcPr marL="91440" marR="91440" marT="45720" marB="45720" anchor="ctr">
                    <a:lnL w="19050" cap="flat" cmpd="sng" algn="ctr">
                      <a:solidFill>
                        <a:srgbClr val="1C1917"/>
                      </a:solidFill>
                      <a:prstDash val="solid"/>
                      <a:round/>
                      <a:headEnd type="none" w="med" len="med"/>
                      <a:tailEnd type="none" w="med" len="med"/>
                    </a:lnL>
                    <a:lnR w="19050" cap="flat" cmpd="sng" algn="ctr">
                      <a:solidFill>
                        <a:srgbClr val="1C1917"/>
                      </a:solidFill>
                      <a:prstDash val="solid"/>
                      <a:round/>
                      <a:headEnd type="none" w="med" len="med"/>
                      <a:tailEnd type="none" w="med" len="med"/>
                    </a:lnR>
                    <a:lnT w="19050" cap="flat" cmpd="sng" algn="ctr">
                      <a:solidFill>
                        <a:srgbClr val="1C1917"/>
                      </a:solidFill>
                      <a:prstDash val="solid"/>
                      <a:round/>
                      <a:headEnd type="none" w="med" len="med"/>
                      <a:tailEnd type="none" w="med" len="med"/>
                    </a:lnT>
                    <a:lnB w="19050" cap="flat" cmpd="sng" algn="ctr">
                      <a:solidFill>
                        <a:srgbClr val="1C1917"/>
                      </a:solidFill>
                      <a:prstDash val="solid"/>
                      <a:round/>
                      <a:headEnd type="none" w="med" len="med"/>
                      <a:tailEnd type="none" w="med" len="med"/>
                    </a:lnB>
                    <a:solidFill>
                      <a:srgbClr val="1C1917"/>
                    </a:solidFill>
                  </a:tcPr>
                </a:tc>
                <a:tc>
                  <a:txBody>
                    <a:bodyPr/>
                    <a:lstStyle/>
                    <a:p>
                      <a:pPr algn="l" indent="0" marL="0">
                        <a:buNone/>
                      </a:pPr>
                      <a:r>
                        <a:rPr lang="en-US" sz="1500" b="1" dirty="0">
                          <a:solidFill>
                            <a:srgbClr val="F1EFEA"/>
                          </a:solidFill>
                          <a:latin typeface="Space Grotesk" pitchFamily="34" charset="0"/>
                          <a:ea typeface="Space Grotesk" pitchFamily="34" charset="-122"/>
                          <a:cs typeface="Space Grotesk" pitchFamily="34" charset="-120"/>
                        </a:rPr>
                        <a:t>Question de pilotage</a:t>
                      </a:r>
                      <a:endParaRPr lang="en-US" sz="1500" dirty="0">
                        <a:latin typeface="Space Grotesk" charset="0"/>
                        <a:ea typeface="Space Grotesk" charset="0"/>
                        <a:cs typeface="Space Grotesk" charset="0"/>
                      </a:endParaRPr>
                    </a:p>
                  </a:txBody>
                  <a:tcPr marL="91440" marR="91440" marT="45720" marB="45720" anchor="ctr">
                    <a:lnL w="19050" cap="flat" cmpd="sng" algn="ctr">
                      <a:solidFill>
                        <a:srgbClr val="1C1917"/>
                      </a:solidFill>
                      <a:prstDash val="solid"/>
                      <a:round/>
                      <a:headEnd type="none" w="med" len="med"/>
                      <a:tailEnd type="none" w="med" len="med"/>
                    </a:lnL>
                    <a:lnR w="19050" cap="flat" cmpd="sng" algn="ctr">
                      <a:solidFill>
                        <a:srgbClr val="1C1917"/>
                      </a:solidFill>
                      <a:prstDash val="solid"/>
                      <a:round/>
                      <a:headEnd type="none" w="med" len="med"/>
                      <a:tailEnd type="none" w="med" len="med"/>
                    </a:lnR>
                    <a:lnT w="19050" cap="flat" cmpd="sng" algn="ctr">
                      <a:solidFill>
                        <a:srgbClr val="1C1917"/>
                      </a:solidFill>
                      <a:prstDash val="solid"/>
                      <a:round/>
                      <a:headEnd type="none" w="med" len="med"/>
                      <a:tailEnd type="none" w="med" len="med"/>
                    </a:lnT>
                    <a:lnB w="19050" cap="flat" cmpd="sng" algn="ctr">
                      <a:solidFill>
                        <a:srgbClr val="1C1917"/>
                      </a:solidFill>
                      <a:prstDash val="solid"/>
                      <a:round/>
                      <a:headEnd type="none" w="med" len="med"/>
                      <a:tailEnd type="none" w="med" len="med"/>
                    </a:lnB>
                    <a:solidFill>
                      <a:srgbClr val="1C1917"/>
                    </a:solidFill>
                  </a:tcPr>
                </a:tc>
                <a:tc>
                  <a:txBody>
                    <a:bodyPr/>
                    <a:lstStyle/>
                    <a:p>
                      <a:pPr algn="l" indent="0" marL="0">
                        <a:buNone/>
                      </a:pPr>
                      <a:r>
                        <a:rPr lang="en-US" sz="1500" b="1" dirty="0">
                          <a:solidFill>
                            <a:srgbClr val="F1EFEA"/>
                          </a:solidFill>
                          <a:latin typeface="Space Grotesk" pitchFamily="34" charset="0"/>
                          <a:ea typeface="Space Grotesk" pitchFamily="34" charset="-122"/>
                          <a:cs typeface="Space Grotesk" pitchFamily="34" charset="-120"/>
                        </a:rPr>
                        <a:t>Exemple</a:t>
                      </a:r>
                      <a:endParaRPr lang="en-US" sz="1500" dirty="0">
                        <a:latin typeface="Space Grotesk" charset="0"/>
                        <a:ea typeface="Space Grotesk" charset="0"/>
                        <a:cs typeface="Space Grotesk" charset="0"/>
                      </a:endParaRPr>
                    </a:p>
                  </a:txBody>
                  <a:tcPr marL="91440" marR="91440" marT="45720" marB="45720" anchor="ctr">
                    <a:lnL w="19050" cap="flat" cmpd="sng" algn="ctr">
                      <a:solidFill>
                        <a:srgbClr val="1C1917"/>
                      </a:solidFill>
                      <a:prstDash val="solid"/>
                      <a:round/>
                      <a:headEnd type="none" w="med" len="med"/>
                      <a:tailEnd type="none" w="med" len="med"/>
                    </a:lnL>
                    <a:lnR w="19050" cap="flat" cmpd="sng" algn="ctr">
                      <a:solidFill>
                        <a:srgbClr val="1C1917"/>
                      </a:solidFill>
                      <a:prstDash val="solid"/>
                      <a:round/>
                      <a:headEnd type="none" w="med" len="med"/>
                      <a:tailEnd type="none" w="med" len="med"/>
                    </a:lnR>
                    <a:lnT w="19050" cap="flat" cmpd="sng" algn="ctr">
                      <a:solidFill>
                        <a:srgbClr val="1C1917"/>
                      </a:solidFill>
                      <a:prstDash val="solid"/>
                      <a:round/>
                      <a:headEnd type="none" w="med" len="med"/>
                      <a:tailEnd type="none" w="med" len="med"/>
                    </a:lnT>
                    <a:lnB w="19050" cap="flat" cmpd="sng" algn="ctr">
                      <a:solidFill>
                        <a:srgbClr val="1C1917"/>
                      </a:solidFill>
                      <a:prstDash val="solid"/>
                      <a:round/>
                      <a:headEnd type="none" w="med" len="med"/>
                      <a:tailEnd type="none" w="med" len="med"/>
                    </a:lnB>
                    <a:solidFill>
                      <a:srgbClr val="1C1917"/>
                    </a:solidFill>
                  </a:tcPr>
                </a:tc>
              </a:tr>
              <a:tr h="431800">
                <a:tc>
                  <a:txBody>
                    <a:bodyPr/>
                    <a:lstStyle/>
                    <a:p>
                      <a:pPr algn="l" indent="0" marL="0">
                        <a:buNone/>
                      </a:pPr>
                      <a:r>
                        <a:rPr lang="en-US" sz="1500" b="1" dirty="0">
                          <a:solidFill>
                            <a:srgbClr val="1C1917"/>
                          </a:solidFill>
                          <a:latin typeface="IBM Plex Sans" pitchFamily="34" charset="0"/>
                          <a:ea typeface="IBM Plex Sans" pitchFamily="34" charset="-122"/>
                          <a:cs typeface="IBM Plex Sans" pitchFamily="34" charset="-120"/>
                        </a:rPr>
                        <a:t>1 · Identifier</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C1917"/>
                      </a:solidFill>
                      <a:prstDash val="solid"/>
                      <a:round/>
                      <a:headEnd type="none" w="med" len="med"/>
                      <a:tailEnd type="none" w="med" len="med"/>
                    </a:lnL>
                    <a:lnR w="19050" cap="flat" cmpd="sng" algn="ctr">
                      <a:solidFill>
                        <a:srgbClr val="1C1917"/>
                      </a:solidFill>
                      <a:prstDash val="solid"/>
                      <a:round/>
                      <a:headEnd type="none" w="med" len="med"/>
                      <a:tailEnd type="none" w="med" len="med"/>
                    </a:lnR>
                    <a:lnT w="19050" cap="flat" cmpd="sng" algn="ctr">
                      <a:solidFill>
                        <a:srgbClr val="1C1917"/>
                      </a:solidFill>
                      <a:prstDash val="solid"/>
                      <a:round/>
                      <a:headEnd type="none" w="med" len="med"/>
                      <a:tailEnd type="none" w="med" len="med"/>
                    </a:lnT>
                    <a:lnB w="19050" cap="flat" cmpd="sng" algn="ctr">
                      <a:solidFill>
                        <a:srgbClr val="1C1917"/>
                      </a:solidFill>
                      <a:prstDash val="solid"/>
                      <a:round/>
                      <a:headEnd type="none" w="med" len="med"/>
                      <a:tailEnd type="none" w="med" len="med"/>
                    </a:lnB>
                    <a:solidFill>
                      <a:srgbClr val="FAF8F4"/>
                    </a:solidFill>
                  </a:tcPr>
                </a:tc>
                <a:tc>
                  <a:txBody>
                    <a:bodyPr/>
                    <a:lstStyle/>
                    <a:p>
                      <a:pPr algn="l" indent="0" marL="0">
                        <a:buNone/>
                      </a:pPr>
                      <a:r>
                        <a:rPr lang="en-US" sz="1500" dirty="0">
                          <a:solidFill>
                            <a:srgbClr val="1C1917"/>
                          </a:solidFill>
                          <a:latin typeface="IBM Plex Sans" pitchFamily="34" charset="0"/>
                          <a:ea typeface="IBM Plex Sans" pitchFamily="34" charset="-122"/>
                          <a:cs typeface="IBM Plex Sans" pitchFamily="34" charset="-120"/>
                        </a:rPr>
                        <a:t>Que se passe-t-il ?</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C1917"/>
                      </a:solidFill>
                      <a:prstDash val="solid"/>
                      <a:round/>
                      <a:headEnd type="none" w="med" len="med"/>
                      <a:tailEnd type="none" w="med" len="med"/>
                    </a:lnL>
                    <a:lnR w="19050" cap="flat" cmpd="sng" algn="ctr">
                      <a:solidFill>
                        <a:srgbClr val="1C1917"/>
                      </a:solidFill>
                      <a:prstDash val="solid"/>
                      <a:round/>
                      <a:headEnd type="none" w="med" len="med"/>
                      <a:tailEnd type="none" w="med" len="med"/>
                    </a:lnR>
                    <a:lnT w="19050" cap="flat" cmpd="sng" algn="ctr">
                      <a:solidFill>
                        <a:srgbClr val="1C1917"/>
                      </a:solidFill>
                      <a:prstDash val="solid"/>
                      <a:round/>
                      <a:headEnd type="none" w="med" len="med"/>
                      <a:tailEnd type="none" w="med" len="med"/>
                    </a:lnT>
                    <a:lnB w="19050" cap="flat" cmpd="sng" algn="ctr">
                      <a:solidFill>
                        <a:srgbClr val="1C1917"/>
                      </a:solidFill>
                      <a:prstDash val="solid"/>
                      <a:round/>
                      <a:headEnd type="none" w="med" len="med"/>
                      <a:tailEnd type="none" w="med" len="med"/>
                    </a:lnB>
                    <a:solidFill>
                      <a:srgbClr val="FAF8F4"/>
                    </a:solidFill>
                  </a:tcPr>
                </a:tc>
                <a:tc>
                  <a:txBody>
                    <a:bodyPr/>
                    <a:lstStyle/>
                    <a:p>
                      <a:pPr algn="l" indent="0" marL="0">
                        <a:buNone/>
                      </a:pPr>
                      <a:r>
                        <a:rPr lang="en-US" sz="1500" dirty="0">
                          <a:solidFill>
                            <a:srgbClr val="1C1917"/>
                          </a:solidFill>
                          <a:latin typeface="IBM Plex Sans" pitchFamily="34" charset="0"/>
                          <a:ea typeface="IBM Plex Sans" pitchFamily="34" charset="-122"/>
                          <a:cs typeface="IBM Plex Sans" pitchFamily="34" charset="-120"/>
                        </a:rPr>
                        <a:t>Le formulaire ne se synchronise pas</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C1917"/>
                      </a:solidFill>
                      <a:prstDash val="solid"/>
                      <a:round/>
                      <a:headEnd type="none" w="med" len="med"/>
                      <a:tailEnd type="none" w="med" len="med"/>
                    </a:lnL>
                    <a:lnR w="19050" cap="flat" cmpd="sng" algn="ctr">
                      <a:solidFill>
                        <a:srgbClr val="1C1917"/>
                      </a:solidFill>
                      <a:prstDash val="solid"/>
                      <a:round/>
                      <a:headEnd type="none" w="med" len="med"/>
                      <a:tailEnd type="none" w="med" len="med"/>
                    </a:lnR>
                    <a:lnT w="19050" cap="flat" cmpd="sng" algn="ctr">
                      <a:solidFill>
                        <a:srgbClr val="1C1917"/>
                      </a:solidFill>
                      <a:prstDash val="solid"/>
                      <a:round/>
                      <a:headEnd type="none" w="med" len="med"/>
                      <a:tailEnd type="none" w="med" len="med"/>
                    </a:lnT>
                    <a:lnB w="19050" cap="flat" cmpd="sng" algn="ctr">
                      <a:solidFill>
                        <a:srgbClr val="1C1917"/>
                      </a:solidFill>
                      <a:prstDash val="solid"/>
                      <a:round/>
                      <a:headEnd type="none" w="med" len="med"/>
                      <a:tailEnd type="none" w="med" len="med"/>
                    </a:lnB>
                    <a:solidFill>
                      <a:srgbClr val="FAF8F4"/>
                    </a:solidFill>
                  </a:tcPr>
                </a:tc>
              </a:tr>
              <a:tr h="431800">
                <a:tc>
                  <a:txBody>
                    <a:bodyPr/>
                    <a:lstStyle/>
                    <a:p>
                      <a:pPr algn="l" indent="0" marL="0">
                        <a:buNone/>
                      </a:pPr>
                      <a:r>
                        <a:rPr lang="en-US" sz="1500" b="1" dirty="0">
                          <a:solidFill>
                            <a:srgbClr val="1C1917"/>
                          </a:solidFill>
                          <a:latin typeface="IBM Plex Sans" pitchFamily="34" charset="0"/>
                          <a:ea typeface="IBM Plex Sans" pitchFamily="34" charset="-122"/>
                          <a:cs typeface="IBM Plex Sans" pitchFamily="34" charset="-120"/>
                        </a:rPr>
                        <a:t>2 · Qualifier</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C1917"/>
                      </a:solidFill>
                      <a:prstDash val="solid"/>
                      <a:round/>
                      <a:headEnd type="none" w="med" len="med"/>
                      <a:tailEnd type="none" w="med" len="med"/>
                    </a:lnL>
                    <a:lnR w="19050" cap="flat" cmpd="sng" algn="ctr">
                      <a:solidFill>
                        <a:srgbClr val="1C1917"/>
                      </a:solidFill>
                      <a:prstDash val="solid"/>
                      <a:round/>
                      <a:headEnd type="none" w="med" len="med"/>
                      <a:tailEnd type="none" w="med" len="med"/>
                    </a:lnR>
                    <a:lnT w="19050" cap="flat" cmpd="sng" algn="ctr">
                      <a:solidFill>
                        <a:srgbClr val="1C1917"/>
                      </a:solidFill>
                      <a:prstDash val="solid"/>
                      <a:round/>
                      <a:headEnd type="none" w="med" len="med"/>
                      <a:tailEnd type="none" w="med" len="med"/>
                    </a:lnT>
                    <a:lnB w="19050" cap="flat" cmpd="sng" algn="ctr">
                      <a:solidFill>
                        <a:srgbClr val="1C1917"/>
                      </a:solidFill>
                      <a:prstDash val="solid"/>
                      <a:round/>
                      <a:headEnd type="none" w="med" len="med"/>
                      <a:tailEnd type="none" w="med" len="med"/>
                    </a:lnB>
                    <a:solidFill>
                      <a:srgbClr val="FAF8F4"/>
                    </a:solidFill>
                  </a:tcPr>
                </a:tc>
                <a:tc>
                  <a:txBody>
                    <a:bodyPr/>
                    <a:lstStyle/>
                    <a:p>
                      <a:pPr algn="l" indent="0" marL="0">
                        <a:buNone/>
                      </a:pPr>
                      <a:r>
                        <a:rPr lang="en-US" sz="1500" dirty="0">
                          <a:solidFill>
                            <a:srgbClr val="1C1917"/>
                          </a:solidFill>
                          <a:latin typeface="IBM Plex Sans" pitchFamily="34" charset="0"/>
                          <a:ea typeface="IBM Plex Sans" pitchFamily="34" charset="-122"/>
                          <a:cs typeface="IBM Plex Sans" pitchFamily="34" charset="-120"/>
                        </a:rPr>
                        <a:t>Dans quelles conditions ?</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C1917"/>
                      </a:solidFill>
                      <a:prstDash val="solid"/>
                      <a:round/>
                      <a:headEnd type="none" w="med" len="med"/>
                      <a:tailEnd type="none" w="med" len="med"/>
                    </a:lnL>
                    <a:lnR w="19050" cap="flat" cmpd="sng" algn="ctr">
                      <a:solidFill>
                        <a:srgbClr val="1C1917"/>
                      </a:solidFill>
                      <a:prstDash val="solid"/>
                      <a:round/>
                      <a:headEnd type="none" w="med" len="med"/>
                      <a:tailEnd type="none" w="med" len="med"/>
                    </a:lnR>
                    <a:lnT w="19050" cap="flat" cmpd="sng" algn="ctr">
                      <a:solidFill>
                        <a:srgbClr val="1C1917"/>
                      </a:solidFill>
                      <a:prstDash val="solid"/>
                      <a:round/>
                      <a:headEnd type="none" w="med" len="med"/>
                      <a:tailEnd type="none" w="med" len="med"/>
                    </a:lnT>
                    <a:lnB w="19050" cap="flat" cmpd="sng" algn="ctr">
                      <a:solidFill>
                        <a:srgbClr val="1C1917"/>
                      </a:solidFill>
                      <a:prstDash val="solid"/>
                      <a:round/>
                      <a:headEnd type="none" w="med" len="med"/>
                      <a:tailEnd type="none" w="med" len="med"/>
                    </a:lnB>
                    <a:solidFill>
                      <a:srgbClr val="FAF8F4"/>
                    </a:solidFill>
                  </a:tcPr>
                </a:tc>
                <a:tc>
                  <a:txBody>
                    <a:bodyPr/>
                    <a:lstStyle/>
                    <a:p>
                      <a:pPr algn="l" indent="0" marL="0">
                        <a:buNone/>
                      </a:pPr>
                      <a:r>
                        <a:rPr lang="en-US" sz="1500" dirty="0">
                          <a:solidFill>
                            <a:srgbClr val="1C1917"/>
                          </a:solidFill>
                          <a:latin typeface="IBM Plex Sans" pitchFamily="34" charset="0"/>
                          <a:ea typeface="IBM Plex Sans" pitchFamily="34" charset="-122"/>
                          <a:cs typeface="IBM Plex Sans" pitchFamily="34" charset="-120"/>
                        </a:rPr>
                        <a:t>Réseau faible, formulaire X, Android</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C1917"/>
                      </a:solidFill>
                      <a:prstDash val="solid"/>
                      <a:round/>
                      <a:headEnd type="none" w="med" len="med"/>
                      <a:tailEnd type="none" w="med" len="med"/>
                    </a:lnL>
                    <a:lnR w="19050" cap="flat" cmpd="sng" algn="ctr">
                      <a:solidFill>
                        <a:srgbClr val="1C1917"/>
                      </a:solidFill>
                      <a:prstDash val="solid"/>
                      <a:round/>
                      <a:headEnd type="none" w="med" len="med"/>
                      <a:tailEnd type="none" w="med" len="med"/>
                    </a:lnR>
                    <a:lnT w="19050" cap="flat" cmpd="sng" algn="ctr">
                      <a:solidFill>
                        <a:srgbClr val="1C1917"/>
                      </a:solidFill>
                      <a:prstDash val="solid"/>
                      <a:round/>
                      <a:headEnd type="none" w="med" len="med"/>
                      <a:tailEnd type="none" w="med" len="med"/>
                    </a:lnT>
                    <a:lnB w="19050" cap="flat" cmpd="sng" algn="ctr">
                      <a:solidFill>
                        <a:srgbClr val="1C1917"/>
                      </a:solidFill>
                      <a:prstDash val="solid"/>
                      <a:round/>
                      <a:headEnd type="none" w="med" len="med"/>
                      <a:tailEnd type="none" w="med" len="med"/>
                    </a:lnB>
                    <a:solidFill>
                      <a:srgbClr val="FAF8F4"/>
                    </a:solidFill>
                  </a:tcPr>
                </a:tc>
              </a:tr>
              <a:tr h="431800">
                <a:tc>
                  <a:txBody>
                    <a:bodyPr/>
                    <a:lstStyle/>
                    <a:p>
                      <a:pPr algn="l" indent="0" marL="0">
                        <a:buNone/>
                      </a:pPr>
                      <a:r>
                        <a:rPr lang="en-US" sz="1500" b="1" dirty="0">
                          <a:solidFill>
                            <a:srgbClr val="1C1917"/>
                          </a:solidFill>
                          <a:latin typeface="IBM Plex Sans" pitchFamily="34" charset="0"/>
                          <a:ea typeface="IBM Plex Sans" pitchFamily="34" charset="-122"/>
                          <a:cs typeface="IBM Plex Sans" pitchFamily="34" charset="-120"/>
                        </a:rPr>
                        <a:t>3 · Prioriser</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C1917"/>
                      </a:solidFill>
                      <a:prstDash val="solid"/>
                      <a:round/>
                      <a:headEnd type="none" w="med" len="med"/>
                      <a:tailEnd type="none" w="med" len="med"/>
                    </a:lnL>
                    <a:lnR w="19050" cap="flat" cmpd="sng" algn="ctr">
                      <a:solidFill>
                        <a:srgbClr val="1C1917"/>
                      </a:solidFill>
                      <a:prstDash val="solid"/>
                      <a:round/>
                      <a:headEnd type="none" w="med" len="med"/>
                      <a:tailEnd type="none" w="med" len="med"/>
                    </a:lnR>
                    <a:lnT w="19050" cap="flat" cmpd="sng" algn="ctr">
                      <a:solidFill>
                        <a:srgbClr val="1C1917"/>
                      </a:solidFill>
                      <a:prstDash val="solid"/>
                      <a:round/>
                      <a:headEnd type="none" w="med" len="med"/>
                      <a:tailEnd type="none" w="med" len="med"/>
                    </a:lnT>
                    <a:lnB w="19050" cap="flat" cmpd="sng" algn="ctr">
                      <a:solidFill>
                        <a:srgbClr val="1C1917"/>
                      </a:solidFill>
                      <a:prstDash val="solid"/>
                      <a:round/>
                      <a:headEnd type="none" w="med" len="med"/>
                      <a:tailEnd type="none" w="med" len="med"/>
                    </a:lnB>
                    <a:solidFill>
                      <a:srgbClr val="FAF8F4"/>
                    </a:solidFill>
                  </a:tcPr>
                </a:tc>
                <a:tc>
                  <a:txBody>
                    <a:bodyPr/>
                    <a:lstStyle/>
                    <a:p>
                      <a:pPr algn="l" indent="0" marL="0">
                        <a:buNone/>
                      </a:pPr>
                      <a:r>
                        <a:rPr lang="en-US" sz="1500" dirty="0">
                          <a:solidFill>
                            <a:srgbClr val="1C1917"/>
                          </a:solidFill>
                          <a:latin typeface="IBM Plex Sans" pitchFamily="34" charset="0"/>
                          <a:ea typeface="IBM Plex Sans" pitchFamily="34" charset="-122"/>
                          <a:cs typeface="IBM Plex Sans" pitchFamily="34" charset="-120"/>
                        </a:rPr>
                        <a:t>Quel impact ?</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C1917"/>
                      </a:solidFill>
                      <a:prstDash val="solid"/>
                      <a:round/>
                      <a:headEnd type="none" w="med" len="med"/>
                      <a:tailEnd type="none" w="med" len="med"/>
                    </a:lnL>
                    <a:lnR w="19050" cap="flat" cmpd="sng" algn="ctr">
                      <a:solidFill>
                        <a:srgbClr val="1C1917"/>
                      </a:solidFill>
                      <a:prstDash val="solid"/>
                      <a:round/>
                      <a:headEnd type="none" w="med" len="med"/>
                      <a:tailEnd type="none" w="med" len="med"/>
                    </a:lnR>
                    <a:lnT w="19050" cap="flat" cmpd="sng" algn="ctr">
                      <a:solidFill>
                        <a:srgbClr val="1C1917"/>
                      </a:solidFill>
                      <a:prstDash val="solid"/>
                      <a:round/>
                      <a:headEnd type="none" w="med" len="med"/>
                      <a:tailEnd type="none" w="med" len="med"/>
                    </a:lnT>
                    <a:lnB w="19050" cap="flat" cmpd="sng" algn="ctr">
                      <a:solidFill>
                        <a:srgbClr val="1C1917"/>
                      </a:solidFill>
                      <a:prstDash val="solid"/>
                      <a:round/>
                      <a:headEnd type="none" w="med" len="med"/>
                      <a:tailEnd type="none" w="med" len="med"/>
                    </a:lnB>
                    <a:solidFill>
                      <a:srgbClr val="FAF8F4"/>
                    </a:solidFill>
                  </a:tcPr>
                </a:tc>
                <a:tc>
                  <a:txBody>
                    <a:bodyPr/>
                    <a:lstStyle/>
                    <a:p>
                      <a:pPr algn="l" indent="0" marL="0">
                        <a:buNone/>
                      </a:pPr>
                      <a:r>
                        <a:rPr lang="en-US" sz="1500" dirty="0">
                          <a:solidFill>
                            <a:srgbClr val="1C1917"/>
                          </a:solidFill>
                          <a:latin typeface="IBM Plex Sans" pitchFamily="34" charset="0"/>
                          <a:ea typeface="IBM Plex Sans" pitchFamily="34" charset="-122"/>
                          <a:cs typeface="IBM Plex Sans" pitchFamily="34" charset="-120"/>
                        </a:rPr>
                        <a:t>Bloquant pour l’intervention</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C1917"/>
                      </a:solidFill>
                      <a:prstDash val="solid"/>
                      <a:round/>
                      <a:headEnd type="none" w="med" len="med"/>
                      <a:tailEnd type="none" w="med" len="med"/>
                    </a:lnL>
                    <a:lnR w="19050" cap="flat" cmpd="sng" algn="ctr">
                      <a:solidFill>
                        <a:srgbClr val="1C1917"/>
                      </a:solidFill>
                      <a:prstDash val="solid"/>
                      <a:round/>
                      <a:headEnd type="none" w="med" len="med"/>
                      <a:tailEnd type="none" w="med" len="med"/>
                    </a:lnR>
                    <a:lnT w="19050" cap="flat" cmpd="sng" algn="ctr">
                      <a:solidFill>
                        <a:srgbClr val="1C1917"/>
                      </a:solidFill>
                      <a:prstDash val="solid"/>
                      <a:round/>
                      <a:headEnd type="none" w="med" len="med"/>
                      <a:tailEnd type="none" w="med" len="med"/>
                    </a:lnT>
                    <a:lnB w="19050" cap="flat" cmpd="sng" algn="ctr">
                      <a:solidFill>
                        <a:srgbClr val="1C1917"/>
                      </a:solidFill>
                      <a:prstDash val="solid"/>
                      <a:round/>
                      <a:headEnd type="none" w="med" len="med"/>
                      <a:tailEnd type="none" w="med" len="med"/>
                    </a:lnB>
                    <a:solidFill>
                      <a:srgbClr val="FAF8F4"/>
                    </a:solidFill>
                  </a:tcPr>
                </a:tc>
              </a:tr>
              <a:tr h="431800">
                <a:tc>
                  <a:txBody>
                    <a:bodyPr/>
                    <a:lstStyle/>
                    <a:p>
                      <a:pPr algn="l" indent="0" marL="0">
                        <a:buNone/>
                      </a:pPr>
                      <a:r>
                        <a:rPr lang="en-US" sz="1500" b="1" dirty="0">
                          <a:solidFill>
                            <a:srgbClr val="1C1917"/>
                          </a:solidFill>
                          <a:latin typeface="IBM Plex Sans" pitchFamily="34" charset="0"/>
                          <a:ea typeface="IBM Plex Sans" pitchFamily="34" charset="-122"/>
                          <a:cs typeface="IBM Plex Sans" pitchFamily="34" charset="-120"/>
                        </a:rPr>
                        <a:t>4 · Escalader</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C1917"/>
                      </a:solidFill>
                      <a:prstDash val="solid"/>
                      <a:round/>
                      <a:headEnd type="none" w="med" len="med"/>
                      <a:tailEnd type="none" w="med" len="med"/>
                    </a:lnL>
                    <a:lnR w="19050" cap="flat" cmpd="sng" algn="ctr">
                      <a:solidFill>
                        <a:srgbClr val="1C1917"/>
                      </a:solidFill>
                      <a:prstDash val="solid"/>
                      <a:round/>
                      <a:headEnd type="none" w="med" len="med"/>
                      <a:tailEnd type="none" w="med" len="med"/>
                    </a:lnR>
                    <a:lnT w="19050" cap="flat" cmpd="sng" algn="ctr">
                      <a:solidFill>
                        <a:srgbClr val="1C1917"/>
                      </a:solidFill>
                      <a:prstDash val="solid"/>
                      <a:round/>
                      <a:headEnd type="none" w="med" len="med"/>
                      <a:tailEnd type="none" w="med" len="med"/>
                    </a:lnT>
                    <a:lnB w="19050" cap="flat" cmpd="sng" algn="ctr">
                      <a:solidFill>
                        <a:srgbClr val="1C1917"/>
                      </a:solidFill>
                      <a:prstDash val="solid"/>
                      <a:round/>
                      <a:headEnd type="none" w="med" len="med"/>
                      <a:tailEnd type="none" w="med" len="med"/>
                    </a:lnB>
                    <a:solidFill>
                      <a:srgbClr val="FAF8F4"/>
                    </a:solidFill>
                  </a:tcPr>
                </a:tc>
                <a:tc>
                  <a:txBody>
                    <a:bodyPr/>
                    <a:lstStyle/>
                    <a:p>
                      <a:pPr algn="l" indent="0" marL="0">
                        <a:buNone/>
                      </a:pPr>
                      <a:r>
                        <a:rPr lang="en-US" sz="1500" dirty="0">
                          <a:solidFill>
                            <a:srgbClr val="1C1917"/>
                          </a:solidFill>
                          <a:latin typeface="IBM Plex Sans" pitchFamily="34" charset="0"/>
                          <a:ea typeface="IBM Plex Sans" pitchFamily="34" charset="-122"/>
                          <a:cs typeface="IBM Plex Sans" pitchFamily="34" charset="-120"/>
                        </a:rPr>
                        <a:t>Qui doit agir ?</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C1917"/>
                      </a:solidFill>
                      <a:prstDash val="solid"/>
                      <a:round/>
                      <a:headEnd type="none" w="med" len="med"/>
                      <a:tailEnd type="none" w="med" len="med"/>
                    </a:lnL>
                    <a:lnR w="19050" cap="flat" cmpd="sng" algn="ctr">
                      <a:solidFill>
                        <a:srgbClr val="1C1917"/>
                      </a:solidFill>
                      <a:prstDash val="solid"/>
                      <a:round/>
                      <a:headEnd type="none" w="med" len="med"/>
                      <a:tailEnd type="none" w="med" len="med"/>
                    </a:lnR>
                    <a:lnT w="19050" cap="flat" cmpd="sng" algn="ctr">
                      <a:solidFill>
                        <a:srgbClr val="1C1917"/>
                      </a:solidFill>
                      <a:prstDash val="solid"/>
                      <a:round/>
                      <a:headEnd type="none" w="med" len="med"/>
                      <a:tailEnd type="none" w="med" len="med"/>
                    </a:lnT>
                    <a:lnB w="19050" cap="flat" cmpd="sng" algn="ctr">
                      <a:solidFill>
                        <a:srgbClr val="1C1917"/>
                      </a:solidFill>
                      <a:prstDash val="solid"/>
                      <a:round/>
                      <a:headEnd type="none" w="med" len="med"/>
                      <a:tailEnd type="none" w="med" len="med"/>
                    </a:lnB>
                    <a:solidFill>
                      <a:srgbClr val="FAF8F4"/>
                    </a:solidFill>
                  </a:tcPr>
                </a:tc>
                <a:tc>
                  <a:txBody>
                    <a:bodyPr/>
                    <a:lstStyle/>
                    <a:p>
                      <a:pPr algn="l" indent="0" marL="0">
                        <a:buNone/>
                      </a:pPr>
                      <a:r>
                        <a:rPr lang="en-US" sz="1500" dirty="0">
                          <a:solidFill>
                            <a:srgbClr val="1C1917"/>
                          </a:solidFill>
                          <a:latin typeface="IBM Plex Sans" pitchFamily="34" charset="0"/>
                          <a:ea typeface="IBM Plex Sans" pitchFamily="34" charset="-122"/>
                          <a:cs typeface="IBM Plex Sans" pitchFamily="34" charset="-120"/>
                        </a:rPr>
                        <a:t>L’équipe méthode, puis Teepee</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C1917"/>
                      </a:solidFill>
                      <a:prstDash val="solid"/>
                      <a:round/>
                      <a:headEnd type="none" w="med" len="med"/>
                      <a:tailEnd type="none" w="med" len="med"/>
                    </a:lnL>
                    <a:lnR w="19050" cap="flat" cmpd="sng" algn="ctr">
                      <a:solidFill>
                        <a:srgbClr val="1C1917"/>
                      </a:solidFill>
                      <a:prstDash val="solid"/>
                      <a:round/>
                      <a:headEnd type="none" w="med" len="med"/>
                      <a:tailEnd type="none" w="med" len="med"/>
                    </a:lnR>
                    <a:lnT w="19050" cap="flat" cmpd="sng" algn="ctr">
                      <a:solidFill>
                        <a:srgbClr val="1C1917"/>
                      </a:solidFill>
                      <a:prstDash val="solid"/>
                      <a:round/>
                      <a:headEnd type="none" w="med" len="med"/>
                      <a:tailEnd type="none" w="med" len="med"/>
                    </a:lnT>
                    <a:lnB w="19050" cap="flat" cmpd="sng" algn="ctr">
                      <a:solidFill>
                        <a:srgbClr val="1C1917"/>
                      </a:solidFill>
                      <a:prstDash val="solid"/>
                      <a:round/>
                      <a:headEnd type="none" w="med" len="med"/>
                      <a:tailEnd type="none" w="med" len="med"/>
                    </a:lnB>
                    <a:solidFill>
                      <a:srgbClr val="FAF8F4"/>
                    </a:solidFill>
                  </a:tcPr>
                </a:tc>
              </a:tr>
              <a:tr h="431800">
                <a:tc>
                  <a:txBody>
                    <a:bodyPr/>
                    <a:lstStyle/>
                    <a:p>
                      <a:pPr algn="l" indent="0" marL="0">
                        <a:buNone/>
                      </a:pPr>
                      <a:r>
                        <a:rPr lang="en-US" sz="1500" b="1" dirty="0">
                          <a:solidFill>
                            <a:srgbClr val="1C1917"/>
                          </a:solidFill>
                          <a:latin typeface="IBM Plex Sans" pitchFamily="34" charset="0"/>
                          <a:ea typeface="IBM Plex Sans" pitchFamily="34" charset="-122"/>
                          <a:cs typeface="IBM Plex Sans" pitchFamily="34" charset="-120"/>
                        </a:rPr>
                        <a:t>5 · Vérifier</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C1917"/>
                      </a:solidFill>
                      <a:prstDash val="solid"/>
                      <a:round/>
                      <a:headEnd type="none" w="med" len="med"/>
                      <a:tailEnd type="none" w="med" len="med"/>
                    </a:lnL>
                    <a:lnR w="19050" cap="flat" cmpd="sng" algn="ctr">
                      <a:solidFill>
                        <a:srgbClr val="1C1917"/>
                      </a:solidFill>
                      <a:prstDash val="solid"/>
                      <a:round/>
                      <a:headEnd type="none" w="med" len="med"/>
                      <a:tailEnd type="none" w="med" len="med"/>
                    </a:lnR>
                    <a:lnT w="19050" cap="flat" cmpd="sng" algn="ctr">
                      <a:solidFill>
                        <a:srgbClr val="1C1917"/>
                      </a:solidFill>
                      <a:prstDash val="solid"/>
                      <a:round/>
                      <a:headEnd type="none" w="med" len="med"/>
                      <a:tailEnd type="none" w="med" len="med"/>
                    </a:lnT>
                    <a:lnB w="19050" cap="flat" cmpd="sng" algn="ctr">
                      <a:solidFill>
                        <a:srgbClr val="1C1917"/>
                      </a:solidFill>
                      <a:prstDash val="solid"/>
                      <a:round/>
                      <a:headEnd type="none" w="med" len="med"/>
                      <a:tailEnd type="none" w="med" len="med"/>
                    </a:lnB>
                    <a:solidFill>
                      <a:srgbClr val="FAF8F4"/>
                    </a:solidFill>
                  </a:tcPr>
                </a:tc>
                <a:tc>
                  <a:txBody>
                    <a:bodyPr/>
                    <a:lstStyle/>
                    <a:p>
                      <a:pPr algn="l" indent="0" marL="0">
                        <a:buNone/>
                      </a:pPr>
                      <a:r>
                        <a:rPr lang="en-US" sz="1500" dirty="0">
                          <a:solidFill>
                            <a:srgbClr val="1C1917"/>
                          </a:solidFill>
                          <a:latin typeface="IBM Plex Sans" pitchFamily="34" charset="0"/>
                          <a:ea typeface="IBM Plex Sans" pitchFamily="34" charset="-122"/>
                          <a:cs typeface="IBM Plex Sans" pitchFamily="34" charset="-120"/>
                        </a:rPr>
                        <a:t>Le correctif fonctionne-t-il ?</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C1917"/>
                      </a:solidFill>
                      <a:prstDash val="solid"/>
                      <a:round/>
                      <a:headEnd type="none" w="med" len="med"/>
                      <a:tailEnd type="none" w="med" len="med"/>
                    </a:lnL>
                    <a:lnR w="19050" cap="flat" cmpd="sng" algn="ctr">
                      <a:solidFill>
                        <a:srgbClr val="1C1917"/>
                      </a:solidFill>
                      <a:prstDash val="solid"/>
                      <a:round/>
                      <a:headEnd type="none" w="med" len="med"/>
                      <a:tailEnd type="none" w="med" len="med"/>
                    </a:lnR>
                    <a:lnT w="19050" cap="flat" cmpd="sng" algn="ctr">
                      <a:solidFill>
                        <a:srgbClr val="1C1917"/>
                      </a:solidFill>
                      <a:prstDash val="solid"/>
                      <a:round/>
                      <a:headEnd type="none" w="med" len="med"/>
                      <a:tailEnd type="none" w="med" len="med"/>
                    </a:lnT>
                    <a:lnB w="19050" cap="flat" cmpd="sng" algn="ctr">
                      <a:solidFill>
                        <a:srgbClr val="1C1917"/>
                      </a:solidFill>
                      <a:prstDash val="solid"/>
                      <a:round/>
                      <a:headEnd type="none" w="med" len="med"/>
                      <a:tailEnd type="none" w="med" len="med"/>
                    </a:lnB>
                    <a:solidFill>
                      <a:srgbClr val="FAF8F4"/>
                    </a:solidFill>
                  </a:tcPr>
                </a:tc>
                <a:tc>
                  <a:txBody>
                    <a:bodyPr/>
                    <a:lstStyle/>
                    <a:p>
                      <a:pPr algn="l" indent="0" marL="0">
                        <a:buNone/>
                      </a:pPr>
                      <a:r>
                        <a:rPr lang="en-US" sz="1500" dirty="0">
                          <a:solidFill>
                            <a:srgbClr val="1C1917"/>
                          </a:solidFill>
                          <a:latin typeface="IBM Plex Sans" pitchFamily="34" charset="0"/>
                          <a:ea typeface="IBM Plex Sans" pitchFamily="34" charset="-122"/>
                          <a:cs typeface="IBM Plex Sans" pitchFamily="34" charset="-120"/>
                        </a:rPr>
                        <a:t>Test de non-régression</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C1917"/>
                      </a:solidFill>
                      <a:prstDash val="solid"/>
                      <a:round/>
                      <a:headEnd type="none" w="med" len="med"/>
                      <a:tailEnd type="none" w="med" len="med"/>
                    </a:lnL>
                    <a:lnR w="19050" cap="flat" cmpd="sng" algn="ctr">
                      <a:solidFill>
                        <a:srgbClr val="1C1917"/>
                      </a:solidFill>
                      <a:prstDash val="solid"/>
                      <a:round/>
                      <a:headEnd type="none" w="med" len="med"/>
                      <a:tailEnd type="none" w="med" len="med"/>
                    </a:lnR>
                    <a:lnT w="19050" cap="flat" cmpd="sng" algn="ctr">
                      <a:solidFill>
                        <a:srgbClr val="1C1917"/>
                      </a:solidFill>
                      <a:prstDash val="solid"/>
                      <a:round/>
                      <a:headEnd type="none" w="med" len="med"/>
                      <a:tailEnd type="none" w="med" len="med"/>
                    </a:lnT>
                    <a:lnB w="19050" cap="flat" cmpd="sng" algn="ctr">
                      <a:solidFill>
                        <a:srgbClr val="1C1917"/>
                      </a:solidFill>
                      <a:prstDash val="solid"/>
                      <a:round/>
                      <a:headEnd type="none" w="med" len="med"/>
                      <a:tailEnd type="none" w="med" len="med"/>
                    </a:lnB>
                    <a:solidFill>
                      <a:srgbClr val="FAF8F4"/>
                    </a:solidFill>
                  </a:tcPr>
                </a:tc>
              </a:tr>
            </a:tbl>
          </a:graphicData>
        </a:graphic>
      </p:graphicFrame>
      <p:sp>
        <p:nvSpPr>
          <p:cNvPr id="10" name="nav:2-s8">
            <a:hlinkClick r:id="rIdNav2" action="ppaction://hlinksldjump"/>
          </p:cNvPr>
          <p:cNvSpPr/>
          <p:nvPr/>
        </p:nvSpPr>
        <p:spPr>
          <a:xfrm>
            <a:off x="10922000" y="254000"/>
            <a:ext cx="457200" cy="457200"/>
          </a:xfrm>
          <a:prstGeom prst="rect">
            <a:avLst/>
          </a:prstGeom>
          <a:solidFill>
            <a:srgbClr val="FFFFFF">
              <a:alpha val="0"/>
            </a:srgbClr>
          </a:solidFill>
          <a:ln/>
        </p:spPr>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1EFEA"/>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1EFEA"/>
          </a:solidFill>
          <a:ln w="19050">
            <a:solidFill>
              <a:srgbClr val="1C1917"/>
            </a:solidFill>
            <a:prstDash val="solid"/>
          </a:ln>
        </p:spPr>
      </p:sp>
      <p:sp>
        <p:nvSpPr>
          <p:cNvPr id="3" name="!!mk-bar"/>
          <p:cNvSpPr/>
          <p:nvPr/>
        </p:nvSpPr>
        <p:spPr>
          <a:xfrm>
            <a:off x="812800" y="6299200"/>
            <a:ext cx="4324350" cy="127000"/>
          </a:xfrm>
          <a:prstGeom prst="rect">
            <a:avLst/>
          </a:prstGeom>
          <a:solidFill>
            <a:srgbClr val="C2570C"/>
          </a:solidFill>
          <a:ln w="19050">
            <a:solidFill>
              <a:srgbClr val="1C1917"/>
            </a:solidFill>
            <a:prstDash val="solid"/>
          </a:ln>
        </p:spPr>
      </p:sp>
      <p:sp>
        <p:nvSpPr>
          <p:cNvPr id="4" name="!!mk-sq"/>
          <p:cNvSpPr/>
          <p:nvPr/>
        </p:nvSpPr>
        <p:spPr>
          <a:xfrm rot="900000">
            <a:off x="10922000" y="254000"/>
            <a:ext cx="457200" cy="457200"/>
          </a:xfrm>
          <a:prstGeom prst="rect">
            <a:avLst/>
          </a:prstGeom>
          <a:solidFill>
            <a:srgbClr val="C2570C"/>
          </a:solidFill>
          <a:ln w="25400">
            <a:solidFill>
              <a:srgbClr val="1C1917"/>
            </a:solidFill>
            <a:prstDash val="solid"/>
          </a:ln>
          <a:effectLst>
            <a:outerShdw sx="100000" sy="100000" kx="0" ky="0" algn="bl" rotWithShape="0" blurRad="101600" dist="71831" dir="2700000">
              <a:srgbClr val="1C1917">
                <a:alpha val="100000"/>
              </a:srgbClr>
            </a:outerShdw>
          </a:effectLst>
        </p:spPr>
      </p:sp>
      <p:sp>
        <p:nvSpPr>
          <p:cNvPr id="5" name="!!mk-logos"/>
          <p:cNvSpPr/>
          <p:nvPr/>
        </p:nvSpPr>
        <p:spPr>
          <a:xfrm>
            <a:off x="8191500" y="279400"/>
            <a:ext cx="2476500" cy="355600"/>
          </a:xfrm>
          <a:prstGeom prst="rect">
            <a:avLst/>
          </a:prstGeom>
          <a:solidFill>
            <a:srgbClr val="FAF8F4"/>
          </a:solidFill>
          <a:ln w="19050">
            <a:solidFill>
              <a:srgbClr val="1C1917"/>
            </a:solidFill>
            <a:prstDash val="solid"/>
          </a:ln>
          <a:effectLst>
            <a:outerShdw sx="100000" sy="100000" kx="0" ky="0" algn="bl" rotWithShape="0" blurRad="101600" dist="53873" dir="2700000">
              <a:srgbClr val="1C1917">
                <a:alpha val="100000"/>
              </a:srgbClr>
            </a:outerShdw>
          </a:effectLst>
        </p:spPr>
      </p:sp>
      <p:pic>
        <p:nvPicPr>
          <p:cNvPr id="6" name="!!mk-logo-1" descr="Logo VINCI Facilities">    </p:cNvPr>
          <p:cNvPicPr>
            <a:picLocks noChangeAspect="1"/>
          </p:cNvPicPr>
          <p:nvPr/>
        </p:nvPicPr>
        <p:blipFill>
          <a:blip r:embed="rId1"/>
          <a:stretch>
            <a:fillRect/>
          </a:stretch>
        </p:blipFill>
        <p:spPr>
          <a:xfrm>
            <a:off x="8756650" y="330200"/>
            <a:ext cx="762000" cy="254000"/>
          </a:xfrm>
          <a:prstGeom prst="rect">
            <a:avLst/>
          </a:prstGeom>
        </p:spPr>
      </p:pic>
      <p:pic>
        <p:nvPicPr>
          <p:cNvPr id="7" name="!!mk-logo-2" descr="Logo Icam">    </p:cNvPr>
          <p:cNvPicPr>
            <a:picLocks noChangeAspect="1"/>
          </p:cNvPicPr>
          <p:nvPr/>
        </p:nvPicPr>
        <p:blipFill>
          <a:blip r:embed="rId2"/>
          <a:stretch>
            <a:fillRect/>
          </a:stretch>
        </p:blipFill>
        <p:spPr>
          <a:xfrm>
            <a:off x="9671050" y="330200"/>
            <a:ext cx="431800" cy="254000"/>
          </a:xfrm>
          <a:prstGeom prst="rect">
            <a:avLst/>
          </a:prstGeom>
        </p:spPr>
      </p:pic>
      <p:sp>
        <p:nvSpPr>
          <p:cNvPr id="8" name="Text 4-s9"/>
          <p:cNvSpPr txBox="1"/>
          <p:nvPr/>
        </p:nvSpPr>
        <p:spPr>
          <a:xfrm>
            <a:off x="812800" y="812800"/>
            <a:ext cx="10566400" cy="571500"/>
          </a:xfrm>
          <a:prstGeom prst="rect">
            <a:avLst/>
          </a:prstGeom>
          <a:noFill/>
          <a:ln/>
        </p:spPr>
        <p:txBody>
          <a:bodyPr wrap="square" lIns="0" tIns="0" rIns="0" bIns="0" rtlCol="0" anchor="t"/>
          <a:lstStyle/>
          <a:p>
            <a:pPr algn="l" indent="0" marL="0">
              <a:lnSpc>
                <a:spcPct val="87500"/>
              </a:lnSpc>
              <a:buNone/>
            </a:pPr>
            <a:r>
              <a:rPr lang="en-US" sz="3600" b="1" dirty="0">
                <a:solidFill>
                  <a:srgbClr val="1C1917"/>
                </a:solidFill>
                <a:latin typeface="Space Grotesk" pitchFamily="34" charset="0"/>
                <a:ea typeface="Space Grotesk" pitchFamily="34" charset="-122"/>
                <a:cs typeface="Space Grotesk" pitchFamily="34" charset="-120"/>
              </a:rPr>
              <a:t>Conduite du changement : ADKAR</a:t>
            </a:r>
            <a:endParaRPr lang="en-US" sz="3600" dirty="0"/>
          </a:p>
        </p:txBody>
      </p:sp>
      <p:graphicFrame>
        <p:nvGraphicFramePr>
          <p:cNvPr id="10" name="Table 0-s9"/>
          <p:cNvGraphicFramePr>
            <a:graphicFrameLocks noGrp="1"/>
          </p:cNvGraphicFramePr>
          <p:nvPr>
            <p:extLst>
              <p:ext uri="{D42A27DB-BD31-4B8C-83A1-F6EECF244321}">
                <p14:modId xmlns:p14="http://schemas.microsoft.com/office/powerpoint/2010/main" val="1579011935"/>
              </p:ext>
            </p:extLst>
          </p:nvPr>
        </p:nvGraphicFramePr>
        <p:xfrm>
          <a:off x="812800" y="1587500"/>
          <a:ext cx="10566400" cy="914400"/>
        </p:xfrm>
        <a:graphic>
          <a:graphicData uri="http://schemas.openxmlformats.org/drawingml/2006/table">
            <a:tbl>
              <a:tblPr/>
              <a:tblGrid>
                <a:gridCol w="2749550"/>
                <a:gridCol w="7816850"/>
              </a:tblGrid>
              <a:tr h="431800">
                <a:tc>
                  <a:txBody>
                    <a:bodyPr/>
                    <a:lstStyle/>
                    <a:p>
                      <a:pPr algn="l" indent="0" marL="0">
                        <a:buNone/>
                      </a:pPr>
                      <a:r>
                        <a:rPr lang="en-US" sz="1500" b="1" dirty="0">
                          <a:solidFill>
                            <a:srgbClr val="F1EFEA"/>
                          </a:solidFill>
                          <a:latin typeface="Space Grotesk" pitchFamily="34" charset="0"/>
                          <a:ea typeface="Space Grotesk" pitchFamily="34" charset="-122"/>
                          <a:cs typeface="Space Grotesk" pitchFamily="34" charset="-120"/>
                        </a:rPr>
                        <a:t>Étape</a:t>
                      </a:r>
                      <a:endParaRPr lang="en-US" sz="1500" dirty="0">
                        <a:latin typeface="Space Grotesk" charset="0"/>
                        <a:ea typeface="Space Grotesk" charset="0"/>
                        <a:cs typeface="Space Grotesk" charset="0"/>
                      </a:endParaRPr>
                    </a:p>
                  </a:txBody>
                  <a:tcPr marL="91440" marR="91440" marT="45720" marB="45720" anchor="ctr">
                    <a:lnL w="19050" cap="flat" cmpd="sng" algn="ctr">
                      <a:solidFill>
                        <a:srgbClr val="1C1917"/>
                      </a:solidFill>
                      <a:prstDash val="solid"/>
                      <a:round/>
                      <a:headEnd type="none" w="med" len="med"/>
                      <a:tailEnd type="none" w="med" len="med"/>
                    </a:lnL>
                    <a:lnR w="19050" cap="flat" cmpd="sng" algn="ctr">
                      <a:solidFill>
                        <a:srgbClr val="1C1917"/>
                      </a:solidFill>
                      <a:prstDash val="solid"/>
                      <a:round/>
                      <a:headEnd type="none" w="med" len="med"/>
                      <a:tailEnd type="none" w="med" len="med"/>
                    </a:lnR>
                    <a:lnT w="19050" cap="flat" cmpd="sng" algn="ctr">
                      <a:solidFill>
                        <a:srgbClr val="1C1917"/>
                      </a:solidFill>
                      <a:prstDash val="solid"/>
                      <a:round/>
                      <a:headEnd type="none" w="med" len="med"/>
                      <a:tailEnd type="none" w="med" len="med"/>
                    </a:lnT>
                    <a:lnB w="19050" cap="flat" cmpd="sng" algn="ctr">
                      <a:solidFill>
                        <a:srgbClr val="1C1917"/>
                      </a:solidFill>
                      <a:prstDash val="solid"/>
                      <a:round/>
                      <a:headEnd type="none" w="med" len="med"/>
                      <a:tailEnd type="none" w="med" len="med"/>
                    </a:lnB>
                    <a:solidFill>
                      <a:srgbClr val="1C1917"/>
                    </a:solidFill>
                  </a:tcPr>
                </a:tc>
                <a:tc>
                  <a:txBody>
                    <a:bodyPr/>
                    <a:lstStyle/>
                    <a:p>
                      <a:pPr algn="l" indent="0" marL="0">
                        <a:buNone/>
                      </a:pPr>
                      <a:r>
                        <a:rPr lang="en-US" sz="1500" b="1" dirty="0">
                          <a:solidFill>
                            <a:srgbClr val="F1EFEA"/>
                          </a:solidFill>
                          <a:latin typeface="Space Grotesk" pitchFamily="34" charset="0"/>
                          <a:ea typeface="Space Grotesk" pitchFamily="34" charset="-122"/>
                          <a:cs typeface="Space Grotesk" pitchFamily="34" charset="-120"/>
                        </a:rPr>
                        <a:t>Application au projet</a:t>
                      </a:r>
                      <a:endParaRPr lang="en-US" sz="1500" dirty="0">
                        <a:latin typeface="Space Grotesk" charset="0"/>
                        <a:ea typeface="Space Grotesk" charset="0"/>
                        <a:cs typeface="Space Grotesk" charset="0"/>
                      </a:endParaRPr>
                    </a:p>
                  </a:txBody>
                  <a:tcPr marL="91440" marR="91440" marT="45720" marB="45720" anchor="ctr">
                    <a:lnL w="19050" cap="flat" cmpd="sng" algn="ctr">
                      <a:solidFill>
                        <a:srgbClr val="1C1917"/>
                      </a:solidFill>
                      <a:prstDash val="solid"/>
                      <a:round/>
                      <a:headEnd type="none" w="med" len="med"/>
                      <a:tailEnd type="none" w="med" len="med"/>
                    </a:lnL>
                    <a:lnR w="19050" cap="flat" cmpd="sng" algn="ctr">
                      <a:solidFill>
                        <a:srgbClr val="1C1917"/>
                      </a:solidFill>
                      <a:prstDash val="solid"/>
                      <a:round/>
                      <a:headEnd type="none" w="med" len="med"/>
                      <a:tailEnd type="none" w="med" len="med"/>
                    </a:lnR>
                    <a:lnT w="19050" cap="flat" cmpd="sng" algn="ctr">
                      <a:solidFill>
                        <a:srgbClr val="1C1917"/>
                      </a:solidFill>
                      <a:prstDash val="solid"/>
                      <a:round/>
                      <a:headEnd type="none" w="med" len="med"/>
                      <a:tailEnd type="none" w="med" len="med"/>
                    </a:lnT>
                    <a:lnB w="19050" cap="flat" cmpd="sng" algn="ctr">
                      <a:solidFill>
                        <a:srgbClr val="1C1917"/>
                      </a:solidFill>
                      <a:prstDash val="solid"/>
                      <a:round/>
                      <a:headEnd type="none" w="med" len="med"/>
                      <a:tailEnd type="none" w="med" len="med"/>
                    </a:lnB>
                    <a:solidFill>
                      <a:srgbClr val="1C1917"/>
                    </a:solidFill>
                  </a:tcPr>
                </a:tc>
              </a:tr>
              <a:tr h="431800">
                <a:tc>
                  <a:txBody>
                    <a:bodyPr/>
                    <a:lstStyle/>
                    <a:p>
                      <a:pPr algn="l" indent="0" marL="0">
                        <a:buNone/>
                      </a:pPr>
                      <a:r>
                        <a:rPr lang="en-US" sz="1500" b="1" dirty="0">
                          <a:solidFill>
                            <a:srgbClr val="1C1917"/>
                          </a:solidFill>
                          <a:latin typeface="IBM Plex Sans" pitchFamily="34" charset="0"/>
                          <a:ea typeface="IBM Plex Sans" pitchFamily="34" charset="-122"/>
                          <a:cs typeface="IBM Plex Sans" pitchFamily="34" charset="-120"/>
                        </a:rPr>
                        <a:t>Awareness</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C1917"/>
                      </a:solidFill>
                      <a:prstDash val="solid"/>
                      <a:round/>
                      <a:headEnd type="none" w="med" len="med"/>
                      <a:tailEnd type="none" w="med" len="med"/>
                    </a:lnL>
                    <a:lnR w="19050" cap="flat" cmpd="sng" algn="ctr">
                      <a:solidFill>
                        <a:srgbClr val="1C1917"/>
                      </a:solidFill>
                      <a:prstDash val="solid"/>
                      <a:round/>
                      <a:headEnd type="none" w="med" len="med"/>
                      <a:tailEnd type="none" w="med" len="med"/>
                    </a:lnR>
                    <a:lnT w="19050" cap="flat" cmpd="sng" algn="ctr">
                      <a:solidFill>
                        <a:srgbClr val="1C1917"/>
                      </a:solidFill>
                      <a:prstDash val="solid"/>
                      <a:round/>
                      <a:headEnd type="none" w="med" len="med"/>
                      <a:tailEnd type="none" w="med" len="med"/>
                    </a:lnT>
                    <a:lnB w="19050" cap="flat" cmpd="sng" algn="ctr">
                      <a:solidFill>
                        <a:srgbClr val="1C1917"/>
                      </a:solidFill>
                      <a:prstDash val="solid"/>
                      <a:round/>
                      <a:headEnd type="none" w="med" len="med"/>
                      <a:tailEnd type="none" w="med" len="med"/>
                    </a:lnB>
                    <a:solidFill>
                      <a:srgbClr val="FAF8F4"/>
                    </a:solidFill>
                  </a:tcPr>
                </a:tc>
                <a:tc>
                  <a:txBody>
                    <a:bodyPr/>
                    <a:lstStyle/>
                    <a:p>
                      <a:pPr algn="l" indent="0" marL="0">
                        <a:buNone/>
                      </a:pPr>
                      <a:r>
                        <a:rPr lang="en-US" sz="1500" dirty="0">
                          <a:solidFill>
                            <a:srgbClr val="1C1917"/>
                          </a:solidFill>
                          <a:latin typeface="IBM Plex Sans" pitchFamily="34" charset="0"/>
                          <a:ea typeface="IBM Plex Sans" pitchFamily="34" charset="-122"/>
                          <a:cs typeface="IBM Plex Sans" pitchFamily="34" charset="-120"/>
                        </a:rPr>
                        <a:t>Expliquer les raisons du groupe et la sécurité</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C1917"/>
                      </a:solidFill>
                      <a:prstDash val="solid"/>
                      <a:round/>
                      <a:headEnd type="none" w="med" len="med"/>
                      <a:tailEnd type="none" w="med" len="med"/>
                    </a:lnL>
                    <a:lnR w="19050" cap="flat" cmpd="sng" algn="ctr">
                      <a:solidFill>
                        <a:srgbClr val="1C1917"/>
                      </a:solidFill>
                      <a:prstDash val="solid"/>
                      <a:round/>
                      <a:headEnd type="none" w="med" len="med"/>
                      <a:tailEnd type="none" w="med" len="med"/>
                    </a:lnR>
                    <a:lnT w="19050" cap="flat" cmpd="sng" algn="ctr">
                      <a:solidFill>
                        <a:srgbClr val="1C1917"/>
                      </a:solidFill>
                      <a:prstDash val="solid"/>
                      <a:round/>
                      <a:headEnd type="none" w="med" len="med"/>
                      <a:tailEnd type="none" w="med" len="med"/>
                    </a:lnT>
                    <a:lnB w="19050" cap="flat" cmpd="sng" algn="ctr">
                      <a:solidFill>
                        <a:srgbClr val="1C1917"/>
                      </a:solidFill>
                      <a:prstDash val="solid"/>
                      <a:round/>
                      <a:headEnd type="none" w="med" len="med"/>
                      <a:tailEnd type="none" w="med" len="med"/>
                    </a:lnB>
                    <a:solidFill>
                      <a:srgbClr val="FAF8F4"/>
                    </a:solidFill>
                  </a:tcPr>
                </a:tc>
              </a:tr>
              <a:tr h="431800">
                <a:tc>
                  <a:txBody>
                    <a:bodyPr/>
                    <a:lstStyle/>
                    <a:p>
                      <a:pPr algn="l" indent="0" marL="0">
                        <a:buNone/>
                      </a:pPr>
                      <a:r>
                        <a:rPr lang="en-US" sz="1500" b="1" dirty="0">
                          <a:solidFill>
                            <a:srgbClr val="1C1917"/>
                          </a:solidFill>
                          <a:latin typeface="IBM Plex Sans" pitchFamily="34" charset="0"/>
                          <a:ea typeface="IBM Plex Sans" pitchFamily="34" charset="-122"/>
                          <a:cs typeface="IBM Plex Sans" pitchFamily="34" charset="-120"/>
                        </a:rPr>
                        <a:t>Desire</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C1917"/>
                      </a:solidFill>
                      <a:prstDash val="solid"/>
                      <a:round/>
                      <a:headEnd type="none" w="med" len="med"/>
                      <a:tailEnd type="none" w="med" len="med"/>
                    </a:lnL>
                    <a:lnR w="19050" cap="flat" cmpd="sng" algn="ctr">
                      <a:solidFill>
                        <a:srgbClr val="1C1917"/>
                      </a:solidFill>
                      <a:prstDash val="solid"/>
                      <a:round/>
                      <a:headEnd type="none" w="med" len="med"/>
                      <a:tailEnd type="none" w="med" len="med"/>
                    </a:lnR>
                    <a:lnT w="19050" cap="flat" cmpd="sng" algn="ctr">
                      <a:solidFill>
                        <a:srgbClr val="1C1917"/>
                      </a:solidFill>
                      <a:prstDash val="solid"/>
                      <a:round/>
                      <a:headEnd type="none" w="med" len="med"/>
                      <a:tailEnd type="none" w="med" len="med"/>
                    </a:lnT>
                    <a:lnB w="19050" cap="flat" cmpd="sng" algn="ctr">
                      <a:solidFill>
                        <a:srgbClr val="1C1917"/>
                      </a:solidFill>
                      <a:prstDash val="solid"/>
                      <a:round/>
                      <a:headEnd type="none" w="med" len="med"/>
                      <a:tailEnd type="none" w="med" len="med"/>
                    </a:lnB>
                    <a:solidFill>
                      <a:srgbClr val="FAF8F4"/>
                    </a:solidFill>
                  </a:tcPr>
                </a:tc>
                <a:tc>
                  <a:txBody>
                    <a:bodyPr/>
                    <a:lstStyle/>
                    <a:p>
                      <a:pPr algn="l" indent="0" marL="0">
                        <a:buNone/>
                      </a:pPr>
                      <a:r>
                        <a:rPr lang="en-US" sz="1500" dirty="0">
                          <a:solidFill>
                            <a:srgbClr val="1C1917"/>
                          </a:solidFill>
                          <a:latin typeface="IBM Plex Sans" pitchFamily="34" charset="0"/>
                          <a:ea typeface="IBM Plex Sans" pitchFamily="34" charset="-122"/>
                          <a:cs typeface="IBM Plex Sans" pitchFamily="34" charset="-120"/>
                        </a:rPr>
                        <a:t>Impliquer les utilisateurs dans les remontées</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C1917"/>
                      </a:solidFill>
                      <a:prstDash val="solid"/>
                      <a:round/>
                      <a:headEnd type="none" w="med" len="med"/>
                      <a:tailEnd type="none" w="med" len="med"/>
                    </a:lnL>
                    <a:lnR w="19050" cap="flat" cmpd="sng" algn="ctr">
                      <a:solidFill>
                        <a:srgbClr val="1C1917"/>
                      </a:solidFill>
                      <a:prstDash val="solid"/>
                      <a:round/>
                      <a:headEnd type="none" w="med" len="med"/>
                      <a:tailEnd type="none" w="med" len="med"/>
                    </a:lnR>
                    <a:lnT w="19050" cap="flat" cmpd="sng" algn="ctr">
                      <a:solidFill>
                        <a:srgbClr val="1C1917"/>
                      </a:solidFill>
                      <a:prstDash val="solid"/>
                      <a:round/>
                      <a:headEnd type="none" w="med" len="med"/>
                      <a:tailEnd type="none" w="med" len="med"/>
                    </a:lnT>
                    <a:lnB w="19050" cap="flat" cmpd="sng" algn="ctr">
                      <a:solidFill>
                        <a:srgbClr val="1C1917"/>
                      </a:solidFill>
                      <a:prstDash val="solid"/>
                      <a:round/>
                      <a:headEnd type="none" w="med" len="med"/>
                      <a:tailEnd type="none" w="med" len="med"/>
                    </a:lnB>
                    <a:solidFill>
                      <a:srgbClr val="FAF8F4"/>
                    </a:solidFill>
                  </a:tcPr>
                </a:tc>
              </a:tr>
              <a:tr h="431800">
                <a:tc>
                  <a:txBody>
                    <a:bodyPr/>
                    <a:lstStyle/>
                    <a:p>
                      <a:pPr algn="l" indent="0" marL="0">
                        <a:buNone/>
                      </a:pPr>
                      <a:r>
                        <a:rPr lang="en-US" sz="1500" b="1" dirty="0">
                          <a:solidFill>
                            <a:srgbClr val="1C1917"/>
                          </a:solidFill>
                          <a:latin typeface="IBM Plex Sans" pitchFamily="34" charset="0"/>
                          <a:ea typeface="IBM Plex Sans" pitchFamily="34" charset="-122"/>
                          <a:cs typeface="IBM Plex Sans" pitchFamily="34" charset="-120"/>
                        </a:rPr>
                        <a:t>Knowledge</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C1917"/>
                      </a:solidFill>
                      <a:prstDash val="solid"/>
                      <a:round/>
                      <a:headEnd type="none" w="med" len="med"/>
                      <a:tailEnd type="none" w="med" len="med"/>
                    </a:lnL>
                    <a:lnR w="19050" cap="flat" cmpd="sng" algn="ctr">
                      <a:solidFill>
                        <a:srgbClr val="1C1917"/>
                      </a:solidFill>
                      <a:prstDash val="solid"/>
                      <a:round/>
                      <a:headEnd type="none" w="med" len="med"/>
                      <a:tailEnd type="none" w="med" len="med"/>
                    </a:lnR>
                    <a:lnT w="19050" cap="flat" cmpd="sng" algn="ctr">
                      <a:solidFill>
                        <a:srgbClr val="1C1917"/>
                      </a:solidFill>
                      <a:prstDash val="solid"/>
                      <a:round/>
                      <a:headEnd type="none" w="med" len="med"/>
                      <a:tailEnd type="none" w="med" len="med"/>
                    </a:lnT>
                    <a:lnB w="19050" cap="flat" cmpd="sng" algn="ctr">
                      <a:solidFill>
                        <a:srgbClr val="1C1917"/>
                      </a:solidFill>
                      <a:prstDash val="solid"/>
                      <a:round/>
                      <a:headEnd type="none" w="med" len="med"/>
                      <a:tailEnd type="none" w="med" len="med"/>
                    </a:lnB>
                    <a:solidFill>
                      <a:srgbClr val="FAF8F4"/>
                    </a:solidFill>
                  </a:tcPr>
                </a:tc>
                <a:tc>
                  <a:txBody>
                    <a:bodyPr/>
                    <a:lstStyle/>
                    <a:p>
                      <a:pPr algn="l" indent="0" marL="0">
                        <a:buNone/>
                      </a:pPr>
                      <a:r>
                        <a:rPr lang="en-US" sz="1500" dirty="0">
                          <a:solidFill>
                            <a:srgbClr val="1C1917"/>
                          </a:solidFill>
                          <a:latin typeface="IBM Plex Sans" pitchFamily="34" charset="0"/>
                          <a:ea typeface="IBM Plex Sans" pitchFamily="34" charset="-122"/>
                          <a:cs typeface="IBM Plex Sans" pitchFamily="34" charset="-120"/>
                        </a:rPr>
                        <a:t>Former aux fonctions Teepee et aux formulaires</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C1917"/>
                      </a:solidFill>
                      <a:prstDash val="solid"/>
                      <a:round/>
                      <a:headEnd type="none" w="med" len="med"/>
                      <a:tailEnd type="none" w="med" len="med"/>
                    </a:lnL>
                    <a:lnR w="19050" cap="flat" cmpd="sng" algn="ctr">
                      <a:solidFill>
                        <a:srgbClr val="1C1917"/>
                      </a:solidFill>
                      <a:prstDash val="solid"/>
                      <a:round/>
                      <a:headEnd type="none" w="med" len="med"/>
                      <a:tailEnd type="none" w="med" len="med"/>
                    </a:lnR>
                    <a:lnT w="19050" cap="flat" cmpd="sng" algn="ctr">
                      <a:solidFill>
                        <a:srgbClr val="1C1917"/>
                      </a:solidFill>
                      <a:prstDash val="solid"/>
                      <a:round/>
                      <a:headEnd type="none" w="med" len="med"/>
                      <a:tailEnd type="none" w="med" len="med"/>
                    </a:lnT>
                    <a:lnB w="19050" cap="flat" cmpd="sng" algn="ctr">
                      <a:solidFill>
                        <a:srgbClr val="1C1917"/>
                      </a:solidFill>
                      <a:prstDash val="solid"/>
                      <a:round/>
                      <a:headEnd type="none" w="med" len="med"/>
                      <a:tailEnd type="none" w="med" len="med"/>
                    </a:lnB>
                    <a:solidFill>
                      <a:srgbClr val="FAF8F4"/>
                    </a:solidFill>
                  </a:tcPr>
                </a:tc>
              </a:tr>
              <a:tr h="431800">
                <a:tc>
                  <a:txBody>
                    <a:bodyPr/>
                    <a:lstStyle/>
                    <a:p>
                      <a:pPr algn="l" indent="0" marL="0">
                        <a:buNone/>
                      </a:pPr>
                      <a:r>
                        <a:rPr lang="en-US" sz="1500" b="1" dirty="0">
                          <a:solidFill>
                            <a:srgbClr val="1C1917"/>
                          </a:solidFill>
                          <a:latin typeface="IBM Plex Sans" pitchFamily="34" charset="0"/>
                          <a:ea typeface="IBM Plex Sans" pitchFamily="34" charset="-122"/>
                          <a:cs typeface="IBM Plex Sans" pitchFamily="34" charset="-120"/>
                        </a:rPr>
                        <a:t>Ability</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C1917"/>
                      </a:solidFill>
                      <a:prstDash val="solid"/>
                      <a:round/>
                      <a:headEnd type="none" w="med" len="med"/>
                      <a:tailEnd type="none" w="med" len="med"/>
                    </a:lnL>
                    <a:lnR w="19050" cap="flat" cmpd="sng" algn="ctr">
                      <a:solidFill>
                        <a:srgbClr val="1C1917"/>
                      </a:solidFill>
                      <a:prstDash val="solid"/>
                      <a:round/>
                      <a:headEnd type="none" w="med" len="med"/>
                      <a:tailEnd type="none" w="med" len="med"/>
                    </a:lnR>
                    <a:lnT w="19050" cap="flat" cmpd="sng" algn="ctr">
                      <a:solidFill>
                        <a:srgbClr val="1C1917"/>
                      </a:solidFill>
                      <a:prstDash val="solid"/>
                      <a:round/>
                      <a:headEnd type="none" w="med" len="med"/>
                      <a:tailEnd type="none" w="med" len="med"/>
                    </a:lnT>
                    <a:lnB w="19050" cap="flat" cmpd="sng" algn="ctr">
                      <a:solidFill>
                        <a:srgbClr val="1C1917"/>
                      </a:solidFill>
                      <a:prstDash val="solid"/>
                      <a:round/>
                      <a:headEnd type="none" w="med" len="med"/>
                      <a:tailEnd type="none" w="med" len="med"/>
                    </a:lnB>
                    <a:solidFill>
                      <a:srgbClr val="FAF8F4"/>
                    </a:solidFill>
                  </a:tcPr>
                </a:tc>
                <a:tc>
                  <a:txBody>
                    <a:bodyPr/>
                    <a:lstStyle/>
                    <a:p>
                      <a:pPr algn="l" indent="0" marL="0">
                        <a:buNone/>
                      </a:pPr>
                      <a:r>
                        <a:rPr lang="en-US" sz="1500" dirty="0">
                          <a:solidFill>
                            <a:srgbClr val="1C1917"/>
                          </a:solidFill>
                          <a:latin typeface="IBM Plex Sans" pitchFamily="34" charset="0"/>
                          <a:ea typeface="IBM Plex Sans" pitchFamily="34" charset="-122"/>
                          <a:cs typeface="IBM Plex Sans" pitchFamily="34" charset="-120"/>
                        </a:rPr>
                        <a:t>Accompagner l’usage en situation réelle</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C1917"/>
                      </a:solidFill>
                      <a:prstDash val="solid"/>
                      <a:round/>
                      <a:headEnd type="none" w="med" len="med"/>
                      <a:tailEnd type="none" w="med" len="med"/>
                    </a:lnL>
                    <a:lnR w="19050" cap="flat" cmpd="sng" algn="ctr">
                      <a:solidFill>
                        <a:srgbClr val="1C1917"/>
                      </a:solidFill>
                      <a:prstDash val="solid"/>
                      <a:round/>
                      <a:headEnd type="none" w="med" len="med"/>
                      <a:tailEnd type="none" w="med" len="med"/>
                    </a:lnR>
                    <a:lnT w="19050" cap="flat" cmpd="sng" algn="ctr">
                      <a:solidFill>
                        <a:srgbClr val="1C1917"/>
                      </a:solidFill>
                      <a:prstDash val="solid"/>
                      <a:round/>
                      <a:headEnd type="none" w="med" len="med"/>
                      <a:tailEnd type="none" w="med" len="med"/>
                    </a:lnT>
                    <a:lnB w="19050" cap="flat" cmpd="sng" algn="ctr">
                      <a:solidFill>
                        <a:srgbClr val="1C1917"/>
                      </a:solidFill>
                      <a:prstDash val="solid"/>
                      <a:round/>
                      <a:headEnd type="none" w="med" len="med"/>
                      <a:tailEnd type="none" w="med" len="med"/>
                    </a:lnB>
                    <a:solidFill>
                      <a:srgbClr val="FAF8F4"/>
                    </a:solidFill>
                  </a:tcPr>
                </a:tc>
              </a:tr>
              <a:tr h="431800">
                <a:tc>
                  <a:txBody>
                    <a:bodyPr/>
                    <a:lstStyle/>
                    <a:p>
                      <a:pPr algn="l" indent="0" marL="0">
                        <a:buNone/>
                      </a:pPr>
                      <a:r>
                        <a:rPr lang="en-US" sz="1500" b="1" dirty="0">
                          <a:solidFill>
                            <a:srgbClr val="1C1917"/>
                          </a:solidFill>
                          <a:latin typeface="IBM Plex Sans" pitchFamily="34" charset="0"/>
                          <a:ea typeface="IBM Plex Sans" pitchFamily="34" charset="-122"/>
                          <a:cs typeface="IBM Plex Sans" pitchFamily="34" charset="-120"/>
                        </a:rPr>
                        <a:t>Reinforcement</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C1917"/>
                      </a:solidFill>
                      <a:prstDash val="solid"/>
                      <a:round/>
                      <a:headEnd type="none" w="med" len="med"/>
                      <a:tailEnd type="none" w="med" len="med"/>
                    </a:lnL>
                    <a:lnR w="19050" cap="flat" cmpd="sng" algn="ctr">
                      <a:solidFill>
                        <a:srgbClr val="1C1917"/>
                      </a:solidFill>
                      <a:prstDash val="solid"/>
                      <a:round/>
                      <a:headEnd type="none" w="med" len="med"/>
                      <a:tailEnd type="none" w="med" len="med"/>
                    </a:lnR>
                    <a:lnT w="19050" cap="flat" cmpd="sng" algn="ctr">
                      <a:solidFill>
                        <a:srgbClr val="1C1917"/>
                      </a:solidFill>
                      <a:prstDash val="solid"/>
                      <a:round/>
                      <a:headEnd type="none" w="med" len="med"/>
                      <a:tailEnd type="none" w="med" len="med"/>
                    </a:lnT>
                    <a:lnB w="19050" cap="flat" cmpd="sng" algn="ctr">
                      <a:solidFill>
                        <a:srgbClr val="1C1917"/>
                      </a:solidFill>
                      <a:prstDash val="solid"/>
                      <a:round/>
                      <a:headEnd type="none" w="med" len="med"/>
                      <a:tailEnd type="none" w="med" len="med"/>
                    </a:lnB>
                    <a:solidFill>
                      <a:srgbClr val="FAF8F4"/>
                    </a:solidFill>
                  </a:tcPr>
                </a:tc>
                <a:tc>
                  <a:txBody>
                    <a:bodyPr/>
                    <a:lstStyle/>
                    <a:p>
                      <a:pPr algn="l" indent="0" marL="0">
                        <a:buNone/>
                      </a:pPr>
                      <a:r>
                        <a:rPr lang="en-US" sz="1500" dirty="0">
                          <a:solidFill>
                            <a:srgbClr val="1C1917"/>
                          </a:solidFill>
                          <a:latin typeface="IBM Plex Sans" pitchFamily="34" charset="0"/>
                          <a:ea typeface="IBM Plex Sans" pitchFamily="34" charset="-122"/>
                          <a:cs typeface="IBM Plex Sans" pitchFamily="34" charset="-120"/>
                        </a:rPr>
                        <a:t>Suivre l’adoption et communiquer les progrès</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C1917"/>
                      </a:solidFill>
                      <a:prstDash val="solid"/>
                      <a:round/>
                      <a:headEnd type="none" w="med" len="med"/>
                      <a:tailEnd type="none" w="med" len="med"/>
                    </a:lnL>
                    <a:lnR w="19050" cap="flat" cmpd="sng" algn="ctr">
                      <a:solidFill>
                        <a:srgbClr val="1C1917"/>
                      </a:solidFill>
                      <a:prstDash val="solid"/>
                      <a:round/>
                      <a:headEnd type="none" w="med" len="med"/>
                      <a:tailEnd type="none" w="med" len="med"/>
                    </a:lnR>
                    <a:lnT w="19050" cap="flat" cmpd="sng" algn="ctr">
                      <a:solidFill>
                        <a:srgbClr val="1C1917"/>
                      </a:solidFill>
                      <a:prstDash val="solid"/>
                      <a:round/>
                      <a:headEnd type="none" w="med" len="med"/>
                      <a:tailEnd type="none" w="med" len="med"/>
                    </a:lnT>
                    <a:lnB w="19050" cap="flat" cmpd="sng" algn="ctr">
                      <a:solidFill>
                        <a:srgbClr val="1C1917"/>
                      </a:solidFill>
                      <a:prstDash val="solid"/>
                      <a:round/>
                      <a:headEnd type="none" w="med" len="med"/>
                      <a:tailEnd type="none" w="med" len="med"/>
                    </a:lnB>
                    <a:solidFill>
                      <a:srgbClr val="FAF8F4"/>
                    </a:solidFill>
                  </a:tcPr>
                </a:tc>
              </a:tr>
            </a:tbl>
          </a:graphicData>
        </a:graphic>
      </p:graphicFrame>
      <p:sp>
        <p:nvSpPr>
          <p:cNvPr id="10" name="nav:2-s9">
            <a:hlinkClick r:id="rIdNav2" action="ppaction://hlinksldjump"/>
          </p:cNvPr>
          <p:cNvSpPr/>
          <p:nvPr/>
        </p:nvSpPr>
        <p:spPr>
          <a:xfrm>
            <a:off x="10922000" y="254000"/>
            <a:ext cx="457200" cy="457200"/>
          </a:xfrm>
          <a:prstGeom prst="rect">
            <a:avLst/>
          </a:prstGeom>
          <a:solidFill>
            <a:srgbClr val="FFFFFF">
              <a:alpha val="0"/>
            </a:srgbClr>
          </a:solidFill>
          <a:ln/>
        </p:spPr>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1EFEA"/>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1EFEA"/>
          </a:solidFill>
          <a:ln w="19050">
            <a:solidFill>
              <a:srgbClr val="1C1917"/>
            </a:solidFill>
            <a:prstDash val="solid"/>
          </a:ln>
        </p:spPr>
      </p:sp>
      <p:sp>
        <p:nvSpPr>
          <p:cNvPr id="3" name="!!mk-bar"/>
          <p:cNvSpPr/>
          <p:nvPr/>
        </p:nvSpPr>
        <p:spPr>
          <a:xfrm>
            <a:off x="812800" y="6299200"/>
            <a:ext cx="4800600" cy="127000"/>
          </a:xfrm>
          <a:prstGeom prst="rect">
            <a:avLst/>
          </a:prstGeom>
          <a:solidFill>
            <a:srgbClr val="C2570C"/>
          </a:solidFill>
          <a:ln w="19050">
            <a:solidFill>
              <a:srgbClr val="1C1917"/>
            </a:solidFill>
            <a:prstDash val="solid"/>
          </a:ln>
        </p:spPr>
      </p:sp>
      <p:sp>
        <p:nvSpPr>
          <p:cNvPr id="4" name="!!mk-sq"/>
          <p:cNvSpPr/>
          <p:nvPr/>
        </p:nvSpPr>
        <p:spPr>
          <a:xfrm rot="-900000">
            <a:off x="10922000" y="254000"/>
            <a:ext cx="457200" cy="457200"/>
          </a:xfrm>
          <a:prstGeom prst="rect">
            <a:avLst/>
          </a:prstGeom>
          <a:solidFill>
            <a:srgbClr val="C2570C"/>
          </a:solidFill>
          <a:ln w="25400">
            <a:solidFill>
              <a:srgbClr val="1C1917"/>
            </a:solidFill>
            <a:prstDash val="solid"/>
          </a:ln>
          <a:effectLst>
            <a:outerShdw sx="100000" sy="100000" kx="0" ky="0" algn="bl" rotWithShape="0" blurRad="101600" dist="71831" dir="2700000">
              <a:srgbClr val="1C1917">
                <a:alpha val="100000"/>
              </a:srgbClr>
            </a:outerShdw>
          </a:effectLst>
        </p:spPr>
      </p:sp>
      <p:sp>
        <p:nvSpPr>
          <p:cNvPr id="5" name="!!mk-logos"/>
          <p:cNvSpPr/>
          <p:nvPr/>
        </p:nvSpPr>
        <p:spPr>
          <a:xfrm>
            <a:off x="8191500" y="279400"/>
            <a:ext cx="2476500" cy="355600"/>
          </a:xfrm>
          <a:prstGeom prst="rect">
            <a:avLst/>
          </a:prstGeom>
          <a:solidFill>
            <a:srgbClr val="FAF8F4"/>
          </a:solidFill>
          <a:ln w="19050">
            <a:solidFill>
              <a:srgbClr val="1C1917"/>
            </a:solidFill>
            <a:prstDash val="solid"/>
          </a:ln>
          <a:effectLst>
            <a:outerShdw sx="100000" sy="100000" kx="0" ky="0" algn="bl" rotWithShape="0" blurRad="101600" dist="53873" dir="2700000">
              <a:srgbClr val="1C1917">
                <a:alpha val="100000"/>
              </a:srgbClr>
            </a:outerShdw>
          </a:effectLst>
        </p:spPr>
      </p:sp>
      <p:pic>
        <p:nvPicPr>
          <p:cNvPr id="6" name="!!mk-logo-1" descr="Logo VINCI Facilities">    </p:cNvPr>
          <p:cNvPicPr>
            <a:picLocks noChangeAspect="1"/>
          </p:cNvPicPr>
          <p:nvPr/>
        </p:nvPicPr>
        <p:blipFill>
          <a:blip r:embed="rId1"/>
          <a:stretch>
            <a:fillRect/>
          </a:stretch>
        </p:blipFill>
        <p:spPr>
          <a:xfrm>
            <a:off x="8756650" y="330200"/>
            <a:ext cx="762000" cy="254000"/>
          </a:xfrm>
          <a:prstGeom prst="rect">
            <a:avLst/>
          </a:prstGeom>
        </p:spPr>
      </p:pic>
      <p:pic>
        <p:nvPicPr>
          <p:cNvPr id="7" name="!!mk-logo-2" descr="Logo Icam">    </p:cNvPr>
          <p:cNvPicPr>
            <a:picLocks noChangeAspect="1"/>
          </p:cNvPicPr>
          <p:nvPr/>
        </p:nvPicPr>
        <p:blipFill>
          <a:blip r:embed="rId2"/>
          <a:stretch>
            <a:fillRect/>
          </a:stretch>
        </p:blipFill>
        <p:spPr>
          <a:xfrm>
            <a:off x="9671050" y="330200"/>
            <a:ext cx="431800" cy="254000"/>
          </a:xfrm>
          <a:prstGeom prst="rect">
            <a:avLst/>
          </a:prstGeom>
        </p:spPr>
      </p:pic>
      <p:sp>
        <p:nvSpPr>
          <p:cNvPr id="8" name="Text 4-s10"/>
          <p:cNvSpPr txBox="1"/>
          <p:nvPr/>
        </p:nvSpPr>
        <p:spPr>
          <a:xfrm>
            <a:off x="812800" y="812800"/>
            <a:ext cx="10566400" cy="571500"/>
          </a:xfrm>
          <a:prstGeom prst="rect">
            <a:avLst/>
          </a:prstGeom>
          <a:noFill/>
          <a:ln/>
        </p:spPr>
        <p:txBody>
          <a:bodyPr wrap="square" lIns="0" tIns="0" rIns="0" bIns="0" rtlCol="0" anchor="t"/>
          <a:lstStyle/>
          <a:p>
            <a:pPr algn="l" indent="0" marL="0">
              <a:lnSpc>
                <a:spcPct val="87500"/>
              </a:lnSpc>
              <a:buNone/>
            </a:pPr>
            <a:r>
              <a:rPr lang="en-US" sz="3600" b="1" dirty="0">
                <a:solidFill>
                  <a:srgbClr val="1C1917"/>
                </a:solidFill>
                <a:latin typeface="Space Grotesk" pitchFamily="34" charset="0"/>
                <a:ea typeface="Space Grotesk" pitchFamily="34" charset="-122"/>
                <a:cs typeface="Space Grotesk" pitchFamily="34" charset="-120"/>
              </a:rPr>
              <a:t>Trois risques de criticité maximale</a:t>
            </a:r>
            <a:endParaRPr lang="en-US" sz="3600" dirty="0"/>
          </a:p>
        </p:txBody>
      </p:sp>
      <p:sp>
        <p:nvSpPr>
          <p:cNvPr id="9" name="Shape 5-s10"/>
          <p:cNvSpPr/>
          <p:nvPr/>
        </p:nvSpPr>
        <p:spPr>
          <a:xfrm>
            <a:off x="812800" y="1587500"/>
            <a:ext cx="3384550" cy="2730500"/>
          </a:xfrm>
          <a:prstGeom prst="rect">
            <a:avLst/>
          </a:prstGeom>
          <a:solidFill>
            <a:srgbClr val="FAF8F4"/>
          </a:solidFill>
          <a:ln w="25400">
            <a:solidFill>
              <a:srgbClr val="1C1917"/>
            </a:solidFill>
            <a:prstDash val="solid"/>
          </a:ln>
          <a:effectLst>
            <a:outerShdw sx="100000" sy="100000" kx="0" ky="0" algn="bl" rotWithShape="0" blurRad="101600" dist="89789" dir="2700000">
              <a:srgbClr val="1C1917">
                <a:alpha val="100000"/>
              </a:srgbClr>
            </a:outerShdw>
          </a:effectLst>
        </p:spPr>
      </p:sp>
      <p:sp>
        <p:nvSpPr>
          <p:cNvPr id="10" name="Text 6-s10"/>
          <p:cNvSpPr txBox="1"/>
          <p:nvPr/>
        </p:nvSpPr>
        <p:spPr>
          <a:xfrm>
            <a:off x="1041400" y="1816100"/>
            <a:ext cx="2927350" cy="215900"/>
          </a:xfrm>
          <a:prstGeom prst="rect">
            <a:avLst/>
          </a:prstGeom>
          <a:noFill/>
          <a:ln/>
        </p:spPr>
        <p:txBody>
          <a:bodyPr wrap="square" lIns="0" tIns="0" rIns="0" bIns="0" rtlCol="0" anchor="t"/>
          <a:lstStyle/>
          <a:p>
            <a:pPr algn="l" indent="0" marL="0">
              <a:lnSpc>
                <a:spcPct val="104167"/>
              </a:lnSpc>
              <a:buNone/>
            </a:pPr>
            <a:r>
              <a:rPr lang="en-US" sz="1200" b="1" spc="200" kern="0" dirty="0">
                <a:solidFill>
                  <a:srgbClr val="C2570C"/>
                </a:solidFill>
                <a:latin typeface="JetBrains Mono" pitchFamily="34" charset="0"/>
                <a:ea typeface="JetBrains Mono" pitchFamily="34" charset="-122"/>
                <a:cs typeface="JetBrains Mono" pitchFamily="34" charset="-120"/>
              </a:rPr>
              <a:t>RISQUE 01</a:t>
            </a:r>
            <a:endParaRPr lang="en-US" sz="1200" dirty="0"/>
          </a:p>
        </p:txBody>
      </p:sp>
      <p:sp>
        <p:nvSpPr>
          <p:cNvPr id="11" name="Text 7-s10"/>
          <p:cNvSpPr txBox="1"/>
          <p:nvPr/>
        </p:nvSpPr>
        <p:spPr>
          <a:xfrm>
            <a:off x="1041400" y="2133600"/>
            <a:ext cx="2927350" cy="355600"/>
          </a:xfrm>
          <a:prstGeom prst="rect">
            <a:avLst/>
          </a:prstGeom>
          <a:noFill/>
          <a:ln/>
        </p:spPr>
        <p:txBody>
          <a:bodyPr wrap="square" lIns="0" tIns="0" rIns="0" bIns="0" rtlCol="0" anchor="t"/>
          <a:lstStyle/>
          <a:p>
            <a:pPr algn="l" indent="0" marL="0">
              <a:lnSpc>
                <a:spcPct val="104167"/>
              </a:lnSpc>
              <a:buNone/>
            </a:pPr>
            <a:r>
              <a:rPr lang="en-US" sz="1800" b="1" dirty="0">
                <a:solidFill>
                  <a:srgbClr val="1C1917"/>
                </a:solidFill>
                <a:latin typeface="Space Grotesk" pitchFamily="34" charset="0"/>
                <a:ea typeface="Space Grotesk" pitchFamily="34" charset="-122"/>
                <a:cs typeface="Space Grotesk" pitchFamily="34" charset="-120"/>
              </a:rPr>
              <a:t>Instabilité technique</a:t>
            </a:r>
            <a:endParaRPr lang="en-US" sz="1800" dirty="0"/>
          </a:p>
        </p:txBody>
      </p:sp>
      <p:sp>
        <p:nvSpPr>
          <p:cNvPr id="12" name="Text 8-s10"/>
          <p:cNvSpPr txBox="1"/>
          <p:nvPr/>
        </p:nvSpPr>
        <p:spPr>
          <a:xfrm>
            <a:off x="1041400" y="2603500"/>
            <a:ext cx="2927350" cy="1587500"/>
          </a:xfrm>
          <a:prstGeom prst="rect">
            <a:avLst/>
          </a:prstGeom>
          <a:noFill/>
          <a:ln/>
        </p:spPr>
        <p:txBody>
          <a:bodyPr wrap="square" lIns="0" tIns="0" rIns="0" bIns="0" rtlCol="0" anchor="t"/>
          <a:lstStyle/>
          <a:p>
            <a:pPr algn="l" indent="0" marL="0">
              <a:lnSpc>
                <a:spcPct val="108333"/>
              </a:lnSpc>
              <a:buNone/>
            </a:pPr>
            <a:r>
              <a:rPr lang="en-US" sz="1400" dirty="0">
                <a:solidFill>
                  <a:srgbClr val="1C1917"/>
                </a:solidFill>
                <a:latin typeface="IBM Plex Sans" pitchFamily="34" charset="0"/>
                <a:ea typeface="IBM Plex Sans" pitchFamily="34" charset="-122"/>
                <a:cs typeface="IBM Plex Sans" pitchFamily="34" charset="-120"/>
              </a:rPr>
              <a:t>Bugs, lenteurs et problèmes de synchronisation au démarrage de Teepee.</a:t>
            </a:r>
            <a:endParaRPr lang="en-US" sz="1400" dirty="0"/>
          </a:p>
        </p:txBody>
      </p:sp>
      <p:sp>
        <p:nvSpPr>
          <p:cNvPr id="13" name="Shape 9-s10"/>
          <p:cNvSpPr/>
          <p:nvPr/>
        </p:nvSpPr>
        <p:spPr>
          <a:xfrm>
            <a:off x="4400550" y="1587500"/>
            <a:ext cx="3384550" cy="2730500"/>
          </a:xfrm>
          <a:prstGeom prst="rect">
            <a:avLst/>
          </a:prstGeom>
          <a:solidFill>
            <a:srgbClr val="FAF8F4"/>
          </a:solidFill>
          <a:ln w="25400">
            <a:solidFill>
              <a:srgbClr val="1C1917"/>
            </a:solidFill>
            <a:prstDash val="solid"/>
          </a:ln>
          <a:effectLst>
            <a:outerShdw sx="100000" sy="100000" kx="0" ky="0" algn="bl" rotWithShape="0" blurRad="101600" dist="89789" dir="2700000">
              <a:srgbClr val="1C1917">
                <a:alpha val="100000"/>
              </a:srgbClr>
            </a:outerShdw>
          </a:effectLst>
        </p:spPr>
      </p:sp>
      <p:sp>
        <p:nvSpPr>
          <p:cNvPr id="14" name="Text 10-s10"/>
          <p:cNvSpPr txBox="1"/>
          <p:nvPr/>
        </p:nvSpPr>
        <p:spPr>
          <a:xfrm>
            <a:off x="4629150" y="1816100"/>
            <a:ext cx="2927350" cy="215900"/>
          </a:xfrm>
          <a:prstGeom prst="rect">
            <a:avLst/>
          </a:prstGeom>
          <a:noFill/>
          <a:ln/>
        </p:spPr>
        <p:txBody>
          <a:bodyPr wrap="square" lIns="0" tIns="0" rIns="0" bIns="0" rtlCol="0" anchor="t"/>
          <a:lstStyle/>
          <a:p>
            <a:pPr algn="l" indent="0" marL="0">
              <a:lnSpc>
                <a:spcPct val="104167"/>
              </a:lnSpc>
              <a:buNone/>
            </a:pPr>
            <a:r>
              <a:rPr lang="en-US" sz="1200" b="1" spc="200" kern="0" dirty="0">
                <a:solidFill>
                  <a:srgbClr val="C2570C"/>
                </a:solidFill>
                <a:latin typeface="JetBrains Mono" pitchFamily="34" charset="0"/>
                <a:ea typeface="JetBrains Mono" pitchFamily="34" charset="-122"/>
                <a:cs typeface="JetBrains Mono" pitchFamily="34" charset="-120"/>
              </a:rPr>
              <a:t>RISQUE 02</a:t>
            </a:r>
            <a:endParaRPr lang="en-US" sz="1200" dirty="0"/>
          </a:p>
        </p:txBody>
      </p:sp>
      <p:sp>
        <p:nvSpPr>
          <p:cNvPr id="15" name="Text 11-s10"/>
          <p:cNvSpPr txBox="1"/>
          <p:nvPr/>
        </p:nvSpPr>
        <p:spPr>
          <a:xfrm>
            <a:off x="4629150" y="2133600"/>
            <a:ext cx="2927350" cy="355600"/>
          </a:xfrm>
          <a:prstGeom prst="rect">
            <a:avLst/>
          </a:prstGeom>
          <a:noFill/>
          <a:ln/>
        </p:spPr>
        <p:txBody>
          <a:bodyPr wrap="square" lIns="0" tIns="0" rIns="0" bIns="0" rtlCol="0" anchor="t"/>
          <a:lstStyle/>
          <a:p>
            <a:pPr algn="l" indent="0" marL="0">
              <a:lnSpc>
                <a:spcPct val="104167"/>
              </a:lnSpc>
              <a:buNone/>
            </a:pPr>
            <a:r>
              <a:rPr lang="en-US" sz="1800" b="1" dirty="0">
                <a:solidFill>
                  <a:srgbClr val="1C1917"/>
                </a:solidFill>
                <a:latin typeface="Space Grotesk" pitchFamily="34" charset="0"/>
                <a:ea typeface="Space Grotesk" pitchFamily="34" charset="-122"/>
                <a:cs typeface="Space Grotesk" pitchFamily="34" charset="-120"/>
              </a:rPr>
              <a:t>Perte de confiance</a:t>
            </a:r>
            <a:endParaRPr lang="en-US" sz="1800" dirty="0"/>
          </a:p>
        </p:txBody>
      </p:sp>
      <p:sp>
        <p:nvSpPr>
          <p:cNvPr id="16" name="Text 12-s10"/>
          <p:cNvSpPr txBox="1"/>
          <p:nvPr/>
        </p:nvSpPr>
        <p:spPr>
          <a:xfrm>
            <a:off x="4629150" y="2603500"/>
            <a:ext cx="2927350" cy="1587500"/>
          </a:xfrm>
          <a:prstGeom prst="rect">
            <a:avLst/>
          </a:prstGeom>
          <a:noFill/>
          <a:ln/>
        </p:spPr>
        <p:txBody>
          <a:bodyPr wrap="square" lIns="0" tIns="0" rIns="0" bIns="0" rtlCol="0" anchor="t"/>
          <a:lstStyle/>
          <a:p>
            <a:pPr algn="l" indent="0" marL="0">
              <a:lnSpc>
                <a:spcPct val="108333"/>
              </a:lnSpc>
              <a:buNone/>
            </a:pPr>
            <a:r>
              <a:rPr lang="en-US" sz="1400" dirty="0">
                <a:solidFill>
                  <a:srgbClr val="1C1917"/>
                </a:solidFill>
                <a:latin typeface="IBM Plex Sans" pitchFamily="34" charset="0"/>
                <a:ea typeface="IBM Plex Sans" pitchFamily="34" charset="-122"/>
                <a:cs typeface="IBM Plex Sans" pitchFamily="34" charset="-120"/>
              </a:rPr>
              <a:t>Une comparaison défavorable avec Kizeo, que les équipes maîtrisaient.</a:t>
            </a:r>
            <a:endParaRPr lang="en-US" sz="1400" dirty="0"/>
          </a:p>
        </p:txBody>
      </p:sp>
      <p:sp>
        <p:nvSpPr>
          <p:cNvPr id="17" name="Shape 13-s10"/>
          <p:cNvSpPr/>
          <p:nvPr/>
        </p:nvSpPr>
        <p:spPr>
          <a:xfrm>
            <a:off x="7988300" y="1587500"/>
            <a:ext cx="3384550" cy="2730500"/>
          </a:xfrm>
          <a:prstGeom prst="rect">
            <a:avLst/>
          </a:prstGeom>
          <a:solidFill>
            <a:srgbClr val="FAF8F4"/>
          </a:solidFill>
          <a:ln w="25400">
            <a:solidFill>
              <a:srgbClr val="1C1917"/>
            </a:solidFill>
            <a:prstDash val="solid"/>
          </a:ln>
          <a:effectLst>
            <a:outerShdw sx="100000" sy="100000" kx="0" ky="0" algn="bl" rotWithShape="0" blurRad="101600" dist="89789" dir="2700000">
              <a:srgbClr val="1C1917">
                <a:alpha val="100000"/>
              </a:srgbClr>
            </a:outerShdw>
          </a:effectLst>
        </p:spPr>
      </p:sp>
      <p:sp>
        <p:nvSpPr>
          <p:cNvPr id="18" name="Text 14-s10"/>
          <p:cNvSpPr txBox="1"/>
          <p:nvPr/>
        </p:nvSpPr>
        <p:spPr>
          <a:xfrm>
            <a:off x="8216900" y="1816100"/>
            <a:ext cx="2927350" cy="215900"/>
          </a:xfrm>
          <a:prstGeom prst="rect">
            <a:avLst/>
          </a:prstGeom>
          <a:noFill/>
          <a:ln/>
        </p:spPr>
        <p:txBody>
          <a:bodyPr wrap="square" lIns="0" tIns="0" rIns="0" bIns="0" rtlCol="0" anchor="t"/>
          <a:lstStyle/>
          <a:p>
            <a:pPr algn="l" indent="0" marL="0">
              <a:lnSpc>
                <a:spcPct val="104167"/>
              </a:lnSpc>
              <a:buNone/>
            </a:pPr>
            <a:r>
              <a:rPr lang="en-US" sz="1200" b="1" spc="200" kern="0" dirty="0">
                <a:solidFill>
                  <a:srgbClr val="C2570C"/>
                </a:solidFill>
                <a:latin typeface="JetBrains Mono" pitchFamily="34" charset="0"/>
                <a:ea typeface="JetBrains Mono" pitchFamily="34" charset="-122"/>
                <a:cs typeface="JetBrains Mono" pitchFamily="34" charset="-120"/>
              </a:rPr>
              <a:t>RISQUE 03</a:t>
            </a:r>
            <a:endParaRPr lang="en-US" sz="1200" dirty="0"/>
          </a:p>
        </p:txBody>
      </p:sp>
      <p:sp>
        <p:nvSpPr>
          <p:cNvPr id="19" name="Text 15-s10"/>
          <p:cNvSpPr txBox="1"/>
          <p:nvPr/>
        </p:nvSpPr>
        <p:spPr>
          <a:xfrm>
            <a:off x="8216900" y="2133600"/>
            <a:ext cx="2927350" cy="355600"/>
          </a:xfrm>
          <a:prstGeom prst="rect">
            <a:avLst/>
          </a:prstGeom>
          <a:noFill/>
          <a:ln/>
        </p:spPr>
        <p:txBody>
          <a:bodyPr wrap="square" lIns="0" tIns="0" rIns="0" bIns="0" rtlCol="0" anchor="t"/>
          <a:lstStyle/>
          <a:p>
            <a:pPr algn="l" indent="0" marL="0">
              <a:lnSpc>
                <a:spcPct val="104167"/>
              </a:lnSpc>
              <a:buNone/>
            </a:pPr>
            <a:r>
              <a:rPr lang="en-US" sz="1800" b="1" dirty="0">
                <a:solidFill>
                  <a:srgbClr val="1C1917"/>
                </a:solidFill>
                <a:latin typeface="Space Grotesk" pitchFamily="34" charset="0"/>
                <a:ea typeface="Space Grotesk" pitchFamily="34" charset="-122"/>
                <a:cs typeface="Space Grotesk" pitchFamily="34" charset="-120"/>
              </a:rPr>
              <a:t>Perte de données</a:t>
            </a:r>
            <a:endParaRPr lang="en-US" sz="1800" dirty="0"/>
          </a:p>
        </p:txBody>
      </p:sp>
      <p:sp>
        <p:nvSpPr>
          <p:cNvPr id="20" name="Text 16-s10"/>
          <p:cNvSpPr txBox="1"/>
          <p:nvPr/>
        </p:nvSpPr>
        <p:spPr>
          <a:xfrm>
            <a:off x="8216900" y="2603500"/>
            <a:ext cx="2927350" cy="1587500"/>
          </a:xfrm>
          <a:prstGeom prst="rect">
            <a:avLst/>
          </a:prstGeom>
          <a:noFill/>
          <a:ln/>
        </p:spPr>
        <p:txBody>
          <a:bodyPr wrap="square" lIns="0" tIns="0" rIns="0" bIns="0" rtlCol="0" anchor="t"/>
          <a:lstStyle/>
          <a:p>
            <a:pPr algn="l" indent="0" marL="0">
              <a:lnSpc>
                <a:spcPct val="108333"/>
              </a:lnSpc>
              <a:buNone/>
            </a:pPr>
            <a:r>
              <a:rPr lang="en-US" sz="1400" dirty="0">
                <a:solidFill>
                  <a:srgbClr val="1C1917"/>
                </a:solidFill>
                <a:latin typeface="IBM Plex Sans" pitchFamily="34" charset="0"/>
                <a:ea typeface="IBM Plex Sans" pitchFamily="34" charset="-122"/>
                <a:cs typeface="IBM Plex Sans" pitchFamily="34" charset="-120"/>
              </a:rPr>
              <a:t>Des données à préserver pendant la migration, avec Kizeo maintenu temporairement.</a:t>
            </a:r>
            <a:endParaRPr lang="en-US" sz="1400" dirty="0"/>
          </a:p>
        </p:txBody>
      </p:sp>
      <p:sp>
        <p:nvSpPr>
          <p:cNvPr id="21" name="Shape 17-s10"/>
          <p:cNvSpPr/>
          <p:nvPr/>
        </p:nvSpPr>
        <p:spPr>
          <a:xfrm>
            <a:off x="812800" y="4699000"/>
            <a:ext cx="10566400" cy="952500"/>
          </a:xfrm>
          <a:prstGeom prst="rect">
            <a:avLst/>
          </a:prstGeom>
          <a:solidFill>
            <a:srgbClr val="1C1917"/>
          </a:solidFill>
          <a:ln/>
        </p:spPr>
      </p:sp>
      <p:sp>
        <p:nvSpPr>
          <p:cNvPr id="22" name="Text 18-s10"/>
          <p:cNvSpPr txBox="1"/>
          <p:nvPr/>
        </p:nvSpPr>
        <p:spPr>
          <a:xfrm>
            <a:off x="1066800" y="4699000"/>
            <a:ext cx="10058400" cy="952500"/>
          </a:xfrm>
          <a:prstGeom prst="rect">
            <a:avLst/>
          </a:prstGeom>
          <a:noFill/>
          <a:ln/>
        </p:spPr>
        <p:txBody>
          <a:bodyPr wrap="square" lIns="0" tIns="0" rIns="0" bIns="0" rtlCol="0" anchor="ctr"/>
          <a:lstStyle/>
          <a:p>
            <a:pPr algn="l" indent="0" marL="0">
              <a:lnSpc>
                <a:spcPct val="104167"/>
              </a:lnSpc>
              <a:buNone/>
            </a:pPr>
            <a:r>
              <a:rPr lang="en-US" sz="2000" b="1" dirty="0">
                <a:solidFill>
                  <a:srgbClr val="F1EFEA"/>
                </a:solidFill>
                <a:latin typeface="Space Grotesk" pitchFamily="34" charset="0"/>
                <a:ea typeface="Space Grotesk" pitchFamily="34" charset="-122"/>
                <a:cs typeface="Space Grotesk" pitchFamily="34" charset="-120"/>
              </a:rPr>
              <a:t>Réponse : suivre les anomalies, former, accompagner, et sécuriser la coupure d’un mois.</a:t>
            </a:r>
            <a:endParaRPr lang="en-US" sz="2000" dirty="0"/>
          </a:p>
        </p:txBody>
      </p:sp>
      <p:sp>
        <p:nvSpPr>
          <p:cNvPr id="23" name="nav:2-s10">
            <a:hlinkClick r:id="rIdNav2" action="ppaction://hlinksldjump"/>
          </p:cNvPr>
          <p:cNvSpPr/>
          <p:nvPr/>
        </p:nvSpPr>
        <p:spPr>
          <a:xfrm>
            <a:off x="10922000" y="254000"/>
            <a:ext cx="457200" cy="457200"/>
          </a:xfrm>
          <a:prstGeom prst="rect">
            <a:avLst/>
          </a:prstGeom>
          <a:solidFill>
            <a:srgbClr val="FFFFFF">
              <a:alpha val="0"/>
            </a:srgbClr>
          </a:solidFill>
          <a:ln/>
        </p:spPr>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1EFEA"/>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1EFEA"/>
          </a:solidFill>
          <a:ln w="19050">
            <a:solidFill>
              <a:srgbClr val="1C1917"/>
            </a:solidFill>
            <a:prstDash val="solid"/>
          </a:ln>
        </p:spPr>
      </p:sp>
      <p:sp>
        <p:nvSpPr>
          <p:cNvPr id="3" name="!!mk-bar"/>
          <p:cNvSpPr/>
          <p:nvPr/>
        </p:nvSpPr>
        <p:spPr>
          <a:xfrm>
            <a:off x="812800" y="6299200"/>
            <a:ext cx="5283200" cy="127000"/>
          </a:xfrm>
          <a:prstGeom prst="rect">
            <a:avLst/>
          </a:prstGeom>
          <a:solidFill>
            <a:srgbClr val="C2570C"/>
          </a:solidFill>
          <a:ln w="19050">
            <a:solidFill>
              <a:srgbClr val="1C1917"/>
            </a:solidFill>
            <a:prstDash val="solid"/>
          </a:ln>
        </p:spPr>
      </p:sp>
      <p:sp>
        <p:nvSpPr>
          <p:cNvPr id="4" name="!!mk-sq"/>
          <p:cNvSpPr/>
          <p:nvPr/>
        </p:nvSpPr>
        <p:spPr>
          <a:xfrm>
            <a:off x="10922000" y="254000"/>
            <a:ext cx="457200" cy="457200"/>
          </a:xfrm>
          <a:prstGeom prst="rect">
            <a:avLst/>
          </a:prstGeom>
          <a:solidFill>
            <a:srgbClr val="C2570C"/>
          </a:solidFill>
          <a:ln w="25400">
            <a:solidFill>
              <a:srgbClr val="1C1917"/>
            </a:solidFill>
            <a:prstDash val="solid"/>
          </a:ln>
          <a:effectLst>
            <a:outerShdw sx="100000" sy="100000" kx="0" ky="0" algn="bl" rotWithShape="0" blurRad="101600" dist="71831" dir="2700000">
              <a:srgbClr val="1C1917">
                <a:alpha val="100000"/>
              </a:srgbClr>
            </a:outerShdw>
          </a:effectLst>
        </p:spPr>
      </p:sp>
      <p:sp>
        <p:nvSpPr>
          <p:cNvPr id="5" name="!!mk-logos"/>
          <p:cNvSpPr/>
          <p:nvPr/>
        </p:nvSpPr>
        <p:spPr>
          <a:xfrm>
            <a:off x="8191500" y="279400"/>
            <a:ext cx="2476500" cy="355600"/>
          </a:xfrm>
          <a:prstGeom prst="rect">
            <a:avLst/>
          </a:prstGeom>
          <a:solidFill>
            <a:srgbClr val="FAF8F4"/>
          </a:solidFill>
          <a:ln w="19050">
            <a:solidFill>
              <a:srgbClr val="1C1917"/>
            </a:solidFill>
            <a:prstDash val="solid"/>
          </a:ln>
          <a:effectLst>
            <a:outerShdw sx="100000" sy="100000" kx="0" ky="0" algn="bl" rotWithShape="0" blurRad="101600" dist="53873" dir="2700000">
              <a:srgbClr val="1C1917">
                <a:alpha val="100000"/>
              </a:srgbClr>
            </a:outerShdw>
          </a:effectLst>
        </p:spPr>
      </p:sp>
      <p:pic>
        <p:nvPicPr>
          <p:cNvPr id="6" name="!!mk-logo-1" descr="Logo VINCI Facilities">    </p:cNvPr>
          <p:cNvPicPr>
            <a:picLocks noChangeAspect="1"/>
          </p:cNvPicPr>
          <p:nvPr/>
        </p:nvPicPr>
        <p:blipFill>
          <a:blip r:embed="rId1"/>
          <a:stretch>
            <a:fillRect/>
          </a:stretch>
        </p:blipFill>
        <p:spPr>
          <a:xfrm>
            <a:off x="8756650" y="330200"/>
            <a:ext cx="762000" cy="254000"/>
          </a:xfrm>
          <a:prstGeom prst="rect">
            <a:avLst/>
          </a:prstGeom>
        </p:spPr>
      </p:pic>
      <p:pic>
        <p:nvPicPr>
          <p:cNvPr id="7" name="!!mk-logo-2" descr="Logo Icam">    </p:cNvPr>
          <p:cNvPicPr>
            <a:picLocks noChangeAspect="1"/>
          </p:cNvPicPr>
          <p:nvPr/>
        </p:nvPicPr>
        <p:blipFill>
          <a:blip r:embed="rId2"/>
          <a:stretch>
            <a:fillRect/>
          </a:stretch>
        </p:blipFill>
        <p:spPr>
          <a:xfrm>
            <a:off x="9671050" y="330200"/>
            <a:ext cx="431800" cy="254000"/>
          </a:xfrm>
          <a:prstGeom prst="rect">
            <a:avLst/>
          </a:prstGeom>
        </p:spPr>
      </p:pic>
      <p:sp>
        <p:nvSpPr>
          <p:cNvPr id="8" name="Text 4-s11"/>
          <p:cNvSpPr txBox="1"/>
          <p:nvPr/>
        </p:nvSpPr>
        <p:spPr>
          <a:xfrm>
            <a:off x="812800" y="812800"/>
            <a:ext cx="10566400" cy="571500"/>
          </a:xfrm>
          <a:prstGeom prst="rect">
            <a:avLst/>
          </a:prstGeom>
          <a:noFill/>
          <a:ln/>
        </p:spPr>
        <p:txBody>
          <a:bodyPr wrap="square" lIns="0" tIns="0" rIns="0" bIns="0" rtlCol="0" anchor="t"/>
          <a:lstStyle/>
          <a:p>
            <a:pPr algn="l" indent="0" marL="0">
              <a:lnSpc>
                <a:spcPct val="87500"/>
              </a:lnSpc>
              <a:buNone/>
            </a:pPr>
            <a:r>
              <a:rPr lang="en-US" sz="3600" b="1" dirty="0">
                <a:solidFill>
                  <a:srgbClr val="1C1917"/>
                </a:solidFill>
                <a:latin typeface="Space Grotesk" pitchFamily="34" charset="0"/>
                <a:ea typeface="Space Grotesk" pitchFamily="34" charset="-122"/>
                <a:cs typeface="Space Grotesk" pitchFamily="34" charset="-120"/>
              </a:rPr>
              <a:t>Du formulaire papier au terrain</a:t>
            </a:r>
            <a:endParaRPr lang="en-US" sz="3600" dirty="0"/>
          </a:p>
        </p:txBody>
      </p:sp>
      <p:sp>
        <p:nvSpPr>
          <p:cNvPr id="9" name="!!shot-frame"/>
          <p:cNvSpPr/>
          <p:nvPr/>
        </p:nvSpPr>
        <p:spPr>
          <a:xfrm>
            <a:off x="812800" y="1587500"/>
            <a:ext cx="6096000" cy="4044950"/>
          </a:xfrm>
          <a:prstGeom prst="rect">
            <a:avLst/>
          </a:prstGeom>
          <a:solidFill>
            <a:srgbClr val="FAF8F4"/>
          </a:solidFill>
          <a:ln w="25400">
            <a:solidFill>
              <a:srgbClr val="1C1917"/>
            </a:solidFill>
            <a:prstDash val="solid"/>
          </a:ln>
          <a:effectLst>
            <a:outerShdw sx="100000" sy="100000" kx="0" ky="0" algn="bl" rotWithShape="0" blurRad="101600" dist="89789" dir="2700000">
              <a:srgbClr val="1C1917">
                <a:alpha val="100000"/>
              </a:srgbClr>
            </a:outerShdw>
          </a:effectLst>
        </p:spPr>
      </p:sp>
      <p:pic>
        <p:nvPicPr>
          <p:cNvPr id="10" name="!!shot-1" descr="Liste des formulaires Kizeo dans un tableur">    </p:cNvPr>
          <p:cNvPicPr>
            <a:picLocks noChangeAspect="1"/>
          </p:cNvPicPr>
          <p:nvPr/>
        </p:nvPicPr>
        <p:blipFill>
          <a:blip r:embed="rId3"/>
          <a:stretch>
            <a:fillRect/>
          </a:stretch>
        </p:blipFill>
        <p:spPr>
          <a:xfrm>
            <a:off x="838200" y="1612900"/>
            <a:ext cx="6045200" cy="3994150"/>
          </a:xfrm>
          <a:prstGeom prst="rect">
            <a:avLst/>
          </a:prstGeom>
        </p:spPr>
      </p:pic>
      <p:pic>
        <p:nvPicPr>
          <p:cNvPr id="11" name="!!shot-2" descr="Listes de données importées dans Teepee">    </p:cNvPr>
          <p:cNvPicPr>
            <a:picLocks noChangeAspect="1"/>
          </p:cNvPicPr>
          <p:nvPr/>
        </p:nvPicPr>
        <p:blipFill>
          <a:blip r:embed="rId4"/>
          <a:stretch>
            <a:fillRect/>
          </a:stretch>
        </p:blipFill>
        <p:spPr>
          <a:xfrm>
            <a:off x="12700000" y="1612900"/>
            <a:ext cx="6045200" cy="3994150"/>
          </a:xfrm>
          <a:prstGeom prst="rect">
            <a:avLst/>
          </a:prstGeom>
        </p:spPr>
      </p:pic>
      <p:pic>
        <p:nvPicPr>
          <p:cNvPr id="12" name="!!shot-3" descr="Éditeur de formulaire Teepee avec ses composants">    </p:cNvPr>
          <p:cNvPicPr>
            <a:picLocks noChangeAspect="1"/>
          </p:cNvPicPr>
          <p:nvPr/>
        </p:nvPicPr>
        <p:blipFill>
          <a:blip r:embed="rId5"/>
          <a:stretch>
            <a:fillRect/>
          </a:stretch>
        </p:blipFill>
        <p:spPr>
          <a:xfrm>
            <a:off x="12700000" y="1612900"/>
            <a:ext cx="6045200" cy="3994150"/>
          </a:xfrm>
          <a:prstGeom prst="rect">
            <a:avLst/>
          </a:prstGeom>
        </p:spPr>
      </p:pic>
      <p:pic>
        <p:nvPicPr>
          <p:cNvPr id="13" name="!!shot-4" descr="Schéma de workflow Teepee avec envoi de mails">    </p:cNvPr>
          <p:cNvPicPr>
            <a:picLocks noChangeAspect="1"/>
          </p:cNvPicPr>
          <p:nvPr/>
        </p:nvPicPr>
        <p:blipFill>
          <a:blip r:embed="rId6"/>
          <a:stretch>
            <a:fillRect/>
          </a:stretch>
        </p:blipFill>
        <p:spPr>
          <a:xfrm>
            <a:off x="12700000" y="1612900"/>
            <a:ext cx="6045200" cy="3994150"/>
          </a:xfrm>
          <a:prstGeom prst="rect">
            <a:avLst/>
          </a:prstGeom>
        </p:spPr>
      </p:pic>
      <p:pic>
        <p:nvPicPr>
          <p:cNvPr id="14" name="!!shot-5" descr="Application mobile Teepee : liste des formulaires et saisie">    </p:cNvPr>
          <p:cNvPicPr>
            <a:picLocks noChangeAspect="1"/>
          </p:cNvPicPr>
          <p:nvPr/>
        </p:nvPicPr>
        <p:blipFill>
          <a:blip r:embed="rId7"/>
          <a:stretch>
            <a:fillRect/>
          </a:stretch>
        </p:blipFill>
        <p:spPr>
          <a:xfrm>
            <a:off x="12700000" y="1612900"/>
            <a:ext cx="6045200" cy="3994150"/>
          </a:xfrm>
          <a:prstGeom prst="rect">
            <a:avLst/>
          </a:prstGeom>
        </p:spPr>
      </p:pic>
      <p:sp>
        <p:nvSpPr>
          <p:cNvPr id="15" name="!!cap-1"/>
          <p:cNvSpPr txBox="1"/>
          <p:nvPr/>
        </p:nvSpPr>
        <p:spPr>
          <a:xfrm>
            <a:off x="812800" y="5778500"/>
            <a:ext cx="6096000" cy="228600"/>
          </a:xfrm>
          <a:prstGeom prst="rect">
            <a:avLst/>
          </a:prstGeom>
          <a:noFill/>
          <a:ln/>
        </p:spPr>
        <p:txBody>
          <a:bodyPr wrap="square" lIns="0" tIns="0" rIns="0" bIns="0" rtlCol="0" anchor="t"/>
          <a:lstStyle/>
          <a:p>
            <a:pPr algn="l" indent="0" marL="0">
              <a:lnSpc>
                <a:spcPct val="108333"/>
              </a:lnSpc>
              <a:buNone/>
            </a:pPr>
            <a:r>
              <a:rPr lang="en-US" sz="1200" i="1" dirty="0">
                <a:solidFill>
                  <a:srgbClr val="57534E"/>
                </a:solidFill>
                <a:latin typeface="IBM Plex Sans" pitchFamily="34" charset="0"/>
                <a:ea typeface="IBM Plex Sans" pitchFamily="34" charset="-122"/>
                <a:cs typeface="IBM Plex Sans" pitchFamily="34" charset="-120"/>
              </a:rPr>
              <a:t>Figure 2 : cartographie des formulaires Kizeo</a:t>
            </a:r>
            <a:endParaRPr lang="en-US" sz="1200" dirty="0"/>
          </a:p>
        </p:txBody>
      </p:sp>
      <p:sp>
        <p:nvSpPr>
          <p:cNvPr id="16" name="!!cap-2"/>
          <p:cNvSpPr txBox="1"/>
          <p:nvPr/>
        </p:nvSpPr>
        <p:spPr>
          <a:xfrm>
            <a:off x="12700000" y="5778500"/>
            <a:ext cx="6096000" cy="228600"/>
          </a:xfrm>
          <a:prstGeom prst="rect">
            <a:avLst/>
          </a:prstGeom>
          <a:noFill/>
          <a:ln/>
        </p:spPr>
        <p:txBody>
          <a:bodyPr wrap="square" lIns="0" tIns="0" rIns="0" bIns="0" rtlCol="0" anchor="t"/>
          <a:lstStyle/>
          <a:p>
            <a:pPr algn="l" indent="0" marL="0">
              <a:lnSpc>
                <a:spcPct val="108333"/>
              </a:lnSpc>
              <a:buNone/>
            </a:pPr>
            <a:r>
              <a:rPr lang="en-US" sz="1200" i="1" dirty="0">
                <a:solidFill>
                  <a:srgbClr val="57534E"/>
                </a:solidFill>
                <a:latin typeface="IBM Plex Sans" pitchFamily="34" charset="0"/>
                <a:ea typeface="IBM Plex Sans" pitchFamily="34" charset="-122"/>
                <a:cs typeface="IBM Plex Sans" pitchFamily="34" charset="-120"/>
              </a:rPr>
              <a:t>Figure 3 : listes de données importées dans Teepee</a:t>
            </a:r>
            <a:endParaRPr lang="en-US" sz="1200" dirty="0"/>
          </a:p>
        </p:txBody>
      </p:sp>
      <p:sp>
        <p:nvSpPr>
          <p:cNvPr id="17" name="!!cap-3"/>
          <p:cNvSpPr txBox="1"/>
          <p:nvPr/>
        </p:nvSpPr>
        <p:spPr>
          <a:xfrm>
            <a:off x="12700000" y="5778500"/>
            <a:ext cx="6096000" cy="228600"/>
          </a:xfrm>
          <a:prstGeom prst="rect">
            <a:avLst/>
          </a:prstGeom>
          <a:noFill/>
          <a:ln/>
        </p:spPr>
        <p:txBody>
          <a:bodyPr wrap="square" lIns="0" tIns="0" rIns="0" bIns="0" rtlCol="0" anchor="t"/>
          <a:lstStyle/>
          <a:p>
            <a:pPr algn="l" indent="0" marL="0">
              <a:lnSpc>
                <a:spcPct val="108333"/>
              </a:lnSpc>
              <a:buNone/>
            </a:pPr>
            <a:r>
              <a:rPr lang="en-US" sz="1200" i="1" dirty="0">
                <a:solidFill>
                  <a:srgbClr val="57534E"/>
                </a:solidFill>
                <a:latin typeface="IBM Plex Sans" pitchFamily="34" charset="0"/>
                <a:ea typeface="IBM Plex Sans" pitchFamily="34" charset="-122"/>
                <a:cs typeface="IBM Plex Sans" pitchFamily="34" charset="-120"/>
              </a:rPr>
              <a:t>Figure 4 : paramétrage d’un formulaire dans Teepee</a:t>
            </a:r>
            <a:endParaRPr lang="en-US" sz="1200" dirty="0"/>
          </a:p>
        </p:txBody>
      </p:sp>
      <p:sp>
        <p:nvSpPr>
          <p:cNvPr id="18" name="!!cap-4"/>
          <p:cNvSpPr txBox="1"/>
          <p:nvPr/>
        </p:nvSpPr>
        <p:spPr>
          <a:xfrm>
            <a:off x="12700000" y="5778500"/>
            <a:ext cx="6096000" cy="228600"/>
          </a:xfrm>
          <a:prstGeom prst="rect">
            <a:avLst/>
          </a:prstGeom>
          <a:noFill/>
          <a:ln/>
        </p:spPr>
        <p:txBody>
          <a:bodyPr wrap="square" lIns="0" tIns="0" rIns="0" bIns="0" rtlCol="0" anchor="t"/>
          <a:lstStyle/>
          <a:p>
            <a:pPr algn="l" indent="0" marL="0">
              <a:lnSpc>
                <a:spcPct val="108333"/>
              </a:lnSpc>
              <a:buNone/>
            </a:pPr>
            <a:r>
              <a:rPr lang="en-US" sz="1200" i="1" dirty="0">
                <a:solidFill>
                  <a:srgbClr val="57534E"/>
                </a:solidFill>
                <a:latin typeface="IBM Plex Sans" pitchFamily="34" charset="0"/>
                <a:ea typeface="IBM Plex Sans" pitchFamily="34" charset="-122"/>
                <a:cs typeface="IBM Plex Sans" pitchFamily="34" charset="-120"/>
              </a:rPr>
              <a:t>Figure 5 : workflow d’envoi de mails</a:t>
            </a:r>
            <a:endParaRPr lang="en-US" sz="1200" dirty="0"/>
          </a:p>
        </p:txBody>
      </p:sp>
      <p:sp>
        <p:nvSpPr>
          <p:cNvPr id="19" name="!!cap-5"/>
          <p:cNvSpPr txBox="1"/>
          <p:nvPr/>
        </p:nvSpPr>
        <p:spPr>
          <a:xfrm>
            <a:off x="12700000" y="5778500"/>
            <a:ext cx="6096000" cy="228600"/>
          </a:xfrm>
          <a:prstGeom prst="rect">
            <a:avLst/>
          </a:prstGeom>
          <a:noFill/>
          <a:ln/>
        </p:spPr>
        <p:txBody>
          <a:bodyPr wrap="square" lIns="0" tIns="0" rIns="0" bIns="0" rtlCol="0" anchor="t"/>
          <a:lstStyle/>
          <a:p>
            <a:pPr algn="l" indent="0" marL="0">
              <a:lnSpc>
                <a:spcPct val="108333"/>
              </a:lnSpc>
              <a:buNone/>
            </a:pPr>
            <a:r>
              <a:rPr lang="en-US" sz="1200" i="1" dirty="0">
                <a:solidFill>
                  <a:srgbClr val="57534E"/>
                </a:solidFill>
                <a:latin typeface="IBM Plex Sans" pitchFamily="34" charset="0"/>
                <a:ea typeface="IBM Plex Sans" pitchFamily="34" charset="-122"/>
                <a:cs typeface="IBM Plex Sans" pitchFamily="34" charset="-120"/>
              </a:rPr>
              <a:t>Figure 6 : saisie d’un formulaire sur mobile</a:t>
            </a:r>
            <a:endParaRPr lang="en-US" sz="1200" dirty="0"/>
          </a:p>
        </p:txBody>
      </p:sp>
      <p:sp>
        <p:nvSpPr>
          <p:cNvPr id="20" name="!!it-L1"/>
          <p:cNvSpPr txBox="1"/>
          <p:nvPr/>
        </p:nvSpPr>
        <p:spPr>
          <a:xfrm>
            <a:off x="7213600" y="1587500"/>
            <a:ext cx="4165600" cy="215900"/>
          </a:xfrm>
          <a:prstGeom prst="rect">
            <a:avLst/>
          </a:prstGeom>
          <a:noFill/>
          <a:ln/>
        </p:spPr>
        <p:txBody>
          <a:bodyPr wrap="square" lIns="0" tIns="0" rIns="0" bIns="0" rtlCol="0" anchor="t"/>
          <a:lstStyle/>
          <a:p>
            <a:pPr algn="l" indent="0" marL="0">
              <a:lnSpc>
                <a:spcPct val="104167"/>
              </a:lnSpc>
              <a:buNone/>
            </a:pPr>
            <a:r>
              <a:rPr lang="en-US" sz="1200" b="1" spc="200" kern="0" dirty="0">
                <a:solidFill>
                  <a:srgbClr val="C2570C"/>
                </a:solidFill>
                <a:latin typeface="JetBrains Mono" pitchFamily="34" charset="0"/>
                <a:ea typeface="JetBrains Mono" pitchFamily="34" charset="-122"/>
                <a:cs typeface="JetBrains Mono" pitchFamily="34" charset="-120"/>
              </a:rPr>
              <a:t>PRÉPARATION</a:t>
            </a:r>
            <a:endParaRPr lang="en-US" sz="1200" dirty="0"/>
          </a:p>
        </p:txBody>
      </p:sp>
      <p:sp>
        <p:nvSpPr>
          <p:cNvPr id="21" name="!!it-0_0"/>
          <p:cNvSpPr txBox="1"/>
          <p:nvPr/>
        </p:nvSpPr>
        <p:spPr>
          <a:xfrm>
            <a:off x="7213600" y="1879600"/>
            <a:ext cx="4165600" cy="228600"/>
          </a:xfrm>
          <a:prstGeom prst="rect">
            <a:avLst/>
          </a:prstGeom>
          <a:noFill/>
          <a:ln/>
        </p:spPr>
        <p:txBody>
          <a:bodyPr wrap="square" lIns="0" tIns="0" rIns="0" bIns="0" rtlCol="0" anchor="t"/>
          <a:lstStyle/>
          <a:p>
            <a:pPr algn="l" indent="0" marL="0">
              <a:lnSpc>
                <a:spcPct val="108333"/>
              </a:lnSpc>
              <a:buNone/>
            </a:pPr>
            <a:r>
              <a:rPr lang="en-US" sz="1300" b="1" dirty="0">
                <a:solidFill>
                  <a:srgbClr val="C2570C"/>
                </a:solidFill>
                <a:latin typeface="IBM Plex Sans" pitchFamily="34" charset="0"/>
                <a:ea typeface="IBM Plex Sans" pitchFamily="34" charset="-122"/>
                <a:cs typeface="IBM Plex Sans" pitchFamily="34" charset="-120"/>
              </a:rPr>
              <a:t>Cartographie des formulaires</a:t>
            </a:r>
            <a:endParaRPr lang="en-US" sz="1300" dirty="0"/>
          </a:p>
        </p:txBody>
      </p:sp>
      <p:sp>
        <p:nvSpPr>
          <p:cNvPr id="22" name="nav:2-s11">
            <a:hlinkClick r:id="rIdNav2" action="ppaction://hlinksldjump"/>
          </p:cNvPr>
          <p:cNvSpPr/>
          <p:nvPr/>
        </p:nvSpPr>
        <p:spPr>
          <a:xfrm>
            <a:off x="10922000" y="254000"/>
            <a:ext cx="457200" cy="457200"/>
          </a:xfrm>
          <a:prstGeom prst="rect">
            <a:avLst/>
          </a:prstGeom>
          <a:solidFill>
            <a:srgbClr val="FFFFFF">
              <a:alpha val="0"/>
            </a:srgbClr>
          </a:solidFill>
          <a:ln/>
        </p:spPr>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1EFEA"/>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1EFEA"/>
          </a:solidFill>
          <a:ln w="19050">
            <a:solidFill>
              <a:srgbClr val="1C1917"/>
            </a:solidFill>
            <a:prstDash val="solid"/>
          </a:ln>
        </p:spPr>
      </p:sp>
      <p:sp>
        <p:nvSpPr>
          <p:cNvPr id="3" name="!!mk-bar"/>
          <p:cNvSpPr/>
          <p:nvPr/>
        </p:nvSpPr>
        <p:spPr>
          <a:xfrm>
            <a:off x="812800" y="6299200"/>
            <a:ext cx="5765800" cy="127000"/>
          </a:xfrm>
          <a:prstGeom prst="rect">
            <a:avLst/>
          </a:prstGeom>
          <a:solidFill>
            <a:srgbClr val="C2570C"/>
          </a:solidFill>
          <a:ln w="19050">
            <a:solidFill>
              <a:srgbClr val="1C1917"/>
            </a:solidFill>
            <a:prstDash val="solid"/>
          </a:ln>
        </p:spPr>
      </p:sp>
      <p:sp>
        <p:nvSpPr>
          <p:cNvPr id="4" name="!!mk-sq"/>
          <p:cNvSpPr/>
          <p:nvPr/>
        </p:nvSpPr>
        <p:spPr>
          <a:xfrm rot="900000">
            <a:off x="10922000" y="254000"/>
            <a:ext cx="457200" cy="457200"/>
          </a:xfrm>
          <a:prstGeom prst="rect">
            <a:avLst/>
          </a:prstGeom>
          <a:solidFill>
            <a:srgbClr val="C2570C"/>
          </a:solidFill>
          <a:ln w="25400">
            <a:solidFill>
              <a:srgbClr val="1C1917"/>
            </a:solidFill>
            <a:prstDash val="solid"/>
          </a:ln>
          <a:effectLst>
            <a:outerShdw sx="100000" sy="100000" kx="0" ky="0" algn="bl" rotWithShape="0" blurRad="101600" dist="71831" dir="2700000">
              <a:srgbClr val="1C1917">
                <a:alpha val="100000"/>
              </a:srgbClr>
            </a:outerShdw>
          </a:effectLst>
        </p:spPr>
      </p:sp>
      <p:sp>
        <p:nvSpPr>
          <p:cNvPr id="5" name="!!mk-logos"/>
          <p:cNvSpPr/>
          <p:nvPr/>
        </p:nvSpPr>
        <p:spPr>
          <a:xfrm>
            <a:off x="8191500" y="279400"/>
            <a:ext cx="2476500" cy="355600"/>
          </a:xfrm>
          <a:prstGeom prst="rect">
            <a:avLst/>
          </a:prstGeom>
          <a:solidFill>
            <a:srgbClr val="FAF8F4"/>
          </a:solidFill>
          <a:ln w="19050">
            <a:solidFill>
              <a:srgbClr val="1C1917"/>
            </a:solidFill>
            <a:prstDash val="solid"/>
          </a:ln>
          <a:effectLst>
            <a:outerShdw sx="100000" sy="100000" kx="0" ky="0" algn="bl" rotWithShape="0" blurRad="101600" dist="53873" dir="2700000">
              <a:srgbClr val="1C1917">
                <a:alpha val="100000"/>
              </a:srgbClr>
            </a:outerShdw>
          </a:effectLst>
        </p:spPr>
      </p:sp>
      <p:pic>
        <p:nvPicPr>
          <p:cNvPr id="6" name="!!mk-logo-1" descr="Logo VINCI Facilities">    </p:cNvPr>
          <p:cNvPicPr>
            <a:picLocks noChangeAspect="1"/>
          </p:cNvPicPr>
          <p:nvPr/>
        </p:nvPicPr>
        <p:blipFill>
          <a:blip r:embed="rId1"/>
          <a:stretch>
            <a:fillRect/>
          </a:stretch>
        </p:blipFill>
        <p:spPr>
          <a:xfrm>
            <a:off x="8756650" y="330200"/>
            <a:ext cx="762000" cy="254000"/>
          </a:xfrm>
          <a:prstGeom prst="rect">
            <a:avLst/>
          </a:prstGeom>
        </p:spPr>
      </p:pic>
      <p:pic>
        <p:nvPicPr>
          <p:cNvPr id="7" name="!!mk-logo-2" descr="Logo Icam">    </p:cNvPr>
          <p:cNvPicPr>
            <a:picLocks noChangeAspect="1"/>
          </p:cNvPicPr>
          <p:nvPr/>
        </p:nvPicPr>
        <p:blipFill>
          <a:blip r:embed="rId2"/>
          <a:stretch>
            <a:fillRect/>
          </a:stretch>
        </p:blipFill>
        <p:spPr>
          <a:xfrm>
            <a:off x="9671050" y="330200"/>
            <a:ext cx="431800" cy="254000"/>
          </a:xfrm>
          <a:prstGeom prst="rect">
            <a:avLst/>
          </a:prstGeom>
        </p:spPr>
      </p:pic>
      <p:sp>
        <p:nvSpPr>
          <p:cNvPr id="8" name="Text 4-s12"/>
          <p:cNvSpPr txBox="1"/>
          <p:nvPr/>
        </p:nvSpPr>
        <p:spPr>
          <a:xfrm>
            <a:off x="812800" y="812800"/>
            <a:ext cx="10566400" cy="571500"/>
          </a:xfrm>
          <a:prstGeom prst="rect">
            <a:avLst/>
          </a:prstGeom>
          <a:noFill/>
          <a:ln/>
        </p:spPr>
        <p:txBody>
          <a:bodyPr wrap="square" lIns="0" tIns="0" rIns="0" bIns="0" rtlCol="0" anchor="t"/>
          <a:lstStyle/>
          <a:p>
            <a:pPr algn="l" indent="0" marL="0">
              <a:lnSpc>
                <a:spcPct val="87500"/>
              </a:lnSpc>
              <a:buNone/>
            </a:pPr>
            <a:r>
              <a:rPr lang="en-US" sz="3600" b="1" dirty="0">
                <a:solidFill>
                  <a:srgbClr val="1C1917"/>
                </a:solidFill>
                <a:latin typeface="Space Grotesk" pitchFamily="34" charset="0"/>
                <a:ea typeface="Space Grotesk" pitchFamily="34" charset="-122"/>
                <a:cs typeface="Space Grotesk" pitchFamily="34" charset="-120"/>
              </a:rPr>
              <a:t>Du formulaire papier au terrain</a:t>
            </a:r>
            <a:endParaRPr lang="en-US" sz="3600" dirty="0"/>
          </a:p>
        </p:txBody>
      </p:sp>
      <p:sp>
        <p:nvSpPr>
          <p:cNvPr id="9" name="!!shot-frame"/>
          <p:cNvSpPr/>
          <p:nvPr/>
        </p:nvSpPr>
        <p:spPr>
          <a:xfrm>
            <a:off x="812800" y="1587500"/>
            <a:ext cx="6096000" cy="4044950"/>
          </a:xfrm>
          <a:prstGeom prst="rect">
            <a:avLst/>
          </a:prstGeom>
          <a:solidFill>
            <a:srgbClr val="FAF8F4"/>
          </a:solidFill>
          <a:ln w="25400">
            <a:solidFill>
              <a:srgbClr val="1C1917"/>
            </a:solidFill>
            <a:prstDash val="solid"/>
          </a:ln>
          <a:effectLst>
            <a:outerShdw sx="100000" sy="100000" kx="0" ky="0" algn="bl" rotWithShape="0" blurRad="101600" dist="89789" dir="2700000">
              <a:srgbClr val="1C1917">
                <a:alpha val="100000"/>
              </a:srgbClr>
            </a:outerShdw>
          </a:effectLst>
        </p:spPr>
      </p:sp>
      <p:pic>
        <p:nvPicPr>
          <p:cNvPr id="10" name="!!shot-1" descr="Liste des formulaires Kizeo dans un tableur">    </p:cNvPr>
          <p:cNvPicPr>
            <a:picLocks noChangeAspect="1"/>
          </p:cNvPicPr>
          <p:nvPr/>
        </p:nvPicPr>
        <p:blipFill>
          <a:blip r:embed="rId3"/>
          <a:stretch>
            <a:fillRect/>
          </a:stretch>
        </p:blipFill>
        <p:spPr>
          <a:xfrm>
            <a:off x="-6985000" y="1612900"/>
            <a:ext cx="6045200" cy="3994150"/>
          </a:xfrm>
          <a:prstGeom prst="rect">
            <a:avLst/>
          </a:prstGeom>
        </p:spPr>
      </p:pic>
      <p:pic>
        <p:nvPicPr>
          <p:cNvPr id="11" name="!!shot-2" descr="Listes de données importées dans Teepee">    </p:cNvPr>
          <p:cNvPicPr>
            <a:picLocks noChangeAspect="1"/>
          </p:cNvPicPr>
          <p:nvPr/>
        </p:nvPicPr>
        <p:blipFill>
          <a:blip r:embed="rId4"/>
          <a:stretch>
            <a:fillRect/>
          </a:stretch>
        </p:blipFill>
        <p:spPr>
          <a:xfrm>
            <a:off x="838200" y="1612900"/>
            <a:ext cx="6045200" cy="3994150"/>
          </a:xfrm>
          <a:prstGeom prst="rect">
            <a:avLst/>
          </a:prstGeom>
        </p:spPr>
      </p:pic>
      <p:pic>
        <p:nvPicPr>
          <p:cNvPr id="12" name="!!shot-3" descr="Éditeur de formulaire Teepee avec ses composants">    </p:cNvPr>
          <p:cNvPicPr>
            <a:picLocks noChangeAspect="1"/>
          </p:cNvPicPr>
          <p:nvPr/>
        </p:nvPicPr>
        <p:blipFill>
          <a:blip r:embed="rId5"/>
          <a:stretch>
            <a:fillRect/>
          </a:stretch>
        </p:blipFill>
        <p:spPr>
          <a:xfrm>
            <a:off x="12700000" y="1612900"/>
            <a:ext cx="6045200" cy="3994150"/>
          </a:xfrm>
          <a:prstGeom prst="rect">
            <a:avLst/>
          </a:prstGeom>
        </p:spPr>
      </p:pic>
      <p:pic>
        <p:nvPicPr>
          <p:cNvPr id="13" name="!!shot-4" descr="Schéma de workflow Teepee avec envoi de mails">    </p:cNvPr>
          <p:cNvPicPr>
            <a:picLocks noChangeAspect="1"/>
          </p:cNvPicPr>
          <p:nvPr/>
        </p:nvPicPr>
        <p:blipFill>
          <a:blip r:embed="rId6"/>
          <a:stretch>
            <a:fillRect/>
          </a:stretch>
        </p:blipFill>
        <p:spPr>
          <a:xfrm>
            <a:off x="12700000" y="1612900"/>
            <a:ext cx="6045200" cy="3994150"/>
          </a:xfrm>
          <a:prstGeom prst="rect">
            <a:avLst/>
          </a:prstGeom>
        </p:spPr>
      </p:pic>
      <p:pic>
        <p:nvPicPr>
          <p:cNvPr id="14" name="!!shot-5" descr="Application mobile Teepee : liste des formulaires et saisie">    </p:cNvPr>
          <p:cNvPicPr>
            <a:picLocks noChangeAspect="1"/>
          </p:cNvPicPr>
          <p:nvPr/>
        </p:nvPicPr>
        <p:blipFill>
          <a:blip r:embed="rId7"/>
          <a:stretch>
            <a:fillRect/>
          </a:stretch>
        </p:blipFill>
        <p:spPr>
          <a:xfrm>
            <a:off x="12700000" y="1612900"/>
            <a:ext cx="6045200" cy="3994150"/>
          </a:xfrm>
          <a:prstGeom prst="rect">
            <a:avLst/>
          </a:prstGeom>
        </p:spPr>
      </p:pic>
      <p:sp>
        <p:nvSpPr>
          <p:cNvPr id="15" name="!!cap-1"/>
          <p:cNvSpPr txBox="1"/>
          <p:nvPr/>
        </p:nvSpPr>
        <p:spPr>
          <a:xfrm>
            <a:off x="-6985000" y="5778500"/>
            <a:ext cx="6096000" cy="228600"/>
          </a:xfrm>
          <a:prstGeom prst="rect">
            <a:avLst/>
          </a:prstGeom>
          <a:noFill/>
          <a:ln/>
        </p:spPr>
        <p:txBody>
          <a:bodyPr wrap="square" lIns="0" tIns="0" rIns="0" bIns="0" rtlCol="0" anchor="t"/>
          <a:lstStyle/>
          <a:p>
            <a:pPr algn="l" indent="0" marL="0">
              <a:lnSpc>
                <a:spcPct val="108333"/>
              </a:lnSpc>
              <a:buNone/>
            </a:pPr>
            <a:r>
              <a:rPr lang="en-US" sz="1200" i="1" dirty="0">
                <a:solidFill>
                  <a:srgbClr val="57534E"/>
                </a:solidFill>
                <a:latin typeface="IBM Plex Sans" pitchFamily="34" charset="0"/>
                <a:ea typeface="IBM Plex Sans" pitchFamily="34" charset="-122"/>
                <a:cs typeface="IBM Plex Sans" pitchFamily="34" charset="-120"/>
              </a:rPr>
              <a:t>Figure 2 : cartographie des formulaires Kizeo</a:t>
            </a:r>
            <a:endParaRPr lang="en-US" sz="1200" dirty="0"/>
          </a:p>
        </p:txBody>
      </p:sp>
      <p:sp>
        <p:nvSpPr>
          <p:cNvPr id="16" name="!!cap-2"/>
          <p:cNvSpPr txBox="1"/>
          <p:nvPr/>
        </p:nvSpPr>
        <p:spPr>
          <a:xfrm>
            <a:off x="812800" y="5778500"/>
            <a:ext cx="6096000" cy="228600"/>
          </a:xfrm>
          <a:prstGeom prst="rect">
            <a:avLst/>
          </a:prstGeom>
          <a:noFill/>
          <a:ln/>
        </p:spPr>
        <p:txBody>
          <a:bodyPr wrap="square" lIns="0" tIns="0" rIns="0" bIns="0" rtlCol="0" anchor="t"/>
          <a:lstStyle/>
          <a:p>
            <a:pPr algn="l" indent="0" marL="0">
              <a:lnSpc>
                <a:spcPct val="108333"/>
              </a:lnSpc>
              <a:buNone/>
            </a:pPr>
            <a:r>
              <a:rPr lang="en-US" sz="1200" i="1" dirty="0">
                <a:solidFill>
                  <a:srgbClr val="57534E"/>
                </a:solidFill>
                <a:latin typeface="IBM Plex Sans" pitchFamily="34" charset="0"/>
                <a:ea typeface="IBM Plex Sans" pitchFamily="34" charset="-122"/>
                <a:cs typeface="IBM Plex Sans" pitchFamily="34" charset="-120"/>
              </a:rPr>
              <a:t>Figure 3 : listes de données importées dans Teepee</a:t>
            </a:r>
            <a:endParaRPr lang="en-US" sz="1200" dirty="0"/>
          </a:p>
        </p:txBody>
      </p:sp>
      <p:sp>
        <p:nvSpPr>
          <p:cNvPr id="17" name="!!cap-3"/>
          <p:cNvSpPr txBox="1"/>
          <p:nvPr/>
        </p:nvSpPr>
        <p:spPr>
          <a:xfrm>
            <a:off x="12700000" y="5778500"/>
            <a:ext cx="6096000" cy="228600"/>
          </a:xfrm>
          <a:prstGeom prst="rect">
            <a:avLst/>
          </a:prstGeom>
          <a:noFill/>
          <a:ln/>
        </p:spPr>
        <p:txBody>
          <a:bodyPr wrap="square" lIns="0" tIns="0" rIns="0" bIns="0" rtlCol="0" anchor="t"/>
          <a:lstStyle/>
          <a:p>
            <a:pPr algn="l" indent="0" marL="0">
              <a:lnSpc>
                <a:spcPct val="108333"/>
              </a:lnSpc>
              <a:buNone/>
            </a:pPr>
            <a:r>
              <a:rPr lang="en-US" sz="1200" i="1" dirty="0">
                <a:solidFill>
                  <a:srgbClr val="57534E"/>
                </a:solidFill>
                <a:latin typeface="IBM Plex Sans" pitchFamily="34" charset="0"/>
                <a:ea typeface="IBM Plex Sans" pitchFamily="34" charset="-122"/>
                <a:cs typeface="IBM Plex Sans" pitchFamily="34" charset="-120"/>
              </a:rPr>
              <a:t>Figure 4 : paramétrage d’un formulaire dans Teepee</a:t>
            </a:r>
            <a:endParaRPr lang="en-US" sz="1200" dirty="0"/>
          </a:p>
        </p:txBody>
      </p:sp>
      <p:sp>
        <p:nvSpPr>
          <p:cNvPr id="18" name="!!cap-4"/>
          <p:cNvSpPr txBox="1"/>
          <p:nvPr/>
        </p:nvSpPr>
        <p:spPr>
          <a:xfrm>
            <a:off x="12700000" y="5778500"/>
            <a:ext cx="6096000" cy="228600"/>
          </a:xfrm>
          <a:prstGeom prst="rect">
            <a:avLst/>
          </a:prstGeom>
          <a:noFill/>
          <a:ln/>
        </p:spPr>
        <p:txBody>
          <a:bodyPr wrap="square" lIns="0" tIns="0" rIns="0" bIns="0" rtlCol="0" anchor="t"/>
          <a:lstStyle/>
          <a:p>
            <a:pPr algn="l" indent="0" marL="0">
              <a:lnSpc>
                <a:spcPct val="108333"/>
              </a:lnSpc>
              <a:buNone/>
            </a:pPr>
            <a:r>
              <a:rPr lang="en-US" sz="1200" i="1" dirty="0">
                <a:solidFill>
                  <a:srgbClr val="57534E"/>
                </a:solidFill>
                <a:latin typeface="IBM Plex Sans" pitchFamily="34" charset="0"/>
                <a:ea typeface="IBM Plex Sans" pitchFamily="34" charset="-122"/>
                <a:cs typeface="IBM Plex Sans" pitchFamily="34" charset="-120"/>
              </a:rPr>
              <a:t>Figure 5 : workflow d’envoi de mails</a:t>
            </a:r>
            <a:endParaRPr lang="en-US" sz="1200" dirty="0"/>
          </a:p>
        </p:txBody>
      </p:sp>
      <p:sp>
        <p:nvSpPr>
          <p:cNvPr id="19" name="!!cap-5"/>
          <p:cNvSpPr txBox="1"/>
          <p:nvPr/>
        </p:nvSpPr>
        <p:spPr>
          <a:xfrm>
            <a:off x="12700000" y="5778500"/>
            <a:ext cx="6096000" cy="228600"/>
          </a:xfrm>
          <a:prstGeom prst="rect">
            <a:avLst/>
          </a:prstGeom>
          <a:noFill/>
          <a:ln/>
        </p:spPr>
        <p:txBody>
          <a:bodyPr wrap="square" lIns="0" tIns="0" rIns="0" bIns="0" rtlCol="0" anchor="t"/>
          <a:lstStyle/>
          <a:p>
            <a:pPr algn="l" indent="0" marL="0">
              <a:lnSpc>
                <a:spcPct val="108333"/>
              </a:lnSpc>
              <a:buNone/>
            </a:pPr>
            <a:r>
              <a:rPr lang="en-US" sz="1200" i="1" dirty="0">
                <a:solidFill>
                  <a:srgbClr val="57534E"/>
                </a:solidFill>
                <a:latin typeface="IBM Plex Sans" pitchFamily="34" charset="0"/>
                <a:ea typeface="IBM Plex Sans" pitchFamily="34" charset="-122"/>
                <a:cs typeface="IBM Plex Sans" pitchFamily="34" charset="-120"/>
              </a:rPr>
              <a:t>Figure 6 : saisie d’un formulaire sur mobile</a:t>
            </a:r>
            <a:endParaRPr lang="en-US" sz="1200" dirty="0"/>
          </a:p>
        </p:txBody>
      </p:sp>
      <p:sp>
        <p:nvSpPr>
          <p:cNvPr id="20" name="!!it-L1"/>
          <p:cNvSpPr txBox="1"/>
          <p:nvPr/>
        </p:nvSpPr>
        <p:spPr>
          <a:xfrm>
            <a:off x="7213600" y="1587500"/>
            <a:ext cx="4165600" cy="215900"/>
          </a:xfrm>
          <a:prstGeom prst="rect">
            <a:avLst/>
          </a:prstGeom>
          <a:noFill/>
          <a:ln/>
        </p:spPr>
        <p:txBody>
          <a:bodyPr wrap="square" lIns="0" tIns="0" rIns="0" bIns="0" rtlCol="0" anchor="t"/>
          <a:lstStyle/>
          <a:p>
            <a:pPr algn="l" indent="0" marL="0">
              <a:lnSpc>
                <a:spcPct val="104167"/>
              </a:lnSpc>
              <a:buNone/>
            </a:pPr>
            <a:r>
              <a:rPr lang="en-US" sz="1200" b="1" spc="200" kern="0" dirty="0">
                <a:solidFill>
                  <a:srgbClr val="C2570C"/>
                </a:solidFill>
                <a:latin typeface="JetBrains Mono" pitchFamily="34" charset="0"/>
                <a:ea typeface="JetBrains Mono" pitchFamily="34" charset="-122"/>
                <a:cs typeface="JetBrains Mono" pitchFamily="34" charset="-120"/>
              </a:rPr>
              <a:t>PRÉPARATION</a:t>
            </a:r>
            <a:endParaRPr lang="en-US" sz="1200" dirty="0"/>
          </a:p>
        </p:txBody>
      </p:sp>
      <p:sp>
        <p:nvSpPr>
          <p:cNvPr id="21" name="!!it-0_0"/>
          <p:cNvSpPr txBox="1"/>
          <p:nvPr/>
        </p:nvSpPr>
        <p:spPr>
          <a:xfrm>
            <a:off x="7213600" y="1879600"/>
            <a:ext cx="4165600" cy="228600"/>
          </a:xfrm>
          <a:prstGeom prst="rect">
            <a:avLst/>
          </a:prstGeom>
          <a:noFill/>
          <a:ln/>
        </p:spPr>
        <p:txBody>
          <a:bodyPr wrap="square" lIns="0" tIns="0" rIns="0" bIns="0" rtlCol="0" anchor="t"/>
          <a:lstStyle/>
          <a:p>
            <a:pPr algn="l" indent="0" marL="0">
              <a:lnSpc>
                <a:spcPct val="108333"/>
              </a:lnSpc>
              <a:buNone/>
            </a:pPr>
            <a:r>
              <a:rPr lang="en-US" sz="1300" dirty="0">
                <a:solidFill>
                  <a:srgbClr val="1C1917"/>
                </a:solidFill>
                <a:latin typeface="IBM Plex Sans" pitchFamily="34" charset="0"/>
                <a:ea typeface="IBM Plex Sans" pitchFamily="34" charset="-122"/>
                <a:cs typeface="IBM Plex Sans" pitchFamily="34" charset="-120"/>
              </a:rPr>
              <a:t>Cartographie des formulaires</a:t>
            </a:r>
            <a:endParaRPr lang="en-US" sz="1300" dirty="0"/>
          </a:p>
        </p:txBody>
      </p:sp>
      <p:sp>
        <p:nvSpPr>
          <p:cNvPr id="22" name="!!it-0_1"/>
          <p:cNvSpPr txBox="1"/>
          <p:nvPr/>
        </p:nvSpPr>
        <p:spPr>
          <a:xfrm>
            <a:off x="7213600" y="2133600"/>
            <a:ext cx="4165600" cy="228600"/>
          </a:xfrm>
          <a:prstGeom prst="rect">
            <a:avLst/>
          </a:prstGeom>
          <a:noFill/>
          <a:ln/>
        </p:spPr>
        <p:txBody>
          <a:bodyPr wrap="square" lIns="0" tIns="0" rIns="0" bIns="0" rtlCol="0" anchor="t"/>
          <a:lstStyle/>
          <a:p>
            <a:pPr algn="l" indent="0" marL="0">
              <a:lnSpc>
                <a:spcPct val="108333"/>
              </a:lnSpc>
              <a:buNone/>
            </a:pPr>
            <a:r>
              <a:rPr lang="en-US" sz="1300" b="1" dirty="0">
                <a:solidFill>
                  <a:srgbClr val="C2570C"/>
                </a:solidFill>
                <a:latin typeface="IBM Plex Sans" pitchFamily="34" charset="0"/>
                <a:ea typeface="IBM Plex Sans" pitchFamily="34" charset="-122"/>
                <a:cs typeface="IBM Plex Sans" pitchFamily="34" charset="-120"/>
              </a:rPr>
              <a:t>Import des données</a:t>
            </a:r>
            <a:endParaRPr lang="en-US" sz="1300" dirty="0"/>
          </a:p>
        </p:txBody>
      </p:sp>
      <p:sp>
        <p:nvSpPr>
          <p:cNvPr id="23" name="nav:2-s12">
            <a:hlinkClick r:id="rIdNav2" action="ppaction://hlinksldjump"/>
          </p:cNvPr>
          <p:cNvSpPr/>
          <p:nvPr/>
        </p:nvSpPr>
        <p:spPr>
          <a:xfrm>
            <a:off x="10922000" y="254000"/>
            <a:ext cx="457200" cy="457200"/>
          </a:xfrm>
          <a:prstGeom prst="rect">
            <a:avLst/>
          </a:prstGeom>
          <a:solidFill>
            <a:srgbClr val="FFFFFF">
              <a:alpha val="0"/>
            </a:srgbClr>
          </a:solidFill>
          <a:ln/>
        </p:spPr>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1EFEA"/>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1EFEA"/>
          </a:solidFill>
          <a:ln w="19050">
            <a:solidFill>
              <a:srgbClr val="1C1917"/>
            </a:solidFill>
            <a:prstDash val="solid"/>
          </a:ln>
        </p:spPr>
      </p:sp>
      <p:sp>
        <p:nvSpPr>
          <p:cNvPr id="3" name="!!mk-bar"/>
          <p:cNvSpPr/>
          <p:nvPr/>
        </p:nvSpPr>
        <p:spPr>
          <a:xfrm>
            <a:off x="812800" y="6299200"/>
            <a:ext cx="6242050" cy="127000"/>
          </a:xfrm>
          <a:prstGeom prst="rect">
            <a:avLst/>
          </a:prstGeom>
          <a:solidFill>
            <a:srgbClr val="C2570C"/>
          </a:solidFill>
          <a:ln w="19050">
            <a:solidFill>
              <a:srgbClr val="1C1917"/>
            </a:solidFill>
            <a:prstDash val="solid"/>
          </a:ln>
        </p:spPr>
      </p:sp>
      <p:sp>
        <p:nvSpPr>
          <p:cNvPr id="4" name="!!mk-sq"/>
          <p:cNvSpPr/>
          <p:nvPr/>
        </p:nvSpPr>
        <p:spPr>
          <a:xfrm rot="-900000">
            <a:off x="10922000" y="254000"/>
            <a:ext cx="457200" cy="457200"/>
          </a:xfrm>
          <a:prstGeom prst="rect">
            <a:avLst/>
          </a:prstGeom>
          <a:solidFill>
            <a:srgbClr val="C2570C"/>
          </a:solidFill>
          <a:ln w="25400">
            <a:solidFill>
              <a:srgbClr val="1C1917"/>
            </a:solidFill>
            <a:prstDash val="solid"/>
          </a:ln>
          <a:effectLst>
            <a:outerShdw sx="100000" sy="100000" kx="0" ky="0" algn="bl" rotWithShape="0" blurRad="101600" dist="71831" dir="2700000">
              <a:srgbClr val="1C1917">
                <a:alpha val="100000"/>
              </a:srgbClr>
            </a:outerShdw>
          </a:effectLst>
        </p:spPr>
      </p:sp>
      <p:sp>
        <p:nvSpPr>
          <p:cNvPr id="5" name="!!mk-logos"/>
          <p:cNvSpPr/>
          <p:nvPr/>
        </p:nvSpPr>
        <p:spPr>
          <a:xfrm>
            <a:off x="8191500" y="279400"/>
            <a:ext cx="2476500" cy="355600"/>
          </a:xfrm>
          <a:prstGeom prst="rect">
            <a:avLst/>
          </a:prstGeom>
          <a:solidFill>
            <a:srgbClr val="FAF8F4"/>
          </a:solidFill>
          <a:ln w="19050">
            <a:solidFill>
              <a:srgbClr val="1C1917"/>
            </a:solidFill>
            <a:prstDash val="solid"/>
          </a:ln>
          <a:effectLst>
            <a:outerShdw sx="100000" sy="100000" kx="0" ky="0" algn="bl" rotWithShape="0" blurRad="101600" dist="53873" dir="2700000">
              <a:srgbClr val="1C1917">
                <a:alpha val="100000"/>
              </a:srgbClr>
            </a:outerShdw>
          </a:effectLst>
        </p:spPr>
      </p:sp>
      <p:pic>
        <p:nvPicPr>
          <p:cNvPr id="6" name="!!mk-logo-1" descr="Logo VINCI Facilities">    </p:cNvPr>
          <p:cNvPicPr>
            <a:picLocks noChangeAspect="1"/>
          </p:cNvPicPr>
          <p:nvPr/>
        </p:nvPicPr>
        <p:blipFill>
          <a:blip r:embed="rId1"/>
          <a:stretch>
            <a:fillRect/>
          </a:stretch>
        </p:blipFill>
        <p:spPr>
          <a:xfrm>
            <a:off x="8756650" y="330200"/>
            <a:ext cx="762000" cy="254000"/>
          </a:xfrm>
          <a:prstGeom prst="rect">
            <a:avLst/>
          </a:prstGeom>
        </p:spPr>
      </p:pic>
      <p:pic>
        <p:nvPicPr>
          <p:cNvPr id="7" name="!!mk-logo-2" descr="Logo Icam">    </p:cNvPr>
          <p:cNvPicPr>
            <a:picLocks noChangeAspect="1"/>
          </p:cNvPicPr>
          <p:nvPr/>
        </p:nvPicPr>
        <p:blipFill>
          <a:blip r:embed="rId2"/>
          <a:stretch>
            <a:fillRect/>
          </a:stretch>
        </p:blipFill>
        <p:spPr>
          <a:xfrm>
            <a:off x="9671050" y="330200"/>
            <a:ext cx="431800" cy="254000"/>
          </a:xfrm>
          <a:prstGeom prst="rect">
            <a:avLst/>
          </a:prstGeom>
        </p:spPr>
      </p:pic>
      <p:sp>
        <p:nvSpPr>
          <p:cNvPr id="8" name="Text 4-s13"/>
          <p:cNvSpPr txBox="1"/>
          <p:nvPr/>
        </p:nvSpPr>
        <p:spPr>
          <a:xfrm>
            <a:off x="812800" y="812800"/>
            <a:ext cx="10566400" cy="571500"/>
          </a:xfrm>
          <a:prstGeom prst="rect">
            <a:avLst/>
          </a:prstGeom>
          <a:noFill/>
          <a:ln/>
        </p:spPr>
        <p:txBody>
          <a:bodyPr wrap="square" lIns="0" tIns="0" rIns="0" bIns="0" rtlCol="0" anchor="t"/>
          <a:lstStyle/>
          <a:p>
            <a:pPr algn="l" indent="0" marL="0">
              <a:lnSpc>
                <a:spcPct val="87500"/>
              </a:lnSpc>
              <a:buNone/>
            </a:pPr>
            <a:r>
              <a:rPr lang="en-US" sz="3600" b="1" dirty="0">
                <a:solidFill>
                  <a:srgbClr val="1C1917"/>
                </a:solidFill>
                <a:latin typeface="Space Grotesk" pitchFamily="34" charset="0"/>
                <a:ea typeface="Space Grotesk" pitchFamily="34" charset="-122"/>
                <a:cs typeface="Space Grotesk" pitchFamily="34" charset="-120"/>
              </a:rPr>
              <a:t>Du formulaire papier au terrain</a:t>
            </a:r>
            <a:endParaRPr lang="en-US" sz="3600" dirty="0"/>
          </a:p>
        </p:txBody>
      </p:sp>
      <p:sp>
        <p:nvSpPr>
          <p:cNvPr id="9" name="!!shot-frame"/>
          <p:cNvSpPr/>
          <p:nvPr/>
        </p:nvSpPr>
        <p:spPr>
          <a:xfrm>
            <a:off x="812800" y="1587500"/>
            <a:ext cx="6096000" cy="4044950"/>
          </a:xfrm>
          <a:prstGeom prst="rect">
            <a:avLst/>
          </a:prstGeom>
          <a:solidFill>
            <a:srgbClr val="FAF8F4"/>
          </a:solidFill>
          <a:ln w="25400">
            <a:solidFill>
              <a:srgbClr val="1C1917"/>
            </a:solidFill>
            <a:prstDash val="solid"/>
          </a:ln>
          <a:effectLst>
            <a:outerShdw sx="100000" sy="100000" kx="0" ky="0" algn="bl" rotWithShape="0" blurRad="101600" dist="89789" dir="2700000">
              <a:srgbClr val="1C1917">
                <a:alpha val="100000"/>
              </a:srgbClr>
            </a:outerShdw>
          </a:effectLst>
        </p:spPr>
      </p:sp>
      <p:pic>
        <p:nvPicPr>
          <p:cNvPr id="10" name="!!shot-1" descr="Liste des formulaires Kizeo dans un tableur">    </p:cNvPr>
          <p:cNvPicPr>
            <a:picLocks noChangeAspect="1"/>
          </p:cNvPicPr>
          <p:nvPr/>
        </p:nvPicPr>
        <p:blipFill>
          <a:blip r:embed="rId3"/>
          <a:stretch>
            <a:fillRect/>
          </a:stretch>
        </p:blipFill>
        <p:spPr>
          <a:xfrm>
            <a:off x="-6985000" y="1612900"/>
            <a:ext cx="6045200" cy="3994150"/>
          </a:xfrm>
          <a:prstGeom prst="rect">
            <a:avLst/>
          </a:prstGeom>
        </p:spPr>
      </p:pic>
      <p:pic>
        <p:nvPicPr>
          <p:cNvPr id="11" name="!!shot-2" descr="Listes de données importées dans Teepee">    </p:cNvPr>
          <p:cNvPicPr>
            <a:picLocks noChangeAspect="1"/>
          </p:cNvPicPr>
          <p:nvPr/>
        </p:nvPicPr>
        <p:blipFill>
          <a:blip r:embed="rId4"/>
          <a:stretch>
            <a:fillRect/>
          </a:stretch>
        </p:blipFill>
        <p:spPr>
          <a:xfrm>
            <a:off x="-6985000" y="1612900"/>
            <a:ext cx="6045200" cy="3994150"/>
          </a:xfrm>
          <a:prstGeom prst="rect">
            <a:avLst/>
          </a:prstGeom>
        </p:spPr>
      </p:pic>
      <p:pic>
        <p:nvPicPr>
          <p:cNvPr id="12" name="!!shot-3" descr="Éditeur de formulaire Teepee avec ses composants">    </p:cNvPr>
          <p:cNvPicPr>
            <a:picLocks noChangeAspect="1"/>
          </p:cNvPicPr>
          <p:nvPr/>
        </p:nvPicPr>
        <p:blipFill>
          <a:blip r:embed="rId5"/>
          <a:stretch>
            <a:fillRect/>
          </a:stretch>
        </p:blipFill>
        <p:spPr>
          <a:xfrm>
            <a:off x="838200" y="1612900"/>
            <a:ext cx="6045200" cy="3994150"/>
          </a:xfrm>
          <a:prstGeom prst="rect">
            <a:avLst/>
          </a:prstGeom>
        </p:spPr>
      </p:pic>
      <p:pic>
        <p:nvPicPr>
          <p:cNvPr id="13" name="!!shot-4" descr="Schéma de workflow Teepee avec envoi de mails">    </p:cNvPr>
          <p:cNvPicPr>
            <a:picLocks noChangeAspect="1"/>
          </p:cNvPicPr>
          <p:nvPr/>
        </p:nvPicPr>
        <p:blipFill>
          <a:blip r:embed="rId6"/>
          <a:stretch>
            <a:fillRect/>
          </a:stretch>
        </p:blipFill>
        <p:spPr>
          <a:xfrm>
            <a:off x="12700000" y="1612900"/>
            <a:ext cx="6045200" cy="3994150"/>
          </a:xfrm>
          <a:prstGeom prst="rect">
            <a:avLst/>
          </a:prstGeom>
        </p:spPr>
      </p:pic>
      <p:pic>
        <p:nvPicPr>
          <p:cNvPr id="14" name="!!shot-5" descr="Application mobile Teepee : liste des formulaires et saisie">    </p:cNvPr>
          <p:cNvPicPr>
            <a:picLocks noChangeAspect="1"/>
          </p:cNvPicPr>
          <p:nvPr/>
        </p:nvPicPr>
        <p:blipFill>
          <a:blip r:embed="rId7"/>
          <a:stretch>
            <a:fillRect/>
          </a:stretch>
        </p:blipFill>
        <p:spPr>
          <a:xfrm>
            <a:off x="12700000" y="1612900"/>
            <a:ext cx="6045200" cy="3994150"/>
          </a:xfrm>
          <a:prstGeom prst="rect">
            <a:avLst/>
          </a:prstGeom>
        </p:spPr>
      </p:pic>
      <p:sp>
        <p:nvSpPr>
          <p:cNvPr id="15" name="!!cap-1"/>
          <p:cNvSpPr txBox="1"/>
          <p:nvPr/>
        </p:nvSpPr>
        <p:spPr>
          <a:xfrm>
            <a:off x="-6985000" y="5778500"/>
            <a:ext cx="6096000" cy="228600"/>
          </a:xfrm>
          <a:prstGeom prst="rect">
            <a:avLst/>
          </a:prstGeom>
          <a:noFill/>
          <a:ln/>
        </p:spPr>
        <p:txBody>
          <a:bodyPr wrap="square" lIns="0" tIns="0" rIns="0" bIns="0" rtlCol="0" anchor="t"/>
          <a:lstStyle/>
          <a:p>
            <a:pPr algn="l" indent="0" marL="0">
              <a:lnSpc>
                <a:spcPct val="108333"/>
              </a:lnSpc>
              <a:buNone/>
            </a:pPr>
            <a:r>
              <a:rPr lang="en-US" sz="1200" i="1" dirty="0">
                <a:solidFill>
                  <a:srgbClr val="57534E"/>
                </a:solidFill>
                <a:latin typeface="IBM Plex Sans" pitchFamily="34" charset="0"/>
                <a:ea typeface="IBM Plex Sans" pitchFamily="34" charset="-122"/>
                <a:cs typeface="IBM Plex Sans" pitchFamily="34" charset="-120"/>
              </a:rPr>
              <a:t>Figure 2 : cartographie des formulaires Kizeo</a:t>
            </a:r>
            <a:endParaRPr lang="en-US" sz="1200" dirty="0"/>
          </a:p>
        </p:txBody>
      </p:sp>
      <p:sp>
        <p:nvSpPr>
          <p:cNvPr id="16" name="!!cap-2"/>
          <p:cNvSpPr txBox="1"/>
          <p:nvPr/>
        </p:nvSpPr>
        <p:spPr>
          <a:xfrm>
            <a:off x="-6985000" y="5778500"/>
            <a:ext cx="6096000" cy="228600"/>
          </a:xfrm>
          <a:prstGeom prst="rect">
            <a:avLst/>
          </a:prstGeom>
          <a:noFill/>
          <a:ln/>
        </p:spPr>
        <p:txBody>
          <a:bodyPr wrap="square" lIns="0" tIns="0" rIns="0" bIns="0" rtlCol="0" anchor="t"/>
          <a:lstStyle/>
          <a:p>
            <a:pPr algn="l" indent="0" marL="0">
              <a:lnSpc>
                <a:spcPct val="108333"/>
              </a:lnSpc>
              <a:buNone/>
            </a:pPr>
            <a:r>
              <a:rPr lang="en-US" sz="1200" i="1" dirty="0">
                <a:solidFill>
                  <a:srgbClr val="57534E"/>
                </a:solidFill>
                <a:latin typeface="IBM Plex Sans" pitchFamily="34" charset="0"/>
                <a:ea typeface="IBM Plex Sans" pitchFamily="34" charset="-122"/>
                <a:cs typeface="IBM Plex Sans" pitchFamily="34" charset="-120"/>
              </a:rPr>
              <a:t>Figure 3 : listes de données importées dans Teepee</a:t>
            </a:r>
            <a:endParaRPr lang="en-US" sz="1200" dirty="0"/>
          </a:p>
        </p:txBody>
      </p:sp>
      <p:sp>
        <p:nvSpPr>
          <p:cNvPr id="17" name="!!cap-3"/>
          <p:cNvSpPr txBox="1"/>
          <p:nvPr/>
        </p:nvSpPr>
        <p:spPr>
          <a:xfrm>
            <a:off x="812800" y="5778500"/>
            <a:ext cx="6096000" cy="228600"/>
          </a:xfrm>
          <a:prstGeom prst="rect">
            <a:avLst/>
          </a:prstGeom>
          <a:noFill/>
          <a:ln/>
        </p:spPr>
        <p:txBody>
          <a:bodyPr wrap="square" lIns="0" tIns="0" rIns="0" bIns="0" rtlCol="0" anchor="t"/>
          <a:lstStyle/>
          <a:p>
            <a:pPr algn="l" indent="0" marL="0">
              <a:lnSpc>
                <a:spcPct val="108333"/>
              </a:lnSpc>
              <a:buNone/>
            </a:pPr>
            <a:r>
              <a:rPr lang="en-US" sz="1200" i="1" dirty="0">
                <a:solidFill>
                  <a:srgbClr val="57534E"/>
                </a:solidFill>
                <a:latin typeface="IBM Plex Sans" pitchFamily="34" charset="0"/>
                <a:ea typeface="IBM Plex Sans" pitchFamily="34" charset="-122"/>
                <a:cs typeface="IBM Plex Sans" pitchFamily="34" charset="-120"/>
              </a:rPr>
              <a:t>Figure 4 : paramétrage d’un formulaire dans Teepee</a:t>
            </a:r>
            <a:endParaRPr lang="en-US" sz="1200" dirty="0"/>
          </a:p>
        </p:txBody>
      </p:sp>
      <p:sp>
        <p:nvSpPr>
          <p:cNvPr id="18" name="!!cap-4"/>
          <p:cNvSpPr txBox="1"/>
          <p:nvPr/>
        </p:nvSpPr>
        <p:spPr>
          <a:xfrm>
            <a:off x="12700000" y="5778500"/>
            <a:ext cx="6096000" cy="228600"/>
          </a:xfrm>
          <a:prstGeom prst="rect">
            <a:avLst/>
          </a:prstGeom>
          <a:noFill/>
          <a:ln/>
        </p:spPr>
        <p:txBody>
          <a:bodyPr wrap="square" lIns="0" tIns="0" rIns="0" bIns="0" rtlCol="0" anchor="t"/>
          <a:lstStyle/>
          <a:p>
            <a:pPr algn="l" indent="0" marL="0">
              <a:lnSpc>
                <a:spcPct val="108333"/>
              </a:lnSpc>
              <a:buNone/>
            </a:pPr>
            <a:r>
              <a:rPr lang="en-US" sz="1200" i="1" dirty="0">
                <a:solidFill>
                  <a:srgbClr val="57534E"/>
                </a:solidFill>
                <a:latin typeface="IBM Plex Sans" pitchFamily="34" charset="0"/>
                <a:ea typeface="IBM Plex Sans" pitchFamily="34" charset="-122"/>
                <a:cs typeface="IBM Plex Sans" pitchFamily="34" charset="-120"/>
              </a:rPr>
              <a:t>Figure 5 : workflow d’envoi de mails</a:t>
            </a:r>
            <a:endParaRPr lang="en-US" sz="1200" dirty="0"/>
          </a:p>
        </p:txBody>
      </p:sp>
      <p:sp>
        <p:nvSpPr>
          <p:cNvPr id="19" name="!!cap-5"/>
          <p:cNvSpPr txBox="1"/>
          <p:nvPr/>
        </p:nvSpPr>
        <p:spPr>
          <a:xfrm>
            <a:off x="12700000" y="5778500"/>
            <a:ext cx="6096000" cy="228600"/>
          </a:xfrm>
          <a:prstGeom prst="rect">
            <a:avLst/>
          </a:prstGeom>
          <a:noFill/>
          <a:ln/>
        </p:spPr>
        <p:txBody>
          <a:bodyPr wrap="square" lIns="0" tIns="0" rIns="0" bIns="0" rtlCol="0" anchor="t"/>
          <a:lstStyle/>
          <a:p>
            <a:pPr algn="l" indent="0" marL="0">
              <a:lnSpc>
                <a:spcPct val="108333"/>
              </a:lnSpc>
              <a:buNone/>
            </a:pPr>
            <a:r>
              <a:rPr lang="en-US" sz="1200" i="1" dirty="0">
                <a:solidFill>
                  <a:srgbClr val="57534E"/>
                </a:solidFill>
                <a:latin typeface="IBM Plex Sans" pitchFamily="34" charset="0"/>
                <a:ea typeface="IBM Plex Sans" pitchFamily="34" charset="-122"/>
                <a:cs typeface="IBM Plex Sans" pitchFamily="34" charset="-120"/>
              </a:rPr>
              <a:t>Figure 6 : saisie d’un formulaire sur mobile</a:t>
            </a:r>
            <a:endParaRPr lang="en-US" sz="1200" dirty="0"/>
          </a:p>
        </p:txBody>
      </p:sp>
      <p:sp>
        <p:nvSpPr>
          <p:cNvPr id="20" name="!!it-L1"/>
          <p:cNvSpPr txBox="1"/>
          <p:nvPr/>
        </p:nvSpPr>
        <p:spPr>
          <a:xfrm>
            <a:off x="7213600" y="1587500"/>
            <a:ext cx="4165600" cy="215900"/>
          </a:xfrm>
          <a:prstGeom prst="rect">
            <a:avLst/>
          </a:prstGeom>
          <a:noFill/>
          <a:ln/>
        </p:spPr>
        <p:txBody>
          <a:bodyPr wrap="square" lIns="0" tIns="0" rIns="0" bIns="0" rtlCol="0" anchor="t"/>
          <a:lstStyle/>
          <a:p>
            <a:pPr algn="l" indent="0" marL="0">
              <a:lnSpc>
                <a:spcPct val="104167"/>
              </a:lnSpc>
              <a:buNone/>
            </a:pPr>
            <a:r>
              <a:rPr lang="en-US" sz="1200" b="1" spc="200" kern="0" dirty="0">
                <a:solidFill>
                  <a:srgbClr val="C2570C"/>
                </a:solidFill>
                <a:latin typeface="JetBrains Mono" pitchFamily="34" charset="0"/>
                <a:ea typeface="JetBrains Mono" pitchFamily="34" charset="-122"/>
                <a:cs typeface="JetBrains Mono" pitchFamily="34" charset="-120"/>
              </a:rPr>
              <a:t>PRÉPARATION</a:t>
            </a:r>
            <a:endParaRPr lang="en-US" sz="1200" dirty="0"/>
          </a:p>
        </p:txBody>
      </p:sp>
      <p:sp>
        <p:nvSpPr>
          <p:cNvPr id="21" name="!!it-0_0"/>
          <p:cNvSpPr txBox="1"/>
          <p:nvPr/>
        </p:nvSpPr>
        <p:spPr>
          <a:xfrm>
            <a:off x="7213600" y="1879600"/>
            <a:ext cx="4165600" cy="228600"/>
          </a:xfrm>
          <a:prstGeom prst="rect">
            <a:avLst/>
          </a:prstGeom>
          <a:noFill/>
          <a:ln/>
        </p:spPr>
        <p:txBody>
          <a:bodyPr wrap="square" lIns="0" tIns="0" rIns="0" bIns="0" rtlCol="0" anchor="t"/>
          <a:lstStyle/>
          <a:p>
            <a:pPr algn="l" indent="0" marL="0">
              <a:lnSpc>
                <a:spcPct val="108333"/>
              </a:lnSpc>
              <a:buNone/>
            </a:pPr>
            <a:r>
              <a:rPr lang="en-US" sz="1300" dirty="0">
                <a:solidFill>
                  <a:srgbClr val="1C1917"/>
                </a:solidFill>
                <a:latin typeface="IBM Plex Sans" pitchFamily="34" charset="0"/>
                <a:ea typeface="IBM Plex Sans" pitchFamily="34" charset="-122"/>
                <a:cs typeface="IBM Plex Sans" pitchFamily="34" charset="-120"/>
              </a:rPr>
              <a:t>Cartographie des formulaires</a:t>
            </a:r>
            <a:endParaRPr lang="en-US" sz="1300" dirty="0"/>
          </a:p>
        </p:txBody>
      </p:sp>
      <p:sp>
        <p:nvSpPr>
          <p:cNvPr id="22" name="!!it-0_1"/>
          <p:cNvSpPr txBox="1"/>
          <p:nvPr/>
        </p:nvSpPr>
        <p:spPr>
          <a:xfrm>
            <a:off x="7213600" y="2133600"/>
            <a:ext cx="4165600" cy="228600"/>
          </a:xfrm>
          <a:prstGeom prst="rect">
            <a:avLst/>
          </a:prstGeom>
          <a:noFill/>
          <a:ln/>
        </p:spPr>
        <p:txBody>
          <a:bodyPr wrap="square" lIns="0" tIns="0" rIns="0" bIns="0" rtlCol="0" anchor="t"/>
          <a:lstStyle/>
          <a:p>
            <a:pPr algn="l" indent="0" marL="0">
              <a:lnSpc>
                <a:spcPct val="108333"/>
              </a:lnSpc>
              <a:buNone/>
            </a:pPr>
            <a:r>
              <a:rPr lang="en-US" sz="1300" dirty="0">
                <a:solidFill>
                  <a:srgbClr val="1C1917"/>
                </a:solidFill>
                <a:latin typeface="IBM Plex Sans" pitchFamily="34" charset="0"/>
                <a:ea typeface="IBM Plex Sans" pitchFamily="34" charset="-122"/>
                <a:cs typeface="IBM Plex Sans" pitchFamily="34" charset="-120"/>
              </a:rPr>
              <a:t>Import des données</a:t>
            </a:r>
            <a:endParaRPr lang="en-US" sz="1300" dirty="0"/>
          </a:p>
        </p:txBody>
      </p:sp>
      <p:sp>
        <p:nvSpPr>
          <p:cNvPr id="23" name="!!it-L2"/>
          <p:cNvSpPr txBox="1"/>
          <p:nvPr/>
        </p:nvSpPr>
        <p:spPr>
          <a:xfrm>
            <a:off x="7213600" y="2501900"/>
            <a:ext cx="4165600" cy="215900"/>
          </a:xfrm>
          <a:prstGeom prst="rect">
            <a:avLst/>
          </a:prstGeom>
          <a:noFill/>
          <a:ln/>
        </p:spPr>
        <p:txBody>
          <a:bodyPr wrap="square" lIns="0" tIns="0" rIns="0" bIns="0" rtlCol="0" anchor="t"/>
          <a:lstStyle/>
          <a:p>
            <a:pPr algn="l" indent="0" marL="0">
              <a:lnSpc>
                <a:spcPct val="104167"/>
              </a:lnSpc>
              <a:buNone/>
            </a:pPr>
            <a:r>
              <a:rPr lang="en-US" sz="1200" b="1" spc="200" kern="0" dirty="0">
                <a:solidFill>
                  <a:srgbClr val="C2570C"/>
                </a:solidFill>
                <a:latin typeface="JetBrains Mono" pitchFamily="34" charset="0"/>
                <a:ea typeface="JetBrains Mono" pitchFamily="34" charset="-122"/>
                <a:cs typeface="JetBrains Mono" pitchFamily="34" charset="-120"/>
              </a:rPr>
              <a:t>PARAMÉTRAGE</a:t>
            </a:r>
            <a:endParaRPr lang="en-US" sz="1200" dirty="0"/>
          </a:p>
        </p:txBody>
      </p:sp>
      <p:sp>
        <p:nvSpPr>
          <p:cNvPr id="24" name="!!it-1_0"/>
          <p:cNvSpPr txBox="1"/>
          <p:nvPr/>
        </p:nvSpPr>
        <p:spPr>
          <a:xfrm>
            <a:off x="7213600" y="2794000"/>
            <a:ext cx="4165600" cy="228600"/>
          </a:xfrm>
          <a:prstGeom prst="rect">
            <a:avLst/>
          </a:prstGeom>
          <a:noFill/>
          <a:ln/>
        </p:spPr>
        <p:txBody>
          <a:bodyPr wrap="square" lIns="0" tIns="0" rIns="0" bIns="0" rtlCol="0" anchor="t"/>
          <a:lstStyle/>
          <a:p>
            <a:pPr algn="l" indent="0" marL="0">
              <a:lnSpc>
                <a:spcPct val="108333"/>
              </a:lnSpc>
              <a:buNone/>
            </a:pPr>
            <a:r>
              <a:rPr lang="en-US" sz="1300" b="1" dirty="0">
                <a:solidFill>
                  <a:srgbClr val="C2570C"/>
                </a:solidFill>
                <a:latin typeface="IBM Plex Sans" pitchFamily="34" charset="0"/>
                <a:ea typeface="IBM Plex Sans" pitchFamily="34" charset="-122"/>
                <a:cs typeface="IBM Plex Sans" pitchFamily="34" charset="-120"/>
              </a:rPr>
              <a:t>Formulaires Teepee</a:t>
            </a:r>
            <a:endParaRPr lang="en-US" sz="1300" dirty="0"/>
          </a:p>
        </p:txBody>
      </p:sp>
      <p:sp>
        <p:nvSpPr>
          <p:cNvPr id="25" name="nav:2-s13">
            <a:hlinkClick r:id="rIdNav2" action="ppaction://hlinksldjump"/>
          </p:cNvPr>
          <p:cNvSpPr/>
          <p:nvPr/>
        </p:nvSpPr>
        <p:spPr>
          <a:xfrm>
            <a:off x="10922000" y="254000"/>
            <a:ext cx="457200" cy="457200"/>
          </a:xfrm>
          <a:prstGeom prst="rect">
            <a:avLst/>
          </a:prstGeom>
          <a:solidFill>
            <a:srgbClr val="FFFFFF">
              <a:alpha val="0"/>
            </a:srgbClr>
          </a:solidFill>
          <a:ln/>
        </p:spPr>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1EFEA"/>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1EFEA"/>
          </a:solidFill>
          <a:ln w="19050">
            <a:solidFill>
              <a:srgbClr val="1C1917"/>
            </a:solidFill>
            <a:prstDash val="solid"/>
          </a:ln>
        </p:spPr>
      </p:sp>
      <p:sp>
        <p:nvSpPr>
          <p:cNvPr id="3" name="!!mk-bar"/>
          <p:cNvSpPr/>
          <p:nvPr/>
        </p:nvSpPr>
        <p:spPr>
          <a:xfrm>
            <a:off x="812800" y="6299200"/>
            <a:ext cx="6724650" cy="127000"/>
          </a:xfrm>
          <a:prstGeom prst="rect">
            <a:avLst/>
          </a:prstGeom>
          <a:solidFill>
            <a:srgbClr val="C2570C"/>
          </a:solidFill>
          <a:ln w="19050">
            <a:solidFill>
              <a:srgbClr val="1C1917"/>
            </a:solidFill>
            <a:prstDash val="solid"/>
          </a:ln>
        </p:spPr>
      </p:sp>
      <p:sp>
        <p:nvSpPr>
          <p:cNvPr id="4" name="!!mk-sq"/>
          <p:cNvSpPr/>
          <p:nvPr/>
        </p:nvSpPr>
        <p:spPr>
          <a:xfrm>
            <a:off x="10922000" y="254000"/>
            <a:ext cx="457200" cy="457200"/>
          </a:xfrm>
          <a:prstGeom prst="rect">
            <a:avLst/>
          </a:prstGeom>
          <a:solidFill>
            <a:srgbClr val="C2570C"/>
          </a:solidFill>
          <a:ln w="25400">
            <a:solidFill>
              <a:srgbClr val="1C1917"/>
            </a:solidFill>
            <a:prstDash val="solid"/>
          </a:ln>
          <a:effectLst>
            <a:outerShdw sx="100000" sy="100000" kx="0" ky="0" algn="bl" rotWithShape="0" blurRad="101600" dist="71831" dir="2700000">
              <a:srgbClr val="1C1917">
                <a:alpha val="100000"/>
              </a:srgbClr>
            </a:outerShdw>
          </a:effectLst>
        </p:spPr>
      </p:sp>
      <p:sp>
        <p:nvSpPr>
          <p:cNvPr id="5" name="!!mk-logos"/>
          <p:cNvSpPr/>
          <p:nvPr/>
        </p:nvSpPr>
        <p:spPr>
          <a:xfrm>
            <a:off x="8191500" y="279400"/>
            <a:ext cx="2476500" cy="355600"/>
          </a:xfrm>
          <a:prstGeom prst="rect">
            <a:avLst/>
          </a:prstGeom>
          <a:solidFill>
            <a:srgbClr val="FAF8F4"/>
          </a:solidFill>
          <a:ln w="19050">
            <a:solidFill>
              <a:srgbClr val="1C1917"/>
            </a:solidFill>
            <a:prstDash val="solid"/>
          </a:ln>
          <a:effectLst>
            <a:outerShdw sx="100000" sy="100000" kx="0" ky="0" algn="bl" rotWithShape="0" blurRad="101600" dist="53873" dir="2700000">
              <a:srgbClr val="1C1917">
                <a:alpha val="100000"/>
              </a:srgbClr>
            </a:outerShdw>
          </a:effectLst>
        </p:spPr>
      </p:sp>
      <p:pic>
        <p:nvPicPr>
          <p:cNvPr id="6" name="!!mk-logo-1" descr="Logo VINCI Facilities">    </p:cNvPr>
          <p:cNvPicPr>
            <a:picLocks noChangeAspect="1"/>
          </p:cNvPicPr>
          <p:nvPr/>
        </p:nvPicPr>
        <p:blipFill>
          <a:blip r:embed="rId1"/>
          <a:stretch>
            <a:fillRect/>
          </a:stretch>
        </p:blipFill>
        <p:spPr>
          <a:xfrm>
            <a:off x="8756650" y="330200"/>
            <a:ext cx="762000" cy="254000"/>
          </a:xfrm>
          <a:prstGeom prst="rect">
            <a:avLst/>
          </a:prstGeom>
        </p:spPr>
      </p:pic>
      <p:pic>
        <p:nvPicPr>
          <p:cNvPr id="7" name="!!mk-logo-2" descr="Logo Icam">    </p:cNvPr>
          <p:cNvPicPr>
            <a:picLocks noChangeAspect="1"/>
          </p:cNvPicPr>
          <p:nvPr/>
        </p:nvPicPr>
        <p:blipFill>
          <a:blip r:embed="rId2"/>
          <a:stretch>
            <a:fillRect/>
          </a:stretch>
        </p:blipFill>
        <p:spPr>
          <a:xfrm>
            <a:off x="9671050" y="330200"/>
            <a:ext cx="431800" cy="254000"/>
          </a:xfrm>
          <a:prstGeom prst="rect">
            <a:avLst/>
          </a:prstGeom>
        </p:spPr>
      </p:pic>
      <p:sp>
        <p:nvSpPr>
          <p:cNvPr id="8" name="Text 4-s14"/>
          <p:cNvSpPr txBox="1"/>
          <p:nvPr/>
        </p:nvSpPr>
        <p:spPr>
          <a:xfrm>
            <a:off x="812800" y="812800"/>
            <a:ext cx="10566400" cy="571500"/>
          </a:xfrm>
          <a:prstGeom prst="rect">
            <a:avLst/>
          </a:prstGeom>
          <a:noFill/>
          <a:ln/>
        </p:spPr>
        <p:txBody>
          <a:bodyPr wrap="square" lIns="0" tIns="0" rIns="0" bIns="0" rtlCol="0" anchor="t"/>
          <a:lstStyle/>
          <a:p>
            <a:pPr algn="l" indent="0" marL="0">
              <a:lnSpc>
                <a:spcPct val="87500"/>
              </a:lnSpc>
              <a:buNone/>
            </a:pPr>
            <a:r>
              <a:rPr lang="en-US" sz="3600" b="1" dirty="0">
                <a:solidFill>
                  <a:srgbClr val="1C1917"/>
                </a:solidFill>
                <a:latin typeface="Space Grotesk" pitchFamily="34" charset="0"/>
                <a:ea typeface="Space Grotesk" pitchFamily="34" charset="-122"/>
                <a:cs typeface="Space Grotesk" pitchFamily="34" charset="-120"/>
              </a:rPr>
              <a:t>Du formulaire papier au terrain</a:t>
            </a:r>
            <a:endParaRPr lang="en-US" sz="3600" dirty="0"/>
          </a:p>
        </p:txBody>
      </p:sp>
      <p:sp>
        <p:nvSpPr>
          <p:cNvPr id="9" name="!!shot-frame"/>
          <p:cNvSpPr/>
          <p:nvPr/>
        </p:nvSpPr>
        <p:spPr>
          <a:xfrm>
            <a:off x="812800" y="1587500"/>
            <a:ext cx="6096000" cy="4044950"/>
          </a:xfrm>
          <a:prstGeom prst="rect">
            <a:avLst/>
          </a:prstGeom>
          <a:solidFill>
            <a:srgbClr val="FAF8F4"/>
          </a:solidFill>
          <a:ln w="25400">
            <a:solidFill>
              <a:srgbClr val="1C1917"/>
            </a:solidFill>
            <a:prstDash val="solid"/>
          </a:ln>
          <a:effectLst>
            <a:outerShdw sx="100000" sy="100000" kx="0" ky="0" algn="bl" rotWithShape="0" blurRad="101600" dist="89789" dir="2700000">
              <a:srgbClr val="1C1917">
                <a:alpha val="100000"/>
              </a:srgbClr>
            </a:outerShdw>
          </a:effectLst>
        </p:spPr>
      </p:sp>
      <p:pic>
        <p:nvPicPr>
          <p:cNvPr id="10" name="!!shot-1" descr="Liste des formulaires Kizeo dans un tableur">    </p:cNvPr>
          <p:cNvPicPr>
            <a:picLocks noChangeAspect="1"/>
          </p:cNvPicPr>
          <p:nvPr/>
        </p:nvPicPr>
        <p:blipFill>
          <a:blip r:embed="rId3"/>
          <a:stretch>
            <a:fillRect/>
          </a:stretch>
        </p:blipFill>
        <p:spPr>
          <a:xfrm>
            <a:off x="-6985000" y="1612900"/>
            <a:ext cx="6045200" cy="3994150"/>
          </a:xfrm>
          <a:prstGeom prst="rect">
            <a:avLst/>
          </a:prstGeom>
        </p:spPr>
      </p:pic>
      <p:pic>
        <p:nvPicPr>
          <p:cNvPr id="11" name="!!shot-2" descr="Listes de données importées dans Teepee">    </p:cNvPr>
          <p:cNvPicPr>
            <a:picLocks noChangeAspect="1"/>
          </p:cNvPicPr>
          <p:nvPr/>
        </p:nvPicPr>
        <p:blipFill>
          <a:blip r:embed="rId4"/>
          <a:stretch>
            <a:fillRect/>
          </a:stretch>
        </p:blipFill>
        <p:spPr>
          <a:xfrm>
            <a:off x="-6985000" y="1612900"/>
            <a:ext cx="6045200" cy="3994150"/>
          </a:xfrm>
          <a:prstGeom prst="rect">
            <a:avLst/>
          </a:prstGeom>
        </p:spPr>
      </p:pic>
      <p:pic>
        <p:nvPicPr>
          <p:cNvPr id="12" name="!!shot-3" descr="Éditeur de formulaire Teepee avec ses composants">    </p:cNvPr>
          <p:cNvPicPr>
            <a:picLocks noChangeAspect="1"/>
          </p:cNvPicPr>
          <p:nvPr/>
        </p:nvPicPr>
        <p:blipFill>
          <a:blip r:embed="rId5"/>
          <a:stretch>
            <a:fillRect/>
          </a:stretch>
        </p:blipFill>
        <p:spPr>
          <a:xfrm>
            <a:off x="-6985000" y="1612900"/>
            <a:ext cx="6045200" cy="3994150"/>
          </a:xfrm>
          <a:prstGeom prst="rect">
            <a:avLst/>
          </a:prstGeom>
        </p:spPr>
      </p:pic>
      <p:pic>
        <p:nvPicPr>
          <p:cNvPr id="13" name="!!shot-4" descr="Schéma de workflow Teepee avec envoi de mails">    </p:cNvPr>
          <p:cNvPicPr>
            <a:picLocks noChangeAspect="1"/>
          </p:cNvPicPr>
          <p:nvPr/>
        </p:nvPicPr>
        <p:blipFill>
          <a:blip r:embed="rId6"/>
          <a:stretch>
            <a:fillRect/>
          </a:stretch>
        </p:blipFill>
        <p:spPr>
          <a:xfrm>
            <a:off x="838200" y="1612900"/>
            <a:ext cx="6045200" cy="3994150"/>
          </a:xfrm>
          <a:prstGeom prst="rect">
            <a:avLst/>
          </a:prstGeom>
        </p:spPr>
      </p:pic>
      <p:pic>
        <p:nvPicPr>
          <p:cNvPr id="14" name="!!shot-5" descr="Application mobile Teepee : liste des formulaires et saisie">    </p:cNvPr>
          <p:cNvPicPr>
            <a:picLocks noChangeAspect="1"/>
          </p:cNvPicPr>
          <p:nvPr/>
        </p:nvPicPr>
        <p:blipFill>
          <a:blip r:embed="rId7"/>
          <a:stretch>
            <a:fillRect/>
          </a:stretch>
        </p:blipFill>
        <p:spPr>
          <a:xfrm>
            <a:off x="12700000" y="1612900"/>
            <a:ext cx="6045200" cy="3994150"/>
          </a:xfrm>
          <a:prstGeom prst="rect">
            <a:avLst/>
          </a:prstGeom>
        </p:spPr>
      </p:pic>
      <p:sp>
        <p:nvSpPr>
          <p:cNvPr id="15" name="!!cap-1"/>
          <p:cNvSpPr txBox="1"/>
          <p:nvPr/>
        </p:nvSpPr>
        <p:spPr>
          <a:xfrm>
            <a:off x="-6985000" y="5778500"/>
            <a:ext cx="6096000" cy="228600"/>
          </a:xfrm>
          <a:prstGeom prst="rect">
            <a:avLst/>
          </a:prstGeom>
          <a:noFill/>
          <a:ln/>
        </p:spPr>
        <p:txBody>
          <a:bodyPr wrap="square" lIns="0" tIns="0" rIns="0" bIns="0" rtlCol="0" anchor="t"/>
          <a:lstStyle/>
          <a:p>
            <a:pPr algn="l" indent="0" marL="0">
              <a:lnSpc>
                <a:spcPct val="108333"/>
              </a:lnSpc>
              <a:buNone/>
            </a:pPr>
            <a:r>
              <a:rPr lang="en-US" sz="1200" i="1" dirty="0">
                <a:solidFill>
                  <a:srgbClr val="57534E"/>
                </a:solidFill>
                <a:latin typeface="IBM Plex Sans" pitchFamily="34" charset="0"/>
                <a:ea typeface="IBM Plex Sans" pitchFamily="34" charset="-122"/>
                <a:cs typeface="IBM Plex Sans" pitchFamily="34" charset="-120"/>
              </a:rPr>
              <a:t>Figure 2 : cartographie des formulaires Kizeo</a:t>
            </a:r>
            <a:endParaRPr lang="en-US" sz="1200" dirty="0"/>
          </a:p>
        </p:txBody>
      </p:sp>
      <p:sp>
        <p:nvSpPr>
          <p:cNvPr id="16" name="!!cap-2"/>
          <p:cNvSpPr txBox="1"/>
          <p:nvPr/>
        </p:nvSpPr>
        <p:spPr>
          <a:xfrm>
            <a:off x="-6985000" y="5778500"/>
            <a:ext cx="6096000" cy="228600"/>
          </a:xfrm>
          <a:prstGeom prst="rect">
            <a:avLst/>
          </a:prstGeom>
          <a:noFill/>
          <a:ln/>
        </p:spPr>
        <p:txBody>
          <a:bodyPr wrap="square" lIns="0" tIns="0" rIns="0" bIns="0" rtlCol="0" anchor="t"/>
          <a:lstStyle/>
          <a:p>
            <a:pPr algn="l" indent="0" marL="0">
              <a:lnSpc>
                <a:spcPct val="108333"/>
              </a:lnSpc>
              <a:buNone/>
            </a:pPr>
            <a:r>
              <a:rPr lang="en-US" sz="1200" i="1" dirty="0">
                <a:solidFill>
                  <a:srgbClr val="57534E"/>
                </a:solidFill>
                <a:latin typeface="IBM Plex Sans" pitchFamily="34" charset="0"/>
                <a:ea typeface="IBM Plex Sans" pitchFamily="34" charset="-122"/>
                <a:cs typeface="IBM Plex Sans" pitchFamily="34" charset="-120"/>
              </a:rPr>
              <a:t>Figure 3 : listes de données importées dans Teepee</a:t>
            </a:r>
            <a:endParaRPr lang="en-US" sz="1200" dirty="0"/>
          </a:p>
        </p:txBody>
      </p:sp>
      <p:sp>
        <p:nvSpPr>
          <p:cNvPr id="17" name="!!cap-3"/>
          <p:cNvSpPr txBox="1"/>
          <p:nvPr/>
        </p:nvSpPr>
        <p:spPr>
          <a:xfrm>
            <a:off x="-6985000" y="5778500"/>
            <a:ext cx="6096000" cy="228600"/>
          </a:xfrm>
          <a:prstGeom prst="rect">
            <a:avLst/>
          </a:prstGeom>
          <a:noFill/>
          <a:ln/>
        </p:spPr>
        <p:txBody>
          <a:bodyPr wrap="square" lIns="0" tIns="0" rIns="0" bIns="0" rtlCol="0" anchor="t"/>
          <a:lstStyle/>
          <a:p>
            <a:pPr algn="l" indent="0" marL="0">
              <a:lnSpc>
                <a:spcPct val="108333"/>
              </a:lnSpc>
              <a:buNone/>
            </a:pPr>
            <a:r>
              <a:rPr lang="en-US" sz="1200" i="1" dirty="0">
                <a:solidFill>
                  <a:srgbClr val="57534E"/>
                </a:solidFill>
                <a:latin typeface="IBM Plex Sans" pitchFamily="34" charset="0"/>
                <a:ea typeface="IBM Plex Sans" pitchFamily="34" charset="-122"/>
                <a:cs typeface="IBM Plex Sans" pitchFamily="34" charset="-120"/>
              </a:rPr>
              <a:t>Figure 4 : paramétrage d’un formulaire dans Teepee</a:t>
            </a:r>
            <a:endParaRPr lang="en-US" sz="1200" dirty="0"/>
          </a:p>
        </p:txBody>
      </p:sp>
      <p:sp>
        <p:nvSpPr>
          <p:cNvPr id="18" name="!!cap-4"/>
          <p:cNvSpPr txBox="1"/>
          <p:nvPr/>
        </p:nvSpPr>
        <p:spPr>
          <a:xfrm>
            <a:off x="812800" y="5778500"/>
            <a:ext cx="6096000" cy="228600"/>
          </a:xfrm>
          <a:prstGeom prst="rect">
            <a:avLst/>
          </a:prstGeom>
          <a:noFill/>
          <a:ln/>
        </p:spPr>
        <p:txBody>
          <a:bodyPr wrap="square" lIns="0" tIns="0" rIns="0" bIns="0" rtlCol="0" anchor="t"/>
          <a:lstStyle/>
          <a:p>
            <a:pPr algn="l" indent="0" marL="0">
              <a:lnSpc>
                <a:spcPct val="108333"/>
              </a:lnSpc>
              <a:buNone/>
            </a:pPr>
            <a:r>
              <a:rPr lang="en-US" sz="1200" i="1" dirty="0">
                <a:solidFill>
                  <a:srgbClr val="57534E"/>
                </a:solidFill>
                <a:latin typeface="IBM Plex Sans" pitchFamily="34" charset="0"/>
                <a:ea typeface="IBM Plex Sans" pitchFamily="34" charset="-122"/>
                <a:cs typeface="IBM Plex Sans" pitchFamily="34" charset="-120"/>
              </a:rPr>
              <a:t>Figure 5 : workflow d’envoi de mails</a:t>
            </a:r>
            <a:endParaRPr lang="en-US" sz="1200" dirty="0"/>
          </a:p>
        </p:txBody>
      </p:sp>
      <p:sp>
        <p:nvSpPr>
          <p:cNvPr id="19" name="!!cap-5"/>
          <p:cNvSpPr txBox="1"/>
          <p:nvPr/>
        </p:nvSpPr>
        <p:spPr>
          <a:xfrm>
            <a:off x="12700000" y="5778500"/>
            <a:ext cx="6096000" cy="228600"/>
          </a:xfrm>
          <a:prstGeom prst="rect">
            <a:avLst/>
          </a:prstGeom>
          <a:noFill/>
          <a:ln/>
        </p:spPr>
        <p:txBody>
          <a:bodyPr wrap="square" lIns="0" tIns="0" rIns="0" bIns="0" rtlCol="0" anchor="t"/>
          <a:lstStyle/>
          <a:p>
            <a:pPr algn="l" indent="0" marL="0">
              <a:lnSpc>
                <a:spcPct val="108333"/>
              </a:lnSpc>
              <a:buNone/>
            </a:pPr>
            <a:r>
              <a:rPr lang="en-US" sz="1200" i="1" dirty="0">
                <a:solidFill>
                  <a:srgbClr val="57534E"/>
                </a:solidFill>
                <a:latin typeface="IBM Plex Sans" pitchFamily="34" charset="0"/>
                <a:ea typeface="IBM Plex Sans" pitchFamily="34" charset="-122"/>
                <a:cs typeface="IBM Plex Sans" pitchFamily="34" charset="-120"/>
              </a:rPr>
              <a:t>Figure 6 : saisie d’un formulaire sur mobile</a:t>
            </a:r>
            <a:endParaRPr lang="en-US" sz="1200" dirty="0"/>
          </a:p>
        </p:txBody>
      </p:sp>
      <p:sp>
        <p:nvSpPr>
          <p:cNvPr id="20" name="!!it-L1"/>
          <p:cNvSpPr txBox="1"/>
          <p:nvPr/>
        </p:nvSpPr>
        <p:spPr>
          <a:xfrm>
            <a:off x="7213600" y="1587500"/>
            <a:ext cx="4165600" cy="215900"/>
          </a:xfrm>
          <a:prstGeom prst="rect">
            <a:avLst/>
          </a:prstGeom>
          <a:noFill/>
          <a:ln/>
        </p:spPr>
        <p:txBody>
          <a:bodyPr wrap="square" lIns="0" tIns="0" rIns="0" bIns="0" rtlCol="0" anchor="t"/>
          <a:lstStyle/>
          <a:p>
            <a:pPr algn="l" indent="0" marL="0">
              <a:lnSpc>
                <a:spcPct val="104167"/>
              </a:lnSpc>
              <a:buNone/>
            </a:pPr>
            <a:r>
              <a:rPr lang="en-US" sz="1200" b="1" spc="200" kern="0" dirty="0">
                <a:solidFill>
                  <a:srgbClr val="C2570C"/>
                </a:solidFill>
                <a:latin typeface="JetBrains Mono" pitchFamily="34" charset="0"/>
                <a:ea typeface="JetBrains Mono" pitchFamily="34" charset="-122"/>
                <a:cs typeface="JetBrains Mono" pitchFamily="34" charset="-120"/>
              </a:rPr>
              <a:t>PRÉPARATION</a:t>
            </a:r>
            <a:endParaRPr lang="en-US" sz="1200" dirty="0"/>
          </a:p>
        </p:txBody>
      </p:sp>
      <p:sp>
        <p:nvSpPr>
          <p:cNvPr id="21" name="!!it-0_0"/>
          <p:cNvSpPr txBox="1"/>
          <p:nvPr/>
        </p:nvSpPr>
        <p:spPr>
          <a:xfrm>
            <a:off x="7213600" y="1879600"/>
            <a:ext cx="4165600" cy="228600"/>
          </a:xfrm>
          <a:prstGeom prst="rect">
            <a:avLst/>
          </a:prstGeom>
          <a:noFill/>
          <a:ln/>
        </p:spPr>
        <p:txBody>
          <a:bodyPr wrap="square" lIns="0" tIns="0" rIns="0" bIns="0" rtlCol="0" anchor="t"/>
          <a:lstStyle/>
          <a:p>
            <a:pPr algn="l" indent="0" marL="0">
              <a:lnSpc>
                <a:spcPct val="108333"/>
              </a:lnSpc>
              <a:buNone/>
            </a:pPr>
            <a:r>
              <a:rPr lang="en-US" sz="1300" dirty="0">
                <a:solidFill>
                  <a:srgbClr val="1C1917"/>
                </a:solidFill>
                <a:latin typeface="IBM Plex Sans" pitchFamily="34" charset="0"/>
                <a:ea typeface="IBM Plex Sans" pitchFamily="34" charset="-122"/>
                <a:cs typeface="IBM Plex Sans" pitchFamily="34" charset="-120"/>
              </a:rPr>
              <a:t>Cartographie des formulaires</a:t>
            </a:r>
            <a:endParaRPr lang="en-US" sz="1300" dirty="0"/>
          </a:p>
        </p:txBody>
      </p:sp>
      <p:sp>
        <p:nvSpPr>
          <p:cNvPr id="22" name="!!it-0_1"/>
          <p:cNvSpPr txBox="1"/>
          <p:nvPr/>
        </p:nvSpPr>
        <p:spPr>
          <a:xfrm>
            <a:off x="7213600" y="2133600"/>
            <a:ext cx="4165600" cy="228600"/>
          </a:xfrm>
          <a:prstGeom prst="rect">
            <a:avLst/>
          </a:prstGeom>
          <a:noFill/>
          <a:ln/>
        </p:spPr>
        <p:txBody>
          <a:bodyPr wrap="square" lIns="0" tIns="0" rIns="0" bIns="0" rtlCol="0" anchor="t"/>
          <a:lstStyle/>
          <a:p>
            <a:pPr algn="l" indent="0" marL="0">
              <a:lnSpc>
                <a:spcPct val="108333"/>
              </a:lnSpc>
              <a:buNone/>
            </a:pPr>
            <a:r>
              <a:rPr lang="en-US" sz="1300" dirty="0">
                <a:solidFill>
                  <a:srgbClr val="1C1917"/>
                </a:solidFill>
                <a:latin typeface="IBM Plex Sans" pitchFamily="34" charset="0"/>
                <a:ea typeface="IBM Plex Sans" pitchFamily="34" charset="-122"/>
                <a:cs typeface="IBM Plex Sans" pitchFamily="34" charset="-120"/>
              </a:rPr>
              <a:t>Import des données</a:t>
            </a:r>
            <a:endParaRPr lang="en-US" sz="1300" dirty="0"/>
          </a:p>
        </p:txBody>
      </p:sp>
      <p:sp>
        <p:nvSpPr>
          <p:cNvPr id="23" name="!!it-L2"/>
          <p:cNvSpPr txBox="1"/>
          <p:nvPr/>
        </p:nvSpPr>
        <p:spPr>
          <a:xfrm>
            <a:off x="7213600" y="2501900"/>
            <a:ext cx="4165600" cy="215900"/>
          </a:xfrm>
          <a:prstGeom prst="rect">
            <a:avLst/>
          </a:prstGeom>
          <a:noFill/>
          <a:ln/>
        </p:spPr>
        <p:txBody>
          <a:bodyPr wrap="square" lIns="0" tIns="0" rIns="0" bIns="0" rtlCol="0" anchor="t"/>
          <a:lstStyle/>
          <a:p>
            <a:pPr algn="l" indent="0" marL="0">
              <a:lnSpc>
                <a:spcPct val="104167"/>
              </a:lnSpc>
              <a:buNone/>
            </a:pPr>
            <a:r>
              <a:rPr lang="en-US" sz="1200" b="1" spc="200" kern="0" dirty="0">
                <a:solidFill>
                  <a:srgbClr val="C2570C"/>
                </a:solidFill>
                <a:latin typeface="JetBrains Mono" pitchFamily="34" charset="0"/>
                <a:ea typeface="JetBrains Mono" pitchFamily="34" charset="-122"/>
                <a:cs typeface="JetBrains Mono" pitchFamily="34" charset="-120"/>
              </a:rPr>
              <a:t>PARAMÉTRAGE</a:t>
            </a:r>
            <a:endParaRPr lang="en-US" sz="1200" dirty="0"/>
          </a:p>
        </p:txBody>
      </p:sp>
      <p:sp>
        <p:nvSpPr>
          <p:cNvPr id="24" name="!!it-1_0"/>
          <p:cNvSpPr txBox="1"/>
          <p:nvPr/>
        </p:nvSpPr>
        <p:spPr>
          <a:xfrm>
            <a:off x="7213600" y="2794000"/>
            <a:ext cx="4165600" cy="228600"/>
          </a:xfrm>
          <a:prstGeom prst="rect">
            <a:avLst/>
          </a:prstGeom>
          <a:noFill/>
          <a:ln/>
        </p:spPr>
        <p:txBody>
          <a:bodyPr wrap="square" lIns="0" tIns="0" rIns="0" bIns="0" rtlCol="0" anchor="t"/>
          <a:lstStyle/>
          <a:p>
            <a:pPr algn="l" indent="0" marL="0">
              <a:lnSpc>
                <a:spcPct val="108333"/>
              </a:lnSpc>
              <a:buNone/>
            </a:pPr>
            <a:r>
              <a:rPr lang="en-US" sz="1300" dirty="0">
                <a:solidFill>
                  <a:srgbClr val="1C1917"/>
                </a:solidFill>
                <a:latin typeface="IBM Plex Sans" pitchFamily="34" charset="0"/>
                <a:ea typeface="IBM Plex Sans" pitchFamily="34" charset="-122"/>
                <a:cs typeface="IBM Plex Sans" pitchFamily="34" charset="-120"/>
              </a:rPr>
              <a:t>Formulaires Teepee</a:t>
            </a:r>
            <a:endParaRPr lang="en-US" sz="1300" dirty="0"/>
          </a:p>
        </p:txBody>
      </p:sp>
      <p:sp>
        <p:nvSpPr>
          <p:cNvPr id="25" name="!!it-1_1"/>
          <p:cNvSpPr txBox="1"/>
          <p:nvPr/>
        </p:nvSpPr>
        <p:spPr>
          <a:xfrm>
            <a:off x="7213600" y="3048000"/>
            <a:ext cx="4165600" cy="228600"/>
          </a:xfrm>
          <a:prstGeom prst="rect">
            <a:avLst/>
          </a:prstGeom>
          <a:noFill/>
          <a:ln/>
        </p:spPr>
        <p:txBody>
          <a:bodyPr wrap="square" lIns="0" tIns="0" rIns="0" bIns="0" rtlCol="0" anchor="t"/>
          <a:lstStyle/>
          <a:p>
            <a:pPr algn="l" indent="0" marL="0">
              <a:lnSpc>
                <a:spcPct val="108333"/>
              </a:lnSpc>
              <a:buNone/>
            </a:pPr>
            <a:r>
              <a:rPr lang="en-US" sz="1300" b="1" dirty="0">
                <a:solidFill>
                  <a:srgbClr val="C2570C"/>
                </a:solidFill>
                <a:latin typeface="IBM Plex Sans" pitchFamily="34" charset="0"/>
                <a:ea typeface="IBM Plex Sans" pitchFamily="34" charset="-122"/>
                <a:cs typeface="IBM Plex Sans" pitchFamily="34" charset="-120"/>
              </a:rPr>
              <a:t>Workflows</a:t>
            </a:r>
            <a:endParaRPr lang="en-US" sz="1300" dirty="0"/>
          </a:p>
        </p:txBody>
      </p:sp>
      <p:sp>
        <p:nvSpPr>
          <p:cNvPr id="26" name="nav:2-s14">
            <a:hlinkClick r:id="rIdNav2" action="ppaction://hlinksldjump"/>
          </p:cNvPr>
          <p:cNvSpPr/>
          <p:nvPr/>
        </p:nvSpPr>
        <p:spPr>
          <a:xfrm>
            <a:off x="10922000" y="254000"/>
            <a:ext cx="457200" cy="457200"/>
          </a:xfrm>
          <a:prstGeom prst="rect">
            <a:avLst/>
          </a:prstGeom>
          <a:solidFill>
            <a:srgbClr val="FFFFFF">
              <a:alpha val="0"/>
            </a:srgbClr>
          </a:solidFill>
          <a:ln/>
        </p:spPr>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1EFEA"/>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1EFEA"/>
          </a:solidFill>
          <a:ln w="19050">
            <a:solidFill>
              <a:srgbClr val="1C1917"/>
            </a:solidFill>
            <a:prstDash val="solid"/>
          </a:ln>
        </p:spPr>
      </p:sp>
      <p:sp>
        <p:nvSpPr>
          <p:cNvPr id="3" name="!!mk-bar"/>
          <p:cNvSpPr/>
          <p:nvPr/>
        </p:nvSpPr>
        <p:spPr>
          <a:xfrm>
            <a:off x="812800" y="6299200"/>
            <a:ext cx="7207250" cy="127000"/>
          </a:xfrm>
          <a:prstGeom prst="rect">
            <a:avLst/>
          </a:prstGeom>
          <a:solidFill>
            <a:srgbClr val="C2570C"/>
          </a:solidFill>
          <a:ln w="19050">
            <a:solidFill>
              <a:srgbClr val="1C1917"/>
            </a:solidFill>
            <a:prstDash val="solid"/>
          </a:ln>
        </p:spPr>
      </p:sp>
      <p:sp>
        <p:nvSpPr>
          <p:cNvPr id="4" name="!!mk-sq"/>
          <p:cNvSpPr/>
          <p:nvPr/>
        </p:nvSpPr>
        <p:spPr>
          <a:xfrm rot="1800000">
            <a:off x="10922000" y="254000"/>
            <a:ext cx="457200" cy="457200"/>
          </a:xfrm>
          <a:prstGeom prst="rect">
            <a:avLst/>
          </a:prstGeom>
          <a:solidFill>
            <a:srgbClr val="C2570C"/>
          </a:solidFill>
          <a:ln w="25400">
            <a:solidFill>
              <a:srgbClr val="1C1917"/>
            </a:solidFill>
            <a:prstDash val="solid"/>
          </a:ln>
          <a:effectLst>
            <a:outerShdw sx="100000" sy="100000" kx="0" ky="0" algn="bl" rotWithShape="0" blurRad="101600" dist="71831" dir="2700000">
              <a:srgbClr val="1C1917">
                <a:alpha val="100000"/>
              </a:srgbClr>
            </a:outerShdw>
          </a:effectLst>
        </p:spPr>
      </p:sp>
      <p:sp>
        <p:nvSpPr>
          <p:cNvPr id="5" name="!!mk-logos"/>
          <p:cNvSpPr/>
          <p:nvPr/>
        </p:nvSpPr>
        <p:spPr>
          <a:xfrm>
            <a:off x="8191500" y="279400"/>
            <a:ext cx="2476500" cy="355600"/>
          </a:xfrm>
          <a:prstGeom prst="rect">
            <a:avLst/>
          </a:prstGeom>
          <a:solidFill>
            <a:srgbClr val="FAF8F4"/>
          </a:solidFill>
          <a:ln w="19050">
            <a:solidFill>
              <a:srgbClr val="1C1917"/>
            </a:solidFill>
            <a:prstDash val="solid"/>
          </a:ln>
          <a:effectLst>
            <a:outerShdw sx="100000" sy="100000" kx="0" ky="0" algn="bl" rotWithShape="0" blurRad="101600" dist="53873" dir="2700000">
              <a:srgbClr val="1C1917">
                <a:alpha val="100000"/>
              </a:srgbClr>
            </a:outerShdw>
          </a:effectLst>
        </p:spPr>
      </p:sp>
      <p:pic>
        <p:nvPicPr>
          <p:cNvPr id="6" name="!!mk-logo-1" descr="Logo VINCI Facilities">    </p:cNvPr>
          <p:cNvPicPr>
            <a:picLocks noChangeAspect="1"/>
          </p:cNvPicPr>
          <p:nvPr/>
        </p:nvPicPr>
        <p:blipFill>
          <a:blip r:embed="rId1"/>
          <a:stretch>
            <a:fillRect/>
          </a:stretch>
        </p:blipFill>
        <p:spPr>
          <a:xfrm>
            <a:off x="8756650" y="330200"/>
            <a:ext cx="762000" cy="254000"/>
          </a:xfrm>
          <a:prstGeom prst="rect">
            <a:avLst/>
          </a:prstGeom>
        </p:spPr>
      </p:pic>
      <p:pic>
        <p:nvPicPr>
          <p:cNvPr id="7" name="!!mk-logo-2" descr="Logo Icam">    </p:cNvPr>
          <p:cNvPicPr>
            <a:picLocks noChangeAspect="1"/>
          </p:cNvPicPr>
          <p:nvPr/>
        </p:nvPicPr>
        <p:blipFill>
          <a:blip r:embed="rId2"/>
          <a:stretch>
            <a:fillRect/>
          </a:stretch>
        </p:blipFill>
        <p:spPr>
          <a:xfrm>
            <a:off x="9671050" y="330200"/>
            <a:ext cx="431800" cy="254000"/>
          </a:xfrm>
          <a:prstGeom prst="rect">
            <a:avLst/>
          </a:prstGeom>
        </p:spPr>
      </p:pic>
      <p:sp>
        <p:nvSpPr>
          <p:cNvPr id="8" name="Text 4-s15"/>
          <p:cNvSpPr txBox="1"/>
          <p:nvPr/>
        </p:nvSpPr>
        <p:spPr>
          <a:xfrm>
            <a:off x="812800" y="812800"/>
            <a:ext cx="10566400" cy="571500"/>
          </a:xfrm>
          <a:prstGeom prst="rect">
            <a:avLst/>
          </a:prstGeom>
          <a:noFill/>
          <a:ln/>
        </p:spPr>
        <p:txBody>
          <a:bodyPr wrap="square" lIns="0" tIns="0" rIns="0" bIns="0" rtlCol="0" anchor="t"/>
          <a:lstStyle/>
          <a:p>
            <a:pPr algn="l" indent="0" marL="0">
              <a:lnSpc>
                <a:spcPct val="87500"/>
              </a:lnSpc>
              <a:buNone/>
            </a:pPr>
            <a:r>
              <a:rPr lang="en-US" sz="3600" b="1" dirty="0">
                <a:solidFill>
                  <a:srgbClr val="1C1917"/>
                </a:solidFill>
                <a:latin typeface="Space Grotesk" pitchFamily="34" charset="0"/>
                <a:ea typeface="Space Grotesk" pitchFamily="34" charset="-122"/>
                <a:cs typeface="Space Grotesk" pitchFamily="34" charset="-120"/>
              </a:rPr>
              <a:t>Du formulaire papier au terrain</a:t>
            </a:r>
            <a:endParaRPr lang="en-US" sz="3600" dirty="0"/>
          </a:p>
        </p:txBody>
      </p:sp>
      <p:sp>
        <p:nvSpPr>
          <p:cNvPr id="9" name="!!shot-frame"/>
          <p:cNvSpPr/>
          <p:nvPr/>
        </p:nvSpPr>
        <p:spPr>
          <a:xfrm>
            <a:off x="812800" y="1587500"/>
            <a:ext cx="6096000" cy="4044950"/>
          </a:xfrm>
          <a:prstGeom prst="rect">
            <a:avLst/>
          </a:prstGeom>
          <a:solidFill>
            <a:srgbClr val="FAF8F4"/>
          </a:solidFill>
          <a:ln w="25400">
            <a:solidFill>
              <a:srgbClr val="1C1917"/>
            </a:solidFill>
            <a:prstDash val="solid"/>
          </a:ln>
          <a:effectLst>
            <a:outerShdw sx="100000" sy="100000" kx="0" ky="0" algn="bl" rotWithShape="0" blurRad="101600" dist="89789" dir="2700000">
              <a:srgbClr val="1C1917">
                <a:alpha val="100000"/>
              </a:srgbClr>
            </a:outerShdw>
          </a:effectLst>
        </p:spPr>
      </p:sp>
      <p:pic>
        <p:nvPicPr>
          <p:cNvPr id="10" name="!!shot-1" descr="Liste des formulaires Kizeo dans un tableur">    </p:cNvPr>
          <p:cNvPicPr>
            <a:picLocks noChangeAspect="1"/>
          </p:cNvPicPr>
          <p:nvPr/>
        </p:nvPicPr>
        <p:blipFill>
          <a:blip r:embed="rId3"/>
          <a:stretch>
            <a:fillRect/>
          </a:stretch>
        </p:blipFill>
        <p:spPr>
          <a:xfrm>
            <a:off x="-6985000" y="1612900"/>
            <a:ext cx="6045200" cy="3994150"/>
          </a:xfrm>
          <a:prstGeom prst="rect">
            <a:avLst/>
          </a:prstGeom>
        </p:spPr>
      </p:pic>
      <p:pic>
        <p:nvPicPr>
          <p:cNvPr id="11" name="!!shot-2" descr="Listes de données importées dans Teepee">    </p:cNvPr>
          <p:cNvPicPr>
            <a:picLocks noChangeAspect="1"/>
          </p:cNvPicPr>
          <p:nvPr/>
        </p:nvPicPr>
        <p:blipFill>
          <a:blip r:embed="rId4"/>
          <a:stretch>
            <a:fillRect/>
          </a:stretch>
        </p:blipFill>
        <p:spPr>
          <a:xfrm>
            <a:off x="-6985000" y="1612900"/>
            <a:ext cx="6045200" cy="3994150"/>
          </a:xfrm>
          <a:prstGeom prst="rect">
            <a:avLst/>
          </a:prstGeom>
        </p:spPr>
      </p:pic>
      <p:pic>
        <p:nvPicPr>
          <p:cNvPr id="12" name="!!shot-3" descr="Éditeur de formulaire Teepee avec ses composants">    </p:cNvPr>
          <p:cNvPicPr>
            <a:picLocks noChangeAspect="1"/>
          </p:cNvPicPr>
          <p:nvPr/>
        </p:nvPicPr>
        <p:blipFill>
          <a:blip r:embed="rId5"/>
          <a:stretch>
            <a:fillRect/>
          </a:stretch>
        </p:blipFill>
        <p:spPr>
          <a:xfrm>
            <a:off x="-6985000" y="1612900"/>
            <a:ext cx="6045200" cy="3994150"/>
          </a:xfrm>
          <a:prstGeom prst="rect">
            <a:avLst/>
          </a:prstGeom>
        </p:spPr>
      </p:pic>
      <p:pic>
        <p:nvPicPr>
          <p:cNvPr id="13" name="!!shot-4" descr="Schéma de workflow Teepee avec envoi de mails">    </p:cNvPr>
          <p:cNvPicPr>
            <a:picLocks noChangeAspect="1"/>
          </p:cNvPicPr>
          <p:nvPr/>
        </p:nvPicPr>
        <p:blipFill>
          <a:blip r:embed="rId6"/>
          <a:stretch>
            <a:fillRect/>
          </a:stretch>
        </p:blipFill>
        <p:spPr>
          <a:xfrm>
            <a:off x="-6985000" y="1612900"/>
            <a:ext cx="6045200" cy="3994150"/>
          </a:xfrm>
          <a:prstGeom prst="rect">
            <a:avLst/>
          </a:prstGeom>
        </p:spPr>
      </p:pic>
      <p:pic>
        <p:nvPicPr>
          <p:cNvPr id="14" name="!!shot-5" descr="Application mobile Teepee : liste des formulaires et saisie">    </p:cNvPr>
          <p:cNvPicPr>
            <a:picLocks noChangeAspect="1"/>
          </p:cNvPicPr>
          <p:nvPr/>
        </p:nvPicPr>
        <p:blipFill>
          <a:blip r:embed="rId7"/>
          <a:stretch>
            <a:fillRect/>
          </a:stretch>
        </p:blipFill>
        <p:spPr>
          <a:xfrm>
            <a:off x="838200" y="1612900"/>
            <a:ext cx="6045200" cy="3994150"/>
          </a:xfrm>
          <a:prstGeom prst="rect">
            <a:avLst/>
          </a:prstGeom>
        </p:spPr>
      </p:pic>
      <p:sp>
        <p:nvSpPr>
          <p:cNvPr id="15" name="!!cap-1"/>
          <p:cNvSpPr txBox="1"/>
          <p:nvPr/>
        </p:nvSpPr>
        <p:spPr>
          <a:xfrm>
            <a:off x="-6985000" y="5778500"/>
            <a:ext cx="6096000" cy="228600"/>
          </a:xfrm>
          <a:prstGeom prst="rect">
            <a:avLst/>
          </a:prstGeom>
          <a:noFill/>
          <a:ln/>
        </p:spPr>
        <p:txBody>
          <a:bodyPr wrap="square" lIns="0" tIns="0" rIns="0" bIns="0" rtlCol="0" anchor="t"/>
          <a:lstStyle/>
          <a:p>
            <a:pPr algn="l" indent="0" marL="0">
              <a:lnSpc>
                <a:spcPct val="108333"/>
              </a:lnSpc>
              <a:buNone/>
            </a:pPr>
            <a:r>
              <a:rPr lang="en-US" sz="1200" i="1" dirty="0">
                <a:solidFill>
                  <a:srgbClr val="57534E"/>
                </a:solidFill>
                <a:latin typeface="IBM Plex Sans" pitchFamily="34" charset="0"/>
                <a:ea typeface="IBM Plex Sans" pitchFamily="34" charset="-122"/>
                <a:cs typeface="IBM Plex Sans" pitchFamily="34" charset="-120"/>
              </a:rPr>
              <a:t>Figure 2 : cartographie des formulaires Kizeo</a:t>
            </a:r>
            <a:endParaRPr lang="en-US" sz="1200" dirty="0"/>
          </a:p>
        </p:txBody>
      </p:sp>
      <p:sp>
        <p:nvSpPr>
          <p:cNvPr id="16" name="!!cap-2"/>
          <p:cNvSpPr txBox="1"/>
          <p:nvPr/>
        </p:nvSpPr>
        <p:spPr>
          <a:xfrm>
            <a:off x="-6985000" y="5778500"/>
            <a:ext cx="6096000" cy="228600"/>
          </a:xfrm>
          <a:prstGeom prst="rect">
            <a:avLst/>
          </a:prstGeom>
          <a:noFill/>
          <a:ln/>
        </p:spPr>
        <p:txBody>
          <a:bodyPr wrap="square" lIns="0" tIns="0" rIns="0" bIns="0" rtlCol="0" anchor="t"/>
          <a:lstStyle/>
          <a:p>
            <a:pPr algn="l" indent="0" marL="0">
              <a:lnSpc>
                <a:spcPct val="108333"/>
              </a:lnSpc>
              <a:buNone/>
            </a:pPr>
            <a:r>
              <a:rPr lang="en-US" sz="1200" i="1" dirty="0">
                <a:solidFill>
                  <a:srgbClr val="57534E"/>
                </a:solidFill>
                <a:latin typeface="IBM Plex Sans" pitchFamily="34" charset="0"/>
                <a:ea typeface="IBM Plex Sans" pitchFamily="34" charset="-122"/>
                <a:cs typeface="IBM Plex Sans" pitchFamily="34" charset="-120"/>
              </a:rPr>
              <a:t>Figure 3 : listes de données importées dans Teepee</a:t>
            </a:r>
            <a:endParaRPr lang="en-US" sz="1200" dirty="0"/>
          </a:p>
        </p:txBody>
      </p:sp>
      <p:sp>
        <p:nvSpPr>
          <p:cNvPr id="17" name="!!cap-3"/>
          <p:cNvSpPr txBox="1"/>
          <p:nvPr/>
        </p:nvSpPr>
        <p:spPr>
          <a:xfrm>
            <a:off x="-6985000" y="5778500"/>
            <a:ext cx="6096000" cy="228600"/>
          </a:xfrm>
          <a:prstGeom prst="rect">
            <a:avLst/>
          </a:prstGeom>
          <a:noFill/>
          <a:ln/>
        </p:spPr>
        <p:txBody>
          <a:bodyPr wrap="square" lIns="0" tIns="0" rIns="0" bIns="0" rtlCol="0" anchor="t"/>
          <a:lstStyle/>
          <a:p>
            <a:pPr algn="l" indent="0" marL="0">
              <a:lnSpc>
                <a:spcPct val="108333"/>
              </a:lnSpc>
              <a:buNone/>
            </a:pPr>
            <a:r>
              <a:rPr lang="en-US" sz="1200" i="1" dirty="0">
                <a:solidFill>
                  <a:srgbClr val="57534E"/>
                </a:solidFill>
                <a:latin typeface="IBM Plex Sans" pitchFamily="34" charset="0"/>
                <a:ea typeface="IBM Plex Sans" pitchFamily="34" charset="-122"/>
                <a:cs typeface="IBM Plex Sans" pitchFamily="34" charset="-120"/>
              </a:rPr>
              <a:t>Figure 4 : paramétrage d’un formulaire dans Teepee</a:t>
            </a:r>
            <a:endParaRPr lang="en-US" sz="1200" dirty="0"/>
          </a:p>
        </p:txBody>
      </p:sp>
      <p:sp>
        <p:nvSpPr>
          <p:cNvPr id="18" name="!!cap-4"/>
          <p:cNvSpPr txBox="1"/>
          <p:nvPr/>
        </p:nvSpPr>
        <p:spPr>
          <a:xfrm>
            <a:off x="-6985000" y="5778500"/>
            <a:ext cx="6096000" cy="228600"/>
          </a:xfrm>
          <a:prstGeom prst="rect">
            <a:avLst/>
          </a:prstGeom>
          <a:noFill/>
          <a:ln/>
        </p:spPr>
        <p:txBody>
          <a:bodyPr wrap="square" lIns="0" tIns="0" rIns="0" bIns="0" rtlCol="0" anchor="t"/>
          <a:lstStyle/>
          <a:p>
            <a:pPr algn="l" indent="0" marL="0">
              <a:lnSpc>
                <a:spcPct val="108333"/>
              </a:lnSpc>
              <a:buNone/>
            </a:pPr>
            <a:r>
              <a:rPr lang="en-US" sz="1200" i="1" dirty="0">
                <a:solidFill>
                  <a:srgbClr val="57534E"/>
                </a:solidFill>
                <a:latin typeface="IBM Plex Sans" pitchFamily="34" charset="0"/>
                <a:ea typeface="IBM Plex Sans" pitchFamily="34" charset="-122"/>
                <a:cs typeface="IBM Plex Sans" pitchFamily="34" charset="-120"/>
              </a:rPr>
              <a:t>Figure 5 : workflow d’envoi de mails</a:t>
            </a:r>
            <a:endParaRPr lang="en-US" sz="1200" dirty="0"/>
          </a:p>
        </p:txBody>
      </p:sp>
      <p:sp>
        <p:nvSpPr>
          <p:cNvPr id="19" name="!!cap-5"/>
          <p:cNvSpPr txBox="1"/>
          <p:nvPr/>
        </p:nvSpPr>
        <p:spPr>
          <a:xfrm>
            <a:off x="812800" y="5778500"/>
            <a:ext cx="6096000" cy="228600"/>
          </a:xfrm>
          <a:prstGeom prst="rect">
            <a:avLst/>
          </a:prstGeom>
          <a:noFill/>
          <a:ln/>
        </p:spPr>
        <p:txBody>
          <a:bodyPr wrap="square" lIns="0" tIns="0" rIns="0" bIns="0" rtlCol="0" anchor="t"/>
          <a:lstStyle/>
          <a:p>
            <a:pPr algn="l" indent="0" marL="0">
              <a:lnSpc>
                <a:spcPct val="108333"/>
              </a:lnSpc>
              <a:buNone/>
            </a:pPr>
            <a:r>
              <a:rPr lang="en-US" sz="1200" i="1" dirty="0">
                <a:solidFill>
                  <a:srgbClr val="57534E"/>
                </a:solidFill>
                <a:latin typeface="IBM Plex Sans" pitchFamily="34" charset="0"/>
                <a:ea typeface="IBM Plex Sans" pitchFamily="34" charset="-122"/>
                <a:cs typeface="IBM Plex Sans" pitchFamily="34" charset="-120"/>
              </a:rPr>
              <a:t>Figure 6 : saisie d’un formulaire sur mobile</a:t>
            </a:r>
            <a:endParaRPr lang="en-US" sz="1200" dirty="0"/>
          </a:p>
        </p:txBody>
      </p:sp>
      <p:sp>
        <p:nvSpPr>
          <p:cNvPr id="20" name="!!it-L1"/>
          <p:cNvSpPr txBox="1"/>
          <p:nvPr/>
        </p:nvSpPr>
        <p:spPr>
          <a:xfrm>
            <a:off x="7213600" y="1587500"/>
            <a:ext cx="4165600" cy="215900"/>
          </a:xfrm>
          <a:prstGeom prst="rect">
            <a:avLst/>
          </a:prstGeom>
          <a:noFill/>
          <a:ln/>
        </p:spPr>
        <p:txBody>
          <a:bodyPr wrap="square" lIns="0" tIns="0" rIns="0" bIns="0" rtlCol="0" anchor="t"/>
          <a:lstStyle/>
          <a:p>
            <a:pPr algn="l" indent="0" marL="0">
              <a:lnSpc>
                <a:spcPct val="104167"/>
              </a:lnSpc>
              <a:buNone/>
            </a:pPr>
            <a:r>
              <a:rPr lang="en-US" sz="1200" b="1" spc="200" kern="0" dirty="0">
                <a:solidFill>
                  <a:srgbClr val="C2570C"/>
                </a:solidFill>
                <a:latin typeface="JetBrains Mono" pitchFamily="34" charset="0"/>
                <a:ea typeface="JetBrains Mono" pitchFamily="34" charset="-122"/>
                <a:cs typeface="JetBrains Mono" pitchFamily="34" charset="-120"/>
              </a:rPr>
              <a:t>PRÉPARATION</a:t>
            </a:r>
            <a:endParaRPr lang="en-US" sz="1200" dirty="0"/>
          </a:p>
        </p:txBody>
      </p:sp>
      <p:sp>
        <p:nvSpPr>
          <p:cNvPr id="21" name="!!it-0_0"/>
          <p:cNvSpPr txBox="1"/>
          <p:nvPr/>
        </p:nvSpPr>
        <p:spPr>
          <a:xfrm>
            <a:off x="7213600" y="1879600"/>
            <a:ext cx="4165600" cy="228600"/>
          </a:xfrm>
          <a:prstGeom prst="rect">
            <a:avLst/>
          </a:prstGeom>
          <a:noFill/>
          <a:ln/>
        </p:spPr>
        <p:txBody>
          <a:bodyPr wrap="square" lIns="0" tIns="0" rIns="0" bIns="0" rtlCol="0" anchor="t"/>
          <a:lstStyle/>
          <a:p>
            <a:pPr algn="l" indent="0" marL="0">
              <a:lnSpc>
                <a:spcPct val="108333"/>
              </a:lnSpc>
              <a:buNone/>
            </a:pPr>
            <a:r>
              <a:rPr lang="en-US" sz="1300" dirty="0">
                <a:solidFill>
                  <a:srgbClr val="1C1917"/>
                </a:solidFill>
                <a:latin typeface="IBM Plex Sans" pitchFamily="34" charset="0"/>
                <a:ea typeface="IBM Plex Sans" pitchFamily="34" charset="-122"/>
                <a:cs typeface="IBM Plex Sans" pitchFamily="34" charset="-120"/>
              </a:rPr>
              <a:t>Cartographie des formulaires</a:t>
            </a:r>
            <a:endParaRPr lang="en-US" sz="1300" dirty="0"/>
          </a:p>
        </p:txBody>
      </p:sp>
      <p:sp>
        <p:nvSpPr>
          <p:cNvPr id="22" name="!!it-0_1"/>
          <p:cNvSpPr txBox="1"/>
          <p:nvPr/>
        </p:nvSpPr>
        <p:spPr>
          <a:xfrm>
            <a:off x="7213600" y="2133600"/>
            <a:ext cx="4165600" cy="228600"/>
          </a:xfrm>
          <a:prstGeom prst="rect">
            <a:avLst/>
          </a:prstGeom>
          <a:noFill/>
          <a:ln/>
        </p:spPr>
        <p:txBody>
          <a:bodyPr wrap="square" lIns="0" tIns="0" rIns="0" bIns="0" rtlCol="0" anchor="t"/>
          <a:lstStyle/>
          <a:p>
            <a:pPr algn="l" indent="0" marL="0">
              <a:lnSpc>
                <a:spcPct val="108333"/>
              </a:lnSpc>
              <a:buNone/>
            </a:pPr>
            <a:r>
              <a:rPr lang="en-US" sz="1300" dirty="0">
                <a:solidFill>
                  <a:srgbClr val="1C1917"/>
                </a:solidFill>
                <a:latin typeface="IBM Plex Sans" pitchFamily="34" charset="0"/>
                <a:ea typeface="IBM Plex Sans" pitchFamily="34" charset="-122"/>
                <a:cs typeface="IBM Plex Sans" pitchFamily="34" charset="-120"/>
              </a:rPr>
              <a:t>Import des données</a:t>
            </a:r>
            <a:endParaRPr lang="en-US" sz="1300" dirty="0"/>
          </a:p>
        </p:txBody>
      </p:sp>
      <p:sp>
        <p:nvSpPr>
          <p:cNvPr id="23" name="!!it-L2"/>
          <p:cNvSpPr txBox="1"/>
          <p:nvPr/>
        </p:nvSpPr>
        <p:spPr>
          <a:xfrm>
            <a:off x="7213600" y="2501900"/>
            <a:ext cx="4165600" cy="215900"/>
          </a:xfrm>
          <a:prstGeom prst="rect">
            <a:avLst/>
          </a:prstGeom>
          <a:noFill/>
          <a:ln/>
        </p:spPr>
        <p:txBody>
          <a:bodyPr wrap="square" lIns="0" tIns="0" rIns="0" bIns="0" rtlCol="0" anchor="t"/>
          <a:lstStyle/>
          <a:p>
            <a:pPr algn="l" indent="0" marL="0">
              <a:lnSpc>
                <a:spcPct val="104167"/>
              </a:lnSpc>
              <a:buNone/>
            </a:pPr>
            <a:r>
              <a:rPr lang="en-US" sz="1200" b="1" spc="200" kern="0" dirty="0">
                <a:solidFill>
                  <a:srgbClr val="C2570C"/>
                </a:solidFill>
                <a:latin typeface="JetBrains Mono" pitchFamily="34" charset="0"/>
                <a:ea typeface="JetBrains Mono" pitchFamily="34" charset="-122"/>
                <a:cs typeface="JetBrains Mono" pitchFamily="34" charset="-120"/>
              </a:rPr>
              <a:t>PARAMÉTRAGE</a:t>
            </a:r>
            <a:endParaRPr lang="en-US" sz="1200" dirty="0"/>
          </a:p>
        </p:txBody>
      </p:sp>
      <p:sp>
        <p:nvSpPr>
          <p:cNvPr id="24" name="!!it-1_0"/>
          <p:cNvSpPr txBox="1"/>
          <p:nvPr/>
        </p:nvSpPr>
        <p:spPr>
          <a:xfrm>
            <a:off x="7213600" y="2794000"/>
            <a:ext cx="4165600" cy="228600"/>
          </a:xfrm>
          <a:prstGeom prst="rect">
            <a:avLst/>
          </a:prstGeom>
          <a:noFill/>
          <a:ln/>
        </p:spPr>
        <p:txBody>
          <a:bodyPr wrap="square" lIns="0" tIns="0" rIns="0" bIns="0" rtlCol="0" anchor="t"/>
          <a:lstStyle/>
          <a:p>
            <a:pPr algn="l" indent="0" marL="0">
              <a:lnSpc>
                <a:spcPct val="108333"/>
              </a:lnSpc>
              <a:buNone/>
            </a:pPr>
            <a:r>
              <a:rPr lang="en-US" sz="1300" dirty="0">
                <a:solidFill>
                  <a:srgbClr val="1C1917"/>
                </a:solidFill>
                <a:latin typeface="IBM Plex Sans" pitchFamily="34" charset="0"/>
                <a:ea typeface="IBM Plex Sans" pitchFamily="34" charset="-122"/>
                <a:cs typeface="IBM Plex Sans" pitchFamily="34" charset="-120"/>
              </a:rPr>
              <a:t>Formulaires Teepee</a:t>
            </a:r>
            <a:endParaRPr lang="en-US" sz="1300" dirty="0"/>
          </a:p>
        </p:txBody>
      </p:sp>
      <p:sp>
        <p:nvSpPr>
          <p:cNvPr id="25" name="!!it-1_1"/>
          <p:cNvSpPr txBox="1"/>
          <p:nvPr/>
        </p:nvSpPr>
        <p:spPr>
          <a:xfrm>
            <a:off x="7213600" y="3048000"/>
            <a:ext cx="4165600" cy="228600"/>
          </a:xfrm>
          <a:prstGeom prst="rect">
            <a:avLst/>
          </a:prstGeom>
          <a:noFill/>
          <a:ln/>
        </p:spPr>
        <p:txBody>
          <a:bodyPr wrap="square" lIns="0" tIns="0" rIns="0" bIns="0" rtlCol="0" anchor="t"/>
          <a:lstStyle/>
          <a:p>
            <a:pPr algn="l" indent="0" marL="0">
              <a:lnSpc>
                <a:spcPct val="108333"/>
              </a:lnSpc>
              <a:buNone/>
            </a:pPr>
            <a:r>
              <a:rPr lang="en-US" sz="1300" dirty="0">
                <a:solidFill>
                  <a:srgbClr val="1C1917"/>
                </a:solidFill>
                <a:latin typeface="IBM Plex Sans" pitchFamily="34" charset="0"/>
                <a:ea typeface="IBM Plex Sans" pitchFamily="34" charset="-122"/>
                <a:cs typeface="IBM Plex Sans" pitchFamily="34" charset="-120"/>
              </a:rPr>
              <a:t>Workflows</a:t>
            </a:r>
            <a:endParaRPr lang="en-US" sz="1300" dirty="0"/>
          </a:p>
        </p:txBody>
      </p:sp>
      <p:sp>
        <p:nvSpPr>
          <p:cNvPr id="26" name="!!it-L3"/>
          <p:cNvSpPr txBox="1"/>
          <p:nvPr/>
        </p:nvSpPr>
        <p:spPr>
          <a:xfrm>
            <a:off x="7213600" y="3416300"/>
            <a:ext cx="4165600" cy="215900"/>
          </a:xfrm>
          <a:prstGeom prst="rect">
            <a:avLst/>
          </a:prstGeom>
          <a:noFill/>
          <a:ln/>
        </p:spPr>
        <p:txBody>
          <a:bodyPr wrap="square" lIns="0" tIns="0" rIns="0" bIns="0" rtlCol="0" anchor="t"/>
          <a:lstStyle/>
          <a:p>
            <a:pPr algn="l" indent="0" marL="0">
              <a:lnSpc>
                <a:spcPct val="104167"/>
              </a:lnSpc>
              <a:buNone/>
            </a:pPr>
            <a:r>
              <a:rPr lang="en-US" sz="1200" b="1" spc="200" kern="0" dirty="0">
                <a:solidFill>
                  <a:srgbClr val="C2570C"/>
                </a:solidFill>
                <a:latin typeface="JetBrains Mono" pitchFamily="34" charset="0"/>
                <a:ea typeface="JetBrains Mono" pitchFamily="34" charset="-122"/>
                <a:cs typeface="JetBrains Mono" pitchFamily="34" charset="-120"/>
              </a:rPr>
              <a:t>TERRAIN</a:t>
            </a:r>
            <a:endParaRPr lang="en-US" sz="1200" dirty="0"/>
          </a:p>
        </p:txBody>
      </p:sp>
      <p:sp>
        <p:nvSpPr>
          <p:cNvPr id="27" name="!!it-2_0"/>
          <p:cNvSpPr txBox="1"/>
          <p:nvPr/>
        </p:nvSpPr>
        <p:spPr>
          <a:xfrm>
            <a:off x="7213600" y="3708400"/>
            <a:ext cx="4165600" cy="228600"/>
          </a:xfrm>
          <a:prstGeom prst="rect">
            <a:avLst/>
          </a:prstGeom>
          <a:noFill/>
          <a:ln/>
        </p:spPr>
        <p:txBody>
          <a:bodyPr wrap="square" lIns="0" tIns="0" rIns="0" bIns="0" rtlCol="0" anchor="t"/>
          <a:lstStyle/>
          <a:p>
            <a:pPr algn="l" indent="0" marL="0">
              <a:lnSpc>
                <a:spcPct val="108333"/>
              </a:lnSpc>
              <a:buNone/>
            </a:pPr>
            <a:r>
              <a:rPr lang="en-US" sz="1300" b="1" dirty="0">
                <a:solidFill>
                  <a:srgbClr val="C2570C"/>
                </a:solidFill>
                <a:latin typeface="IBM Plex Sans" pitchFamily="34" charset="0"/>
                <a:ea typeface="IBM Plex Sans" pitchFamily="34" charset="-122"/>
                <a:cs typeface="IBM Plex Sans" pitchFamily="34" charset="-120"/>
              </a:rPr>
              <a:t>Saisie sur mobile</a:t>
            </a:r>
            <a:endParaRPr lang="en-US" sz="1300" dirty="0"/>
          </a:p>
        </p:txBody>
      </p:sp>
      <p:sp>
        <p:nvSpPr>
          <p:cNvPr id="28" name="nav:2-s15">
            <a:hlinkClick r:id="rIdNav2" action="ppaction://hlinksldjump"/>
          </p:cNvPr>
          <p:cNvSpPr/>
          <p:nvPr/>
        </p:nvSpPr>
        <p:spPr>
          <a:xfrm>
            <a:off x="10922000" y="254000"/>
            <a:ext cx="457200" cy="457200"/>
          </a:xfrm>
          <a:prstGeom prst="rect">
            <a:avLst/>
          </a:prstGeom>
          <a:solidFill>
            <a:srgbClr val="FFFFFF">
              <a:alpha val="0"/>
            </a:srgbClr>
          </a:solidFill>
          <a:ln/>
        </p:spPr>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1EFEA"/>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1EFEA"/>
          </a:solidFill>
          <a:ln w="19050">
            <a:solidFill>
              <a:srgbClr val="1C1917"/>
            </a:solidFill>
            <a:prstDash val="solid"/>
          </a:ln>
        </p:spPr>
      </p:sp>
      <p:sp>
        <p:nvSpPr>
          <p:cNvPr id="3" name="!!mk-bar"/>
          <p:cNvSpPr/>
          <p:nvPr/>
        </p:nvSpPr>
        <p:spPr>
          <a:xfrm>
            <a:off x="812800" y="6299200"/>
            <a:ext cx="7683500" cy="127000"/>
          </a:xfrm>
          <a:prstGeom prst="rect">
            <a:avLst/>
          </a:prstGeom>
          <a:solidFill>
            <a:srgbClr val="C2570C"/>
          </a:solidFill>
          <a:ln w="19050">
            <a:solidFill>
              <a:srgbClr val="1C1917"/>
            </a:solidFill>
            <a:prstDash val="solid"/>
          </a:ln>
        </p:spPr>
      </p:sp>
      <p:sp>
        <p:nvSpPr>
          <p:cNvPr id="4" name="!!mk-sq"/>
          <p:cNvSpPr/>
          <p:nvPr/>
        </p:nvSpPr>
        <p:spPr>
          <a:xfrm rot="-900000">
            <a:off x="10922000" y="254000"/>
            <a:ext cx="457200" cy="457200"/>
          </a:xfrm>
          <a:prstGeom prst="rect">
            <a:avLst/>
          </a:prstGeom>
          <a:solidFill>
            <a:srgbClr val="C2570C"/>
          </a:solidFill>
          <a:ln w="25400">
            <a:solidFill>
              <a:srgbClr val="1C1917"/>
            </a:solidFill>
            <a:prstDash val="solid"/>
          </a:ln>
          <a:effectLst>
            <a:outerShdw sx="100000" sy="100000" kx="0" ky="0" algn="bl" rotWithShape="0" blurRad="101600" dist="71831" dir="2700000">
              <a:srgbClr val="1C1917">
                <a:alpha val="100000"/>
              </a:srgbClr>
            </a:outerShdw>
          </a:effectLst>
        </p:spPr>
      </p:sp>
      <p:sp>
        <p:nvSpPr>
          <p:cNvPr id="5" name="!!mk-logos"/>
          <p:cNvSpPr/>
          <p:nvPr/>
        </p:nvSpPr>
        <p:spPr>
          <a:xfrm>
            <a:off x="8191500" y="279400"/>
            <a:ext cx="2476500" cy="355600"/>
          </a:xfrm>
          <a:prstGeom prst="rect">
            <a:avLst/>
          </a:prstGeom>
          <a:solidFill>
            <a:srgbClr val="FAF8F4"/>
          </a:solidFill>
          <a:ln w="19050">
            <a:solidFill>
              <a:srgbClr val="1C1917"/>
            </a:solidFill>
            <a:prstDash val="solid"/>
          </a:ln>
          <a:effectLst>
            <a:outerShdw sx="100000" sy="100000" kx="0" ky="0" algn="bl" rotWithShape="0" blurRad="101600" dist="53873" dir="2700000">
              <a:srgbClr val="1C1917">
                <a:alpha val="100000"/>
              </a:srgbClr>
            </a:outerShdw>
          </a:effectLst>
        </p:spPr>
      </p:sp>
      <p:pic>
        <p:nvPicPr>
          <p:cNvPr id="6" name="!!mk-logo-1" descr="Logo VINCI Facilities">    </p:cNvPr>
          <p:cNvPicPr>
            <a:picLocks noChangeAspect="1"/>
          </p:cNvPicPr>
          <p:nvPr/>
        </p:nvPicPr>
        <p:blipFill>
          <a:blip r:embed="rId1"/>
          <a:stretch>
            <a:fillRect/>
          </a:stretch>
        </p:blipFill>
        <p:spPr>
          <a:xfrm>
            <a:off x="8756650" y="330200"/>
            <a:ext cx="762000" cy="254000"/>
          </a:xfrm>
          <a:prstGeom prst="rect">
            <a:avLst/>
          </a:prstGeom>
        </p:spPr>
      </p:pic>
      <p:pic>
        <p:nvPicPr>
          <p:cNvPr id="7" name="!!mk-logo-2" descr="Logo Icam">    </p:cNvPr>
          <p:cNvPicPr>
            <a:picLocks noChangeAspect="1"/>
          </p:cNvPicPr>
          <p:nvPr/>
        </p:nvPicPr>
        <p:blipFill>
          <a:blip r:embed="rId2"/>
          <a:stretch>
            <a:fillRect/>
          </a:stretch>
        </p:blipFill>
        <p:spPr>
          <a:xfrm>
            <a:off x="9671050" y="330200"/>
            <a:ext cx="431800" cy="254000"/>
          </a:xfrm>
          <a:prstGeom prst="rect">
            <a:avLst/>
          </a:prstGeom>
        </p:spPr>
      </p:pic>
      <p:sp>
        <p:nvSpPr>
          <p:cNvPr id="8" name="Text 4-s16"/>
          <p:cNvSpPr txBox="1"/>
          <p:nvPr/>
        </p:nvSpPr>
        <p:spPr>
          <a:xfrm>
            <a:off x="812800" y="812800"/>
            <a:ext cx="10566400" cy="571500"/>
          </a:xfrm>
          <a:prstGeom prst="rect">
            <a:avLst/>
          </a:prstGeom>
          <a:noFill/>
          <a:ln/>
        </p:spPr>
        <p:txBody>
          <a:bodyPr wrap="square" lIns="0" tIns="0" rIns="0" bIns="0" rtlCol="0" anchor="t"/>
          <a:lstStyle/>
          <a:p>
            <a:pPr algn="l" indent="0" marL="0">
              <a:lnSpc>
                <a:spcPct val="87500"/>
              </a:lnSpc>
              <a:buNone/>
            </a:pPr>
            <a:r>
              <a:rPr lang="en-US" sz="3600" b="1" dirty="0">
                <a:solidFill>
                  <a:srgbClr val="1C1917"/>
                </a:solidFill>
                <a:latin typeface="Space Grotesk" pitchFamily="34" charset="0"/>
                <a:ea typeface="Space Grotesk" pitchFamily="34" charset="-122"/>
                <a:cs typeface="Space Grotesk" pitchFamily="34" charset="-120"/>
              </a:rPr>
              <a:t>Du formulaire papier au terrain</a:t>
            </a:r>
            <a:endParaRPr lang="en-US" sz="3600" dirty="0"/>
          </a:p>
        </p:txBody>
      </p:sp>
      <p:sp>
        <p:nvSpPr>
          <p:cNvPr id="9" name="!!shot-frame"/>
          <p:cNvSpPr/>
          <p:nvPr/>
        </p:nvSpPr>
        <p:spPr>
          <a:xfrm>
            <a:off x="812800" y="1587500"/>
            <a:ext cx="6096000" cy="4044950"/>
          </a:xfrm>
          <a:prstGeom prst="rect">
            <a:avLst/>
          </a:prstGeom>
          <a:solidFill>
            <a:srgbClr val="FAF8F4"/>
          </a:solidFill>
          <a:ln w="25400">
            <a:solidFill>
              <a:srgbClr val="1C1917"/>
            </a:solidFill>
            <a:prstDash val="solid"/>
          </a:ln>
          <a:effectLst>
            <a:outerShdw sx="100000" sy="100000" kx="0" ky="0" algn="bl" rotWithShape="0" blurRad="101600" dist="89789" dir="2700000">
              <a:srgbClr val="1C1917">
                <a:alpha val="100000"/>
              </a:srgbClr>
            </a:outerShdw>
          </a:effectLst>
        </p:spPr>
      </p:sp>
      <p:pic>
        <p:nvPicPr>
          <p:cNvPr id="10" name="!!shot-1" descr="Liste des formulaires Kizeo dans un tableur">    </p:cNvPr>
          <p:cNvPicPr>
            <a:picLocks noChangeAspect="1"/>
          </p:cNvPicPr>
          <p:nvPr/>
        </p:nvPicPr>
        <p:blipFill>
          <a:blip r:embed="rId3"/>
          <a:stretch>
            <a:fillRect/>
          </a:stretch>
        </p:blipFill>
        <p:spPr>
          <a:xfrm>
            <a:off x="838200" y="1612900"/>
            <a:ext cx="6045200" cy="3994150"/>
          </a:xfrm>
          <a:prstGeom prst="rect">
            <a:avLst/>
          </a:prstGeom>
        </p:spPr>
      </p:pic>
      <p:pic>
        <p:nvPicPr>
          <p:cNvPr id="11" name="!!shot-2" descr="Listes de données importées dans Teepee">    </p:cNvPr>
          <p:cNvPicPr>
            <a:picLocks noChangeAspect="1"/>
          </p:cNvPicPr>
          <p:nvPr/>
        </p:nvPicPr>
        <p:blipFill>
          <a:blip r:embed="rId4"/>
          <a:stretch>
            <a:fillRect/>
          </a:stretch>
        </p:blipFill>
        <p:spPr>
          <a:xfrm>
            <a:off x="12700000" y="1612900"/>
            <a:ext cx="6045200" cy="3994150"/>
          </a:xfrm>
          <a:prstGeom prst="rect">
            <a:avLst/>
          </a:prstGeom>
        </p:spPr>
      </p:pic>
      <p:pic>
        <p:nvPicPr>
          <p:cNvPr id="12" name="!!shot-3" descr="Éditeur de formulaire Teepee avec ses composants">    </p:cNvPr>
          <p:cNvPicPr>
            <a:picLocks noChangeAspect="1"/>
          </p:cNvPicPr>
          <p:nvPr/>
        </p:nvPicPr>
        <p:blipFill>
          <a:blip r:embed="rId5"/>
          <a:stretch>
            <a:fillRect/>
          </a:stretch>
        </p:blipFill>
        <p:spPr>
          <a:xfrm>
            <a:off x="12700000" y="1612900"/>
            <a:ext cx="6045200" cy="3994150"/>
          </a:xfrm>
          <a:prstGeom prst="rect">
            <a:avLst/>
          </a:prstGeom>
        </p:spPr>
      </p:pic>
      <p:pic>
        <p:nvPicPr>
          <p:cNvPr id="13" name="!!shot-4" descr="Schéma de workflow Teepee avec envoi de mails">    </p:cNvPr>
          <p:cNvPicPr>
            <a:picLocks noChangeAspect="1"/>
          </p:cNvPicPr>
          <p:nvPr/>
        </p:nvPicPr>
        <p:blipFill>
          <a:blip r:embed="rId6"/>
          <a:stretch>
            <a:fillRect/>
          </a:stretch>
        </p:blipFill>
        <p:spPr>
          <a:xfrm>
            <a:off x="12700000" y="1612900"/>
            <a:ext cx="6045200" cy="3994150"/>
          </a:xfrm>
          <a:prstGeom prst="rect">
            <a:avLst/>
          </a:prstGeom>
        </p:spPr>
      </p:pic>
      <p:pic>
        <p:nvPicPr>
          <p:cNvPr id="14" name="!!shot-5" descr="Application mobile Teepee : liste des formulaires et saisie">    </p:cNvPr>
          <p:cNvPicPr>
            <a:picLocks noChangeAspect="1"/>
          </p:cNvPicPr>
          <p:nvPr/>
        </p:nvPicPr>
        <p:blipFill>
          <a:blip r:embed="rId7"/>
          <a:stretch>
            <a:fillRect/>
          </a:stretch>
        </p:blipFill>
        <p:spPr>
          <a:xfrm>
            <a:off x="12700000" y="1612900"/>
            <a:ext cx="6045200" cy="3994150"/>
          </a:xfrm>
          <a:prstGeom prst="rect">
            <a:avLst/>
          </a:prstGeom>
        </p:spPr>
      </p:pic>
      <p:sp>
        <p:nvSpPr>
          <p:cNvPr id="15" name="!!cap-1"/>
          <p:cNvSpPr txBox="1"/>
          <p:nvPr/>
        </p:nvSpPr>
        <p:spPr>
          <a:xfrm>
            <a:off x="812800" y="5778500"/>
            <a:ext cx="6096000" cy="228600"/>
          </a:xfrm>
          <a:prstGeom prst="rect">
            <a:avLst/>
          </a:prstGeom>
          <a:noFill/>
          <a:ln/>
        </p:spPr>
        <p:txBody>
          <a:bodyPr wrap="square" lIns="0" tIns="0" rIns="0" bIns="0" rtlCol="0" anchor="t"/>
          <a:lstStyle/>
          <a:p>
            <a:pPr algn="l" indent="0" marL="0">
              <a:lnSpc>
                <a:spcPct val="108333"/>
              </a:lnSpc>
              <a:buNone/>
            </a:pPr>
            <a:r>
              <a:rPr lang="en-US" sz="1200" i="1" dirty="0">
                <a:solidFill>
                  <a:srgbClr val="57534E"/>
                </a:solidFill>
                <a:latin typeface="IBM Plex Sans" pitchFamily="34" charset="0"/>
                <a:ea typeface="IBM Plex Sans" pitchFamily="34" charset="-122"/>
                <a:cs typeface="IBM Plex Sans" pitchFamily="34" charset="-120"/>
              </a:rPr>
              <a:t>Figure 2 : cartographie des formulaires Kizeo</a:t>
            </a:r>
            <a:endParaRPr lang="en-US" sz="1200" dirty="0"/>
          </a:p>
        </p:txBody>
      </p:sp>
      <p:sp>
        <p:nvSpPr>
          <p:cNvPr id="16" name="!!cap-2"/>
          <p:cNvSpPr txBox="1"/>
          <p:nvPr/>
        </p:nvSpPr>
        <p:spPr>
          <a:xfrm>
            <a:off x="12700000" y="5778500"/>
            <a:ext cx="6096000" cy="228600"/>
          </a:xfrm>
          <a:prstGeom prst="rect">
            <a:avLst/>
          </a:prstGeom>
          <a:noFill/>
          <a:ln/>
        </p:spPr>
        <p:txBody>
          <a:bodyPr wrap="square" lIns="0" tIns="0" rIns="0" bIns="0" rtlCol="0" anchor="t"/>
          <a:lstStyle/>
          <a:p>
            <a:pPr algn="l" indent="0" marL="0">
              <a:lnSpc>
                <a:spcPct val="108333"/>
              </a:lnSpc>
              <a:buNone/>
            </a:pPr>
            <a:r>
              <a:rPr lang="en-US" sz="1200" i="1" dirty="0">
                <a:solidFill>
                  <a:srgbClr val="57534E"/>
                </a:solidFill>
                <a:latin typeface="IBM Plex Sans" pitchFamily="34" charset="0"/>
                <a:ea typeface="IBM Plex Sans" pitchFamily="34" charset="-122"/>
                <a:cs typeface="IBM Plex Sans" pitchFamily="34" charset="-120"/>
              </a:rPr>
              <a:t>Figure 3 : listes de données importées dans Teepee</a:t>
            </a:r>
            <a:endParaRPr lang="en-US" sz="1200" dirty="0"/>
          </a:p>
        </p:txBody>
      </p:sp>
      <p:sp>
        <p:nvSpPr>
          <p:cNvPr id="17" name="!!cap-3"/>
          <p:cNvSpPr txBox="1"/>
          <p:nvPr/>
        </p:nvSpPr>
        <p:spPr>
          <a:xfrm>
            <a:off x="12700000" y="5778500"/>
            <a:ext cx="6096000" cy="228600"/>
          </a:xfrm>
          <a:prstGeom prst="rect">
            <a:avLst/>
          </a:prstGeom>
          <a:noFill/>
          <a:ln/>
        </p:spPr>
        <p:txBody>
          <a:bodyPr wrap="square" lIns="0" tIns="0" rIns="0" bIns="0" rtlCol="0" anchor="t"/>
          <a:lstStyle/>
          <a:p>
            <a:pPr algn="l" indent="0" marL="0">
              <a:lnSpc>
                <a:spcPct val="108333"/>
              </a:lnSpc>
              <a:buNone/>
            </a:pPr>
            <a:r>
              <a:rPr lang="en-US" sz="1200" i="1" dirty="0">
                <a:solidFill>
                  <a:srgbClr val="57534E"/>
                </a:solidFill>
                <a:latin typeface="IBM Plex Sans" pitchFamily="34" charset="0"/>
                <a:ea typeface="IBM Plex Sans" pitchFamily="34" charset="-122"/>
                <a:cs typeface="IBM Plex Sans" pitchFamily="34" charset="-120"/>
              </a:rPr>
              <a:t>Figure 4 : paramétrage d’un formulaire dans Teepee</a:t>
            </a:r>
            <a:endParaRPr lang="en-US" sz="1200" dirty="0"/>
          </a:p>
        </p:txBody>
      </p:sp>
      <p:sp>
        <p:nvSpPr>
          <p:cNvPr id="18" name="!!cap-4"/>
          <p:cNvSpPr txBox="1"/>
          <p:nvPr/>
        </p:nvSpPr>
        <p:spPr>
          <a:xfrm>
            <a:off x="12700000" y="5778500"/>
            <a:ext cx="6096000" cy="228600"/>
          </a:xfrm>
          <a:prstGeom prst="rect">
            <a:avLst/>
          </a:prstGeom>
          <a:noFill/>
          <a:ln/>
        </p:spPr>
        <p:txBody>
          <a:bodyPr wrap="square" lIns="0" tIns="0" rIns="0" bIns="0" rtlCol="0" anchor="t"/>
          <a:lstStyle/>
          <a:p>
            <a:pPr algn="l" indent="0" marL="0">
              <a:lnSpc>
                <a:spcPct val="108333"/>
              </a:lnSpc>
              <a:buNone/>
            </a:pPr>
            <a:r>
              <a:rPr lang="en-US" sz="1200" i="1" dirty="0">
                <a:solidFill>
                  <a:srgbClr val="57534E"/>
                </a:solidFill>
                <a:latin typeface="IBM Plex Sans" pitchFamily="34" charset="0"/>
                <a:ea typeface="IBM Plex Sans" pitchFamily="34" charset="-122"/>
                <a:cs typeface="IBM Plex Sans" pitchFamily="34" charset="-120"/>
              </a:rPr>
              <a:t>Figure 5 : workflow d’envoi de mails</a:t>
            </a:r>
            <a:endParaRPr lang="en-US" sz="1200" dirty="0"/>
          </a:p>
        </p:txBody>
      </p:sp>
      <p:sp>
        <p:nvSpPr>
          <p:cNvPr id="19" name="!!cap-5"/>
          <p:cNvSpPr txBox="1"/>
          <p:nvPr/>
        </p:nvSpPr>
        <p:spPr>
          <a:xfrm>
            <a:off x="12700000" y="5778500"/>
            <a:ext cx="6096000" cy="228600"/>
          </a:xfrm>
          <a:prstGeom prst="rect">
            <a:avLst/>
          </a:prstGeom>
          <a:noFill/>
          <a:ln/>
        </p:spPr>
        <p:txBody>
          <a:bodyPr wrap="square" lIns="0" tIns="0" rIns="0" bIns="0" rtlCol="0" anchor="t"/>
          <a:lstStyle/>
          <a:p>
            <a:pPr algn="l" indent="0" marL="0">
              <a:lnSpc>
                <a:spcPct val="108333"/>
              </a:lnSpc>
              <a:buNone/>
            </a:pPr>
            <a:r>
              <a:rPr lang="en-US" sz="1200" i="1" dirty="0">
                <a:solidFill>
                  <a:srgbClr val="57534E"/>
                </a:solidFill>
                <a:latin typeface="IBM Plex Sans" pitchFamily="34" charset="0"/>
                <a:ea typeface="IBM Plex Sans" pitchFamily="34" charset="-122"/>
                <a:cs typeface="IBM Plex Sans" pitchFamily="34" charset="-120"/>
              </a:rPr>
              <a:t>Figure 6 : saisie d’un formulaire sur mobile</a:t>
            </a:r>
            <a:endParaRPr lang="en-US" sz="1200" dirty="0"/>
          </a:p>
        </p:txBody>
      </p:sp>
      <p:sp>
        <p:nvSpPr>
          <p:cNvPr id="20" name="!!it-L1"/>
          <p:cNvSpPr txBox="1"/>
          <p:nvPr/>
        </p:nvSpPr>
        <p:spPr>
          <a:xfrm>
            <a:off x="7213600" y="1587500"/>
            <a:ext cx="4165600" cy="215900"/>
          </a:xfrm>
          <a:prstGeom prst="rect">
            <a:avLst/>
          </a:prstGeom>
          <a:noFill/>
          <a:ln/>
        </p:spPr>
        <p:txBody>
          <a:bodyPr wrap="square" lIns="0" tIns="0" rIns="0" bIns="0" rtlCol="0" anchor="t"/>
          <a:lstStyle/>
          <a:p>
            <a:pPr algn="l" indent="0" marL="0">
              <a:lnSpc>
                <a:spcPct val="104167"/>
              </a:lnSpc>
              <a:buNone/>
            </a:pPr>
            <a:r>
              <a:rPr lang="en-US" sz="1200" b="1" spc="200" kern="0" dirty="0">
                <a:solidFill>
                  <a:srgbClr val="C2570C"/>
                </a:solidFill>
                <a:latin typeface="JetBrains Mono" pitchFamily="34" charset="0"/>
                <a:ea typeface="JetBrains Mono" pitchFamily="34" charset="-122"/>
                <a:cs typeface="JetBrains Mono" pitchFamily="34" charset="-120"/>
              </a:rPr>
              <a:t>PRÉPARATION</a:t>
            </a:r>
            <a:endParaRPr lang="en-US" sz="1200" dirty="0"/>
          </a:p>
        </p:txBody>
      </p:sp>
      <p:sp>
        <p:nvSpPr>
          <p:cNvPr id="21" name="!!it-0_0"/>
          <p:cNvSpPr txBox="1"/>
          <p:nvPr/>
        </p:nvSpPr>
        <p:spPr>
          <a:xfrm>
            <a:off x="7213600" y="1879600"/>
            <a:ext cx="4165600" cy="228600"/>
          </a:xfrm>
          <a:prstGeom prst="rect">
            <a:avLst/>
          </a:prstGeom>
          <a:noFill/>
          <a:ln/>
        </p:spPr>
        <p:txBody>
          <a:bodyPr wrap="square" lIns="0" tIns="0" rIns="0" bIns="0" rtlCol="0" anchor="t"/>
          <a:lstStyle/>
          <a:p>
            <a:pPr algn="l" indent="0" marL="0">
              <a:lnSpc>
                <a:spcPct val="108333"/>
              </a:lnSpc>
              <a:buNone/>
            </a:pPr>
            <a:r>
              <a:rPr lang="en-US" sz="1300" dirty="0">
                <a:solidFill>
                  <a:srgbClr val="1C1917"/>
                </a:solidFill>
                <a:latin typeface="IBM Plex Sans" pitchFamily="34" charset="0"/>
                <a:ea typeface="IBM Plex Sans" pitchFamily="34" charset="-122"/>
                <a:cs typeface="IBM Plex Sans" pitchFamily="34" charset="-120"/>
              </a:rPr>
              <a:t>Cartographie des formulaires</a:t>
            </a:r>
            <a:endParaRPr lang="en-US" sz="1300" dirty="0"/>
          </a:p>
        </p:txBody>
      </p:sp>
      <p:sp>
        <p:nvSpPr>
          <p:cNvPr id="22" name="!!it-0_1"/>
          <p:cNvSpPr txBox="1"/>
          <p:nvPr/>
        </p:nvSpPr>
        <p:spPr>
          <a:xfrm>
            <a:off x="7213600" y="2133600"/>
            <a:ext cx="4165600" cy="228600"/>
          </a:xfrm>
          <a:prstGeom prst="rect">
            <a:avLst/>
          </a:prstGeom>
          <a:noFill/>
          <a:ln/>
        </p:spPr>
        <p:txBody>
          <a:bodyPr wrap="square" lIns="0" tIns="0" rIns="0" bIns="0" rtlCol="0" anchor="t"/>
          <a:lstStyle/>
          <a:p>
            <a:pPr algn="l" indent="0" marL="0">
              <a:lnSpc>
                <a:spcPct val="108333"/>
              </a:lnSpc>
              <a:buNone/>
            </a:pPr>
            <a:r>
              <a:rPr lang="en-US" sz="1300" dirty="0">
                <a:solidFill>
                  <a:srgbClr val="1C1917"/>
                </a:solidFill>
                <a:latin typeface="IBM Plex Sans" pitchFamily="34" charset="0"/>
                <a:ea typeface="IBM Plex Sans" pitchFamily="34" charset="-122"/>
                <a:cs typeface="IBM Plex Sans" pitchFamily="34" charset="-120"/>
              </a:rPr>
              <a:t>Import des données</a:t>
            </a:r>
            <a:endParaRPr lang="en-US" sz="1300" dirty="0"/>
          </a:p>
        </p:txBody>
      </p:sp>
      <p:sp>
        <p:nvSpPr>
          <p:cNvPr id="23" name="!!it-L2"/>
          <p:cNvSpPr txBox="1"/>
          <p:nvPr/>
        </p:nvSpPr>
        <p:spPr>
          <a:xfrm>
            <a:off x="7213600" y="2501900"/>
            <a:ext cx="4165600" cy="215900"/>
          </a:xfrm>
          <a:prstGeom prst="rect">
            <a:avLst/>
          </a:prstGeom>
          <a:noFill/>
          <a:ln/>
        </p:spPr>
        <p:txBody>
          <a:bodyPr wrap="square" lIns="0" tIns="0" rIns="0" bIns="0" rtlCol="0" anchor="t"/>
          <a:lstStyle/>
          <a:p>
            <a:pPr algn="l" indent="0" marL="0">
              <a:lnSpc>
                <a:spcPct val="104167"/>
              </a:lnSpc>
              <a:buNone/>
            </a:pPr>
            <a:r>
              <a:rPr lang="en-US" sz="1200" b="1" spc="200" kern="0" dirty="0">
                <a:solidFill>
                  <a:srgbClr val="C2570C"/>
                </a:solidFill>
                <a:latin typeface="JetBrains Mono" pitchFamily="34" charset="0"/>
                <a:ea typeface="JetBrains Mono" pitchFamily="34" charset="-122"/>
                <a:cs typeface="JetBrains Mono" pitchFamily="34" charset="-120"/>
              </a:rPr>
              <a:t>PARAMÉTRAGE</a:t>
            </a:r>
            <a:endParaRPr lang="en-US" sz="1200" dirty="0"/>
          </a:p>
        </p:txBody>
      </p:sp>
      <p:sp>
        <p:nvSpPr>
          <p:cNvPr id="24" name="!!it-1_0"/>
          <p:cNvSpPr txBox="1"/>
          <p:nvPr/>
        </p:nvSpPr>
        <p:spPr>
          <a:xfrm>
            <a:off x="7213600" y="2794000"/>
            <a:ext cx="4165600" cy="228600"/>
          </a:xfrm>
          <a:prstGeom prst="rect">
            <a:avLst/>
          </a:prstGeom>
          <a:noFill/>
          <a:ln/>
        </p:spPr>
        <p:txBody>
          <a:bodyPr wrap="square" lIns="0" tIns="0" rIns="0" bIns="0" rtlCol="0" anchor="t"/>
          <a:lstStyle/>
          <a:p>
            <a:pPr algn="l" indent="0" marL="0">
              <a:lnSpc>
                <a:spcPct val="108333"/>
              </a:lnSpc>
              <a:buNone/>
            </a:pPr>
            <a:r>
              <a:rPr lang="en-US" sz="1300" dirty="0">
                <a:solidFill>
                  <a:srgbClr val="1C1917"/>
                </a:solidFill>
                <a:latin typeface="IBM Plex Sans" pitchFamily="34" charset="0"/>
                <a:ea typeface="IBM Plex Sans" pitchFamily="34" charset="-122"/>
                <a:cs typeface="IBM Plex Sans" pitchFamily="34" charset="-120"/>
              </a:rPr>
              <a:t>Formulaires Teepee</a:t>
            </a:r>
            <a:endParaRPr lang="en-US" sz="1300" dirty="0"/>
          </a:p>
        </p:txBody>
      </p:sp>
      <p:sp>
        <p:nvSpPr>
          <p:cNvPr id="25" name="!!it-1_1"/>
          <p:cNvSpPr txBox="1"/>
          <p:nvPr/>
        </p:nvSpPr>
        <p:spPr>
          <a:xfrm>
            <a:off x="7213600" y="3048000"/>
            <a:ext cx="4165600" cy="228600"/>
          </a:xfrm>
          <a:prstGeom prst="rect">
            <a:avLst/>
          </a:prstGeom>
          <a:noFill/>
          <a:ln/>
        </p:spPr>
        <p:txBody>
          <a:bodyPr wrap="square" lIns="0" tIns="0" rIns="0" bIns="0" rtlCol="0" anchor="t"/>
          <a:lstStyle/>
          <a:p>
            <a:pPr algn="l" indent="0" marL="0">
              <a:lnSpc>
                <a:spcPct val="108333"/>
              </a:lnSpc>
              <a:buNone/>
            </a:pPr>
            <a:r>
              <a:rPr lang="en-US" sz="1300" dirty="0">
                <a:solidFill>
                  <a:srgbClr val="1C1917"/>
                </a:solidFill>
                <a:latin typeface="IBM Plex Sans" pitchFamily="34" charset="0"/>
                <a:ea typeface="IBM Plex Sans" pitchFamily="34" charset="-122"/>
                <a:cs typeface="IBM Plex Sans" pitchFamily="34" charset="-120"/>
              </a:rPr>
              <a:t>Workflows</a:t>
            </a:r>
            <a:endParaRPr lang="en-US" sz="1300" dirty="0"/>
          </a:p>
        </p:txBody>
      </p:sp>
      <p:sp>
        <p:nvSpPr>
          <p:cNvPr id="26" name="!!it-L3"/>
          <p:cNvSpPr txBox="1"/>
          <p:nvPr/>
        </p:nvSpPr>
        <p:spPr>
          <a:xfrm>
            <a:off x="7213600" y="3416300"/>
            <a:ext cx="4165600" cy="215900"/>
          </a:xfrm>
          <a:prstGeom prst="rect">
            <a:avLst/>
          </a:prstGeom>
          <a:noFill/>
          <a:ln/>
        </p:spPr>
        <p:txBody>
          <a:bodyPr wrap="square" lIns="0" tIns="0" rIns="0" bIns="0" rtlCol="0" anchor="t"/>
          <a:lstStyle/>
          <a:p>
            <a:pPr algn="l" indent="0" marL="0">
              <a:lnSpc>
                <a:spcPct val="104167"/>
              </a:lnSpc>
              <a:buNone/>
            </a:pPr>
            <a:r>
              <a:rPr lang="en-US" sz="1200" b="1" spc="200" kern="0" dirty="0">
                <a:solidFill>
                  <a:srgbClr val="C2570C"/>
                </a:solidFill>
                <a:latin typeface="JetBrains Mono" pitchFamily="34" charset="0"/>
                <a:ea typeface="JetBrains Mono" pitchFamily="34" charset="-122"/>
                <a:cs typeface="JetBrains Mono" pitchFamily="34" charset="-120"/>
              </a:rPr>
              <a:t>TERRAIN</a:t>
            </a:r>
            <a:endParaRPr lang="en-US" sz="1200" dirty="0"/>
          </a:p>
        </p:txBody>
      </p:sp>
      <p:sp>
        <p:nvSpPr>
          <p:cNvPr id="27" name="!!it-2_0"/>
          <p:cNvSpPr txBox="1"/>
          <p:nvPr/>
        </p:nvSpPr>
        <p:spPr>
          <a:xfrm>
            <a:off x="7213600" y="3708400"/>
            <a:ext cx="4165600" cy="228600"/>
          </a:xfrm>
          <a:prstGeom prst="rect">
            <a:avLst/>
          </a:prstGeom>
          <a:noFill/>
          <a:ln/>
        </p:spPr>
        <p:txBody>
          <a:bodyPr wrap="square" lIns="0" tIns="0" rIns="0" bIns="0" rtlCol="0" anchor="t"/>
          <a:lstStyle/>
          <a:p>
            <a:pPr algn="l" indent="0" marL="0">
              <a:lnSpc>
                <a:spcPct val="108333"/>
              </a:lnSpc>
              <a:buNone/>
            </a:pPr>
            <a:r>
              <a:rPr lang="en-US" sz="1300" dirty="0">
                <a:solidFill>
                  <a:srgbClr val="1C1917"/>
                </a:solidFill>
                <a:latin typeface="IBM Plex Sans" pitchFamily="34" charset="0"/>
                <a:ea typeface="IBM Plex Sans" pitchFamily="34" charset="-122"/>
                <a:cs typeface="IBM Plex Sans" pitchFamily="34" charset="-120"/>
              </a:rPr>
              <a:t>Saisie sur mobile</a:t>
            </a:r>
            <a:endParaRPr lang="en-US" sz="1300" dirty="0"/>
          </a:p>
        </p:txBody>
      </p:sp>
      <p:sp>
        <p:nvSpPr>
          <p:cNvPr id="28" name="!!it-2_1"/>
          <p:cNvSpPr txBox="1"/>
          <p:nvPr/>
        </p:nvSpPr>
        <p:spPr>
          <a:xfrm>
            <a:off x="7213600" y="3962400"/>
            <a:ext cx="4165600" cy="228600"/>
          </a:xfrm>
          <a:prstGeom prst="rect">
            <a:avLst/>
          </a:prstGeom>
          <a:noFill/>
          <a:ln/>
        </p:spPr>
        <p:txBody>
          <a:bodyPr wrap="square" lIns="0" tIns="0" rIns="0" bIns="0" rtlCol="0" anchor="t"/>
          <a:lstStyle/>
          <a:p>
            <a:pPr algn="l" indent="0" marL="0">
              <a:lnSpc>
                <a:spcPct val="108333"/>
              </a:lnSpc>
              <a:buNone/>
            </a:pPr>
            <a:r>
              <a:rPr lang="en-US" sz="1300" b="1" dirty="0">
                <a:solidFill>
                  <a:srgbClr val="C2570C"/>
                </a:solidFill>
                <a:latin typeface="IBM Plex Sans" pitchFamily="34" charset="0"/>
                <a:ea typeface="IBM Plex Sans" pitchFamily="34" charset="-122"/>
                <a:cs typeface="IBM Plex Sans" pitchFamily="34" charset="-120"/>
              </a:rPr>
              <a:t>Modèles d’export</a:t>
            </a:r>
            <a:endParaRPr lang="en-US" sz="1300" dirty="0"/>
          </a:p>
        </p:txBody>
      </p:sp>
      <p:sp>
        <p:nvSpPr>
          <p:cNvPr id="29" name="!!it-2_2"/>
          <p:cNvSpPr txBox="1"/>
          <p:nvPr/>
        </p:nvSpPr>
        <p:spPr>
          <a:xfrm>
            <a:off x="7213600" y="4216400"/>
            <a:ext cx="4165600" cy="228600"/>
          </a:xfrm>
          <a:prstGeom prst="rect">
            <a:avLst/>
          </a:prstGeom>
          <a:noFill/>
          <a:ln/>
        </p:spPr>
        <p:txBody>
          <a:bodyPr wrap="square" lIns="0" tIns="0" rIns="0" bIns="0" rtlCol="0" anchor="t"/>
          <a:lstStyle/>
          <a:p>
            <a:pPr algn="l" indent="0" marL="0">
              <a:lnSpc>
                <a:spcPct val="108333"/>
              </a:lnSpc>
              <a:buNone/>
            </a:pPr>
            <a:r>
              <a:rPr lang="en-US" sz="1300" b="1" dirty="0">
                <a:solidFill>
                  <a:srgbClr val="C2570C"/>
                </a:solidFill>
                <a:latin typeface="IBM Plex Sans" pitchFamily="34" charset="0"/>
                <a:ea typeface="IBM Plex Sans" pitchFamily="34" charset="-122"/>
                <a:cs typeface="IBM Plex Sans" pitchFamily="34" charset="-120"/>
              </a:rPr>
              <a:t>Supports de formation</a:t>
            </a:r>
            <a:endParaRPr lang="en-US" sz="1300" dirty="0"/>
          </a:p>
        </p:txBody>
      </p:sp>
      <p:sp>
        <p:nvSpPr>
          <p:cNvPr id="30" name="!!it-2_3"/>
          <p:cNvSpPr txBox="1"/>
          <p:nvPr/>
        </p:nvSpPr>
        <p:spPr>
          <a:xfrm>
            <a:off x="7213600" y="4470400"/>
            <a:ext cx="4165600" cy="228600"/>
          </a:xfrm>
          <a:prstGeom prst="rect">
            <a:avLst/>
          </a:prstGeom>
          <a:noFill/>
          <a:ln/>
        </p:spPr>
        <p:txBody>
          <a:bodyPr wrap="square" lIns="0" tIns="0" rIns="0" bIns="0" rtlCol="0" anchor="t"/>
          <a:lstStyle/>
          <a:p>
            <a:pPr algn="l" indent="0" marL="0">
              <a:lnSpc>
                <a:spcPct val="108333"/>
              </a:lnSpc>
              <a:buNone/>
            </a:pPr>
            <a:r>
              <a:rPr lang="en-US" sz="1300" b="1" dirty="0">
                <a:solidFill>
                  <a:srgbClr val="C2570C"/>
                </a:solidFill>
                <a:latin typeface="IBM Plex Sans" pitchFamily="34" charset="0"/>
                <a:ea typeface="IBM Plex Sans" pitchFamily="34" charset="-122"/>
                <a:cs typeface="IBM Plex Sans" pitchFamily="34" charset="-120"/>
              </a:rPr>
              <a:t>Journal des anomalies</a:t>
            </a:r>
            <a:endParaRPr lang="en-US" sz="1300" dirty="0"/>
          </a:p>
        </p:txBody>
      </p:sp>
      <p:sp>
        <p:nvSpPr>
          <p:cNvPr id="31" name="nav:2-s16">
            <a:hlinkClick r:id="rIdNav2" action="ppaction://hlinksldjump"/>
          </p:cNvPr>
          <p:cNvSpPr/>
          <p:nvPr/>
        </p:nvSpPr>
        <p:spPr>
          <a:xfrm>
            <a:off x="10922000" y="254000"/>
            <a:ext cx="457200" cy="457200"/>
          </a:xfrm>
          <a:prstGeom prst="rect">
            <a:avLst/>
          </a:prstGeom>
          <a:solidFill>
            <a:srgbClr val="FFFFFF">
              <a:alpha val="0"/>
            </a:srgbClr>
          </a:solidFill>
          <a:ln/>
        </p:spPr>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1EFEA"/>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1EFEA"/>
          </a:solidFill>
          <a:ln w="19050">
            <a:solidFill>
              <a:srgbClr val="1C1917"/>
            </a:solidFill>
            <a:prstDash val="solid"/>
          </a:ln>
        </p:spPr>
      </p:sp>
      <p:sp>
        <p:nvSpPr>
          <p:cNvPr id="3" name="!!mk-bar"/>
          <p:cNvSpPr/>
          <p:nvPr/>
        </p:nvSpPr>
        <p:spPr>
          <a:xfrm>
            <a:off x="812800" y="6299200"/>
            <a:ext cx="8166100" cy="127000"/>
          </a:xfrm>
          <a:prstGeom prst="rect">
            <a:avLst/>
          </a:prstGeom>
          <a:solidFill>
            <a:srgbClr val="C2570C"/>
          </a:solidFill>
          <a:ln w="19050">
            <a:solidFill>
              <a:srgbClr val="1C1917"/>
            </a:solidFill>
            <a:prstDash val="solid"/>
          </a:ln>
        </p:spPr>
      </p:sp>
      <p:sp>
        <p:nvSpPr>
          <p:cNvPr id="4" name="!!mk-sq"/>
          <p:cNvSpPr/>
          <p:nvPr/>
        </p:nvSpPr>
        <p:spPr>
          <a:xfrm rot="-900000">
            <a:off x="10922000" y="254000"/>
            <a:ext cx="457200" cy="457200"/>
          </a:xfrm>
          <a:prstGeom prst="rect">
            <a:avLst/>
          </a:prstGeom>
          <a:solidFill>
            <a:srgbClr val="C2570C"/>
          </a:solidFill>
          <a:ln w="25400">
            <a:solidFill>
              <a:srgbClr val="1C1917"/>
            </a:solidFill>
            <a:prstDash val="solid"/>
          </a:ln>
          <a:effectLst>
            <a:outerShdw sx="100000" sy="100000" kx="0" ky="0" algn="bl" rotWithShape="0" blurRad="101600" dist="71831" dir="2700000">
              <a:srgbClr val="1C1917">
                <a:alpha val="100000"/>
              </a:srgbClr>
            </a:outerShdw>
          </a:effectLst>
        </p:spPr>
      </p:sp>
      <p:sp>
        <p:nvSpPr>
          <p:cNvPr id="5" name="!!mk-logos"/>
          <p:cNvSpPr/>
          <p:nvPr/>
        </p:nvSpPr>
        <p:spPr>
          <a:xfrm>
            <a:off x="8191500" y="279400"/>
            <a:ext cx="2476500" cy="355600"/>
          </a:xfrm>
          <a:prstGeom prst="rect">
            <a:avLst/>
          </a:prstGeom>
          <a:solidFill>
            <a:srgbClr val="FAF8F4"/>
          </a:solidFill>
          <a:ln w="19050">
            <a:solidFill>
              <a:srgbClr val="1C1917"/>
            </a:solidFill>
            <a:prstDash val="solid"/>
          </a:ln>
          <a:effectLst>
            <a:outerShdw sx="100000" sy="100000" kx="0" ky="0" algn="bl" rotWithShape="0" blurRad="101600" dist="53873" dir="2700000">
              <a:srgbClr val="1C1917">
                <a:alpha val="100000"/>
              </a:srgbClr>
            </a:outerShdw>
          </a:effectLst>
        </p:spPr>
      </p:sp>
      <p:pic>
        <p:nvPicPr>
          <p:cNvPr id="6" name="!!mk-logo-1" descr="Logo VINCI Facilities">    </p:cNvPr>
          <p:cNvPicPr>
            <a:picLocks noChangeAspect="1"/>
          </p:cNvPicPr>
          <p:nvPr/>
        </p:nvPicPr>
        <p:blipFill>
          <a:blip r:embed="rId1"/>
          <a:stretch>
            <a:fillRect/>
          </a:stretch>
        </p:blipFill>
        <p:spPr>
          <a:xfrm>
            <a:off x="8756650" y="330200"/>
            <a:ext cx="762000" cy="254000"/>
          </a:xfrm>
          <a:prstGeom prst="rect">
            <a:avLst/>
          </a:prstGeom>
        </p:spPr>
      </p:pic>
      <p:pic>
        <p:nvPicPr>
          <p:cNvPr id="7" name="!!mk-logo-2" descr="Logo Icam">    </p:cNvPr>
          <p:cNvPicPr>
            <a:picLocks noChangeAspect="1"/>
          </p:cNvPicPr>
          <p:nvPr/>
        </p:nvPicPr>
        <p:blipFill>
          <a:blip r:embed="rId2"/>
          <a:stretch>
            <a:fillRect/>
          </a:stretch>
        </p:blipFill>
        <p:spPr>
          <a:xfrm>
            <a:off x="9671050" y="330200"/>
            <a:ext cx="431800" cy="254000"/>
          </a:xfrm>
          <a:prstGeom prst="rect">
            <a:avLst/>
          </a:prstGeom>
        </p:spPr>
      </p:pic>
      <p:sp>
        <p:nvSpPr>
          <p:cNvPr id="8" name="Text 4-s17"/>
          <p:cNvSpPr txBox="1"/>
          <p:nvPr/>
        </p:nvSpPr>
        <p:spPr>
          <a:xfrm>
            <a:off x="812800" y="812800"/>
            <a:ext cx="10566400" cy="571500"/>
          </a:xfrm>
          <a:prstGeom prst="rect">
            <a:avLst/>
          </a:prstGeom>
          <a:noFill/>
          <a:ln/>
        </p:spPr>
        <p:txBody>
          <a:bodyPr wrap="square" lIns="0" tIns="0" rIns="0" bIns="0" rtlCol="0" anchor="t"/>
          <a:lstStyle/>
          <a:p>
            <a:pPr algn="l" indent="0" marL="0">
              <a:lnSpc>
                <a:spcPct val="87500"/>
              </a:lnSpc>
              <a:buNone/>
            </a:pPr>
            <a:r>
              <a:rPr lang="en-US" sz="3600" b="1" dirty="0">
                <a:solidFill>
                  <a:srgbClr val="1C1917"/>
                </a:solidFill>
                <a:latin typeface="Space Grotesk" pitchFamily="34" charset="0"/>
                <a:ea typeface="Space Grotesk" pitchFamily="34" charset="-122"/>
                <a:cs typeface="Space Grotesk" pitchFamily="34" charset="-120"/>
              </a:rPr>
              <a:t>Des résultats chiffrés</a:t>
            </a:r>
            <a:endParaRPr lang="en-US" sz="3600" dirty="0"/>
          </a:p>
        </p:txBody>
      </p:sp>
      <p:sp>
        <p:nvSpPr>
          <p:cNvPr id="9" name="Shape 5-s17"/>
          <p:cNvSpPr/>
          <p:nvPr/>
        </p:nvSpPr>
        <p:spPr>
          <a:xfrm>
            <a:off x="812800" y="1587500"/>
            <a:ext cx="5181600" cy="1625600"/>
          </a:xfrm>
          <a:prstGeom prst="rect">
            <a:avLst/>
          </a:prstGeom>
          <a:solidFill>
            <a:srgbClr val="FAF8F4"/>
          </a:solidFill>
          <a:ln w="25400">
            <a:solidFill>
              <a:srgbClr val="1C1917"/>
            </a:solidFill>
            <a:prstDash val="solid"/>
          </a:ln>
          <a:effectLst>
            <a:outerShdw sx="100000" sy="100000" kx="0" ky="0" algn="bl" rotWithShape="0" blurRad="101600" dist="89789" dir="2700000">
              <a:srgbClr val="1C1917">
                <a:alpha val="100000"/>
              </a:srgbClr>
            </a:outerShdw>
          </a:effectLst>
        </p:spPr>
      </p:sp>
      <p:sp>
        <p:nvSpPr>
          <p:cNvPr id="10" name="Text 6-s17"/>
          <p:cNvSpPr txBox="1"/>
          <p:nvPr/>
        </p:nvSpPr>
        <p:spPr>
          <a:xfrm>
            <a:off x="1041400" y="1714500"/>
            <a:ext cx="4724400" cy="698500"/>
          </a:xfrm>
          <a:prstGeom prst="rect">
            <a:avLst/>
          </a:prstGeom>
          <a:noFill/>
          <a:ln/>
        </p:spPr>
        <p:txBody>
          <a:bodyPr wrap="square" lIns="0" tIns="0" rIns="0" bIns="0" rtlCol="0" anchor="t"/>
          <a:lstStyle/>
          <a:p>
            <a:pPr algn="l" indent="0" marL="0">
              <a:lnSpc>
                <a:spcPct val="91667"/>
              </a:lnSpc>
              <a:buNone/>
            </a:pPr>
            <a:r>
              <a:rPr lang="en-US" sz="4800" b="1" dirty="0">
                <a:solidFill>
                  <a:srgbClr val="C2570C"/>
                </a:solidFill>
                <a:latin typeface="Space Grotesk" pitchFamily="34" charset="0"/>
                <a:ea typeface="Space Grotesk" pitchFamily="34" charset="-122"/>
                <a:cs typeface="Space Grotesk" pitchFamily="34" charset="-120"/>
              </a:rPr>
              <a:t>100 %</a:t>
            </a:r>
            <a:endParaRPr lang="en-US" sz="4800" dirty="0"/>
          </a:p>
        </p:txBody>
      </p:sp>
      <p:sp>
        <p:nvSpPr>
          <p:cNvPr id="11" name="Text 7-s17"/>
          <p:cNvSpPr txBox="1"/>
          <p:nvPr/>
        </p:nvSpPr>
        <p:spPr>
          <a:xfrm>
            <a:off x="1041400" y="2476500"/>
            <a:ext cx="4724400" cy="609600"/>
          </a:xfrm>
          <a:prstGeom prst="rect">
            <a:avLst/>
          </a:prstGeom>
          <a:noFill/>
          <a:ln/>
        </p:spPr>
        <p:txBody>
          <a:bodyPr wrap="square" lIns="0" tIns="0" rIns="0" bIns="0" rtlCol="0" anchor="t"/>
          <a:lstStyle/>
          <a:p>
            <a:pPr algn="l" indent="0" marL="0">
              <a:lnSpc>
                <a:spcPct val="108333"/>
              </a:lnSpc>
              <a:buNone/>
            </a:pPr>
            <a:r>
              <a:rPr lang="en-US" sz="1600" dirty="0">
                <a:solidFill>
                  <a:srgbClr val="1C1917"/>
                </a:solidFill>
                <a:latin typeface="IBM Plex Sans" pitchFamily="34" charset="0"/>
                <a:ea typeface="IBM Plex Sans" pitchFamily="34" charset="-122"/>
                <a:cs typeface="IBM Plex Sans" pitchFamily="34" charset="-120"/>
              </a:rPr>
              <a:t>des formulaires actifs migrés vers Teepee</a:t>
            </a:r>
            <a:endParaRPr lang="en-US" sz="1600" dirty="0"/>
          </a:p>
        </p:txBody>
      </p:sp>
      <p:sp>
        <p:nvSpPr>
          <p:cNvPr id="12" name="Shape 8-s17"/>
          <p:cNvSpPr/>
          <p:nvPr/>
        </p:nvSpPr>
        <p:spPr>
          <a:xfrm>
            <a:off x="6197600" y="1587500"/>
            <a:ext cx="5181600" cy="1625600"/>
          </a:xfrm>
          <a:prstGeom prst="rect">
            <a:avLst/>
          </a:prstGeom>
          <a:solidFill>
            <a:srgbClr val="FAF8F4"/>
          </a:solidFill>
          <a:ln w="25400">
            <a:solidFill>
              <a:srgbClr val="1C1917"/>
            </a:solidFill>
            <a:prstDash val="solid"/>
          </a:ln>
          <a:effectLst>
            <a:outerShdw sx="100000" sy="100000" kx="0" ky="0" algn="bl" rotWithShape="0" blurRad="101600" dist="89789" dir="2700000">
              <a:srgbClr val="1C1917">
                <a:alpha val="100000"/>
              </a:srgbClr>
            </a:outerShdw>
          </a:effectLst>
        </p:spPr>
      </p:sp>
      <p:sp>
        <p:nvSpPr>
          <p:cNvPr id="13" name="Text 9-s17"/>
          <p:cNvSpPr txBox="1"/>
          <p:nvPr/>
        </p:nvSpPr>
        <p:spPr>
          <a:xfrm>
            <a:off x="6426200" y="1714500"/>
            <a:ext cx="4724400" cy="698500"/>
          </a:xfrm>
          <a:prstGeom prst="rect">
            <a:avLst/>
          </a:prstGeom>
          <a:noFill/>
          <a:ln/>
        </p:spPr>
        <p:txBody>
          <a:bodyPr wrap="square" lIns="0" tIns="0" rIns="0" bIns="0" rtlCol="0" anchor="t"/>
          <a:lstStyle/>
          <a:p>
            <a:pPr algn="l" indent="0" marL="0">
              <a:lnSpc>
                <a:spcPct val="91667"/>
              </a:lnSpc>
              <a:buNone/>
            </a:pPr>
            <a:r>
              <a:rPr lang="en-US" sz="4800" b="1" dirty="0">
                <a:solidFill>
                  <a:srgbClr val="C2570C"/>
                </a:solidFill>
                <a:latin typeface="Space Grotesk" pitchFamily="34" charset="0"/>
                <a:ea typeface="Space Grotesk" pitchFamily="34" charset="-122"/>
                <a:cs typeface="Space Grotesk" pitchFamily="34" charset="-120"/>
              </a:rPr>
              <a:t>≈ 77 %</a:t>
            </a:r>
            <a:endParaRPr lang="en-US" sz="4800" dirty="0"/>
          </a:p>
        </p:txBody>
      </p:sp>
      <p:sp>
        <p:nvSpPr>
          <p:cNvPr id="14" name="Text 10-s17"/>
          <p:cNvSpPr txBox="1"/>
          <p:nvPr/>
        </p:nvSpPr>
        <p:spPr>
          <a:xfrm>
            <a:off x="6426200" y="2476500"/>
            <a:ext cx="4724400" cy="609600"/>
          </a:xfrm>
          <a:prstGeom prst="rect">
            <a:avLst/>
          </a:prstGeom>
          <a:noFill/>
          <a:ln/>
        </p:spPr>
        <p:txBody>
          <a:bodyPr wrap="square" lIns="0" tIns="0" rIns="0" bIns="0" rtlCol="0" anchor="t"/>
          <a:lstStyle/>
          <a:p>
            <a:pPr algn="l" indent="0" marL="0">
              <a:lnSpc>
                <a:spcPct val="108333"/>
              </a:lnSpc>
              <a:buNone/>
            </a:pPr>
            <a:r>
              <a:rPr lang="en-US" sz="1600" dirty="0">
                <a:solidFill>
                  <a:srgbClr val="1C1917"/>
                </a:solidFill>
                <a:latin typeface="IBM Plex Sans" pitchFamily="34" charset="0"/>
                <a:ea typeface="IBM Plex Sans" pitchFamily="34" charset="-122"/>
                <a:cs typeface="IBM Plex Sans" pitchFamily="34" charset="-120"/>
              </a:rPr>
              <a:t>d’utilisateurs formés (70 sur 91), tous les actifs</a:t>
            </a:r>
            <a:endParaRPr lang="en-US" sz="1600" dirty="0"/>
          </a:p>
        </p:txBody>
      </p:sp>
      <p:sp>
        <p:nvSpPr>
          <p:cNvPr id="15" name="Shape 11-s17"/>
          <p:cNvSpPr/>
          <p:nvPr/>
        </p:nvSpPr>
        <p:spPr>
          <a:xfrm>
            <a:off x="812800" y="3390900"/>
            <a:ext cx="5181600" cy="1625600"/>
          </a:xfrm>
          <a:prstGeom prst="rect">
            <a:avLst/>
          </a:prstGeom>
          <a:solidFill>
            <a:srgbClr val="FAF8F4"/>
          </a:solidFill>
          <a:ln w="25400">
            <a:solidFill>
              <a:srgbClr val="1C1917"/>
            </a:solidFill>
            <a:prstDash val="solid"/>
          </a:ln>
          <a:effectLst>
            <a:outerShdw sx="100000" sy="100000" kx="0" ky="0" algn="bl" rotWithShape="0" blurRad="101600" dist="89789" dir="2700000">
              <a:srgbClr val="1C1917">
                <a:alpha val="100000"/>
              </a:srgbClr>
            </a:outerShdw>
          </a:effectLst>
        </p:spPr>
      </p:sp>
      <p:sp>
        <p:nvSpPr>
          <p:cNvPr id="16" name="Text 12-s17"/>
          <p:cNvSpPr txBox="1"/>
          <p:nvPr/>
        </p:nvSpPr>
        <p:spPr>
          <a:xfrm>
            <a:off x="1041400" y="3517900"/>
            <a:ext cx="4724400" cy="698500"/>
          </a:xfrm>
          <a:prstGeom prst="rect">
            <a:avLst/>
          </a:prstGeom>
          <a:noFill/>
          <a:ln/>
        </p:spPr>
        <p:txBody>
          <a:bodyPr wrap="square" lIns="0" tIns="0" rIns="0" bIns="0" rtlCol="0" anchor="t"/>
          <a:lstStyle/>
          <a:p>
            <a:pPr algn="l" indent="0" marL="0">
              <a:lnSpc>
                <a:spcPct val="91667"/>
              </a:lnSpc>
              <a:buNone/>
            </a:pPr>
            <a:r>
              <a:rPr lang="en-US" sz="4800" b="1" dirty="0">
                <a:solidFill>
                  <a:srgbClr val="C2570C"/>
                </a:solidFill>
                <a:latin typeface="Space Grotesk" pitchFamily="34" charset="0"/>
                <a:ea typeface="Space Grotesk" pitchFamily="34" charset="-122"/>
                <a:cs typeface="Space Grotesk" pitchFamily="34" charset="-120"/>
              </a:rPr>
              <a:t>84 %</a:t>
            </a:r>
            <a:endParaRPr lang="en-US" sz="4800" dirty="0"/>
          </a:p>
        </p:txBody>
      </p:sp>
      <p:sp>
        <p:nvSpPr>
          <p:cNvPr id="17" name="Text 13-s17"/>
          <p:cNvSpPr txBox="1"/>
          <p:nvPr/>
        </p:nvSpPr>
        <p:spPr>
          <a:xfrm>
            <a:off x="1041400" y="4279900"/>
            <a:ext cx="4724400" cy="609600"/>
          </a:xfrm>
          <a:prstGeom prst="rect">
            <a:avLst/>
          </a:prstGeom>
          <a:noFill/>
          <a:ln/>
        </p:spPr>
        <p:txBody>
          <a:bodyPr wrap="square" lIns="0" tIns="0" rIns="0" bIns="0" rtlCol="0" anchor="t"/>
          <a:lstStyle/>
          <a:p>
            <a:pPr algn="l" indent="0" marL="0">
              <a:lnSpc>
                <a:spcPct val="108333"/>
              </a:lnSpc>
              <a:buNone/>
            </a:pPr>
            <a:r>
              <a:rPr lang="en-US" sz="1600" dirty="0">
                <a:solidFill>
                  <a:srgbClr val="1C1917"/>
                </a:solidFill>
                <a:latin typeface="IBM Plex Sans" pitchFamily="34" charset="0"/>
                <a:ea typeface="IBM Plex Sans" pitchFamily="34" charset="-122"/>
                <a:cs typeface="IBM Plex Sans" pitchFamily="34" charset="-120"/>
              </a:rPr>
              <a:t>des formulaires avec données importés, le reste sauvegardé</a:t>
            </a:r>
            <a:endParaRPr lang="en-US" sz="1600" dirty="0"/>
          </a:p>
        </p:txBody>
      </p:sp>
      <p:sp>
        <p:nvSpPr>
          <p:cNvPr id="18" name="Shape 14-s17"/>
          <p:cNvSpPr/>
          <p:nvPr/>
        </p:nvSpPr>
        <p:spPr>
          <a:xfrm>
            <a:off x="6197600" y="3390900"/>
            <a:ext cx="5181600" cy="1625600"/>
          </a:xfrm>
          <a:prstGeom prst="rect">
            <a:avLst/>
          </a:prstGeom>
          <a:solidFill>
            <a:srgbClr val="FAF8F4"/>
          </a:solidFill>
          <a:ln w="25400">
            <a:solidFill>
              <a:srgbClr val="1C1917"/>
            </a:solidFill>
            <a:prstDash val="solid"/>
          </a:ln>
          <a:effectLst>
            <a:outerShdw sx="100000" sy="100000" kx="0" ky="0" algn="bl" rotWithShape="0" blurRad="101600" dist="89789" dir="2700000">
              <a:srgbClr val="1C1917">
                <a:alpha val="100000"/>
              </a:srgbClr>
            </a:outerShdw>
          </a:effectLst>
        </p:spPr>
      </p:sp>
      <p:sp>
        <p:nvSpPr>
          <p:cNvPr id="19" name="Text 15-s17"/>
          <p:cNvSpPr txBox="1"/>
          <p:nvPr/>
        </p:nvSpPr>
        <p:spPr>
          <a:xfrm>
            <a:off x="6426200" y="3517900"/>
            <a:ext cx="4724400" cy="698500"/>
          </a:xfrm>
          <a:prstGeom prst="rect">
            <a:avLst/>
          </a:prstGeom>
          <a:noFill/>
          <a:ln/>
        </p:spPr>
        <p:txBody>
          <a:bodyPr wrap="square" lIns="0" tIns="0" rIns="0" bIns="0" rtlCol="0" anchor="t"/>
          <a:lstStyle/>
          <a:p>
            <a:pPr algn="l" indent="0" marL="0">
              <a:lnSpc>
                <a:spcPct val="91667"/>
              </a:lnSpc>
              <a:buNone/>
            </a:pPr>
            <a:r>
              <a:rPr lang="en-US" sz="4800" b="1" dirty="0">
                <a:solidFill>
                  <a:srgbClr val="C2570C"/>
                </a:solidFill>
                <a:latin typeface="Space Grotesk" pitchFamily="34" charset="0"/>
                <a:ea typeface="Space Grotesk" pitchFamily="34" charset="-122"/>
                <a:cs typeface="Space Grotesk" pitchFamily="34" charset="-120"/>
              </a:rPr>
              <a:t>&lt; 1/mois</a:t>
            </a:r>
            <a:endParaRPr lang="en-US" sz="4800" dirty="0"/>
          </a:p>
        </p:txBody>
      </p:sp>
      <p:sp>
        <p:nvSpPr>
          <p:cNvPr id="20" name="Text 16-s17"/>
          <p:cNvSpPr txBox="1"/>
          <p:nvPr/>
        </p:nvSpPr>
        <p:spPr>
          <a:xfrm>
            <a:off x="6426200" y="4279900"/>
            <a:ext cx="4724400" cy="609600"/>
          </a:xfrm>
          <a:prstGeom prst="rect">
            <a:avLst/>
          </a:prstGeom>
          <a:noFill/>
          <a:ln/>
        </p:spPr>
        <p:txBody>
          <a:bodyPr wrap="square" lIns="0" tIns="0" rIns="0" bIns="0" rtlCol="0" anchor="t"/>
          <a:lstStyle/>
          <a:p>
            <a:pPr algn="l" indent="0" marL="0">
              <a:lnSpc>
                <a:spcPct val="108333"/>
              </a:lnSpc>
              <a:buNone/>
            </a:pPr>
            <a:r>
              <a:rPr lang="en-US" sz="1600" dirty="0">
                <a:solidFill>
                  <a:srgbClr val="1C1917"/>
                </a:solidFill>
                <a:latin typeface="IBM Plex Sans" pitchFamily="34" charset="0"/>
                <a:ea typeface="IBM Plex Sans" pitchFamily="34" charset="-122"/>
                <a:cs typeface="IBM Plex Sans" pitchFamily="34" charset="-120"/>
              </a:rPr>
              <a:t>incident bloquant après stabilisation (cible : &lt; 1 par semaine)</a:t>
            </a:r>
            <a:endParaRPr lang="en-US" sz="1600" dirty="0"/>
          </a:p>
        </p:txBody>
      </p:sp>
      <p:sp>
        <p:nvSpPr>
          <p:cNvPr id="21" name="Text 17-s17"/>
          <p:cNvSpPr txBox="1"/>
          <p:nvPr/>
        </p:nvSpPr>
        <p:spPr>
          <a:xfrm>
            <a:off x="812800" y="5334000"/>
            <a:ext cx="10566400" cy="444500"/>
          </a:xfrm>
          <a:prstGeom prst="rect">
            <a:avLst/>
          </a:prstGeom>
          <a:noFill/>
          <a:ln/>
        </p:spPr>
        <p:txBody>
          <a:bodyPr wrap="square" lIns="0" tIns="0" rIns="0" bIns="0" rtlCol="0" anchor="t"/>
          <a:lstStyle/>
          <a:p>
            <a:pPr algn="l" indent="0" marL="0">
              <a:lnSpc>
                <a:spcPct val="116667"/>
              </a:lnSpc>
              <a:buNone/>
            </a:pPr>
            <a:r>
              <a:rPr lang="en-US" sz="1200" dirty="0">
                <a:solidFill>
                  <a:srgbClr val="57534E"/>
                </a:solidFill>
                <a:latin typeface="IBM Plex Sans" pitchFamily="34" charset="0"/>
                <a:ea typeface="IBM Plex Sans" pitchFamily="34" charset="-122"/>
                <a:cs typeface="IBM Plex Sans" pitchFamily="34" charset="-120"/>
              </a:rPr>
              <a:t>Sources : tableau de performance du rapport. La satisfaction des utilisateurs reste à mesurer.</a:t>
            </a:r>
            <a:endParaRPr lang="en-US" sz="1200" dirty="0"/>
          </a:p>
        </p:txBody>
      </p:sp>
      <p:sp>
        <p:nvSpPr>
          <p:cNvPr id="22" name="nav:2-s17">
            <a:hlinkClick r:id="rIdNav2" action="ppaction://hlinksldjump"/>
          </p:cNvPr>
          <p:cNvSpPr/>
          <p:nvPr/>
        </p:nvSpPr>
        <p:spPr>
          <a:xfrm>
            <a:off x="10922000" y="254000"/>
            <a:ext cx="457200" cy="457200"/>
          </a:xfrm>
          <a:prstGeom prst="rect">
            <a:avLst/>
          </a:prstGeom>
          <a:solidFill>
            <a:srgbClr val="FFFFFF">
              <a:alpha val="0"/>
            </a:srgbClr>
          </a:solidFill>
          <a:ln/>
        </p:spPr>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1EFEA"/>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1EFEA"/>
          </a:solidFill>
          <a:ln w="19050">
            <a:solidFill>
              <a:srgbClr val="1C1917"/>
            </a:solidFill>
            <a:prstDash val="solid"/>
          </a:ln>
        </p:spPr>
      </p:sp>
      <p:sp>
        <p:nvSpPr>
          <p:cNvPr id="3" name="!!mk-bar"/>
          <p:cNvSpPr/>
          <p:nvPr/>
        </p:nvSpPr>
        <p:spPr>
          <a:xfrm>
            <a:off x="812800" y="6299200"/>
            <a:ext cx="8642350" cy="127000"/>
          </a:xfrm>
          <a:prstGeom prst="rect">
            <a:avLst/>
          </a:prstGeom>
          <a:solidFill>
            <a:srgbClr val="C2570C"/>
          </a:solidFill>
          <a:ln w="19050">
            <a:solidFill>
              <a:srgbClr val="1C1917"/>
            </a:solidFill>
            <a:prstDash val="solid"/>
          </a:ln>
        </p:spPr>
      </p:sp>
      <p:sp>
        <p:nvSpPr>
          <p:cNvPr id="4" name="!!mk-sq"/>
          <p:cNvSpPr/>
          <p:nvPr/>
        </p:nvSpPr>
        <p:spPr>
          <a:xfrm>
            <a:off x="10922000" y="254000"/>
            <a:ext cx="457200" cy="457200"/>
          </a:xfrm>
          <a:prstGeom prst="rect">
            <a:avLst/>
          </a:prstGeom>
          <a:solidFill>
            <a:srgbClr val="C2570C"/>
          </a:solidFill>
          <a:ln w="25400">
            <a:solidFill>
              <a:srgbClr val="1C1917"/>
            </a:solidFill>
            <a:prstDash val="solid"/>
          </a:ln>
          <a:effectLst>
            <a:outerShdw sx="100000" sy="100000" kx="0" ky="0" algn="bl" rotWithShape="0" blurRad="101600" dist="71831" dir="2700000">
              <a:srgbClr val="1C1917">
                <a:alpha val="100000"/>
              </a:srgbClr>
            </a:outerShdw>
          </a:effectLst>
        </p:spPr>
      </p:sp>
      <p:sp>
        <p:nvSpPr>
          <p:cNvPr id="5" name="!!mk-logos"/>
          <p:cNvSpPr/>
          <p:nvPr/>
        </p:nvSpPr>
        <p:spPr>
          <a:xfrm>
            <a:off x="8191500" y="279400"/>
            <a:ext cx="2476500" cy="355600"/>
          </a:xfrm>
          <a:prstGeom prst="rect">
            <a:avLst/>
          </a:prstGeom>
          <a:solidFill>
            <a:srgbClr val="FAF8F4"/>
          </a:solidFill>
          <a:ln w="19050">
            <a:solidFill>
              <a:srgbClr val="1C1917"/>
            </a:solidFill>
            <a:prstDash val="solid"/>
          </a:ln>
          <a:effectLst>
            <a:outerShdw sx="100000" sy="100000" kx="0" ky="0" algn="bl" rotWithShape="0" blurRad="101600" dist="53873" dir="2700000">
              <a:srgbClr val="1C1917">
                <a:alpha val="100000"/>
              </a:srgbClr>
            </a:outerShdw>
          </a:effectLst>
        </p:spPr>
      </p:sp>
      <p:pic>
        <p:nvPicPr>
          <p:cNvPr id="6" name="!!mk-logo-1" descr="Logo VINCI Facilities">    </p:cNvPr>
          <p:cNvPicPr>
            <a:picLocks noChangeAspect="1"/>
          </p:cNvPicPr>
          <p:nvPr/>
        </p:nvPicPr>
        <p:blipFill>
          <a:blip r:embed="rId1"/>
          <a:stretch>
            <a:fillRect/>
          </a:stretch>
        </p:blipFill>
        <p:spPr>
          <a:xfrm>
            <a:off x="8756650" y="330200"/>
            <a:ext cx="762000" cy="254000"/>
          </a:xfrm>
          <a:prstGeom prst="rect">
            <a:avLst/>
          </a:prstGeom>
        </p:spPr>
      </p:pic>
      <p:pic>
        <p:nvPicPr>
          <p:cNvPr id="7" name="!!mk-logo-2" descr="Logo Icam">    </p:cNvPr>
          <p:cNvPicPr>
            <a:picLocks noChangeAspect="1"/>
          </p:cNvPicPr>
          <p:nvPr/>
        </p:nvPicPr>
        <p:blipFill>
          <a:blip r:embed="rId2"/>
          <a:stretch>
            <a:fillRect/>
          </a:stretch>
        </p:blipFill>
        <p:spPr>
          <a:xfrm>
            <a:off x="9671050" y="330200"/>
            <a:ext cx="431800" cy="254000"/>
          </a:xfrm>
          <a:prstGeom prst="rect">
            <a:avLst/>
          </a:prstGeom>
        </p:spPr>
      </p:pic>
      <p:sp>
        <p:nvSpPr>
          <p:cNvPr id="8" name="Text 4-s18"/>
          <p:cNvSpPr txBox="1"/>
          <p:nvPr/>
        </p:nvSpPr>
        <p:spPr>
          <a:xfrm>
            <a:off x="812800" y="812800"/>
            <a:ext cx="10566400" cy="571500"/>
          </a:xfrm>
          <a:prstGeom prst="rect">
            <a:avLst/>
          </a:prstGeom>
          <a:noFill/>
          <a:ln/>
        </p:spPr>
        <p:txBody>
          <a:bodyPr wrap="square" lIns="0" tIns="0" rIns="0" bIns="0" rtlCol="0" anchor="t"/>
          <a:lstStyle/>
          <a:p>
            <a:pPr algn="l" indent="0" marL="0">
              <a:lnSpc>
                <a:spcPct val="87500"/>
              </a:lnSpc>
              <a:buNone/>
            </a:pPr>
            <a:r>
              <a:rPr lang="en-US" sz="3600" b="1" dirty="0">
                <a:solidFill>
                  <a:srgbClr val="1C1917"/>
                </a:solidFill>
                <a:latin typeface="Space Grotesk" pitchFamily="34" charset="0"/>
                <a:ea typeface="Space Grotesk" pitchFamily="34" charset="-122"/>
                <a:cs typeface="Space Grotesk" pitchFamily="34" charset="-120"/>
              </a:rPr>
              <a:t>Bilan des objectifs initiaux</a:t>
            </a:r>
            <a:endParaRPr lang="en-US" sz="3600" dirty="0"/>
          </a:p>
        </p:txBody>
      </p:sp>
      <p:graphicFrame>
        <p:nvGraphicFramePr>
          <p:cNvPr id="19" name="Table 0-s18"/>
          <p:cNvGraphicFramePr>
            <a:graphicFrameLocks noGrp="1"/>
          </p:cNvGraphicFramePr>
          <p:nvPr>
            <p:extLst>
              <p:ext uri="{D42A27DB-BD31-4B8C-83A1-F6EECF244321}">
                <p14:modId xmlns:p14="http://schemas.microsoft.com/office/powerpoint/2010/main" val="1579011935"/>
              </p:ext>
            </p:extLst>
          </p:nvPr>
        </p:nvGraphicFramePr>
        <p:xfrm>
          <a:off x="812800" y="1587500"/>
          <a:ext cx="10566400" cy="914400"/>
        </p:xfrm>
        <a:graphic>
          <a:graphicData uri="http://schemas.openxmlformats.org/drawingml/2006/table">
            <a:tbl>
              <a:tblPr/>
              <a:tblGrid>
                <a:gridCol w="2324100"/>
                <a:gridCol w="3168650"/>
                <a:gridCol w="3378200"/>
                <a:gridCol w="1689100"/>
              </a:tblGrid>
              <a:tr h="431800">
                <a:tc>
                  <a:txBody>
                    <a:bodyPr/>
                    <a:lstStyle/>
                    <a:p>
                      <a:pPr algn="l" indent="0" marL="0">
                        <a:buNone/>
                      </a:pPr>
                      <a:r>
                        <a:rPr lang="en-US" sz="1500" b="1" dirty="0">
                          <a:solidFill>
                            <a:srgbClr val="F1EFEA"/>
                          </a:solidFill>
                          <a:latin typeface="Space Grotesk" pitchFamily="34" charset="0"/>
                          <a:ea typeface="Space Grotesk" pitchFamily="34" charset="-122"/>
                          <a:cs typeface="Space Grotesk" pitchFamily="34" charset="-120"/>
                        </a:rPr>
                        <a:t>Objectif</a:t>
                      </a:r>
                      <a:endParaRPr lang="en-US" sz="1500" dirty="0">
                        <a:latin typeface="Space Grotesk" charset="0"/>
                        <a:ea typeface="Space Grotesk" charset="0"/>
                        <a:cs typeface="Space Grotesk" charset="0"/>
                      </a:endParaRPr>
                    </a:p>
                  </a:txBody>
                  <a:tcPr marL="91440" marR="91440" marT="45720" marB="45720" anchor="ctr">
                    <a:lnL w="19050" cap="flat" cmpd="sng" algn="ctr">
                      <a:solidFill>
                        <a:srgbClr val="1C1917"/>
                      </a:solidFill>
                      <a:prstDash val="solid"/>
                      <a:round/>
                      <a:headEnd type="none" w="med" len="med"/>
                      <a:tailEnd type="none" w="med" len="med"/>
                    </a:lnL>
                    <a:lnR w="19050" cap="flat" cmpd="sng" algn="ctr">
                      <a:solidFill>
                        <a:srgbClr val="1C1917"/>
                      </a:solidFill>
                      <a:prstDash val="solid"/>
                      <a:round/>
                      <a:headEnd type="none" w="med" len="med"/>
                      <a:tailEnd type="none" w="med" len="med"/>
                    </a:lnR>
                    <a:lnT w="19050" cap="flat" cmpd="sng" algn="ctr">
                      <a:solidFill>
                        <a:srgbClr val="1C1917"/>
                      </a:solidFill>
                      <a:prstDash val="solid"/>
                      <a:round/>
                      <a:headEnd type="none" w="med" len="med"/>
                      <a:tailEnd type="none" w="med" len="med"/>
                    </a:lnT>
                    <a:lnB w="19050" cap="flat" cmpd="sng" algn="ctr">
                      <a:solidFill>
                        <a:srgbClr val="1C1917"/>
                      </a:solidFill>
                      <a:prstDash val="solid"/>
                      <a:round/>
                      <a:headEnd type="none" w="med" len="med"/>
                      <a:tailEnd type="none" w="med" len="med"/>
                    </a:lnB>
                    <a:solidFill>
                      <a:srgbClr val="1C1917"/>
                    </a:solidFill>
                  </a:tcPr>
                </a:tc>
                <a:tc>
                  <a:txBody>
                    <a:bodyPr/>
                    <a:lstStyle/>
                    <a:p>
                      <a:pPr algn="l" indent="0" marL="0">
                        <a:buNone/>
                      </a:pPr>
                      <a:r>
                        <a:rPr lang="en-US" sz="1500" b="1" dirty="0">
                          <a:solidFill>
                            <a:srgbClr val="F1EFEA"/>
                          </a:solidFill>
                          <a:latin typeface="Space Grotesk" pitchFamily="34" charset="0"/>
                          <a:ea typeface="Space Grotesk" pitchFamily="34" charset="-122"/>
                          <a:cs typeface="Space Grotesk" pitchFamily="34" charset="-120"/>
                        </a:rPr>
                        <a:t>Cible</a:t>
                      </a:r>
                      <a:endParaRPr lang="en-US" sz="1500" dirty="0">
                        <a:latin typeface="Space Grotesk" charset="0"/>
                        <a:ea typeface="Space Grotesk" charset="0"/>
                        <a:cs typeface="Space Grotesk" charset="0"/>
                      </a:endParaRPr>
                    </a:p>
                  </a:txBody>
                  <a:tcPr marL="91440" marR="91440" marT="45720" marB="45720" anchor="ctr">
                    <a:lnL w="19050" cap="flat" cmpd="sng" algn="ctr">
                      <a:solidFill>
                        <a:srgbClr val="1C1917"/>
                      </a:solidFill>
                      <a:prstDash val="solid"/>
                      <a:round/>
                      <a:headEnd type="none" w="med" len="med"/>
                      <a:tailEnd type="none" w="med" len="med"/>
                    </a:lnL>
                    <a:lnR w="19050" cap="flat" cmpd="sng" algn="ctr">
                      <a:solidFill>
                        <a:srgbClr val="1C1917"/>
                      </a:solidFill>
                      <a:prstDash val="solid"/>
                      <a:round/>
                      <a:headEnd type="none" w="med" len="med"/>
                      <a:tailEnd type="none" w="med" len="med"/>
                    </a:lnR>
                    <a:lnT w="19050" cap="flat" cmpd="sng" algn="ctr">
                      <a:solidFill>
                        <a:srgbClr val="1C1917"/>
                      </a:solidFill>
                      <a:prstDash val="solid"/>
                      <a:round/>
                      <a:headEnd type="none" w="med" len="med"/>
                      <a:tailEnd type="none" w="med" len="med"/>
                    </a:lnT>
                    <a:lnB w="19050" cap="flat" cmpd="sng" algn="ctr">
                      <a:solidFill>
                        <a:srgbClr val="1C1917"/>
                      </a:solidFill>
                      <a:prstDash val="solid"/>
                      <a:round/>
                      <a:headEnd type="none" w="med" len="med"/>
                      <a:tailEnd type="none" w="med" len="med"/>
                    </a:lnB>
                    <a:solidFill>
                      <a:srgbClr val="1C1917"/>
                    </a:solidFill>
                  </a:tcPr>
                </a:tc>
                <a:tc>
                  <a:txBody>
                    <a:bodyPr/>
                    <a:lstStyle/>
                    <a:p>
                      <a:pPr algn="l" indent="0" marL="0">
                        <a:buNone/>
                      </a:pPr>
                      <a:r>
                        <a:rPr lang="en-US" sz="1500" b="1" dirty="0">
                          <a:solidFill>
                            <a:srgbClr val="F1EFEA"/>
                          </a:solidFill>
                          <a:latin typeface="Space Grotesk" pitchFamily="34" charset="0"/>
                          <a:ea typeface="Space Grotesk" pitchFamily="34" charset="-122"/>
                          <a:cs typeface="Space Grotesk" pitchFamily="34" charset="-120"/>
                        </a:rPr>
                        <a:t>Résultat</a:t>
                      </a:r>
                      <a:endParaRPr lang="en-US" sz="1500" dirty="0">
                        <a:latin typeface="Space Grotesk" charset="0"/>
                        <a:ea typeface="Space Grotesk" charset="0"/>
                        <a:cs typeface="Space Grotesk" charset="0"/>
                      </a:endParaRPr>
                    </a:p>
                  </a:txBody>
                  <a:tcPr marL="91440" marR="91440" marT="45720" marB="45720" anchor="ctr">
                    <a:lnL w="19050" cap="flat" cmpd="sng" algn="ctr">
                      <a:solidFill>
                        <a:srgbClr val="1C1917"/>
                      </a:solidFill>
                      <a:prstDash val="solid"/>
                      <a:round/>
                      <a:headEnd type="none" w="med" len="med"/>
                      <a:tailEnd type="none" w="med" len="med"/>
                    </a:lnL>
                    <a:lnR w="19050" cap="flat" cmpd="sng" algn="ctr">
                      <a:solidFill>
                        <a:srgbClr val="1C1917"/>
                      </a:solidFill>
                      <a:prstDash val="solid"/>
                      <a:round/>
                      <a:headEnd type="none" w="med" len="med"/>
                      <a:tailEnd type="none" w="med" len="med"/>
                    </a:lnR>
                    <a:lnT w="19050" cap="flat" cmpd="sng" algn="ctr">
                      <a:solidFill>
                        <a:srgbClr val="1C1917"/>
                      </a:solidFill>
                      <a:prstDash val="solid"/>
                      <a:round/>
                      <a:headEnd type="none" w="med" len="med"/>
                      <a:tailEnd type="none" w="med" len="med"/>
                    </a:lnT>
                    <a:lnB w="19050" cap="flat" cmpd="sng" algn="ctr">
                      <a:solidFill>
                        <a:srgbClr val="1C1917"/>
                      </a:solidFill>
                      <a:prstDash val="solid"/>
                      <a:round/>
                      <a:headEnd type="none" w="med" len="med"/>
                      <a:tailEnd type="none" w="med" len="med"/>
                    </a:lnB>
                    <a:solidFill>
                      <a:srgbClr val="1C1917"/>
                    </a:solidFill>
                  </a:tcPr>
                </a:tc>
                <a:tc>
                  <a:txBody>
                    <a:bodyPr/>
                    <a:lstStyle/>
                    <a:p>
                      <a:pPr algn="l" indent="0" marL="0">
                        <a:buNone/>
                      </a:pPr>
                      <a:r>
                        <a:rPr lang="en-US" sz="1500" b="1" dirty="0">
                          <a:solidFill>
                            <a:srgbClr val="F1EFEA"/>
                          </a:solidFill>
                          <a:latin typeface="Space Grotesk" pitchFamily="34" charset="0"/>
                          <a:ea typeface="Space Grotesk" pitchFamily="34" charset="-122"/>
                          <a:cs typeface="Space Grotesk" pitchFamily="34" charset="-120"/>
                        </a:rPr>
                        <a:t>Statut</a:t>
                      </a:r>
                      <a:endParaRPr lang="en-US" sz="1500" dirty="0">
                        <a:latin typeface="Space Grotesk" charset="0"/>
                        <a:ea typeface="Space Grotesk" charset="0"/>
                        <a:cs typeface="Space Grotesk" charset="0"/>
                      </a:endParaRPr>
                    </a:p>
                  </a:txBody>
                  <a:tcPr marL="91440" marR="91440" marT="45720" marB="45720" anchor="ctr">
                    <a:lnL w="19050" cap="flat" cmpd="sng" algn="ctr">
                      <a:solidFill>
                        <a:srgbClr val="1C1917"/>
                      </a:solidFill>
                      <a:prstDash val="solid"/>
                      <a:round/>
                      <a:headEnd type="none" w="med" len="med"/>
                      <a:tailEnd type="none" w="med" len="med"/>
                    </a:lnL>
                    <a:lnR w="19050" cap="flat" cmpd="sng" algn="ctr">
                      <a:solidFill>
                        <a:srgbClr val="1C1917"/>
                      </a:solidFill>
                      <a:prstDash val="solid"/>
                      <a:round/>
                      <a:headEnd type="none" w="med" len="med"/>
                      <a:tailEnd type="none" w="med" len="med"/>
                    </a:lnR>
                    <a:lnT w="19050" cap="flat" cmpd="sng" algn="ctr">
                      <a:solidFill>
                        <a:srgbClr val="1C1917"/>
                      </a:solidFill>
                      <a:prstDash val="solid"/>
                      <a:round/>
                      <a:headEnd type="none" w="med" len="med"/>
                      <a:tailEnd type="none" w="med" len="med"/>
                    </a:lnT>
                    <a:lnB w="19050" cap="flat" cmpd="sng" algn="ctr">
                      <a:solidFill>
                        <a:srgbClr val="1C1917"/>
                      </a:solidFill>
                      <a:prstDash val="solid"/>
                      <a:round/>
                      <a:headEnd type="none" w="med" len="med"/>
                      <a:tailEnd type="none" w="med" len="med"/>
                    </a:lnB>
                    <a:solidFill>
                      <a:srgbClr val="1C1917"/>
                    </a:solidFill>
                  </a:tcPr>
                </a:tc>
              </a:tr>
              <a:tr h="431800">
                <a:tc>
                  <a:txBody>
                    <a:bodyPr/>
                    <a:lstStyle/>
                    <a:p>
                      <a:pPr algn="l" indent="0" marL="0">
                        <a:buNone/>
                      </a:pPr>
                      <a:r>
                        <a:rPr lang="en-US" sz="1500" dirty="0">
                          <a:solidFill>
                            <a:srgbClr val="1C1917"/>
                          </a:solidFill>
                          <a:latin typeface="IBM Plex Sans" pitchFamily="34" charset="0"/>
                          <a:ea typeface="IBM Plex Sans" pitchFamily="34" charset="-122"/>
                          <a:cs typeface="IBM Plex Sans" pitchFamily="34" charset="-120"/>
                        </a:rPr>
                        <a:t>Migration</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C1917"/>
                      </a:solidFill>
                      <a:prstDash val="solid"/>
                      <a:round/>
                      <a:headEnd type="none" w="med" len="med"/>
                      <a:tailEnd type="none" w="med" len="med"/>
                    </a:lnL>
                    <a:lnR w="19050" cap="flat" cmpd="sng" algn="ctr">
                      <a:solidFill>
                        <a:srgbClr val="1C1917"/>
                      </a:solidFill>
                      <a:prstDash val="solid"/>
                      <a:round/>
                      <a:headEnd type="none" w="med" len="med"/>
                      <a:tailEnd type="none" w="med" len="med"/>
                    </a:lnR>
                    <a:lnT w="19050" cap="flat" cmpd="sng" algn="ctr">
                      <a:solidFill>
                        <a:srgbClr val="1C1917"/>
                      </a:solidFill>
                      <a:prstDash val="solid"/>
                      <a:round/>
                      <a:headEnd type="none" w="med" len="med"/>
                      <a:tailEnd type="none" w="med" len="med"/>
                    </a:lnT>
                    <a:lnB w="19050" cap="flat" cmpd="sng" algn="ctr">
                      <a:solidFill>
                        <a:srgbClr val="1C1917"/>
                      </a:solidFill>
                      <a:prstDash val="solid"/>
                      <a:round/>
                      <a:headEnd type="none" w="med" len="med"/>
                      <a:tailEnd type="none" w="med" len="med"/>
                    </a:lnB>
                    <a:solidFill>
                      <a:srgbClr val="FAF8F4"/>
                    </a:solidFill>
                  </a:tcPr>
                </a:tc>
                <a:tc>
                  <a:txBody>
                    <a:bodyPr/>
                    <a:lstStyle/>
                    <a:p>
                      <a:pPr algn="l" indent="0" marL="0">
                        <a:buNone/>
                      </a:pPr>
                      <a:r>
                        <a:rPr lang="en-US" sz="1500" dirty="0">
                          <a:solidFill>
                            <a:srgbClr val="1C1917"/>
                          </a:solidFill>
                          <a:latin typeface="IBM Plex Sans" pitchFamily="34" charset="0"/>
                          <a:ea typeface="IBM Plex Sans" pitchFamily="34" charset="-122"/>
                          <a:cs typeface="IBM Plex Sans" pitchFamily="34" charset="-120"/>
                        </a:rPr>
                        <a:t>100 % des formulaires actifs</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C1917"/>
                      </a:solidFill>
                      <a:prstDash val="solid"/>
                      <a:round/>
                      <a:headEnd type="none" w="med" len="med"/>
                      <a:tailEnd type="none" w="med" len="med"/>
                    </a:lnL>
                    <a:lnR w="19050" cap="flat" cmpd="sng" algn="ctr">
                      <a:solidFill>
                        <a:srgbClr val="1C1917"/>
                      </a:solidFill>
                      <a:prstDash val="solid"/>
                      <a:round/>
                      <a:headEnd type="none" w="med" len="med"/>
                      <a:tailEnd type="none" w="med" len="med"/>
                    </a:lnR>
                    <a:lnT w="19050" cap="flat" cmpd="sng" algn="ctr">
                      <a:solidFill>
                        <a:srgbClr val="1C1917"/>
                      </a:solidFill>
                      <a:prstDash val="solid"/>
                      <a:round/>
                      <a:headEnd type="none" w="med" len="med"/>
                      <a:tailEnd type="none" w="med" len="med"/>
                    </a:lnT>
                    <a:lnB w="19050" cap="flat" cmpd="sng" algn="ctr">
                      <a:solidFill>
                        <a:srgbClr val="1C1917"/>
                      </a:solidFill>
                      <a:prstDash val="solid"/>
                      <a:round/>
                      <a:headEnd type="none" w="med" len="med"/>
                      <a:tailEnd type="none" w="med" len="med"/>
                    </a:lnB>
                    <a:solidFill>
                      <a:srgbClr val="FAF8F4"/>
                    </a:solidFill>
                  </a:tcPr>
                </a:tc>
                <a:tc>
                  <a:txBody>
                    <a:bodyPr/>
                    <a:lstStyle/>
                    <a:p>
                      <a:pPr algn="l" indent="0" marL="0">
                        <a:buNone/>
                      </a:pPr>
                      <a:r>
                        <a:rPr lang="en-US" sz="1500" dirty="0">
                          <a:solidFill>
                            <a:srgbClr val="1C1917"/>
                          </a:solidFill>
                          <a:latin typeface="IBM Plex Sans" pitchFamily="34" charset="0"/>
                          <a:ea typeface="IBM Plex Sans" pitchFamily="34" charset="-122"/>
                          <a:cs typeface="IBM Plex Sans" pitchFamily="34" charset="-120"/>
                        </a:rPr>
                        <a:t>Réalisée</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C1917"/>
                      </a:solidFill>
                      <a:prstDash val="solid"/>
                      <a:round/>
                      <a:headEnd type="none" w="med" len="med"/>
                      <a:tailEnd type="none" w="med" len="med"/>
                    </a:lnL>
                    <a:lnR w="19050" cap="flat" cmpd="sng" algn="ctr">
                      <a:solidFill>
                        <a:srgbClr val="1C1917"/>
                      </a:solidFill>
                      <a:prstDash val="solid"/>
                      <a:round/>
                      <a:headEnd type="none" w="med" len="med"/>
                      <a:tailEnd type="none" w="med" len="med"/>
                    </a:lnR>
                    <a:lnT w="19050" cap="flat" cmpd="sng" algn="ctr">
                      <a:solidFill>
                        <a:srgbClr val="1C1917"/>
                      </a:solidFill>
                      <a:prstDash val="solid"/>
                      <a:round/>
                      <a:headEnd type="none" w="med" len="med"/>
                      <a:tailEnd type="none" w="med" len="med"/>
                    </a:lnT>
                    <a:lnB w="19050" cap="flat" cmpd="sng" algn="ctr">
                      <a:solidFill>
                        <a:srgbClr val="1C1917"/>
                      </a:solidFill>
                      <a:prstDash val="solid"/>
                      <a:round/>
                      <a:headEnd type="none" w="med" len="med"/>
                      <a:tailEnd type="none" w="med" len="med"/>
                    </a:lnB>
                    <a:solidFill>
                      <a:srgbClr val="FAF8F4"/>
                    </a:solidFill>
                  </a:tcPr>
                </a:tc>
                <a:tc>
                  <a:txBody>
                    <a:bodyPr/>
                    <a:lstStyle/>
                    <a:p>
                      <a:pPr algn="l" indent="0" marL="0">
                        <a:buNone/>
                      </a:pPr>
                      <a:r>
                        <a:rPr lang="en-US" sz="1500" b="1" dirty="0">
                          <a:solidFill>
                            <a:srgbClr val="1C1917"/>
                          </a:solidFill>
                          <a:latin typeface="IBM Plex Sans" pitchFamily="34" charset="0"/>
                          <a:ea typeface="IBM Plex Sans" pitchFamily="34" charset="-122"/>
                          <a:cs typeface="IBM Plex Sans" pitchFamily="34" charset="-120"/>
                        </a:rPr>
                        <a:t>Atteint</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C1917"/>
                      </a:solidFill>
                      <a:prstDash val="solid"/>
                      <a:round/>
                      <a:headEnd type="none" w="med" len="med"/>
                      <a:tailEnd type="none" w="med" len="med"/>
                    </a:lnL>
                    <a:lnR w="19050" cap="flat" cmpd="sng" algn="ctr">
                      <a:solidFill>
                        <a:srgbClr val="1C1917"/>
                      </a:solidFill>
                      <a:prstDash val="solid"/>
                      <a:round/>
                      <a:headEnd type="none" w="med" len="med"/>
                      <a:tailEnd type="none" w="med" len="med"/>
                    </a:lnR>
                    <a:lnT w="19050" cap="flat" cmpd="sng" algn="ctr">
                      <a:solidFill>
                        <a:srgbClr val="1C1917"/>
                      </a:solidFill>
                      <a:prstDash val="solid"/>
                      <a:round/>
                      <a:headEnd type="none" w="med" len="med"/>
                      <a:tailEnd type="none" w="med" len="med"/>
                    </a:lnT>
                    <a:lnB w="19050" cap="flat" cmpd="sng" algn="ctr">
                      <a:solidFill>
                        <a:srgbClr val="1C1917"/>
                      </a:solidFill>
                      <a:prstDash val="solid"/>
                      <a:round/>
                      <a:headEnd type="none" w="med" len="med"/>
                      <a:tailEnd type="none" w="med" len="med"/>
                    </a:lnB>
                    <a:solidFill>
                      <a:srgbClr val="FAF8F4"/>
                    </a:solidFill>
                  </a:tcPr>
                </a:tc>
              </a:tr>
              <a:tr h="431800">
                <a:tc>
                  <a:txBody>
                    <a:bodyPr/>
                    <a:lstStyle/>
                    <a:p>
                      <a:pPr algn="l" indent="0" marL="0">
                        <a:buNone/>
                      </a:pPr>
                      <a:r>
                        <a:rPr lang="en-US" sz="1500" dirty="0">
                          <a:solidFill>
                            <a:srgbClr val="1C1917"/>
                          </a:solidFill>
                          <a:latin typeface="IBM Plex Sans" pitchFamily="34" charset="0"/>
                          <a:ea typeface="IBM Plex Sans" pitchFamily="34" charset="-122"/>
                          <a:cs typeface="IBM Plex Sans" pitchFamily="34" charset="-120"/>
                        </a:rPr>
                        <a:t>Arrêt de Kizeo</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C1917"/>
                      </a:solidFill>
                      <a:prstDash val="solid"/>
                      <a:round/>
                      <a:headEnd type="none" w="med" len="med"/>
                      <a:tailEnd type="none" w="med" len="med"/>
                    </a:lnL>
                    <a:lnR w="19050" cap="flat" cmpd="sng" algn="ctr">
                      <a:solidFill>
                        <a:srgbClr val="1C1917"/>
                      </a:solidFill>
                      <a:prstDash val="solid"/>
                      <a:round/>
                      <a:headEnd type="none" w="med" len="med"/>
                      <a:tailEnd type="none" w="med" len="med"/>
                    </a:lnR>
                    <a:lnT w="19050" cap="flat" cmpd="sng" algn="ctr">
                      <a:solidFill>
                        <a:srgbClr val="1C1917"/>
                      </a:solidFill>
                      <a:prstDash val="solid"/>
                      <a:round/>
                      <a:headEnd type="none" w="med" len="med"/>
                      <a:tailEnd type="none" w="med" len="med"/>
                    </a:lnT>
                    <a:lnB w="19050" cap="flat" cmpd="sng" algn="ctr">
                      <a:solidFill>
                        <a:srgbClr val="1C1917"/>
                      </a:solidFill>
                      <a:prstDash val="solid"/>
                      <a:round/>
                      <a:headEnd type="none" w="med" len="med"/>
                      <a:tailEnd type="none" w="med" len="med"/>
                    </a:lnB>
                    <a:solidFill>
                      <a:srgbClr val="FAF8F4"/>
                    </a:solidFill>
                  </a:tcPr>
                </a:tc>
                <a:tc>
                  <a:txBody>
                    <a:bodyPr/>
                    <a:lstStyle/>
                    <a:p>
                      <a:pPr algn="l" indent="0" marL="0">
                        <a:buNone/>
                      </a:pPr>
                      <a:r>
                        <a:rPr lang="en-US" sz="1500" dirty="0">
                          <a:solidFill>
                            <a:srgbClr val="1C1917"/>
                          </a:solidFill>
                          <a:latin typeface="IBM Plex Sans" pitchFamily="34" charset="0"/>
                          <a:ea typeface="IBM Plex Sans" pitchFamily="34" charset="-122"/>
                          <a:cs typeface="IBM Plex Sans" pitchFamily="34" charset="-120"/>
                        </a:rPr>
                        <a:t>31/12/2025, puis 31/01/2026</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C1917"/>
                      </a:solidFill>
                      <a:prstDash val="solid"/>
                      <a:round/>
                      <a:headEnd type="none" w="med" len="med"/>
                      <a:tailEnd type="none" w="med" len="med"/>
                    </a:lnL>
                    <a:lnR w="19050" cap="flat" cmpd="sng" algn="ctr">
                      <a:solidFill>
                        <a:srgbClr val="1C1917"/>
                      </a:solidFill>
                      <a:prstDash val="solid"/>
                      <a:round/>
                      <a:headEnd type="none" w="med" len="med"/>
                      <a:tailEnd type="none" w="med" len="med"/>
                    </a:lnR>
                    <a:lnT w="19050" cap="flat" cmpd="sng" algn="ctr">
                      <a:solidFill>
                        <a:srgbClr val="1C1917"/>
                      </a:solidFill>
                      <a:prstDash val="solid"/>
                      <a:round/>
                      <a:headEnd type="none" w="med" len="med"/>
                      <a:tailEnd type="none" w="med" len="med"/>
                    </a:lnT>
                    <a:lnB w="19050" cap="flat" cmpd="sng" algn="ctr">
                      <a:solidFill>
                        <a:srgbClr val="1C1917"/>
                      </a:solidFill>
                      <a:prstDash val="solid"/>
                      <a:round/>
                      <a:headEnd type="none" w="med" len="med"/>
                      <a:tailEnd type="none" w="med" len="med"/>
                    </a:lnB>
                    <a:solidFill>
                      <a:srgbClr val="FAF8F4"/>
                    </a:solidFill>
                  </a:tcPr>
                </a:tc>
                <a:tc>
                  <a:txBody>
                    <a:bodyPr/>
                    <a:lstStyle/>
                    <a:p>
                      <a:pPr algn="l" indent="0" marL="0">
                        <a:buNone/>
                      </a:pPr>
                      <a:r>
                        <a:rPr lang="en-US" sz="1500" dirty="0">
                          <a:solidFill>
                            <a:srgbClr val="1C1917"/>
                          </a:solidFill>
                          <a:latin typeface="IBM Plex Sans" pitchFamily="34" charset="0"/>
                          <a:ea typeface="IBM Plex Sans" pitchFamily="34" charset="-122"/>
                          <a:cs typeface="IBM Plex Sans" pitchFamily="34" charset="-120"/>
                        </a:rPr>
                        <a:t>Réalisé au 31/01/2026</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C1917"/>
                      </a:solidFill>
                      <a:prstDash val="solid"/>
                      <a:round/>
                      <a:headEnd type="none" w="med" len="med"/>
                      <a:tailEnd type="none" w="med" len="med"/>
                    </a:lnL>
                    <a:lnR w="19050" cap="flat" cmpd="sng" algn="ctr">
                      <a:solidFill>
                        <a:srgbClr val="1C1917"/>
                      </a:solidFill>
                      <a:prstDash val="solid"/>
                      <a:round/>
                      <a:headEnd type="none" w="med" len="med"/>
                      <a:tailEnd type="none" w="med" len="med"/>
                    </a:lnR>
                    <a:lnT w="19050" cap="flat" cmpd="sng" algn="ctr">
                      <a:solidFill>
                        <a:srgbClr val="1C1917"/>
                      </a:solidFill>
                      <a:prstDash val="solid"/>
                      <a:round/>
                      <a:headEnd type="none" w="med" len="med"/>
                      <a:tailEnd type="none" w="med" len="med"/>
                    </a:lnT>
                    <a:lnB w="19050" cap="flat" cmpd="sng" algn="ctr">
                      <a:solidFill>
                        <a:srgbClr val="1C1917"/>
                      </a:solidFill>
                      <a:prstDash val="solid"/>
                      <a:round/>
                      <a:headEnd type="none" w="med" len="med"/>
                      <a:tailEnd type="none" w="med" len="med"/>
                    </a:lnB>
                    <a:solidFill>
                      <a:srgbClr val="FAF8F4"/>
                    </a:solidFill>
                  </a:tcPr>
                </a:tc>
                <a:tc>
                  <a:txBody>
                    <a:bodyPr/>
                    <a:lstStyle/>
                    <a:p>
                      <a:pPr algn="l" indent="0" marL="0">
                        <a:buNone/>
                      </a:pPr>
                      <a:r>
                        <a:rPr lang="en-US" sz="1500" b="1" dirty="0">
                          <a:solidFill>
                            <a:srgbClr val="1C1917"/>
                          </a:solidFill>
                          <a:latin typeface="IBM Plex Sans" pitchFamily="34" charset="0"/>
                          <a:ea typeface="IBM Plex Sans" pitchFamily="34" charset="-122"/>
                          <a:cs typeface="IBM Plex Sans" pitchFamily="34" charset="-120"/>
                        </a:rPr>
                        <a:t>Atteint</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C1917"/>
                      </a:solidFill>
                      <a:prstDash val="solid"/>
                      <a:round/>
                      <a:headEnd type="none" w="med" len="med"/>
                      <a:tailEnd type="none" w="med" len="med"/>
                    </a:lnL>
                    <a:lnR w="19050" cap="flat" cmpd="sng" algn="ctr">
                      <a:solidFill>
                        <a:srgbClr val="1C1917"/>
                      </a:solidFill>
                      <a:prstDash val="solid"/>
                      <a:round/>
                      <a:headEnd type="none" w="med" len="med"/>
                      <a:tailEnd type="none" w="med" len="med"/>
                    </a:lnR>
                    <a:lnT w="19050" cap="flat" cmpd="sng" algn="ctr">
                      <a:solidFill>
                        <a:srgbClr val="1C1917"/>
                      </a:solidFill>
                      <a:prstDash val="solid"/>
                      <a:round/>
                      <a:headEnd type="none" w="med" len="med"/>
                      <a:tailEnd type="none" w="med" len="med"/>
                    </a:lnT>
                    <a:lnB w="19050" cap="flat" cmpd="sng" algn="ctr">
                      <a:solidFill>
                        <a:srgbClr val="1C1917"/>
                      </a:solidFill>
                      <a:prstDash val="solid"/>
                      <a:round/>
                      <a:headEnd type="none" w="med" len="med"/>
                      <a:tailEnd type="none" w="med" len="med"/>
                    </a:lnB>
                    <a:solidFill>
                      <a:srgbClr val="FAF8F4"/>
                    </a:solidFill>
                  </a:tcPr>
                </a:tc>
              </a:tr>
              <a:tr h="431800">
                <a:tc>
                  <a:txBody>
                    <a:bodyPr/>
                    <a:lstStyle/>
                    <a:p>
                      <a:pPr algn="l" indent="0" marL="0">
                        <a:buNone/>
                      </a:pPr>
                      <a:r>
                        <a:rPr lang="en-US" sz="1500" dirty="0">
                          <a:solidFill>
                            <a:srgbClr val="1C1917"/>
                          </a:solidFill>
                          <a:latin typeface="IBM Plex Sans" pitchFamily="34" charset="0"/>
                          <a:ea typeface="IBM Plex Sans" pitchFamily="34" charset="-122"/>
                          <a:cs typeface="IBM Plex Sans" pitchFamily="34" charset="-120"/>
                        </a:rPr>
                        <a:t>Formation</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C1917"/>
                      </a:solidFill>
                      <a:prstDash val="solid"/>
                      <a:round/>
                      <a:headEnd type="none" w="med" len="med"/>
                      <a:tailEnd type="none" w="med" len="med"/>
                    </a:lnL>
                    <a:lnR w="19050" cap="flat" cmpd="sng" algn="ctr">
                      <a:solidFill>
                        <a:srgbClr val="1C1917"/>
                      </a:solidFill>
                      <a:prstDash val="solid"/>
                      <a:round/>
                      <a:headEnd type="none" w="med" len="med"/>
                      <a:tailEnd type="none" w="med" len="med"/>
                    </a:lnR>
                    <a:lnT w="19050" cap="flat" cmpd="sng" algn="ctr">
                      <a:solidFill>
                        <a:srgbClr val="1C1917"/>
                      </a:solidFill>
                      <a:prstDash val="solid"/>
                      <a:round/>
                      <a:headEnd type="none" w="med" len="med"/>
                      <a:tailEnd type="none" w="med" len="med"/>
                    </a:lnT>
                    <a:lnB w="19050" cap="flat" cmpd="sng" algn="ctr">
                      <a:solidFill>
                        <a:srgbClr val="1C1917"/>
                      </a:solidFill>
                      <a:prstDash val="solid"/>
                      <a:round/>
                      <a:headEnd type="none" w="med" len="med"/>
                      <a:tailEnd type="none" w="med" len="med"/>
                    </a:lnB>
                    <a:solidFill>
                      <a:srgbClr val="FAF8F4"/>
                    </a:solidFill>
                  </a:tcPr>
                </a:tc>
                <a:tc>
                  <a:txBody>
                    <a:bodyPr/>
                    <a:lstStyle/>
                    <a:p>
                      <a:pPr algn="l" indent="0" marL="0">
                        <a:buNone/>
                      </a:pPr>
                      <a:r>
                        <a:rPr lang="en-US" sz="1500" dirty="0">
                          <a:solidFill>
                            <a:srgbClr val="1C1917"/>
                          </a:solidFill>
                          <a:latin typeface="IBM Plex Sans" pitchFamily="34" charset="0"/>
                          <a:ea typeface="IBM Plex Sans" pitchFamily="34" charset="-122"/>
                          <a:cs typeface="IBM Plex Sans" pitchFamily="34" charset="-120"/>
                        </a:rPr>
                        <a:t>100 % des concernés</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C1917"/>
                      </a:solidFill>
                      <a:prstDash val="solid"/>
                      <a:round/>
                      <a:headEnd type="none" w="med" len="med"/>
                      <a:tailEnd type="none" w="med" len="med"/>
                    </a:lnL>
                    <a:lnR w="19050" cap="flat" cmpd="sng" algn="ctr">
                      <a:solidFill>
                        <a:srgbClr val="1C1917"/>
                      </a:solidFill>
                      <a:prstDash val="solid"/>
                      <a:round/>
                      <a:headEnd type="none" w="med" len="med"/>
                      <a:tailEnd type="none" w="med" len="med"/>
                    </a:lnR>
                    <a:lnT w="19050" cap="flat" cmpd="sng" algn="ctr">
                      <a:solidFill>
                        <a:srgbClr val="1C1917"/>
                      </a:solidFill>
                      <a:prstDash val="solid"/>
                      <a:round/>
                      <a:headEnd type="none" w="med" len="med"/>
                      <a:tailEnd type="none" w="med" len="med"/>
                    </a:lnT>
                    <a:lnB w="19050" cap="flat" cmpd="sng" algn="ctr">
                      <a:solidFill>
                        <a:srgbClr val="1C1917"/>
                      </a:solidFill>
                      <a:prstDash val="solid"/>
                      <a:round/>
                      <a:headEnd type="none" w="med" len="med"/>
                      <a:tailEnd type="none" w="med" len="med"/>
                    </a:lnB>
                    <a:solidFill>
                      <a:srgbClr val="FAF8F4"/>
                    </a:solidFill>
                  </a:tcPr>
                </a:tc>
                <a:tc>
                  <a:txBody>
                    <a:bodyPr/>
                    <a:lstStyle/>
                    <a:p>
                      <a:pPr algn="l" indent="0" marL="0">
                        <a:buNone/>
                      </a:pPr>
                      <a:r>
                        <a:rPr lang="en-US" sz="1500" dirty="0">
                          <a:solidFill>
                            <a:srgbClr val="1C1917"/>
                          </a:solidFill>
                          <a:latin typeface="IBM Plex Sans" pitchFamily="34" charset="0"/>
                          <a:ea typeface="IBM Plex Sans" pitchFamily="34" charset="-122"/>
                          <a:cs typeface="IBM Plex Sans" pitchFamily="34" charset="-120"/>
                        </a:rPr>
                        <a:t>≈ 77 %, tous les actifs</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C1917"/>
                      </a:solidFill>
                      <a:prstDash val="solid"/>
                      <a:round/>
                      <a:headEnd type="none" w="med" len="med"/>
                      <a:tailEnd type="none" w="med" len="med"/>
                    </a:lnL>
                    <a:lnR w="19050" cap="flat" cmpd="sng" algn="ctr">
                      <a:solidFill>
                        <a:srgbClr val="1C1917"/>
                      </a:solidFill>
                      <a:prstDash val="solid"/>
                      <a:round/>
                      <a:headEnd type="none" w="med" len="med"/>
                      <a:tailEnd type="none" w="med" len="med"/>
                    </a:lnR>
                    <a:lnT w="19050" cap="flat" cmpd="sng" algn="ctr">
                      <a:solidFill>
                        <a:srgbClr val="1C1917"/>
                      </a:solidFill>
                      <a:prstDash val="solid"/>
                      <a:round/>
                      <a:headEnd type="none" w="med" len="med"/>
                      <a:tailEnd type="none" w="med" len="med"/>
                    </a:lnT>
                    <a:lnB w="19050" cap="flat" cmpd="sng" algn="ctr">
                      <a:solidFill>
                        <a:srgbClr val="1C1917"/>
                      </a:solidFill>
                      <a:prstDash val="solid"/>
                      <a:round/>
                      <a:headEnd type="none" w="med" len="med"/>
                      <a:tailEnd type="none" w="med" len="med"/>
                    </a:lnB>
                    <a:solidFill>
                      <a:srgbClr val="FAF8F4"/>
                    </a:solidFill>
                  </a:tcPr>
                </a:tc>
                <a:tc>
                  <a:txBody>
                    <a:bodyPr/>
                    <a:lstStyle/>
                    <a:p>
                      <a:pPr algn="l" indent="0" marL="0">
                        <a:buNone/>
                      </a:pPr>
                      <a:r>
                        <a:rPr lang="en-US" sz="1500" b="1" dirty="0">
                          <a:solidFill>
                            <a:srgbClr val="1C1917"/>
                          </a:solidFill>
                          <a:latin typeface="IBM Plex Sans" pitchFamily="34" charset="0"/>
                          <a:ea typeface="IBM Plex Sans" pitchFamily="34" charset="-122"/>
                          <a:cs typeface="IBM Plex Sans" pitchFamily="34" charset="-120"/>
                        </a:rPr>
                        <a:t>Atteint</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C1917"/>
                      </a:solidFill>
                      <a:prstDash val="solid"/>
                      <a:round/>
                      <a:headEnd type="none" w="med" len="med"/>
                      <a:tailEnd type="none" w="med" len="med"/>
                    </a:lnL>
                    <a:lnR w="19050" cap="flat" cmpd="sng" algn="ctr">
                      <a:solidFill>
                        <a:srgbClr val="1C1917"/>
                      </a:solidFill>
                      <a:prstDash val="solid"/>
                      <a:round/>
                      <a:headEnd type="none" w="med" len="med"/>
                      <a:tailEnd type="none" w="med" len="med"/>
                    </a:lnR>
                    <a:lnT w="19050" cap="flat" cmpd="sng" algn="ctr">
                      <a:solidFill>
                        <a:srgbClr val="1C1917"/>
                      </a:solidFill>
                      <a:prstDash val="solid"/>
                      <a:round/>
                      <a:headEnd type="none" w="med" len="med"/>
                      <a:tailEnd type="none" w="med" len="med"/>
                    </a:lnT>
                    <a:lnB w="19050" cap="flat" cmpd="sng" algn="ctr">
                      <a:solidFill>
                        <a:srgbClr val="1C1917"/>
                      </a:solidFill>
                      <a:prstDash val="solid"/>
                      <a:round/>
                      <a:headEnd type="none" w="med" len="med"/>
                      <a:tailEnd type="none" w="med" len="med"/>
                    </a:lnB>
                    <a:solidFill>
                      <a:srgbClr val="FAF8F4"/>
                    </a:solidFill>
                  </a:tcPr>
                </a:tc>
              </a:tr>
              <a:tr h="431800">
                <a:tc>
                  <a:txBody>
                    <a:bodyPr/>
                    <a:lstStyle/>
                    <a:p>
                      <a:pPr algn="l" indent="0" marL="0">
                        <a:buNone/>
                      </a:pPr>
                      <a:r>
                        <a:rPr lang="en-US" sz="1500" dirty="0">
                          <a:solidFill>
                            <a:srgbClr val="1C1917"/>
                          </a:solidFill>
                          <a:latin typeface="IBM Plex Sans" pitchFamily="34" charset="0"/>
                          <a:ea typeface="IBM Plex Sans" pitchFamily="34" charset="-122"/>
                          <a:cs typeface="IBM Plex Sans" pitchFamily="34" charset="-120"/>
                        </a:rPr>
                        <a:t>Import de données</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C1917"/>
                      </a:solidFill>
                      <a:prstDash val="solid"/>
                      <a:round/>
                      <a:headEnd type="none" w="med" len="med"/>
                      <a:tailEnd type="none" w="med" len="med"/>
                    </a:lnL>
                    <a:lnR w="19050" cap="flat" cmpd="sng" algn="ctr">
                      <a:solidFill>
                        <a:srgbClr val="1C1917"/>
                      </a:solidFill>
                      <a:prstDash val="solid"/>
                      <a:round/>
                      <a:headEnd type="none" w="med" len="med"/>
                      <a:tailEnd type="none" w="med" len="med"/>
                    </a:lnR>
                    <a:lnT w="19050" cap="flat" cmpd="sng" algn="ctr">
                      <a:solidFill>
                        <a:srgbClr val="1C1917"/>
                      </a:solidFill>
                      <a:prstDash val="solid"/>
                      <a:round/>
                      <a:headEnd type="none" w="med" len="med"/>
                      <a:tailEnd type="none" w="med" len="med"/>
                    </a:lnT>
                    <a:lnB w="19050" cap="flat" cmpd="sng" algn="ctr">
                      <a:solidFill>
                        <a:srgbClr val="1C1917"/>
                      </a:solidFill>
                      <a:prstDash val="solid"/>
                      <a:round/>
                      <a:headEnd type="none" w="med" len="med"/>
                      <a:tailEnd type="none" w="med" len="med"/>
                    </a:lnB>
                    <a:solidFill>
                      <a:srgbClr val="FAF8F4"/>
                    </a:solidFill>
                  </a:tcPr>
                </a:tc>
                <a:tc>
                  <a:txBody>
                    <a:bodyPr/>
                    <a:lstStyle/>
                    <a:p>
                      <a:pPr algn="l" indent="0" marL="0">
                        <a:buNone/>
                      </a:pPr>
                      <a:r>
                        <a:rPr lang="en-US" sz="1500" dirty="0">
                          <a:solidFill>
                            <a:srgbClr val="1C1917"/>
                          </a:solidFill>
                          <a:latin typeface="IBM Plex Sans" pitchFamily="34" charset="0"/>
                          <a:ea typeface="IBM Plex Sans" pitchFamily="34" charset="-122"/>
                          <a:cs typeface="IBM Plex Sans" pitchFamily="34" charset="-120"/>
                        </a:rPr>
                        <a:t>100 % des formulaires</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C1917"/>
                      </a:solidFill>
                      <a:prstDash val="solid"/>
                      <a:round/>
                      <a:headEnd type="none" w="med" len="med"/>
                      <a:tailEnd type="none" w="med" len="med"/>
                    </a:lnL>
                    <a:lnR w="19050" cap="flat" cmpd="sng" algn="ctr">
                      <a:solidFill>
                        <a:srgbClr val="1C1917"/>
                      </a:solidFill>
                      <a:prstDash val="solid"/>
                      <a:round/>
                      <a:headEnd type="none" w="med" len="med"/>
                      <a:tailEnd type="none" w="med" len="med"/>
                    </a:lnR>
                    <a:lnT w="19050" cap="flat" cmpd="sng" algn="ctr">
                      <a:solidFill>
                        <a:srgbClr val="1C1917"/>
                      </a:solidFill>
                      <a:prstDash val="solid"/>
                      <a:round/>
                      <a:headEnd type="none" w="med" len="med"/>
                      <a:tailEnd type="none" w="med" len="med"/>
                    </a:lnT>
                    <a:lnB w="19050" cap="flat" cmpd="sng" algn="ctr">
                      <a:solidFill>
                        <a:srgbClr val="1C1917"/>
                      </a:solidFill>
                      <a:prstDash val="solid"/>
                      <a:round/>
                      <a:headEnd type="none" w="med" len="med"/>
                      <a:tailEnd type="none" w="med" len="med"/>
                    </a:lnB>
                    <a:solidFill>
                      <a:srgbClr val="FAF8F4"/>
                    </a:solidFill>
                  </a:tcPr>
                </a:tc>
                <a:tc>
                  <a:txBody>
                    <a:bodyPr/>
                    <a:lstStyle/>
                    <a:p>
                      <a:pPr algn="l" indent="0" marL="0">
                        <a:buNone/>
                      </a:pPr>
                      <a:r>
                        <a:rPr lang="en-US" sz="1500" dirty="0">
                          <a:solidFill>
                            <a:srgbClr val="1C1917"/>
                          </a:solidFill>
                          <a:latin typeface="IBM Plex Sans" pitchFamily="34" charset="0"/>
                          <a:ea typeface="IBM Plex Sans" pitchFamily="34" charset="-122"/>
                          <a:cs typeface="IBM Plex Sans" pitchFamily="34" charset="-120"/>
                        </a:rPr>
                        <a:t>84 %</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C1917"/>
                      </a:solidFill>
                      <a:prstDash val="solid"/>
                      <a:round/>
                      <a:headEnd type="none" w="med" len="med"/>
                      <a:tailEnd type="none" w="med" len="med"/>
                    </a:lnL>
                    <a:lnR w="19050" cap="flat" cmpd="sng" algn="ctr">
                      <a:solidFill>
                        <a:srgbClr val="1C1917"/>
                      </a:solidFill>
                      <a:prstDash val="solid"/>
                      <a:round/>
                      <a:headEnd type="none" w="med" len="med"/>
                      <a:tailEnd type="none" w="med" len="med"/>
                    </a:lnR>
                    <a:lnT w="19050" cap="flat" cmpd="sng" algn="ctr">
                      <a:solidFill>
                        <a:srgbClr val="1C1917"/>
                      </a:solidFill>
                      <a:prstDash val="solid"/>
                      <a:round/>
                      <a:headEnd type="none" w="med" len="med"/>
                      <a:tailEnd type="none" w="med" len="med"/>
                    </a:lnT>
                    <a:lnB w="19050" cap="flat" cmpd="sng" algn="ctr">
                      <a:solidFill>
                        <a:srgbClr val="1C1917"/>
                      </a:solidFill>
                      <a:prstDash val="solid"/>
                      <a:round/>
                      <a:headEnd type="none" w="med" len="med"/>
                      <a:tailEnd type="none" w="med" len="med"/>
                    </a:lnB>
                    <a:solidFill>
                      <a:srgbClr val="FAF8F4"/>
                    </a:solidFill>
                  </a:tcPr>
                </a:tc>
                <a:tc>
                  <a:txBody>
                    <a:bodyPr/>
                    <a:lstStyle/>
                    <a:p>
                      <a:pPr algn="l" indent="0" marL="0">
                        <a:buNone/>
                      </a:pPr>
                      <a:r>
                        <a:rPr lang="en-US" sz="1500" b="1" dirty="0">
                          <a:solidFill>
                            <a:srgbClr val="1C1917"/>
                          </a:solidFill>
                          <a:latin typeface="IBM Plex Sans" pitchFamily="34" charset="0"/>
                          <a:ea typeface="IBM Plex Sans" pitchFamily="34" charset="-122"/>
                          <a:cs typeface="IBM Plex Sans" pitchFamily="34" charset="-120"/>
                        </a:rPr>
                        <a:t>Partiel</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C1917"/>
                      </a:solidFill>
                      <a:prstDash val="solid"/>
                      <a:round/>
                      <a:headEnd type="none" w="med" len="med"/>
                      <a:tailEnd type="none" w="med" len="med"/>
                    </a:lnL>
                    <a:lnR w="19050" cap="flat" cmpd="sng" algn="ctr">
                      <a:solidFill>
                        <a:srgbClr val="1C1917"/>
                      </a:solidFill>
                      <a:prstDash val="solid"/>
                      <a:round/>
                      <a:headEnd type="none" w="med" len="med"/>
                      <a:tailEnd type="none" w="med" len="med"/>
                    </a:lnR>
                    <a:lnT w="19050" cap="flat" cmpd="sng" algn="ctr">
                      <a:solidFill>
                        <a:srgbClr val="1C1917"/>
                      </a:solidFill>
                      <a:prstDash val="solid"/>
                      <a:round/>
                      <a:headEnd type="none" w="med" len="med"/>
                      <a:tailEnd type="none" w="med" len="med"/>
                    </a:lnT>
                    <a:lnB w="19050" cap="flat" cmpd="sng" algn="ctr">
                      <a:solidFill>
                        <a:srgbClr val="1C1917"/>
                      </a:solidFill>
                      <a:prstDash val="solid"/>
                      <a:round/>
                      <a:headEnd type="none" w="med" len="med"/>
                      <a:tailEnd type="none" w="med" len="med"/>
                    </a:lnB>
                    <a:solidFill>
                      <a:srgbClr val="FAF8F4"/>
                    </a:solidFill>
                  </a:tcPr>
                </a:tc>
              </a:tr>
              <a:tr h="431800">
                <a:tc>
                  <a:txBody>
                    <a:bodyPr/>
                    <a:lstStyle/>
                    <a:p>
                      <a:pPr algn="l" indent="0" marL="0">
                        <a:buNone/>
                      </a:pPr>
                      <a:r>
                        <a:rPr lang="en-US" sz="1500" dirty="0">
                          <a:solidFill>
                            <a:srgbClr val="1C1917"/>
                          </a:solidFill>
                          <a:latin typeface="IBM Plex Sans" pitchFamily="34" charset="0"/>
                          <a:ea typeface="IBM Plex Sans" pitchFamily="34" charset="-122"/>
                          <a:cs typeface="IBM Plex Sans" pitchFamily="34" charset="-120"/>
                        </a:rPr>
                        <a:t>Stabilité</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C1917"/>
                      </a:solidFill>
                      <a:prstDash val="solid"/>
                      <a:round/>
                      <a:headEnd type="none" w="med" len="med"/>
                      <a:tailEnd type="none" w="med" len="med"/>
                    </a:lnL>
                    <a:lnR w="19050" cap="flat" cmpd="sng" algn="ctr">
                      <a:solidFill>
                        <a:srgbClr val="1C1917"/>
                      </a:solidFill>
                      <a:prstDash val="solid"/>
                      <a:round/>
                      <a:headEnd type="none" w="med" len="med"/>
                      <a:tailEnd type="none" w="med" len="med"/>
                    </a:lnR>
                    <a:lnT w="19050" cap="flat" cmpd="sng" algn="ctr">
                      <a:solidFill>
                        <a:srgbClr val="1C1917"/>
                      </a:solidFill>
                      <a:prstDash val="solid"/>
                      <a:round/>
                      <a:headEnd type="none" w="med" len="med"/>
                      <a:tailEnd type="none" w="med" len="med"/>
                    </a:lnT>
                    <a:lnB w="19050" cap="flat" cmpd="sng" algn="ctr">
                      <a:solidFill>
                        <a:srgbClr val="1C1917"/>
                      </a:solidFill>
                      <a:prstDash val="solid"/>
                      <a:round/>
                      <a:headEnd type="none" w="med" len="med"/>
                      <a:tailEnd type="none" w="med" len="med"/>
                    </a:lnB>
                    <a:solidFill>
                      <a:srgbClr val="FAF8F4"/>
                    </a:solidFill>
                  </a:tcPr>
                </a:tc>
                <a:tc>
                  <a:txBody>
                    <a:bodyPr/>
                    <a:lstStyle/>
                    <a:p>
                      <a:pPr algn="l" indent="0" marL="0">
                        <a:buNone/>
                      </a:pPr>
                      <a:r>
                        <a:rPr lang="en-US" sz="1500" dirty="0">
                          <a:solidFill>
                            <a:srgbClr val="1C1917"/>
                          </a:solidFill>
                          <a:latin typeface="IBM Plex Sans" pitchFamily="34" charset="0"/>
                          <a:ea typeface="IBM Plex Sans" pitchFamily="34" charset="-122"/>
                          <a:cs typeface="IBM Plex Sans" pitchFamily="34" charset="-120"/>
                        </a:rPr>
                        <a:t>&lt; 1 incident / semaine</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C1917"/>
                      </a:solidFill>
                      <a:prstDash val="solid"/>
                      <a:round/>
                      <a:headEnd type="none" w="med" len="med"/>
                      <a:tailEnd type="none" w="med" len="med"/>
                    </a:lnL>
                    <a:lnR w="19050" cap="flat" cmpd="sng" algn="ctr">
                      <a:solidFill>
                        <a:srgbClr val="1C1917"/>
                      </a:solidFill>
                      <a:prstDash val="solid"/>
                      <a:round/>
                      <a:headEnd type="none" w="med" len="med"/>
                      <a:tailEnd type="none" w="med" len="med"/>
                    </a:lnR>
                    <a:lnT w="19050" cap="flat" cmpd="sng" algn="ctr">
                      <a:solidFill>
                        <a:srgbClr val="1C1917"/>
                      </a:solidFill>
                      <a:prstDash val="solid"/>
                      <a:round/>
                      <a:headEnd type="none" w="med" len="med"/>
                      <a:tailEnd type="none" w="med" len="med"/>
                    </a:lnT>
                    <a:lnB w="19050" cap="flat" cmpd="sng" algn="ctr">
                      <a:solidFill>
                        <a:srgbClr val="1C1917"/>
                      </a:solidFill>
                      <a:prstDash val="solid"/>
                      <a:round/>
                      <a:headEnd type="none" w="med" len="med"/>
                      <a:tailEnd type="none" w="med" len="med"/>
                    </a:lnB>
                    <a:solidFill>
                      <a:srgbClr val="FAF8F4"/>
                    </a:solidFill>
                  </a:tcPr>
                </a:tc>
                <a:tc>
                  <a:txBody>
                    <a:bodyPr/>
                    <a:lstStyle/>
                    <a:p>
                      <a:pPr algn="l" indent="0" marL="0">
                        <a:buNone/>
                      </a:pPr>
                      <a:r>
                        <a:rPr lang="en-US" sz="1500" dirty="0">
                          <a:solidFill>
                            <a:srgbClr val="1C1917"/>
                          </a:solidFill>
                          <a:latin typeface="IBM Plex Sans" pitchFamily="34" charset="0"/>
                          <a:ea typeface="IBM Plex Sans" pitchFamily="34" charset="-122"/>
                          <a:cs typeface="IBM Plex Sans" pitchFamily="34" charset="-120"/>
                        </a:rPr>
                        <a:t>&lt; 1 incident / mois</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C1917"/>
                      </a:solidFill>
                      <a:prstDash val="solid"/>
                      <a:round/>
                      <a:headEnd type="none" w="med" len="med"/>
                      <a:tailEnd type="none" w="med" len="med"/>
                    </a:lnL>
                    <a:lnR w="19050" cap="flat" cmpd="sng" algn="ctr">
                      <a:solidFill>
                        <a:srgbClr val="1C1917"/>
                      </a:solidFill>
                      <a:prstDash val="solid"/>
                      <a:round/>
                      <a:headEnd type="none" w="med" len="med"/>
                      <a:tailEnd type="none" w="med" len="med"/>
                    </a:lnR>
                    <a:lnT w="19050" cap="flat" cmpd="sng" algn="ctr">
                      <a:solidFill>
                        <a:srgbClr val="1C1917"/>
                      </a:solidFill>
                      <a:prstDash val="solid"/>
                      <a:round/>
                      <a:headEnd type="none" w="med" len="med"/>
                      <a:tailEnd type="none" w="med" len="med"/>
                    </a:lnT>
                    <a:lnB w="19050" cap="flat" cmpd="sng" algn="ctr">
                      <a:solidFill>
                        <a:srgbClr val="1C1917"/>
                      </a:solidFill>
                      <a:prstDash val="solid"/>
                      <a:round/>
                      <a:headEnd type="none" w="med" len="med"/>
                      <a:tailEnd type="none" w="med" len="med"/>
                    </a:lnB>
                    <a:solidFill>
                      <a:srgbClr val="FAF8F4"/>
                    </a:solidFill>
                  </a:tcPr>
                </a:tc>
                <a:tc>
                  <a:txBody>
                    <a:bodyPr/>
                    <a:lstStyle/>
                    <a:p>
                      <a:pPr algn="l" indent="0" marL="0">
                        <a:buNone/>
                      </a:pPr>
                      <a:r>
                        <a:rPr lang="en-US" sz="1500" b="1" dirty="0">
                          <a:solidFill>
                            <a:srgbClr val="1C1917"/>
                          </a:solidFill>
                          <a:latin typeface="IBM Plex Sans" pitchFamily="34" charset="0"/>
                          <a:ea typeface="IBM Plex Sans" pitchFamily="34" charset="-122"/>
                          <a:cs typeface="IBM Plex Sans" pitchFamily="34" charset="-120"/>
                        </a:rPr>
                        <a:t>Atteint</a:t>
                      </a:r>
                      <a:endParaRPr lang="en-US" sz="1500" dirty="0">
                        <a:latin typeface="IBM Plex Sans" charset="0"/>
                        <a:ea typeface="IBM Plex Sans" charset="0"/>
                        <a:cs typeface="IBM Plex Sans" charset="0"/>
                      </a:endParaRPr>
                    </a:p>
                  </a:txBody>
                  <a:tcPr marL="91440" marR="91440" marT="45720" marB="45720" anchor="ctr">
                    <a:lnL w="19050" cap="flat" cmpd="sng" algn="ctr">
                      <a:solidFill>
                        <a:srgbClr val="1C1917"/>
                      </a:solidFill>
                      <a:prstDash val="solid"/>
                      <a:round/>
                      <a:headEnd type="none" w="med" len="med"/>
                      <a:tailEnd type="none" w="med" len="med"/>
                    </a:lnL>
                    <a:lnR w="19050" cap="flat" cmpd="sng" algn="ctr">
                      <a:solidFill>
                        <a:srgbClr val="1C1917"/>
                      </a:solidFill>
                      <a:prstDash val="solid"/>
                      <a:round/>
                      <a:headEnd type="none" w="med" len="med"/>
                      <a:tailEnd type="none" w="med" len="med"/>
                    </a:lnR>
                    <a:lnT w="19050" cap="flat" cmpd="sng" algn="ctr">
                      <a:solidFill>
                        <a:srgbClr val="1C1917"/>
                      </a:solidFill>
                      <a:prstDash val="solid"/>
                      <a:round/>
                      <a:headEnd type="none" w="med" len="med"/>
                      <a:tailEnd type="none" w="med" len="med"/>
                    </a:lnT>
                    <a:lnB w="19050" cap="flat" cmpd="sng" algn="ctr">
                      <a:solidFill>
                        <a:srgbClr val="1C1917"/>
                      </a:solidFill>
                      <a:prstDash val="solid"/>
                      <a:round/>
                      <a:headEnd type="none" w="med" len="med"/>
                      <a:tailEnd type="none" w="med" len="med"/>
                    </a:lnB>
                    <a:solidFill>
                      <a:srgbClr val="FAF8F4"/>
                    </a:solidFill>
                  </a:tcPr>
                </a:tc>
              </a:tr>
            </a:tbl>
          </a:graphicData>
        </a:graphic>
      </p:graphicFrame>
      <p:sp>
        <p:nvSpPr>
          <p:cNvPr id="10" name="nav:2-s18">
            <a:hlinkClick r:id="rIdNav2" action="ppaction://hlinksldjump"/>
          </p:cNvPr>
          <p:cNvSpPr/>
          <p:nvPr/>
        </p:nvSpPr>
        <p:spPr>
          <a:xfrm>
            <a:off x="10922000" y="254000"/>
            <a:ext cx="457200" cy="457200"/>
          </a:xfrm>
          <a:prstGeom prst="rect">
            <a:avLst/>
          </a:prstGeom>
          <a:solidFill>
            <a:srgbClr val="FFFFFF">
              <a:alpha val="0"/>
            </a:srgbClr>
          </a:solidFill>
          <a:ln/>
        </p:spPr>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1EFEA"/>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1EFEA"/>
          </a:solidFill>
          <a:ln w="19050">
            <a:solidFill>
              <a:srgbClr val="1C1917"/>
            </a:solidFill>
            <a:prstDash val="solid"/>
          </a:ln>
        </p:spPr>
      </p:sp>
      <p:sp>
        <p:nvSpPr>
          <p:cNvPr id="3" name="!!mk-bar"/>
          <p:cNvSpPr/>
          <p:nvPr/>
        </p:nvSpPr>
        <p:spPr>
          <a:xfrm>
            <a:off x="812800" y="6299200"/>
            <a:ext cx="9124950" cy="127000"/>
          </a:xfrm>
          <a:prstGeom prst="rect">
            <a:avLst/>
          </a:prstGeom>
          <a:solidFill>
            <a:srgbClr val="C2570C"/>
          </a:solidFill>
          <a:ln w="19050">
            <a:solidFill>
              <a:srgbClr val="1C1917"/>
            </a:solidFill>
            <a:prstDash val="solid"/>
          </a:ln>
        </p:spPr>
      </p:sp>
      <p:sp>
        <p:nvSpPr>
          <p:cNvPr id="4" name="!!mk-sq"/>
          <p:cNvSpPr/>
          <p:nvPr/>
        </p:nvSpPr>
        <p:spPr>
          <a:xfrm rot="1800000">
            <a:off x="10922000" y="254000"/>
            <a:ext cx="457200" cy="457200"/>
          </a:xfrm>
          <a:prstGeom prst="rect">
            <a:avLst/>
          </a:prstGeom>
          <a:solidFill>
            <a:srgbClr val="C2570C"/>
          </a:solidFill>
          <a:ln w="25400">
            <a:solidFill>
              <a:srgbClr val="1C1917"/>
            </a:solidFill>
            <a:prstDash val="solid"/>
          </a:ln>
          <a:effectLst>
            <a:outerShdw sx="100000" sy="100000" kx="0" ky="0" algn="bl" rotWithShape="0" blurRad="101600" dist="71831" dir="2700000">
              <a:srgbClr val="1C1917">
                <a:alpha val="100000"/>
              </a:srgbClr>
            </a:outerShdw>
          </a:effectLst>
        </p:spPr>
      </p:sp>
      <p:sp>
        <p:nvSpPr>
          <p:cNvPr id="5" name="!!mk-logos"/>
          <p:cNvSpPr/>
          <p:nvPr/>
        </p:nvSpPr>
        <p:spPr>
          <a:xfrm>
            <a:off x="8191500" y="279400"/>
            <a:ext cx="2476500" cy="355600"/>
          </a:xfrm>
          <a:prstGeom prst="rect">
            <a:avLst/>
          </a:prstGeom>
          <a:solidFill>
            <a:srgbClr val="FAF8F4"/>
          </a:solidFill>
          <a:ln w="19050">
            <a:solidFill>
              <a:srgbClr val="1C1917"/>
            </a:solidFill>
            <a:prstDash val="solid"/>
          </a:ln>
          <a:effectLst>
            <a:outerShdw sx="100000" sy="100000" kx="0" ky="0" algn="bl" rotWithShape="0" blurRad="101600" dist="53873" dir="2700000">
              <a:srgbClr val="1C1917">
                <a:alpha val="100000"/>
              </a:srgbClr>
            </a:outerShdw>
          </a:effectLst>
        </p:spPr>
      </p:sp>
      <p:pic>
        <p:nvPicPr>
          <p:cNvPr id="6" name="!!mk-logo-1" descr="Logo VINCI Facilities">    </p:cNvPr>
          <p:cNvPicPr>
            <a:picLocks noChangeAspect="1"/>
          </p:cNvPicPr>
          <p:nvPr/>
        </p:nvPicPr>
        <p:blipFill>
          <a:blip r:embed="rId1"/>
          <a:stretch>
            <a:fillRect/>
          </a:stretch>
        </p:blipFill>
        <p:spPr>
          <a:xfrm>
            <a:off x="8756650" y="330200"/>
            <a:ext cx="762000" cy="254000"/>
          </a:xfrm>
          <a:prstGeom prst="rect">
            <a:avLst/>
          </a:prstGeom>
        </p:spPr>
      </p:pic>
      <p:pic>
        <p:nvPicPr>
          <p:cNvPr id="7" name="!!mk-logo-2" descr="Logo Icam">    </p:cNvPr>
          <p:cNvPicPr>
            <a:picLocks noChangeAspect="1"/>
          </p:cNvPicPr>
          <p:nvPr/>
        </p:nvPicPr>
        <p:blipFill>
          <a:blip r:embed="rId2"/>
          <a:stretch>
            <a:fillRect/>
          </a:stretch>
        </p:blipFill>
        <p:spPr>
          <a:xfrm>
            <a:off x="9671050" y="330200"/>
            <a:ext cx="431800" cy="254000"/>
          </a:xfrm>
          <a:prstGeom prst="rect">
            <a:avLst/>
          </a:prstGeom>
        </p:spPr>
      </p:pic>
      <p:sp>
        <p:nvSpPr>
          <p:cNvPr id="8" name="Text 4-s19"/>
          <p:cNvSpPr txBox="1"/>
          <p:nvPr/>
        </p:nvSpPr>
        <p:spPr>
          <a:xfrm>
            <a:off x="812800" y="812800"/>
            <a:ext cx="10566400" cy="571500"/>
          </a:xfrm>
          <a:prstGeom prst="rect">
            <a:avLst/>
          </a:prstGeom>
          <a:noFill/>
          <a:ln/>
        </p:spPr>
        <p:txBody>
          <a:bodyPr wrap="square" lIns="0" tIns="0" rIns="0" bIns="0" rtlCol="0" anchor="t"/>
          <a:lstStyle/>
          <a:p>
            <a:pPr algn="l" indent="0" marL="0">
              <a:lnSpc>
                <a:spcPct val="87500"/>
              </a:lnSpc>
              <a:buNone/>
            </a:pPr>
            <a:r>
              <a:rPr lang="en-US" sz="3600" b="1" dirty="0">
                <a:solidFill>
                  <a:srgbClr val="1C1917"/>
                </a:solidFill>
                <a:latin typeface="Space Grotesk" pitchFamily="34" charset="0"/>
                <a:ea typeface="Space Grotesk" pitchFamily="34" charset="-122"/>
                <a:cs typeface="Space Grotesk" pitchFamily="34" charset="-120"/>
              </a:rPr>
              <a:t>Compétences et posture</a:t>
            </a:r>
            <a:endParaRPr lang="en-US" sz="3600" dirty="0"/>
          </a:p>
        </p:txBody>
      </p:sp>
      <p:sp>
        <p:nvSpPr>
          <p:cNvPr id="9" name="Shape 5-s19"/>
          <p:cNvSpPr/>
          <p:nvPr/>
        </p:nvSpPr>
        <p:spPr>
          <a:xfrm>
            <a:off x="812800" y="1587500"/>
            <a:ext cx="5156200" cy="1778000"/>
          </a:xfrm>
          <a:prstGeom prst="rect">
            <a:avLst/>
          </a:prstGeom>
          <a:solidFill>
            <a:srgbClr val="F5E1D0"/>
          </a:solidFill>
          <a:ln w="25400">
            <a:solidFill>
              <a:srgbClr val="1C1917"/>
            </a:solidFill>
            <a:prstDash val="solid"/>
          </a:ln>
          <a:effectLst>
            <a:outerShdw sx="100000" sy="100000" kx="0" ky="0" algn="bl" rotWithShape="0" blurRad="101600" dist="89789" dir="2700000">
              <a:srgbClr val="1C1917">
                <a:alpha val="100000"/>
              </a:srgbClr>
            </a:outerShdw>
          </a:effectLst>
        </p:spPr>
      </p:sp>
      <p:sp>
        <p:nvSpPr>
          <p:cNvPr id="10" name="Text 6-s19"/>
          <p:cNvSpPr txBox="1"/>
          <p:nvPr/>
        </p:nvSpPr>
        <p:spPr>
          <a:xfrm>
            <a:off x="1041400" y="1816100"/>
            <a:ext cx="4699000" cy="355600"/>
          </a:xfrm>
          <a:prstGeom prst="rect">
            <a:avLst/>
          </a:prstGeom>
          <a:noFill/>
          <a:ln/>
        </p:spPr>
        <p:txBody>
          <a:bodyPr wrap="square" lIns="0" tIns="0" rIns="0" bIns="0" rtlCol="0" anchor="t"/>
          <a:lstStyle/>
          <a:p>
            <a:pPr algn="l" indent="0" marL="0">
              <a:lnSpc>
                <a:spcPct val="104167"/>
              </a:lnSpc>
              <a:buNone/>
            </a:pPr>
            <a:r>
              <a:rPr lang="en-US" sz="2000" b="1" dirty="0">
                <a:solidFill>
                  <a:srgbClr val="1C1917"/>
                </a:solidFill>
                <a:latin typeface="Space Grotesk" pitchFamily="34" charset="0"/>
                <a:ea typeface="Space Grotesk" pitchFamily="34" charset="-122"/>
                <a:cs typeface="Space Grotesk" pitchFamily="34" charset="-120"/>
              </a:rPr>
              <a:t>Compétences fortes</a:t>
            </a:r>
            <a:endParaRPr lang="en-US" sz="2000" dirty="0"/>
          </a:p>
        </p:txBody>
      </p:sp>
      <p:sp>
        <p:nvSpPr>
          <p:cNvPr id="11" name="Text 7-s19"/>
          <p:cNvSpPr txBox="1"/>
          <p:nvPr/>
        </p:nvSpPr>
        <p:spPr>
          <a:xfrm>
            <a:off x="1041400" y="2235200"/>
            <a:ext cx="4699000" cy="1016000"/>
          </a:xfrm>
          <a:prstGeom prst="rect">
            <a:avLst/>
          </a:prstGeom>
          <a:noFill/>
          <a:ln/>
        </p:spPr>
        <p:txBody>
          <a:bodyPr wrap="square" lIns="0" tIns="0" rIns="0" bIns="0" rtlCol="0" anchor="t"/>
          <a:lstStyle/>
          <a:p>
            <a:pPr algn="l" marL="279400" indent="-279400">
              <a:lnSpc>
                <a:spcPct val="104167"/>
              </a:lnSpc>
              <a:spcAft>
                <a:spcPts val="800"/>
              </a:spcAft>
              <a:buSzPct val="100000"/>
              <a:buChar char="•"/>
            </a:pPr>
            <a:r>
              <a:rPr lang="en-US" sz="1400" dirty="0">
                <a:solidFill>
                  <a:srgbClr val="1C1917"/>
                </a:solidFill>
                <a:latin typeface="IBM Plex Sans" pitchFamily="34" charset="0"/>
                <a:ea typeface="IBM Plex Sans" pitchFamily="34" charset="-122"/>
                <a:cs typeface="IBM Plex Sans" pitchFamily="34" charset="-120"/>
              </a:rPr>
              <a:t>Gestion de projet : planning, jalons, écarts</a:t>
            </a:r>
            <a:endParaRPr lang="en-US" sz="1400" dirty="0"/>
          </a:p>
          <a:p>
            <a:pPr algn="l" marL="279400" indent="-279400">
              <a:lnSpc>
                <a:spcPct val="104167"/>
              </a:lnSpc>
              <a:spcAft>
                <a:spcPts val="800"/>
              </a:spcAft>
              <a:buSzPct val="100000"/>
              <a:buChar char="•"/>
            </a:pPr>
            <a:r>
              <a:rPr lang="en-US" sz="1400" dirty="0">
                <a:solidFill>
                  <a:srgbClr val="1C1917"/>
                </a:solidFill>
                <a:latin typeface="IBM Plex Sans" pitchFamily="34" charset="0"/>
                <a:ea typeface="IBM Plex Sans" pitchFamily="34" charset="-122"/>
                <a:cs typeface="IBM Plex Sans" pitchFamily="34" charset="-120"/>
              </a:rPr>
              <a:t>Analyse fonctionnelle : cartographie et rationalisation</a:t>
            </a:r>
            <a:endParaRPr lang="en-US" sz="1400" dirty="0"/>
          </a:p>
          <a:p>
            <a:pPr algn="l" marL="279400" indent="-279400">
              <a:lnSpc>
                <a:spcPct val="104167"/>
              </a:lnSpc>
              <a:spcAft>
                <a:spcPts val="800"/>
              </a:spcAft>
              <a:buSzPct val="100000"/>
              <a:buChar char="•"/>
            </a:pPr>
            <a:r>
              <a:rPr lang="en-US" sz="1400" dirty="0">
                <a:solidFill>
                  <a:srgbClr val="1C1917"/>
                </a:solidFill>
                <a:latin typeface="IBM Plex Sans" pitchFamily="34" charset="0"/>
                <a:ea typeface="IBM Plex Sans" pitchFamily="34" charset="-122"/>
                <a:cs typeface="IBM Plex Sans" pitchFamily="34" charset="-120"/>
              </a:rPr>
              <a:t>Gestion des risques et amélioration continue</a:t>
            </a:r>
            <a:endParaRPr lang="en-US" sz="1400" dirty="0"/>
          </a:p>
        </p:txBody>
      </p:sp>
      <p:sp>
        <p:nvSpPr>
          <p:cNvPr id="12" name="Shape 8-s19"/>
          <p:cNvSpPr/>
          <p:nvPr/>
        </p:nvSpPr>
        <p:spPr>
          <a:xfrm>
            <a:off x="812800" y="3556000"/>
            <a:ext cx="5156200" cy="1714500"/>
          </a:xfrm>
          <a:prstGeom prst="rect">
            <a:avLst/>
          </a:prstGeom>
          <a:solidFill>
            <a:srgbClr val="FAF8F4"/>
          </a:solidFill>
          <a:ln w="25400">
            <a:solidFill>
              <a:srgbClr val="1C1917"/>
            </a:solidFill>
            <a:prstDash val="solid"/>
          </a:ln>
          <a:effectLst>
            <a:outerShdw sx="100000" sy="100000" kx="0" ky="0" algn="bl" rotWithShape="0" blurRad="101600" dist="89789" dir="2700000">
              <a:srgbClr val="1C1917">
                <a:alpha val="100000"/>
              </a:srgbClr>
            </a:outerShdw>
          </a:effectLst>
        </p:spPr>
      </p:sp>
      <p:sp>
        <p:nvSpPr>
          <p:cNvPr id="13" name="Text 9-s19"/>
          <p:cNvSpPr txBox="1"/>
          <p:nvPr/>
        </p:nvSpPr>
        <p:spPr>
          <a:xfrm>
            <a:off x="1041400" y="3784600"/>
            <a:ext cx="4699000" cy="355600"/>
          </a:xfrm>
          <a:prstGeom prst="rect">
            <a:avLst/>
          </a:prstGeom>
          <a:noFill/>
          <a:ln/>
        </p:spPr>
        <p:txBody>
          <a:bodyPr wrap="square" lIns="0" tIns="0" rIns="0" bIns="0" rtlCol="0" anchor="t"/>
          <a:lstStyle/>
          <a:p>
            <a:pPr algn="l" indent="0" marL="0">
              <a:lnSpc>
                <a:spcPct val="104167"/>
              </a:lnSpc>
              <a:buNone/>
            </a:pPr>
            <a:r>
              <a:rPr lang="en-US" sz="2000" b="1" dirty="0">
                <a:solidFill>
                  <a:srgbClr val="1C1917"/>
                </a:solidFill>
                <a:latin typeface="Space Grotesk" pitchFamily="34" charset="0"/>
                <a:ea typeface="Space Grotesk" pitchFamily="34" charset="-122"/>
                <a:cs typeface="Space Grotesk" pitchFamily="34" charset="-120"/>
              </a:rPr>
              <a:t>En progression</a:t>
            </a:r>
            <a:endParaRPr lang="en-US" sz="2000" dirty="0"/>
          </a:p>
        </p:txBody>
      </p:sp>
      <p:sp>
        <p:nvSpPr>
          <p:cNvPr id="14" name="Text 10-s19"/>
          <p:cNvSpPr txBox="1"/>
          <p:nvPr/>
        </p:nvSpPr>
        <p:spPr>
          <a:xfrm>
            <a:off x="1041400" y="4203700"/>
            <a:ext cx="4699000" cy="952500"/>
          </a:xfrm>
          <a:prstGeom prst="rect">
            <a:avLst/>
          </a:prstGeom>
          <a:noFill/>
          <a:ln/>
        </p:spPr>
        <p:txBody>
          <a:bodyPr wrap="square" lIns="0" tIns="0" rIns="0" bIns="0" rtlCol="0" anchor="t"/>
          <a:lstStyle/>
          <a:p>
            <a:pPr algn="l" marL="279400" indent="-279400">
              <a:lnSpc>
                <a:spcPct val="104167"/>
              </a:lnSpc>
              <a:spcAft>
                <a:spcPts val="800"/>
              </a:spcAft>
              <a:buSzPct val="100000"/>
              <a:buChar char="•"/>
            </a:pPr>
            <a:r>
              <a:rPr lang="en-US" sz="1400" dirty="0">
                <a:solidFill>
                  <a:srgbClr val="1C1917"/>
                </a:solidFill>
                <a:latin typeface="IBM Plex Sans" pitchFamily="34" charset="0"/>
                <a:ea typeface="IBM Plex Sans" pitchFamily="34" charset="-122"/>
                <a:cs typeface="IBM Plex Sans" pitchFamily="34" charset="-120"/>
              </a:rPr>
              <a:t>Conduite du changement : ADKAR, formation</a:t>
            </a:r>
            <a:endParaRPr lang="en-US" sz="1400" dirty="0"/>
          </a:p>
          <a:p>
            <a:pPr algn="l" marL="279400" indent="-279400">
              <a:lnSpc>
                <a:spcPct val="104167"/>
              </a:lnSpc>
              <a:spcAft>
                <a:spcPts val="800"/>
              </a:spcAft>
              <a:buSzPct val="100000"/>
              <a:buChar char="•"/>
            </a:pPr>
            <a:r>
              <a:rPr lang="en-US" sz="1400" dirty="0">
                <a:solidFill>
                  <a:srgbClr val="1C1917"/>
                </a:solidFill>
                <a:latin typeface="IBM Plex Sans" pitchFamily="34" charset="0"/>
                <a:ea typeface="IBM Plex Sans" pitchFamily="34" charset="-122"/>
                <a:cs typeface="IBM Plex Sans" pitchFamily="34" charset="-120"/>
              </a:rPr>
              <a:t>Pilotage par la donnée : indicateurs de suivi</a:t>
            </a:r>
            <a:endParaRPr lang="en-US" sz="1400" dirty="0"/>
          </a:p>
          <a:p>
            <a:pPr algn="l" marL="279400" indent="-279400">
              <a:lnSpc>
                <a:spcPct val="104167"/>
              </a:lnSpc>
              <a:spcAft>
                <a:spcPts val="800"/>
              </a:spcAft>
              <a:buSzPct val="100000"/>
              <a:buChar char="•"/>
            </a:pPr>
            <a:r>
              <a:rPr lang="en-US" sz="1400" dirty="0">
                <a:solidFill>
                  <a:srgbClr val="1C1917"/>
                </a:solidFill>
                <a:latin typeface="IBM Plex Sans" pitchFamily="34" charset="0"/>
                <a:ea typeface="IBM Plex Sans" pitchFamily="34" charset="-122"/>
                <a:cs typeface="IBM Plex Sans" pitchFamily="34" charset="-120"/>
              </a:rPr>
              <a:t>Communication : terrain, management, développeurs</a:t>
            </a:r>
            <a:endParaRPr lang="en-US" sz="1400" dirty="0"/>
          </a:p>
        </p:txBody>
      </p:sp>
      <p:sp>
        <p:nvSpPr>
          <p:cNvPr id="15" name="Shape 11-s19"/>
          <p:cNvSpPr/>
          <p:nvPr/>
        </p:nvSpPr>
        <p:spPr>
          <a:xfrm>
            <a:off x="6223000" y="1587500"/>
            <a:ext cx="5156200" cy="3683000"/>
          </a:xfrm>
          <a:prstGeom prst="rect">
            <a:avLst/>
          </a:prstGeom>
          <a:solidFill>
            <a:srgbClr val="1C1917"/>
          </a:solidFill>
          <a:ln w="25400">
            <a:solidFill>
              <a:srgbClr val="1C1917"/>
            </a:solidFill>
            <a:prstDash val="solid"/>
          </a:ln>
          <a:effectLst>
            <a:outerShdw sx="100000" sy="100000" kx="0" ky="0" algn="bl" rotWithShape="0" blurRad="101600" dist="89789" dir="2700000">
              <a:srgbClr val="1C1917">
                <a:alpha val="100000"/>
              </a:srgbClr>
            </a:outerShdw>
          </a:effectLst>
        </p:spPr>
      </p:sp>
      <p:sp>
        <p:nvSpPr>
          <p:cNvPr id="16" name="Text 12-s19"/>
          <p:cNvSpPr txBox="1"/>
          <p:nvPr/>
        </p:nvSpPr>
        <p:spPr>
          <a:xfrm>
            <a:off x="6451600" y="1816100"/>
            <a:ext cx="4191000" cy="355600"/>
          </a:xfrm>
          <a:prstGeom prst="rect">
            <a:avLst/>
          </a:prstGeom>
          <a:noFill/>
          <a:ln/>
        </p:spPr>
        <p:txBody>
          <a:bodyPr wrap="square" lIns="0" tIns="0" rIns="0" bIns="0" rtlCol="0" anchor="t"/>
          <a:lstStyle/>
          <a:p>
            <a:pPr algn="l" indent="0" marL="0">
              <a:lnSpc>
                <a:spcPct val="104167"/>
              </a:lnSpc>
              <a:buNone/>
            </a:pPr>
            <a:r>
              <a:rPr lang="en-US" sz="2000" b="1" dirty="0">
                <a:solidFill>
                  <a:srgbClr val="F1EFEA"/>
                </a:solidFill>
                <a:latin typeface="Space Grotesk" pitchFamily="34" charset="0"/>
                <a:ea typeface="Space Grotesk" pitchFamily="34" charset="-122"/>
                <a:cs typeface="Space Grotesk" pitchFamily="34" charset="-120"/>
              </a:rPr>
              <a:t>Difficulté majeure</a:t>
            </a:r>
            <a:endParaRPr lang="en-US" sz="2000" dirty="0"/>
          </a:p>
        </p:txBody>
      </p:sp>
      <p:sp>
        <p:nvSpPr>
          <p:cNvPr id="17" name="Text 13-s19"/>
          <p:cNvSpPr txBox="1"/>
          <p:nvPr/>
        </p:nvSpPr>
        <p:spPr>
          <a:xfrm>
            <a:off x="6451600" y="2349500"/>
            <a:ext cx="4699000" cy="1079500"/>
          </a:xfrm>
          <a:prstGeom prst="rect">
            <a:avLst/>
          </a:prstGeom>
          <a:noFill/>
          <a:ln/>
        </p:spPr>
        <p:txBody>
          <a:bodyPr wrap="square" lIns="0" tIns="0" rIns="0" bIns="0" rtlCol="0" anchor="t"/>
          <a:lstStyle/>
          <a:p>
            <a:pPr algn="l" indent="0" marL="0">
              <a:lnSpc>
                <a:spcPct val="108333"/>
              </a:lnSpc>
              <a:buNone/>
            </a:pPr>
            <a:r>
              <a:rPr lang="en-US" sz="1600" dirty="0">
                <a:solidFill>
                  <a:srgbClr val="F1EFEA"/>
                </a:solidFill>
                <a:latin typeface="IBM Plex Sans" pitchFamily="34" charset="0"/>
                <a:ea typeface="IBM Plex Sans" pitchFamily="34" charset="-122"/>
                <a:cs typeface="IBM Plex Sans" pitchFamily="34" charset="-120"/>
              </a:rPr>
              <a:t>Travailler avec une solution pas encore stabilisée m’a appris à distinguer trois niveaux : le problème technique, son impact métier et sa gestion projet.</a:t>
            </a:r>
            <a:endParaRPr lang="en-US" sz="1600" dirty="0"/>
          </a:p>
        </p:txBody>
      </p:sp>
      <p:sp>
        <p:nvSpPr>
          <p:cNvPr id="18" name="Text 14-s19"/>
          <p:cNvSpPr txBox="1"/>
          <p:nvPr/>
        </p:nvSpPr>
        <p:spPr>
          <a:xfrm>
            <a:off x="6451600" y="3556000"/>
            <a:ext cx="4699000" cy="1079500"/>
          </a:xfrm>
          <a:prstGeom prst="rect">
            <a:avLst/>
          </a:prstGeom>
          <a:noFill/>
          <a:ln/>
        </p:spPr>
        <p:txBody>
          <a:bodyPr wrap="square" lIns="0" tIns="0" rIns="0" bIns="0" rtlCol="0" anchor="t"/>
          <a:lstStyle/>
          <a:p>
            <a:pPr algn="l" indent="0" marL="0">
              <a:lnSpc>
                <a:spcPct val="108333"/>
              </a:lnSpc>
              <a:buNone/>
            </a:pPr>
            <a:r>
              <a:rPr lang="en-US" sz="1600" b="1" dirty="0">
                <a:solidFill>
                  <a:srgbClr val="F1EFEA"/>
                </a:solidFill>
                <a:latin typeface="IBM Plex Sans" pitchFamily="34" charset="0"/>
                <a:ea typeface="IBM Plex Sans" pitchFamily="34" charset="-122"/>
                <a:cs typeface="IBM Plex Sans" pitchFamily="34" charset="-120"/>
              </a:rPr>
              <a:t>Je ne pouvais pas toujours corriger le bug, mais je pouvais améliorer son escalade, sa priorisation et sa communication.</a:t>
            </a:r>
            <a:endParaRPr lang="en-US" sz="1600" dirty="0"/>
          </a:p>
        </p:txBody>
      </p:sp>
      <p:sp>
        <p:nvSpPr>
          <p:cNvPr id="19" name="nav:2-s19">
            <a:hlinkClick r:id="rIdNav2" action="ppaction://hlinksldjump"/>
          </p:cNvPr>
          <p:cNvSpPr/>
          <p:nvPr/>
        </p:nvSpPr>
        <p:spPr>
          <a:xfrm>
            <a:off x="10922000" y="254000"/>
            <a:ext cx="457200" cy="457200"/>
          </a:xfrm>
          <a:prstGeom prst="rect">
            <a:avLst/>
          </a:prstGeom>
          <a:solidFill>
            <a:srgbClr val="FFFFFF">
              <a:alpha val="0"/>
            </a:srgbClr>
          </a:solidFill>
          <a:ln/>
        </p:spPr>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1EFEA"/>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1EFEA"/>
          </a:solidFill>
          <a:ln w="19050">
            <a:solidFill>
              <a:srgbClr val="1C1917"/>
            </a:solidFill>
            <a:prstDash val="solid"/>
          </a:ln>
        </p:spPr>
      </p:sp>
      <p:sp>
        <p:nvSpPr>
          <p:cNvPr id="3" name="!!mk-bar"/>
          <p:cNvSpPr/>
          <p:nvPr/>
        </p:nvSpPr>
        <p:spPr>
          <a:xfrm>
            <a:off x="812800" y="6299200"/>
            <a:ext cx="9607550" cy="127000"/>
          </a:xfrm>
          <a:prstGeom prst="rect">
            <a:avLst/>
          </a:prstGeom>
          <a:solidFill>
            <a:srgbClr val="C2570C"/>
          </a:solidFill>
          <a:ln w="19050">
            <a:solidFill>
              <a:srgbClr val="1C1917"/>
            </a:solidFill>
            <a:prstDash val="solid"/>
          </a:ln>
        </p:spPr>
      </p:sp>
      <p:sp>
        <p:nvSpPr>
          <p:cNvPr id="4" name="!!mk-sq"/>
          <p:cNvSpPr/>
          <p:nvPr/>
        </p:nvSpPr>
        <p:spPr>
          <a:xfrm rot="-900000">
            <a:off x="10922000" y="254000"/>
            <a:ext cx="457200" cy="457200"/>
          </a:xfrm>
          <a:prstGeom prst="rect">
            <a:avLst/>
          </a:prstGeom>
          <a:solidFill>
            <a:srgbClr val="C2570C"/>
          </a:solidFill>
          <a:ln w="25400">
            <a:solidFill>
              <a:srgbClr val="1C1917"/>
            </a:solidFill>
            <a:prstDash val="solid"/>
          </a:ln>
          <a:effectLst>
            <a:outerShdw sx="100000" sy="100000" kx="0" ky="0" algn="bl" rotWithShape="0" blurRad="101600" dist="71831" dir="2700000">
              <a:srgbClr val="1C1917">
                <a:alpha val="100000"/>
              </a:srgbClr>
            </a:outerShdw>
          </a:effectLst>
        </p:spPr>
      </p:sp>
      <p:sp>
        <p:nvSpPr>
          <p:cNvPr id="5" name="!!mk-logos"/>
          <p:cNvSpPr/>
          <p:nvPr/>
        </p:nvSpPr>
        <p:spPr>
          <a:xfrm>
            <a:off x="8191500" y="279400"/>
            <a:ext cx="2476500" cy="355600"/>
          </a:xfrm>
          <a:prstGeom prst="rect">
            <a:avLst/>
          </a:prstGeom>
          <a:solidFill>
            <a:srgbClr val="FAF8F4"/>
          </a:solidFill>
          <a:ln w="19050">
            <a:solidFill>
              <a:srgbClr val="1C1917"/>
            </a:solidFill>
            <a:prstDash val="solid"/>
          </a:ln>
          <a:effectLst>
            <a:outerShdw sx="100000" sy="100000" kx="0" ky="0" algn="bl" rotWithShape="0" blurRad="101600" dist="53873" dir="2700000">
              <a:srgbClr val="1C1917">
                <a:alpha val="100000"/>
              </a:srgbClr>
            </a:outerShdw>
          </a:effectLst>
        </p:spPr>
      </p:sp>
      <p:pic>
        <p:nvPicPr>
          <p:cNvPr id="6" name="!!mk-logo-1" descr="Logo VINCI Facilities">    </p:cNvPr>
          <p:cNvPicPr>
            <a:picLocks noChangeAspect="1"/>
          </p:cNvPicPr>
          <p:nvPr/>
        </p:nvPicPr>
        <p:blipFill>
          <a:blip r:embed="rId1"/>
          <a:stretch>
            <a:fillRect/>
          </a:stretch>
        </p:blipFill>
        <p:spPr>
          <a:xfrm>
            <a:off x="8756650" y="330200"/>
            <a:ext cx="762000" cy="254000"/>
          </a:xfrm>
          <a:prstGeom prst="rect">
            <a:avLst/>
          </a:prstGeom>
        </p:spPr>
      </p:pic>
      <p:pic>
        <p:nvPicPr>
          <p:cNvPr id="7" name="!!mk-logo-2" descr="Logo Icam">    </p:cNvPr>
          <p:cNvPicPr>
            <a:picLocks noChangeAspect="1"/>
          </p:cNvPicPr>
          <p:nvPr/>
        </p:nvPicPr>
        <p:blipFill>
          <a:blip r:embed="rId2"/>
          <a:stretch>
            <a:fillRect/>
          </a:stretch>
        </p:blipFill>
        <p:spPr>
          <a:xfrm>
            <a:off x="9671050" y="330200"/>
            <a:ext cx="431800" cy="254000"/>
          </a:xfrm>
          <a:prstGeom prst="rect">
            <a:avLst/>
          </a:prstGeom>
        </p:spPr>
      </p:pic>
      <p:sp>
        <p:nvSpPr>
          <p:cNvPr id="8" name="Text 4-s20"/>
          <p:cNvSpPr txBox="1"/>
          <p:nvPr/>
        </p:nvSpPr>
        <p:spPr>
          <a:xfrm>
            <a:off x="812800" y="812800"/>
            <a:ext cx="10566400" cy="571500"/>
          </a:xfrm>
          <a:prstGeom prst="rect">
            <a:avLst/>
          </a:prstGeom>
          <a:noFill/>
          <a:ln/>
        </p:spPr>
        <p:txBody>
          <a:bodyPr wrap="square" lIns="0" tIns="0" rIns="0" bIns="0" rtlCol="0" anchor="t"/>
          <a:lstStyle/>
          <a:p>
            <a:pPr algn="l" indent="0" marL="0">
              <a:lnSpc>
                <a:spcPct val="87500"/>
              </a:lnSpc>
              <a:buNone/>
            </a:pPr>
            <a:r>
              <a:rPr lang="en-US" sz="3600" b="1" dirty="0">
                <a:solidFill>
                  <a:srgbClr val="1C1917"/>
                </a:solidFill>
                <a:latin typeface="Space Grotesk" pitchFamily="34" charset="0"/>
                <a:ea typeface="Space Grotesk" pitchFamily="34" charset="-122"/>
                <a:cs typeface="Space Grotesk" pitchFamily="34" charset="-120"/>
              </a:rPr>
              <a:t>Ce que je ferais autrement</a:t>
            </a:r>
            <a:endParaRPr lang="en-US" sz="3600" dirty="0"/>
          </a:p>
        </p:txBody>
      </p:sp>
      <p:sp>
        <p:nvSpPr>
          <p:cNvPr id="9" name="Shape 5-s20"/>
          <p:cNvSpPr/>
          <p:nvPr/>
        </p:nvSpPr>
        <p:spPr>
          <a:xfrm>
            <a:off x="812800" y="1587500"/>
            <a:ext cx="3384550" cy="2730500"/>
          </a:xfrm>
          <a:prstGeom prst="rect">
            <a:avLst/>
          </a:prstGeom>
          <a:solidFill>
            <a:srgbClr val="FAF8F4"/>
          </a:solidFill>
          <a:ln w="25400">
            <a:solidFill>
              <a:srgbClr val="1C1917"/>
            </a:solidFill>
            <a:prstDash val="solid"/>
          </a:ln>
          <a:effectLst>
            <a:outerShdw sx="100000" sy="100000" kx="0" ky="0" algn="bl" rotWithShape="0" blurRad="101600" dist="89789" dir="2700000">
              <a:srgbClr val="1C1917">
                <a:alpha val="100000"/>
              </a:srgbClr>
            </a:outerShdw>
          </a:effectLst>
        </p:spPr>
      </p:sp>
      <p:sp>
        <p:nvSpPr>
          <p:cNvPr id="10" name="Text 6-s20"/>
          <p:cNvSpPr txBox="1"/>
          <p:nvPr/>
        </p:nvSpPr>
        <p:spPr>
          <a:xfrm>
            <a:off x="1041400" y="1816100"/>
            <a:ext cx="2927350" cy="215900"/>
          </a:xfrm>
          <a:prstGeom prst="rect">
            <a:avLst/>
          </a:prstGeom>
          <a:noFill/>
          <a:ln/>
        </p:spPr>
        <p:txBody>
          <a:bodyPr wrap="square" lIns="0" tIns="0" rIns="0" bIns="0" rtlCol="0" anchor="t"/>
          <a:lstStyle/>
          <a:p>
            <a:pPr algn="l" indent="0" marL="0">
              <a:lnSpc>
                <a:spcPct val="104167"/>
              </a:lnSpc>
              <a:buNone/>
            </a:pPr>
            <a:r>
              <a:rPr lang="en-US" sz="1200" b="1" spc="200" kern="0" dirty="0">
                <a:solidFill>
                  <a:srgbClr val="C2570C"/>
                </a:solidFill>
                <a:latin typeface="JetBrains Mono" pitchFamily="34" charset="0"/>
                <a:ea typeface="JetBrains Mono" pitchFamily="34" charset="-122"/>
                <a:cs typeface="JetBrains Mono" pitchFamily="34" charset="-120"/>
              </a:rPr>
              <a:t>AMÉLIORATION 01</a:t>
            </a:r>
            <a:endParaRPr lang="en-US" sz="1200" dirty="0"/>
          </a:p>
        </p:txBody>
      </p:sp>
      <p:sp>
        <p:nvSpPr>
          <p:cNvPr id="11" name="Text 7-s20"/>
          <p:cNvSpPr txBox="1"/>
          <p:nvPr/>
        </p:nvSpPr>
        <p:spPr>
          <a:xfrm>
            <a:off x="1041400" y="2133600"/>
            <a:ext cx="2927350" cy="355600"/>
          </a:xfrm>
          <a:prstGeom prst="rect">
            <a:avLst/>
          </a:prstGeom>
          <a:noFill/>
          <a:ln/>
        </p:spPr>
        <p:txBody>
          <a:bodyPr wrap="square" lIns="0" tIns="0" rIns="0" bIns="0" rtlCol="0" anchor="t"/>
          <a:lstStyle/>
          <a:p>
            <a:pPr algn="l" indent="0" marL="0">
              <a:lnSpc>
                <a:spcPct val="104167"/>
              </a:lnSpc>
              <a:buNone/>
            </a:pPr>
            <a:r>
              <a:rPr lang="en-US" sz="1800" b="1" dirty="0">
                <a:solidFill>
                  <a:srgbClr val="1C1917"/>
                </a:solidFill>
                <a:latin typeface="Space Grotesk" pitchFamily="34" charset="0"/>
                <a:ea typeface="Space Grotesk" pitchFamily="34" charset="-122"/>
                <a:cs typeface="Space Grotesk" pitchFamily="34" charset="-120"/>
              </a:rPr>
              <a:t>Classer les anomalies</a:t>
            </a:r>
            <a:endParaRPr lang="en-US" sz="1800" dirty="0"/>
          </a:p>
        </p:txBody>
      </p:sp>
      <p:sp>
        <p:nvSpPr>
          <p:cNvPr id="12" name="Text 8-s20"/>
          <p:cNvSpPr txBox="1"/>
          <p:nvPr/>
        </p:nvSpPr>
        <p:spPr>
          <a:xfrm>
            <a:off x="1041400" y="2603500"/>
            <a:ext cx="2927350" cy="1587500"/>
          </a:xfrm>
          <a:prstGeom prst="rect">
            <a:avLst/>
          </a:prstGeom>
          <a:noFill/>
          <a:ln/>
        </p:spPr>
        <p:txBody>
          <a:bodyPr wrap="square" lIns="0" tIns="0" rIns="0" bIns="0" rtlCol="0" anchor="t"/>
          <a:lstStyle/>
          <a:p>
            <a:pPr algn="l" indent="0" marL="0">
              <a:lnSpc>
                <a:spcPct val="108333"/>
              </a:lnSpc>
              <a:buNone/>
            </a:pPr>
            <a:r>
              <a:rPr lang="en-US" sz="1400" dirty="0">
                <a:solidFill>
                  <a:srgbClr val="1C1917"/>
                </a:solidFill>
                <a:latin typeface="IBM Plex Sans" pitchFamily="34" charset="0"/>
                <a:ea typeface="IBM Plex Sans" pitchFamily="34" charset="-122"/>
                <a:cs typeface="IBM Plex Sans" pitchFamily="34" charset="-120"/>
              </a:rPr>
              <a:t>Standardiser la classification dès les premières remontées.</a:t>
            </a:r>
            <a:endParaRPr lang="en-US" sz="1400" dirty="0"/>
          </a:p>
        </p:txBody>
      </p:sp>
      <p:sp>
        <p:nvSpPr>
          <p:cNvPr id="13" name="Shape 9-s20"/>
          <p:cNvSpPr/>
          <p:nvPr/>
        </p:nvSpPr>
        <p:spPr>
          <a:xfrm>
            <a:off x="4400550" y="1587500"/>
            <a:ext cx="3384550" cy="2730500"/>
          </a:xfrm>
          <a:prstGeom prst="rect">
            <a:avLst/>
          </a:prstGeom>
          <a:solidFill>
            <a:srgbClr val="FAF8F4"/>
          </a:solidFill>
          <a:ln w="25400">
            <a:solidFill>
              <a:srgbClr val="1C1917"/>
            </a:solidFill>
            <a:prstDash val="solid"/>
          </a:ln>
          <a:effectLst>
            <a:outerShdw sx="100000" sy="100000" kx="0" ky="0" algn="bl" rotWithShape="0" blurRad="101600" dist="89789" dir="2700000">
              <a:srgbClr val="1C1917">
                <a:alpha val="100000"/>
              </a:srgbClr>
            </a:outerShdw>
          </a:effectLst>
        </p:spPr>
      </p:sp>
      <p:sp>
        <p:nvSpPr>
          <p:cNvPr id="14" name="Text 10-s20"/>
          <p:cNvSpPr txBox="1"/>
          <p:nvPr/>
        </p:nvSpPr>
        <p:spPr>
          <a:xfrm>
            <a:off x="4629150" y="1816100"/>
            <a:ext cx="2927350" cy="215900"/>
          </a:xfrm>
          <a:prstGeom prst="rect">
            <a:avLst/>
          </a:prstGeom>
          <a:noFill/>
          <a:ln/>
        </p:spPr>
        <p:txBody>
          <a:bodyPr wrap="square" lIns="0" tIns="0" rIns="0" bIns="0" rtlCol="0" anchor="t"/>
          <a:lstStyle/>
          <a:p>
            <a:pPr algn="l" indent="0" marL="0">
              <a:lnSpc>
                <a:spcPct val="104167"/>
              </a:lnSpc>
              <a:buNone/>
            </a:pPr>
            <a:r>
              <a:rPr lang="en-US" sz="1200" b="1" spc="200" kern="0" dirty="0">
                <a:solidFill>
                  <a:srgbClr val="C2570C"/>
                </a:solidFill>
                <a:latin typeface="JetBrains Mono" pitchFamily="34" charset="0"/>
                <a:ea typeface="JetBrains Mono" pitchFamily="34" charset="-122"/>
                <a:cs typeface="JetBrains Mono" pitchFamily="34" charset="-120"/>
              </a:rPr>
              <a:t>AMÉLIORATION 02</a:t>
            </a:r>
            <a:endParaRPr lang="en-US" sz="1200" dirty="0"/>
          </a:p>
        </p:txBody>
      </p:sp>
      <p:sp>
        <p:nvSpPr>
          <p:cNvPr id="15" name="Text 11-s20"/>
          <p:cNvSpPr txBox="1"/>
          <p:nvPr/>
        </p:nvSpPr>
        <p:spPr>
          <a:xfrm>
            <a:off x="4629150" y="2133600"/>
            <a:ext cx="2927350" cy="355600"/>
          </a:xfrm>
          <a:prstGeom prst="rect">
            <a:avLst/>
          </a:prstGeom>
          <a:noFill/>
          <a:ln/>
        </p:spPr>
        <p:txBody>
          <a:bodyPr wrap="square" lIns="0" tIns="0" rIns="0" bIns="0" rtlCol="0" anchor="t"/>
          <a:lstStyle/>
          <a:p>
            <a:pPr algn="l" indent="0" marL="0">
              <a:lnSpc>
                <a:spcPct val="104167"/>
              </a:lnSpc>
              <a:buNone/>
            </a:pPr>
            <a:r>
              <a:rPr lang="en-US" sz="1800" b="1" dirty="0">
                <a:solidFill>
                  <a:srgbClr val="1C1917"/>
                </a:solidFill>
                <a:latin typeface="Space Grotesk" pitchFamily="34" charset="0"/>
                <a:ea typeface="Space Grotesk" pitchFamily="34" charset="-122"/>
                <a:cs typeface="Space Grotesk" pitchFamily="34" charset="-120"/>
              </a:rPr>
              <a:t>Planifier plus finement</a:t>
            </a:r>
            <a:endParaRPr lang="en-US" sz="1800" dirty="0"/>
          </a:p>
        </p:txBody>
      </p:sp>
      <p:sp>
        <p:nvSpPr>
          <p:cNvPr id="16" name="Text 12-s20"/>
          <p:cNvSpPr txBox="1"/>
          <p:nvPr/>
        </p:nvSpPr>
        <p:spPr>
          <a:xfrm>
            <a:off x="4629150" y="2603500"/>
            <a:ext cx="2927350" cy="1587500"/>
          </a:xfrm>
          <a:prstGeom prst="rect">
            <a:avLst/>
          </a:prstGeom>
          <a:noFill/>
          <a:ln/>
        </p:spPr>
        <p:txBody>
          <a:bodyPr wrap="square" lIns="0" tIns="0" rIns="0" bIns="0" rtlCol="0" anchor="t"/>
          <a:lstStyle/>
          <a:p>
            <a:pPr algn="l" indent="0" marL="0">
              <a:lnSpc>
                <a:spcPct val="108333"/>
              </a:lnSpc>
              <a:buNone/>
            </a:pPr>
            <a:r>
              <a:rPr lang="en-US" sz="1400" dirty="0">
                <a:solidFill>
                  <a:srgbClr val="1C1917"/>
                </a:solidFill>
                <a:latin typeface="IBM Plex Sans" pitchFamily="34" charset="0"/>
                <a:ea typeface="IBM Plex Sans" pitchFamily="34" charset="-122"/>
                <a:cs typeface="IBM Plex Sans" pitchFamily="34" charset="-120"/>
              </a:rPr>
              <a:t>Mettre en place un planning plus détaillé dès le départ.</a:t>
            </a:r>
            <a:endParaRPr lang="en-US" sz="1400" dirty="0"/>
          </a:p>
        </p:txBody>
      </p:sp>
      <p:sp>
        <p:nvSpPr>
          <p:cNvPr id="17" name="Shape 13-s20"/>
          <p:cNvSpPr/>
          <p:nvPr/>
        </p:nvSpPr>
        <p:spPr>
          <a:xfrm>
            <a:off x="7988300" y="1587500"/>
            <a:ext cx="3384550" cy="2730500"/>
          </a:xfrm>
          <a:prstGeom prst="rect">
            <a:avLst/>
          </a:prstGeom>
          <a:solidFill>
            <a:srgbClr val="FAF8F4"/>
          </a:solidFill>
          <a:ln w="25400">
            <a:solidFill>
              <a:srgbClr val="1C1917"/>
            </a:solidFill>
            <a:prstDash val="solid"/>
          </a:ln>
          <a:effectLst>
            <a:outerShdw sx="100000" sy="100000" kx="0" ky="0" algn="bl" rotWithShape="0" blurRad="101600" dist="89789" dir="2700000">
              <a:srgbClr val="1C1917">
                <a:alpha val="100000"/>
              </a:srgbClr>
            </a:outerShdw>
          </a:effectLst>
        </p:spPr>
      </p:sp>
      <p:sp>
        <p:nvSpPr>
          <p:cNvPr id="18" name="Text 14-s20"/>
          <p:cNvSpPr txBox="1"/>
          <p:nvPr/>
        </p:nvSpPr>
        <p:spPr>
          <a:xfrm>
            <a:off x="8216900" y="1816100"/>
            <a:ext cx="2927350" cy="215900"/>
          </a:xfrm>
          <a:prstGeom prst="rect">
            <a:avLst/>
          </a:prstGeom>
          <a:noFill/>
          <a:ln/>
        </p:spPr>
        <p:txBody>
          <a:bodyPr wrap="square" lIns="0" tIns="0" rIns="0" bIns="0" rtlCol="0" anchor="t"/>
          <a:lstStyle/>
          <a:p>
            <a:pPr algn="l" indent="0" marL="0">
              <a:lnSpc>
                <a:spcPct val="104167"/>
              </a:lnSpc>
              <a:buNone/>
            </a:pPr>
            <a:r>
              <a:rPr lang="en-US" sz="1200" b="1" spc="200" kern="0" dirty="0">
                <a:solidFill>
                  <a:srgbClr val="C2570C"/>
                </a:solidFill>
                <a:latin typeface="JetBrains Mono" pitchFamily="34" charset="0"/>
                <a:ea typeface="JetBrains Mono" pitchFamily="34" charset="-122"/>
                <a:cs typeface="JetBrains Mono" pitchFamily="34" charset="-120"/>
              </a:rPr>
              <a:t>AMÉLIORATION 03</a:t>
            </a:r>
            <a:endParaRPr lang="en-US" sz="1200" dirty="0"/>
          </a:p>
        </p:txBody>
      </p:sp>
      <p:sp>
        <p:nvSpPr>
          <p:cNvPr id="19" name="Text 15-s20"/>
          <p:cNvSpPr txBox="1"/>
          <p:nvPr/>
        </p:nvSpPr>
        <p:spPr>
          <a:xfrm>
            <a:off x="8216900" y="2133600"/>
            <a:ext cx="2927350" cy="355600"/>
          </a:xfrm>
          <a:prstGeom prst="rect">
            <a:avLst/>
          </a:prstGeom>
          <a:noFill/>
          <a:ln/>
        </p:spPr>
        <p:txBody>
          <a:bodyPr wrap="square" lIns="0" tIns="0" rIns="0" bIns="0" rtlCol="0" anchor="t"/>
          <a:lstStyle/>
          <a:p>
            <a:pPr algn="l" indent="0" marL="0">
              <a:lnSpc>
                <a:spcPct val="104167"/>
              </a:lnSpc>
              <a:buNone/>
            </a:pPr>
            <a:r>
              <a:rPr lang="en-US" sz="1800" b="1" dirty="0">
                <a:solidFill>
                  <a:srgbClr val="1C1917"/>
                </a:solidFill>
                <a:latin typeface="Space Grotesk" pitchFamily="34" charset="0"/>
                <a:ea typeface="Space Grotesk" pitchFamily="34" charset="-122"/>
                <a:cs typeface="Space Grotesk" pitchFamily="34" charset="-120"/>
              </a:rPr>
              <a:t>Prévoir la stabilisation</a:t>
            </a:r>
            <a:endParaRPr lang="en-US" sz="1800" dirty="0"/>
          </a:p>
        </p:txBody>
      </p:sp>
      <p:sp>
        <p:nvSpPr>
          <p:cNvPr id="20" name="Text 16-s20"/>
          <p:cNvSpPr txBox="1"/>
          <p:nvPr/>
        </p:nvSpPr>
        <p:spPr>
          <a:xfrm>
            <a:off x="8216900" y="2603500"/>
            <a:ext cx="2927350" cy="1587500"/>
          </a:xfrm>
          <a:prstGeom prst="rect">
            <a:avLst/>
          </a:prstGeom>
          <a:noFill/>
          <a:ln/>
        </p:spPr>
        <p:txBody>
          <a:bodyPr wrap="square" lIns="0" tIns="0" rIns="0" bIns="0" rtlCol="0" anchor="t"/>
          <a:lstStyle/>
          <a:p>
            <a:pPr algn="l" indent="0" marL="0">
              <a:lnSpc>
                <a:spcPct val="108333"/>
              </a:lnSpc>
              <a:buNone/>
            </a:pPr>
            <a:r>
              <a:rPr lang="en-US" sz="1400" dirty="0">
                <a:solidFill>
                  <a:srgbClr val="1C1917"/>
                </a:solidFill>
                <a:latin typeface="IBM Plex Sans" pitchFamily="34" charset="0"/>
                <a:ea typeface="IBM Plex Sans" pitchFamily="34" charset="-122"/>
                <a:cs typeface="IBM Plex Sans" pitchFamily="34" charset="-120"/>
              </a:rPr>
              <a:t>L’intégrer comme une phase projet, avec ressources et indicateurs.</a:t>
            </a:r>
            <a:endParaRPr lang="en-US" sz="1400" dirty="0"/>
          </a:p>
        </p:txBody>
      </p:sp>
      <p:sp>
        <p:nvSpPr>
          <p:cNvPr id="21" name="Shape 17-s20"/>
          <p:cNvSpPr/>
          <p:nvPr/>
        </p:nvSpPr>
        <p:spPr>
          <a:xfrm>
            <a:off x="812800" y="4699000"/>
            <a:ext cx="10566400" cy="952500"/>
          </a:xfrm>
          <a:prstGeom prst="rect">
            <a:avLst/>
          </a:prstGeom>
          <a:solidFill>
            <a:srgbClr val="1C1917"/>
          </a:solidFill>
          <a:ln/>
        </p:spPr>
      </p:sp>
      <p:sp>
        <p:nvSpPr>
          <p:cNvPr id="22" name="Text 18-s20"/>
          <p:cNvSpPr txBox="1"/>
          <p:nvPr/>
        </p:nvSpPr>
        <p:spPr>
          <a:xfrm>
            <a:off x="1066800" y="4699000"/>
            <a:ext cx="10058400" cy="952500"/>
          </a:xfrm>
          <a:prstGeom prst="rect">
            <a:avLst/>
          </a:prstGeom>
          <a:noFill/>
          <a:ln/>
        </p:spPr>
        <p:txBody>
          <a:bodyPr wrap="square" lIns="0" tIns="0" rIns="0" bIns="0" rtlCol="0" anchor="ctr"/>
          <a:lstStyle/>
          <a:p>
            <a:pPr algn="l" indent="0" marL="0">
              <a:lnSpc>
                <a:spcPct val="104167"/>
              </a:lnSpc>
              <a:buNone/>
            </a:pPr>
            <a:r>
              <a:rPr lang="en-US" sz="2000" b="1" dirty="0">
                <a:solidFill>
                  <a:srgbClr val="F1EFEA"/>
                </a:solidFill>
                <a:latin typeface="Space Grotesk" pitchFamily="34" charset="0"/>
                <a:ea typeface="Space Grotesk" pitchFamily="34" charset="-122"/>
                <a:cs typeface="Space Grotesk" pitchFamily="34" charset="-120"/>
              </a:rPr>
              <a:t>Pour un futur projet : évaluer plus tôt la capacité de la solution à supporter le déploiement.</a:t>
            </a:r>
            <a:endParaRPr lang="en-US" sz="2000" dirty="0"/>
          </a:p>
        </p:txBody>
      </p:sp>
      <p:sp>
        <p:nvSpPr>
          <p:cNvPr id="23" name="nav:2-s20">
            <a:hlinkClick r:id="rIdNav2" action="ppaction://hlinksldjump"/>
          </p:cNvPr>
          <p:cNvSpPr/>
          <p:nvPr/>
        </p:nvSpPr>
        <p:spPr>
          <a:xfrm>
            <a:off x="10922000" y="254000"/>
            <a:ext cx="457200" cy="457200"/>
          </a:xfrm>
          <a:prstGeom prst="rect">
            <a:avLst/>
          </a:prstGeom>
          <a:solidFill>
            <a:srgbClr val="FFFFFF">
              <a:alpha val="0"/>
            </a:srgbClr>
          </a:solidFill>
          <a:ln/>
        </p:spPr>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1EFEA"/>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1EFEA"/>
          </a:solidFill>
          <a:ln w="19050">
            <a:solidFill>
              <a:srgbClr val="1C1917"/>
            </a:solidFill>
            <a:prstDash val="solid"/>
          </a:ln>
        </p:spPr>
      </p:sp>
      <p:sp>
        <p:nvSpPr>
          <p:cNvPr id="3" name="!!mk-bar"/>
          <p:cNvSpPr/>
          <p:nvPr/>
        </p:nvSpPr>
        <p:spPr>
          <a:xfrm>
            <a:off x="812800" y="6299200"/>
            <a:ext cx="10083800" cy="127000"/>
          </a:xfrm>
          <a:prstGeom prst="rect">
            <a:avLst/>
          </a:prstGeom>
          <a:solidFill>
            <a:srgbClr val="C2570C"/>
          </a:solidFill>
          <a:ln w="19050">
            <a:solidFill>
              <a:srgbClr val="1C1917"/>
            </a:solidFill>
            <a:prstDash val="solid"/>
          </a:ln>
        </p:spPr>
      </p:sp>
      <p:sp>
        <p:nvSpPr>
          <p:cNvPr id="4" name="!!mk-sq"/>
          <p:cNvSpPr/>
          <p:nvPr/>
        </p:nvSpPr>
        <p:spPr>
          <a:xfrm rot="900000">
            <a:off x="10922000" y="254000"/>
            <a:ext cx="457200" cy="457200"/>
          </a:xfrm>
          <a:prstGeom prst="rect">
            <a:avLst/>
          </a:prstGeom>
          <a:solidFill>
            <a:srgbClr val="C2570C"/>
          </a:solidFill>
          <a:ln w="25400">
            <a:solidFill>
              <a:srgbClr val="1C1917"/>
            </a:solidFill>
            <a:prstDash val="solid"/>
          </a:ln>
          <a:effectLst>
            <a:outerShdw sx="100000" sy="100000" kx="0" ky="0" algn="bl" rotWithShape="0" blurRad="101600" dist="71831" dir="2700000">
              <a:srgbClr val="1C1917">
                <a:alpha val="100000"/>
              </a:srgbClr>
            </a:outerShdw>
          </a:effectLst>
        </p:spPr>
      </p:sp>
      <p:sp>
        <p:nvSpPr>
          <p:cNvPr id="5" name="!!mk-logos"/>
          <p:cNvSpPr/>
          <p:nvPr/>
        </p:nvSpPr>
        <p:spPr>
          <a:xfrm>
            <a:off x="8191500" y="279400"/>
            <a:ext cx="2476500" cy="355600"/>
          </a:xfrm>
          <a:prstGeom prst="rect">
            <a:avLst/>
          </a:prstGeom>
          <a:solidFill>
            <a:srgbClr val="FAF8F4"/>
          </a:solidFill>
          <a:ln w="19050">
            <a:solidFill>
              <a:srgbClr val="1C1917"/>
            </a:solidFill>
            <a:prstDash val="solid"/>
          </a:ln>
          <a:effectLst>
            <a:outerShdw sx="100000" sy="100000" kx="0" ky="0" algn="bl" rotWithShape="0" blurRad="101600" dist="53873" dir="2700000">
              <a:srgbClr val="1C1917">
                <a:alpha val="100000"/>
              </a:srgbClr>
            </a:outerShdw>
          </a:effectLst>
        </p:spPr>
      </p:sp>
      <p:pic>
        <p:nvPicPr>
          <p:cNvPr id="6" name="!!mk-logo-1" descr="Logo VINCI Facilities">    </p:cNvPr>
          <p:cNvPicPr>
            <a:picLocks noChangeAspect="1"/>
          </p:cNvPicPr>
          <p:nvPr/>
        </p:nvPicPr>
        <p:blipFill>
          <a:blip r:embed="rId1"/>
          <a:stretch>
            <a:fillRect/>
          </a:stretch>
        </p:blipFill>
        <p:spPr>
          <a:xfrm>
            <a:off x="8756650" y="330200"/>
            <a:ext cx="762000" cy="254000"/>
          </a:xfrm>
          <a:prstGeom prst="rect">
            <a:avLst/>
          </a:prstGeom>
        </p:spPr>
      </p:pic>
      <p:pic>
        <p:nvPicPr>
          <p:cNvPr id="7" name="!!mk-logo-2" descr="Logo Icam">    </p:cNvPr>
          <p:cNvPicPr>
            <a:picLocks noChangeAspect="1"/>
          </p:cNvPicPr>
          <p:nvPr/>
        </p:nvPicPr>
        <p:blipFill>
          <a:blip r:embed="rId2"/>
          <a:stretch>
            <a:fillRect/>
          </a:stretch>
        </p:blipFill>
        <p:spPr>
          <a:xfrm>
            <a:off x="9671050" y="330200"/>
            <a:ext cx="431800" cy="254000"/>
          </a:xfrm>
          <a:prstGeom prst="rect">
            <a:avLst/>
          </a:prstGeom>
        </p:spPr>
      </p:pic>
      <p:sp>
        <p:nvSpPr>
          <p:cNvPr id="8" name="Text 4-s21"/>
          <p:cNvSpPr txBox="1"/>
          <p:nvPr/>
        </p:nvSpPr>
        <p:spPr>
          <a:xfrm>
            <a:off x="812800" y="812800"/>
            <a:ext cx="10566400" cy="571500"/>
          </a:xfrm>
          <a:prstGeom prst="rect">
            <a:avLst/>
          </a:prstGeom>
          <a:noFill/>
          <a:ln/>
        </p:spPr>
        <p:txBody>
          <a:bodyPr wrap="square" lIns="0" tIns="0" rIns="0" bIns="0" rtlCol="0" anchor="t"/>
          <a:lstStyle/>
          <a:p>
            <a:pPr algn="l" indent="0" marL="0">
              <a:lnSpc>
                <a:spcPct val="87500"/>
              </a:lnSpc>
              <a:buNone/>
            </a:pPr>
            <a:r>
              <a:rPr lang="en-US" sz="3600" b="1" dirty="0">
                <a:solidFill>
                  <a:srgbClr val="1C1917"/>
                </a:solidFill>
                <a:latin typeface="Space Grotesk" pitchFamily="34" charset="0"/>
                <a:ea typeface="Space Grotesk" pitchFamily="34" charset="-122"/>
                <a:cs typeface="Space Grotesk" pitchFamily="34" charset="-120"/>
              </a:rPr>
              <a:t>Perspectives et préconisations</a:t>
            </a:r>
            <a:endParaRPr lang="en-US" sz="3600" dirty="0"/>
          </a:p>
        </p:txBody>
      </p:sp>
      <p:sp>
        <p:nvSpPr>
          <p:cNvPr id="9" name="Shape 5-s21"/>
          <p:cNvSpPr/>
          <p:nvPr/>
        </p:nvSpPr>
        <p:spPr>
          <a:xfrm>
            <a:off x="812800" y="1587500"/>
            <a:ext cx="609600" cy="609600"/>
          </a:xfrm>
          <a:prstGeom prst="rect">
            <a:avLst/>
          </a:prstGeom>
          <a:solidFill>
            <a:srgbClr val="1C1917"/>
          </a:solidFill>
          <a:ln w="25400">
            <a:solidFill>
              <a:srgbClr val="1C1917"/>
            </a:solidFill>
            <a:prstDash val="solid"/>
          </a:ln>
        </p:spPr>
      </p:sp>
      <p:sp>
        <p:nvSpPr>
          <p:cNvPr id="10" name="Text 6-s21"/>
          <p:cNvSpPr txBox="1"/>
          <p:nvPr/>
        </p:nvSpPr>
        <p:spPr>
          <a:xfrm>
            <a:off x="812800" y="1587500"/>
            <a:ext cx="609600" cy="609600"/>
          </a:xfrm>
          <a:prstGeom prst="rect">
            <a:avLst/>
          </a:prstGeom>
          <a:noFill/>
          <a:ln/>
        </p:spPr>
        <p:txBody>
          <a:bodyPr wrap="square" lIns="0" tIns="0" rIns="0" bIns="0" rtlCol="0" anchor="ctr"/>
          <a:lstStyle/>
          <a:p>
            <a:pPr algn="ctr" indent="0" marL="0">
              <a:lnSpc>
                <a:spcPct val="104167"/>
              </a:lnSpc>
              <a:buNone/>
            </a:pPr>
            <a:r>
              <a:rPr lang="en-US" sz="2000" b="1" dirty="0">
                <a:solidFill>
                  <a:srgbClr val="F1EFEA"/>
                </a:solidFill>
                <a:latin typeface="Space Grotesk" pitchFamily="34" charset="0"/>
                <a:ea typeface="Space Grotesk" pitchFamily="34" charset="-122"/>
                <a:cs typeface="Space Grotesk" pitchFamily="34" charset="-120"/>
              </a:rPr>
              <a:t>01</a:t>
            </a:r>
            <a:endParaRPr lang="en-US" sz="2000" dirty="0"/>
          </a:p>
        </p:txBody>
      </p:sp>
      <p:sp>
        <p:nvSpPr>
          <p:cNvPr id="11" name="Shape 7-s21"/>
          <p:cNvSpPr/>
          <p:nvPr/>
        </p:nvSpPr>
        <p:spPr>
          <a:xfrm>
            <a:off x="1422400" y="1587500"/>
            <a:ext cx="9956800" cy="609600"/>
          </a:xfrm>
          <a:prstGeom prst="rect">
            <a:avLst/>
          </a:prstGeom>
          <a:solidFill>
            <a:srgbClr val="FAF8F4"/>
          </a:solidFill>
          <a:ln w="25400">
            <a:solidFill>
              <a:srgbClr val="1C1917"/>
            </a:solidFill>
            <a:prstDash val="solid"/>
          </a:ln>
        </p:spPr>
      </p:sp>
      <p:sp>
        <p:nvSpPr>
          <p:cNvPr id="12" name="Text 8-s21"/>
          <p:cNvSpPr txBox="1"/>
          <p:nvPr/>
        </p:nvSpPr>
        <p:spPr>
          <a:xfrm>
            <a:off x="1625600" y="1587500"/>
            <a:ext cx="9588500" cy="609600"/>
          </a:xfrm>
          <a:prstGeom prst="rect">
            <a:avLst/>
          </a:prstGeom>
          <a:noFill/>
          <a:ln/>
        </p:spPr>
        <p:txBody>
          <a:bodyPr wrap="square" lIns="0" tIns="0" rIns="0" bIns="0" rtlCol="0" anchor="ctr"/>
          <a:lstStyle/>
          <a:p>
            <a:pPr algn="l" indent="0" marL="0">
              <a:lnSpc>
                <a:spcPct val="104167"/>
              </a:lnSpc>
              <a:buNone/>
            </a:pPr>
            <a:r>
              <a:rPr lang="en-US" sz="1600" dirty="0">
                <a:solidFill>
                  <a:srgbClr val="1C1917"/>
                </a:solidFill>
                <a:latin typeface="IBM Plex Sans" pitchFamily="34" charset="0"/>
                <a:ea typeface="IBM Plex Sans" pitchFamily="34" charset="-122"/>
                <a:cs typeface="IBM Plex Sans" pitchFamily="34" charset="-120"/>
              </a:rPr>
              <a:t>Consolider l’usage de Teepee avant d’élargir son périmètre</a:t>
            </a:r>
            <a:endParaRPr lang="en-US" sz="1600" dirty="0"/>
          </a:p>
        </p:txBody>
      </p:sp>
      <p:sp>
        <p:nvSpPr>
          <p:cNvPr id="13" name="Shape 9-s21"/>
          <p:cNvSpPr/>
          <p:nvPr/>
        </p:nvSpPr>
        <p:spPr>
          <a:xfrm>
            <a:off x="812800" y="2324100"/>
            <a:ext cx="609600" cy="609600"/>
          </a:xfrm>
          <a:prstGeom prst="rect">
            <a:avLst/>
          </a:prstGeom>
          <a:solidFill>
            <a:srgbClr val="1C1917"/>
          </a:solidFill>
          <a:ln w="25400">
            <a:solidFill>
              <a:srgbClr val="1C1917"/>
            </a:solidFill>
            <a:prstDash val="solid"/>
          </a:ln>
        </p:spPr>
      </p:sp>
      <p:sp>
        <p:nvSpPr>
          <p:cNvPr id="14" name="Text 10-s21"/>
          <p:cNvSpPr txBox="1"/>
          <p:nvPr/>
        </p:nvSpPr>
        <p:spPr>
          <a:xfrm>
            <a:off x="812800" y="2324100"/>
            <a:ext cx="609600" cy="609600"/>
          </a:xfrm>
          <a:prstGeom prst="rect">
            <a:avLst/>
          </a:prstGeom>
          <a:noFill/>
          <a:ln/>
        </p:spPr>
        <p:txBody>
          <a:bodyPr wrap="square" lIns="0" tIns="0" rIns="0" bIns="0" rtlCol="0" anchor="ctr"/>
          <a:lstStyle/>
          <a:p>
            <a:pPr algn="ctr" indent="0" marL="0">
              <a:lnSpc>
                <a:spcPct val="104167"/>
              </a:lnSpc>
              <a:buNone/>
            </a:pPr>
            <a:r>
              <a:rPr lang="en-US" sz="2000" b="1" dirty="0">
                <a:solidFill>
                  <a:srgbClr val="F1EFEA"/>
                </a:solidFill>
                <a:latin typeface="Space Grotesk" pitchFamily="34" charset="0"/>
                <a:ea typeface="Space Grotesk" pitchFamily="34" charset="-122"/>
                <a:cs typeface="Space Grotesk" pitchFamily="34" charset="-120"/>
              </a:rPr>
              <a:t>02</a:t>
            </a:r>
            <a:endParaRPr lang="en-US" sz="2000" dirty="0"/>
          </a:p>
        </p:txBody>
      </p:sp>
      <p:sp>
        <p:nvSpPr>
          <p:cNvPr id="15" name="Shape 11-s21"/>
          <p:cNvSpPr/>
          <p:nvPr/>
        </p:nvSpPr>
        <p:spPr>
          <a:xfrm>
            <a:off x="1422400" y="2324100"/>
            <a:ext cx="9956800" cy="609600"/>
          </a:xfrm>
          <a:prstGeom prst="rect">
            <a:avLst/>
          </a:prstGeom>
          <a:solidFill>
            <a:srgbClr val="FAF8F4"/>
          </a:solidFill>
          <a:ln w="25400">
            <a:solidFill>
              <a:srgbClr val="1C1917"/>
            </a:solidFill>
            <a:prstDash val="solid"/>
          </a:ln>
        </p:spPr>
      </p:sp>
      <p:sp>
        <p:nvSpPr>
          <p:cNvPr id="16" name="Text 12-s21"/>
          <p:cNvSpPr txBox="1"/>
          <p:nvPr/>
        </p:nvSpPr>
        <p:spPr>
          <a:xfrm>
            <a:off x="1625600" y="2324100"/>
            <a:ext cx="9588500" cy="609600"/>
          </a:xfrm>
          <a:prstGeom prst="rect">
            <a:avLst/>
          </a:prstGeom>
          <a:noFill/>
          <a:ln/>
        </p:spPr>
        <p:txBody>
          <a:bodyPr wrap="square" lIns="0" tIns="0" rIns="0" bIns="0" rtlCol="0" anchor="ctr"/>
          <a:lstStyle/>
          <a:p>
            <a:pPr algn="l" indent="0" marL="0">
              <a:lnSpc>
                <a:spcPct val="104167"/>
              </a:lnSpc>
              <a:buNone/>
            </a:pPr>
            <a:r>
              <a:rPr lang="en-US" sz="1600" dirty="0">
                <a:solidFill>
                  <a:srgbClr val="1C1917"/>
                </a:solidFill>
                <a:latin typeface="IBM Plex Sans" pitchFamily="34" charset="0"/>
                <a:ea typeface="IBM Plex Sans" pitchFamily="34" charset="-122"/>
                <a:cs typeface="IBM Plex Sans" pitchFamily="34" charset="-120"/>
              </a:rPr>
              <a:t>Tenir un registre d’anomalies : criticité, responsable, statut</a:t>
            </a:r>
            <a:endParaRPr lang="en-US" sz="1600" dirty="0"/>
          </a:p>
        </p:txBody>
      </p:sp>
      <p:sp>
        <p:nvSpPr>
          <p:cNvPr id="17" name="Shape 13-s21"/>
          <p:cNvSpPr/>
          <p:nvPr/>
        </p:nvSpPr>
        <p:spPr>
          <a:xfrm>
            <a:off x="812800" y="3060700"/>
            <a:ext cx="609600" cy="609600"/>
          </a:xfrm>
          <a:prstGeom prst="rect">
            <a:avLst/>
          </a:prstGeom>
          <a:solidFill>
            <a:srgbClr val="1C1917"/>
          </a:solidFill>
          <a:ln w="25400">
            <a:solidFill>
              <a:srgbClr val="1C1917"/>
            </a:solidFill>
            <a:prstDash val="solid"/>
          </a:ln>
        </p:spPr>
      </p:sp>
      <p:sp>
        <p:nvSpPr>
          <p:cNvPr id="18" name="Text 14-s21"/>
          <p:cNvSpPr txBox="1"/>
          <p:nvPr/>
        </p:nvSpPr>
        <p:spPr>
          <a:xfrm>
            <a:off x="812800" y="3060700"/>
            <a:ext cx="609600" cy="609600"/>
          </a:xfrm>
          <a:prstGeom prst="rect">
            <a:avLst/>
          </a:prstGeom>
          <a:noFill/>
          <a:ln/>
        </p:spPr>
        <p:txBody>
          <a:bodyPr wrap="square" lIns="0" tIns="0" rIns="0" bIns="0" rtlCol="0" anchor="ctr"/>
          <a:lstStyle/>
          <a:p>
            <a:pPr algn="ctr" indent="0" marL="0">
              <a:lnSpc>
                <a:spcPct val="104167"/>
              </a:lnSpc>
              <a:buNone/>
            </a:pPr>
            <a:r>
              <a:rPr lang="en-US" sz="2000" b="1" dirty="0">
                <a:solidFill>
                  <a:srgbClr val="F1EFEA"/>
                </a:solidFill>
                <a:latin typeface="Space Grotesk" pitchFamily="34" charset="0"/>
                <a:ea typeface="Space Grotesk" pitchFamily="34" charset="-122"/>
                <a:cs typeface="Space Grotesk" pitchFamily="34" charset="-120"/>
              </a:rPr>
              <a:t>03</a:t>
            </a:r>
            <a:endParaRPr lang="en-US" sz="2000" dirty="0"/>
          </a:p>
        </p:txBody>
      </p:sp>
      <p:sp>
        <p:nvSpPr>
          <p:cNvPr id="19" name="Shape 15-s21"/>
          <p:cNvSpPr/>
          <p:nvPr/>
        </p:nvSpPr>
        <p:spPr>
          <a:xfrm>
            <a:off x="1422400" y="3060700"/>
            <a:ext cx="9956800" cy="609600"/>
          </a:xfrm>
          <a:prstGeom prst="rect">
            <a:avLst/>
          </a:prstGeom>
          <a:solidFill>
            <a:srgbClr val="FAF8F4"/>
          </a:solidFill>
          <a:ln w="25400">
            <a:solidFill>
              <a:srgbClr val="1C1917"/>
            </a:solidFill>
            <a:prstDash val="solid"/>
          </a:ln>
        </p:spPr>
      </p:sp>
      <p:sp>
        <p:nvSpPr>
          <p:cNvPr id="20" name="Text 16-s21"/>
          <p:cNvSpPr txBox="1"/>
          <p:nvPr/>
        </p:nvSpPr>
        <p:spPr>
          <a:xfrm>
            <a:off x="1625600" y="3060700"/>
            <a:ext cx="9588500" cy="609600"/>
          </a:xfrm>
          <a:prstGeom prst="rect">
            <a:avLst/>
          </a:prstGeom>
          <a:noFill/>
          <a:ln/>
        </p:spPr>
        <p:txBody>
          <a:bodyPr wrap="square" lIns="0" tIns="0" rIns="0" bIns="0" rtlCol="0" anchor="ctr"/>
          <a:lstStyle/>
          <a:p>
            <a:pPr algn="l" indent="0" marL="0">
              <a:lnSpc>
                <a:spcPct val="104167"/>
              </a:lnSpc>
              <a:buNone/>
            </a:pPr>
            <a:r>
              <a:rPr lang="en-US" sz="1600" dirty="0">
                <a:solidFill>
                  <a:srgbClr val="1C1917"/>
                </a:solidFill>
                <a:latin typeface="IBM Plex Sans" pitchFamily="34" charset="0"/>
                <a:ea typeface="IBM Plex Sans" pitchFamily="34" charset="-122"/>
                <a:cs typeface="IBM Plex Sans" pitchFamily="34" charset="-120"/>
              </a:rPr>
              <a:t>Suivre chaque mois l’adoption et les incidents critiques</a:t>
            </a:r>
            <a:endParaRPr lang="en-US" sz="1600" dirty="0"/>
          </a:p>
        </p:txBody>
      </p:sp>
      <p:sp>
        <p:nvSpPr>
          <p:cNvPr id="21" name="Shape 17-s21"/>
          <p:cNvSpPr/>
          <p:nvPr/>
        </p:nvSpPr>
        <p:spPr>
          <a:xfrm>
            <a:off x="812800" y="3797300"/>
            <a:ext cx="609600" cy="609600"/>
          </a:xfrm>
          <a:prstGeom prst="rect">
            <a:avLst/>
          </a:prstGeom>
          <a:solidFill>
            <a:srgbClr val="1C1917"/>
          </a:solidFill>
          <a:ln w="25400">
            <a:solidFill>
              <a:srgbClr val="1C1917"/>
            </a:solidFill>
            <a:prstDash val="solid"/>
          </a:ln>
        </p:spPr>
      </p:sp>
      <p:sp>
        <p:nvSpPr>
          <p:cNvPr id="22" name="Text 18-s21"/>
          <p:cNvSpPr txBox="1"/>
          <p:nvPr/>
        </p:nvSpPr>
        <p:spPr>
          <a:xfrm>
            <a:off x="812800" y="3797300"/>
            <a:ext cx="609600" cy="609600"/>
          </a:xfrm>
          <a:prstGeom prst="rect">
            <a:avLst/>
          </a:prstGeom>
          <a:noFill/>
          <a:ln/>
        </p:spPr>
        <p:txBody>
          <a:bodyPr wrap="square" lIns="0" tIns="0" rIns="0" bIns="0" rtlCol="0" anchor="ctr"/>
          <a:lstStyle/>
          <a:p>
            <a:pPr algn="ctr" indent="0" marL="0">
              <a:lnSpc>
                <a:spcPct val="104167"/>
              </a:lnSpc>
              <a:buNone/>
            </a:pPr>
            <a:r>
              <a:rPr lang="en-US" sz="2000" b="1" dirty="0">
                <a:solidFill>
                  <a:srgbClr val="F1EFEA"/>
                </a:solidFill>
                <a:latin typeface="Space Grotesk" pitchFamily="34" charset="0"/>
                <a:ea typeface="Space Grotesk" pitchFamily="34" charset="-122"/>
                <a:cs typeface="Space Grotesk" pitchFamily="34" charset="-120"/>
              </a:rPr>
              <a:t>04</a:t>
            </a:r>
            <a:endParaRPr lang="en-US" sz="2000" dirty="0"/>
          </a:p>
        </p:txBody>
      </p:sp>
      <p:sp>
        <p:nvSpPr>
          <p:cNvPr id="23" name="Shape 19-s21"/>
          <p:cNvSpPr/>
          <p:nvPr/>
        </p:nvSpPr>
        <p:spPr>
          <a:xfrm>
            <a:off x="1422400" y="3797300"/>
            <a:ext cx="9956800" cy="609600"/>
          </a:xfrm>
          <a:prstGeom prst="rect">
            <a:avLst/>
          </a:prstGeom>
          <a:solidFill>
            <a:srgbClr val="FAF8F4"/>
          </a:solidFill>
          <a:ln w="25400">
            <a:solidFill>
              <a:srgbClr val="1C1917"/>
            </a:solidFill>
            <a:prstDash val="solid"/>
          </a:ln>
        </p:spPr>
      </p:sp>
      <p:sp>
        <p:nvSpPr>
          <p:cNvPr id="24" name="Text 20-s21"/>
          <p:cNvSpPr txBox="1"/>
          <p:nvPr/>
        </p:nvSpPr>
        <p:spPr>
          <a:xfrm>
            <a:off x="1625600" y="3797300"/>
            <a:ext cx="9588500" cy="609600"/>
          </a:xfrm>
          <a:prstGeom prst="rect">
            <a:avLst/>
          </a:prstGeom>
          <a:noFill/>
          <a:ln/>
        </p:spPr>
        <p:txBody>
          <a:bodyPr wrap="square" lIns="0" tIns="0" rIns="0" bIns="0" rtlCol="0" anchor="ctr"/>
          <a:lstStyle/>
          <a:p>
            <a:pPr algn="l" indent="0" marL="0">
              <a:lnSpc>
                <a:spcPct val="104167"/>
              </a:lnSpc>
              <a:buNone/>
            </a:pPr>
            <a:r>
              <a:rPr lang="en-US" sz="1600" dirty="0">
                <a:solidFill>
                  <a:srgbClr val="1C1917"/>
                </a:solidFill>
                <a:latin typeface="IBM Plex Sans" pitchFamily="34" charset="0"/>
                <a:ea typeface="IBM Plex Sans" pitchFamily="34" charset="-122"/>
                <a:cs typeface="IBM Plex Sans" pitchFamily="34" charset="-120"/>
              </a:rPr>
              <a:t>Valoriser les données : tableaux de bord et Power BI</a:t>
            </a:r>
            <a:endParaRPr lang="en-US" sz="1600" dirty="0"/>
          </a:p>
        </p:txBody>
      </p:sp>
      <p:sp>
        <p:nvSpPr>
          <p:cNvPr id="25" name="nav:2-s21">
            <a:hlinkClick r:id="rIdNav2" action="ppaction://hlinksldjump"/>
          </p:cNvPr>
          <p:cNvSpPr/>
          <p:nvPr/>
        </p:nvSpPr>
        <p:spPr>
          <a:xfrm>
            <a:off x="10922000" y="254000"/>
            <a:ext cx="457200" cy="457200"/>
          </a:xfrm>
          <a:prstGeom prst="rect">
            <a:avLst/>
          </a:prstGeom>
          <a:solidFill>
            <a:srgbClr val="FFFFFF">
              <a:alpha val="0"/>
            </a:srgbClr>
          </a:solidFill>
          <a:ln/>
        </p:spPr>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1EFEA"/>
        </a:solidFill>
      </p:bgPr>
    </p:bg>
    <p:spTree>
      <p:nvGrpSpPr>
        <p:cNvPr id="1" name=""/>
        <p:cNvGrpSpPr/>
        <p:nvPr/>
      </p:nvGrpSpPr>
      <p:grpSpPr>
        <a:xfrm>
          <a:off x="0" y="0"/>
          <a:ext cx="0" cy="0"/>
          <a:chOff x="0" y="0"/>
          <a:chExt cx="0" cy="0"/>
        </a:xfrm>
      </p:grpSpPr>
      <p:sp>
        <p:nvSpPr>
          <p:cNvPr id="2" name="!!mk-track"/>
          <p:cNvSpPr/>
          <p:nvPr/>
        </p:nvSpPr>
        <p:spPr>
          <a:xfrm>
            <a:off x="812800" y="6299200"/>
            <a:ext cx="10566400" cy="127000"/>
          </a:xfrm>
          <a:prstGeom prst="rect">
            <a:avLst/>
          </a:prstGeom>
          <a:solidFill>
            <a:srgbClr val="F1EFEA"/>
          </a:solidFill>
          <a:ln w="19050">
            <a:solidFill>
              <a:srgbClr val="1C1917"/>
            </a:solidFill>
            <a:prstDash val="solid"/>
          </a:ln>
        </p:spPr>
      </p:sp>
      <p:sp>
        <p:nvSpPr>
          <p:cNvPr id="3" name="!!mk-bar"/>
          <p:cNvSpPr/>
          <p:nvPr/>
        </p:nvSpPr>
        <p:spPr>
          <a:xfrm>
            <a:off x="812800" y="6299200"/>
            <a:ext cx="10566400" cy="127000"/>
          </a:xfrm>
          <a:prstGeom prst="rect">
            <a:avLst/>
          </a:prstGeom>
          <a:solidFill>
            <a:srgbClr val="C2570C"/>
          </a:solidFill>
          <a:ln w="19050">
            <a:solidFill>
              <a:srgbClr val="1C1917"/>
            </a:solidFill>
            <a:prstDash val="solid"/>
          </a:ln>
        </p:spPr>
      </p:sp>
      <p:sp>
        <p:nvSpPr>
          <p:cNvPr id="4" name="!!mk-sq"/>
          <p:cNvSpPr/>
          <p:nvPr/>
        </p:nvSpPr>
        <p:spPr>
          <a:xfrm>
            <a:off x="7823200" y="1270000"/>
            <a:ext cx="3048000" cy="3048000"/>
          </a:xfrm>
          <a:prstGeom prst="rect">
            <a:avLst/>
          </a:prstGeom>
          <a:solidFill>
            <a:srgbClr val="C2570C"/>
          </a:solidFill>
          <a:ln w="25400">
            <a:solidFill>
              <a:srgbClr val="1C1917"/>
            </a:solidFill>
            <a:prstDash val="solid"/>
          </a:ln>
          <a:effectLst>
            <a:outerShdw sx="100000" sy="100000" kx="0" ky="0" algn="bl" rotWithShape="0" blurRad="101600" dist="143662" dir="2700000">
              <a:srgbClr val="1C1917">
                <a:alpha val="100000"/>
              </a:srgbClr>
            </a:outerShdw>
          </a:effectLst>
        </p:spPr>
      </p:sp>
      <p:sp>
        <p:nvSpPr>
          <p:cNvPr id="5" name="!!mk-logos"/>
          <p:cNvSpPr/>
          <p:nvPr/>
        </p:nvSpPr>
        <p:spPr>
          <a:xfrm>
            <a:off x="7823200" y="4699000"/>
            <a:ext cx="3556000" cy="508000"/>
          </a:xfrm>
          <a:prstGeom prst="rect">
            <a:avLst/>
          </a:prstGeom>
          <a:solidFill>
            <a:srgbClr val="FAF8F4"/>
          </a:solidFill>
          <a:ln w="19050">
            <a:solidFill>
              <a:srgbClr val="1C1917"/>
            </a:solidFill>
            <a:prstDash val="solid"/>
          </a:ln>
          <a:effectLst>
            <a:outerShdw sx="100000" sy="100000" kx="0" ky="0" algn="bl" rotWithShape="0" blurRad="101600" dist="71831" dir="2700000">
              <a:srgbClr val="1C1917">
                <a:alpha val="100000"/>
              </a:srgbClr>
            </a:outerShdw>
          </a:effectLst>
        </p:spPr>
      </p:sp>
      <p:pic>
        <p:nvPicPr>
          <p:cNvPr id="6" name="!!mk-logo-1" descr="Logo VINCI Facilities">    </p:cNvPr>
          <p:cNvPicPr>
            <a:picLocks noChangeAspect="1"/>
          </p:cNvPicPr>
          <p:nvPr/>
        </p:nvPicPr>
        <p:blipFill>
          <a:blip r:embed="rId1"/>
          <a:stretch>
            <a:fillRect/>
          </a:stretch>
        </p:blipFill>
        <p:spPr>
          <a:xfrm>
            <a:off x="8636000" y="4768850"/>
            <a:ext cx="1092200" cy="361950"/>
          </a:xfrm>
          <a:prstGeom prst="rect">
            <a:avLst/>
          </a:prstGeom>
        </p:spPr>
      </p:pic>
      <p:pic>
        <p:nvPicPr>
          <p:cNvPr id="7" name="!!mk-logo-2" descr="Logo Icam">    </p:cNvPr>
          <p:cNvPicPr>
            <a:picLocks noChangeAspect="1"/>
          </p:cNvPicPr>
          <p:nvPr/>
        </p:nvPicPr>
        <p:blipFill>
          <a:blip r:embed="rId2"/>
          <a:stretch>
            <a:fillRect/>
          </a:stretch>
        </p:blipFill>
        <p:spPr>
          <a:xfrm>
            <a:off x="9950450" y="4768850"/>
            <a:ext cx="615950" cy="361950"/>
          </a:xfrm>
          <a:prstGeom prst="rect">
            <a:avLst/>
          </a:prstGeom>
        </p:spPr>
      </p:pic>
      <p:sp>
        <p:nvSpPr>
          <p:cNvPr id="8" name="Text 4-s22"/>
          <p:cNvSpPr txBox="1"/>
          <p:nvPr/>
        </p:nvSpPr>
        <p:spPr>
          <a:xfrm>
            <a:off x="812800" y="812800"/>
            <a:ext cx="10566400" cy="571500"/>
          </a:xfrm>
          <a:prstGeom prst="rect">
            <a:avLst/>
          </a:prstGeom>
          <a:noFill/>
          <a:ln/>
        </p:spPr>
        <p:txBody>
          <a:bodyPr wrap="square" lIns="0" tIns="0" rIns="0" bIns="0" rtlCol="0" anchor="t"/>
          <a:lstStyle/>
          <a:p>
            <a:pPr algn="l" indent="0" marL="0">
              <a:lnSpc>
                <a:spcPct val="87500"/>
              </a:lnSpc>
              <a:buNone/>
            </a:pPr>
            <a:r>
              <a:rPr lang="en-US" sz="3600" b="1" dirty="0">
                <a:solidFill>
                  <a:srgbClr val="1C1917"/>
                </a:solidFill>
                <a:latin typeface="Space Grotesk" pitchFamily="34" charset="0"/>
                <a:ea typeface="Space Grotesk" pitchFamily="34" charset="-122"/>
                <a:cs typeface="Space Grotesk" pitchFamily="34" charset="-120"/>
              </a:rPr>
              <a:t>Conclusion</a:t>
            </a:r>
            <a:endParaRPr lang="en-US" sz="3600" dirty="0"/>
          </a:p>
        </p:txBody>
      </p:sp>
      <p:sp>
        <p:nvSpPr>
          <p:cNvPr id="9" name="Text 5-s22"/>
          <p:cNvSpPr txBox="1"/>
          <p:nvPr/>
        </p:nvSpPr>
        <p:spPr>
          <a:xfrm>
            <a:off x="812800" y="2095500"/>
            <a:ext cx="5715000" cy="215900"/>
          </a:xfrm>
          <a:prstGeom prst="rect">
            <a:avLst/>
          </a:prstGeom>
          <a:noFill/>
          <a:ln/>
        </p:spPr>
        <p:txBody>
          <a:bodyPr wrap="square" lIns="0" tIns="0" rIns="0" bIns="0" rtlCol="0" anchor="t"/>
          <a:lstStyle/>
          <a:p>
            <a:pPr algn="l" indent="0" marL="0">
              <a:lnSpc>
                <a:spcPct val="104167"/>
              </a:lnSpc>
              <a:buNone/>
            </a:pPr>
            <a:r>
              <a:rPr lang="en-US" sz="1200" b="1" spc="200" kern="0" dirty="0">
                <a:solidFill>
                  <a:srgbClr val="C2570C"/>
                </a:solidFill>
                <a:latin typeface="JetBrains Mono" pitchFamily="34" charset="0"/>
                <a:ea typeface="JetBrains Mono" pitchFamily="34" charset="-122"/>
                <a:cs typeface="JetBrains Mono" pitchFamily="34" charset="-120"/>
              </a:rPr>
              <a:t>À RETENIR</a:t>
            </a:r>
            <a:endParaRPr lang="en-US" sz="1200" dirty="0"/>
          </a:p>
        </p:txBody>
      </p:sp>
      <p:sp>
        <p:nvSpPr>
          <p:cNvPr id="10" name="Text 6-s22"/>
          <p:cNvSpPr txBox="1"/>
          <p:nvPr/>
        </p:nvSpPr>
        <p:spPr>
          <a:xfrm>
            <a:off x="812800" y="2438400"/>
            <a:ext cx="381000" cy="254000"/>
          </a:xfrm>
          <a:prstGeom prst="rect">
            <a:avLst/>
          </a:prstGeom>
          <a:noFill/>
          <a:ln/>
        </p:spPr>
        <p:txBody>
          <a:bodyPr wrap="square" lIns="0" tIns="0" rIns="0" bIns="0" rtlCol="0" anchor="t"/>
          <a:lstStyle/>
          <a:p>
            <a:pPr algn="l" indent="0" marL="0">
              <a:lnSpc>
                <a:spcPct val="104167"/>
              </a:lnSpc>
              <a:buNone/>
            </a:pPr>
            <a:r>
              <a:rPr lang="en-US" sz="1400" b="1" dirty="0">
                <a:solidFill>
                  <a:srgbClr val="C2570C"/>
                </a:solidFill>
                <a:latin typeface="JetBrains Mono" pitchFamily="34" charset="0"/>
                <a:ea typeface="JetBrains Mono" pitchFamily="34" charset="-122"/>
                <a:cs typeface="JetBrains Mono" pitchFamily="34" charset="-120"/>
              </a:rPr>
              <a:t>01</a:t>
            </a:r>
            <a:endParaRPr lang="en-US" sz="1400" dirty="0"/>
          </a:p>
        </p:txBody>
      </p:sp>
      <p:sp>
        <p:nvSpPr>
          <p:cNvPr id="11" name="Text 7-s22"/>
          <p:cNvSpPr txBox="1"/>
          <p:nvPr/>
        </p:nvSpPr>
        <p:spPr>
          <a:xfrm>
            <a:off x="1270000" y="2413000"/>
            <a:ext cx="6146800" cy="571500"/>
          </a:xfrm>
          <a:prstGeom prst="rect">
            <a:avLst/>
          </a:prstGeom>
          <a:noFill/>
          <a:ln/>
        </p:spPr>
        <p:txBody>
          <a:bodyPr wrap="square" lIns="0" tIns="0" rIns="0" bIns="0" rtlCol="0" anchor="t"/>
          <a:lstStyle/>
          <a:p>
            <a:pPr algn="l" indent="0" marL="0">
              <a:lnSpc>
                <a:spcPct val="108333"/>
              </a:lnSpc>
              <a:buNone/>
            </a:pPr>
            <a:r>
              <a:rPr lang="en-US" sz="1600" dirty="0">
                <a:solidFill>
                  <a:srgbClr val="1C1917"/>
                </a:solidFill>
                <a:latin typeface="IBM Plex Sans" pitchFamily="34" charset="0"/>
                <a:ea typeface="IBM Plex Sans" pitchFamily="34" charset="-122"/>
                <a:cs typeface="IBM Plex Sans" pitchFamily="34" charset="-120"/>
              </a:rPr>
              <a:t>Migration réalisée et Kizeo coupé le 31 janvier 2026, la stabilisation se poursuit</a:t>
            </a:r>
            <a:endParaRPr lang="en-US" sz="1600" dirty="0"/>
          </a:p>
        </p:txBody>
      </p:sp>
      <p:sp>
        <p:nvSpPr>
          <p:cNvPr id="12" name="Text 8-s22"/>
          <p:cNvSpPr txBox="1"/>
          <p:nvPr/>
        </p:nvSpPr>
        <p:spPr>
          <a:xfrm>
            <a:off x="812800" y="3073400"/>
            <a:ext cx="381000" cy="254000"/>
          </a:xfrm>
          <a:prstGeom prst="rect">
            <a:avLst/>
          </a:prstGeom>
          <a:noFill/>
          <a:ln/>
        </p:spPr>
        <p:txBody>
          <a:bodyPr wrap="square" lIns="0" tIns="0" rIns="0" bIns="0" rtlCol="0" anchor="t"/>
          <a:lstStyle/>
          <a:p>
            <a:pPr algn="l" indent="0" marL="0">
              <a:lnSpc>
                <a:spcPct val="104167"/>
              </a:lnSpc>
              <a:buNone/>
            </a:pPr>
            <a:r>
              <a:rPr lang="en-US" sz="1400" b="1" dirty="0">
                <a:solidFill>
                  <a:srgbClr val="C2570C"/>
                </a:solidFill>
                <a:latin typeface="JetBrains Mono" pitchFamily="34" charset="0"/>
                <a:ea typeface="JetBrains Mono" pitchFamily="34" charset="-122"/>
                <a:cs typeface="JetBrains Mono" pitchFamily="34" charset="-120"/>
              </a:rPr>
              <a:t>02</a:t>
            </a:r>
            <a:endParaRPr lang="en-US" sz="1400" dirty="0"/>
          </a:p>
        </p:txBody>
      </p:sp>
      <p:sp>
        <p:nvSpPr>
          <p:cNvPr id="13" name="Text 9-s22"/>
          <p:cNvSpPr txBox="1"/>
          <p:nvPr/>
        </p:nvSpPr>
        <p:spPr>
          <a:xfrm>
            <a:off x="1270000" y="3048000"/>
            <a:ext cx="6146800" cy="571500"/>
          </a:xfrm>
          <a:prstGeom prst="rect">
            <a:avLst/>
          </a:prstGeom>
          <a:noFill/>
          <a:ln/>
        </p:spPr>
        <p:txBody>
          <a:bodyPr wrap="square" lIns="0" tIns="0" rIns="0" bIns="0" rtlCol="0" anchor="t"/>
          <a:lstStyle/>
          <a:p>
            <a:pPr algn="l" indent="0" marL="0">
              <a:lnSpc>
                <a:spcPct val="108333"/>
              </a:lnSpc>
              <a:buNone/>
            </a:pPr>
            <a:r>
              <a:rPr lang="en-US" sz="1600" dirty="0">
                <a:solidFill>
                  <a:srgbClr val="1C1917"/>
                </a:solidFill>
                <a:latin typeface="IBM Plex Sans" pitchFamily="34" charset="0"/>
                <a:ea typeface="IBM Plex Sans" pitchFamily="34" charset="-122"/>
                <a:cs typeface="IBM Plex Sans" pitchFamily="34" charset="-120"/>
              </a:rPr>
              <a:t>Les bugs touchent aussi la confiance : il faut les piloter, pas seulement les corriger</a:t>
            </a:r>
            <a:endParaRPr lang="en-US" sz="1600" dirty="0"/>
          </a:p>
        </p:txBody>
      </p:sp>
      <p:sp>
        <p:nvSpPr>
          <p:cNvPr id="14" name="Text 10-s22"/>
          <p:cNvSpPr txBox="1"/>
          <p:nvPr/>
        </p:nvSpPr>
        <p:spPr>
          <a:xfrm>
            <a:off x="812800" y="3708400"/>
            <a:ext cx="381000" cy="254000"/>
          </a:xfrm>
          <a:prstGeom prst="rect">
            <a:avLst/>
          </a:prstGeom>
          <a:noFill/>
          <a:ln/>
        </p:spPr>
        <p:txBody>
          <a:bodyPr wrap="square" lIns="0" tIns="0" rIns="0" bIns="0" rtlCol="0" anchor="t"/>
          <a:lstStyle/>
          <a:p>
            <a:pPr algn="l" indent="0" marL="0">
              <a:lnSpc>
                <a:spcPct val="104167"/>
              </a:lnSpc>
              <a:buNone/>
            </a:pPr>
            <a:r>
              <a:rPr lang="en-US" sz="1400" b="1" dirty="0">
                <a:solidFill>
                  <a:srgbClr val="C2570C"/>
                </a:solidFill>
                <a:latin typeface="JetBrains Mono" pitchFamily="34" charset="0"/>
                <a:ea typeface="JetBrains Mono" pitchFamily="34" charset="-122"/>
                <a:cs typeface="JetBrains Mono" pitchFamily="34" charset="-120"/>
              </a:rPr>
              <a:t>03</a:t>
            </a:r>
            <a:endParaRPr lang="en-US" sz="1400" dirty="0"/>
          </a:p>
        </p:txBody>
      </p:sp>
      <p:sp>
        <p:nvSpPr>
          <p:cNvPr id="15" name="Text 11-s22"/>
          <p:cNvSpPr txBox="1"/>
          <p:nvPr/>
        </p:nvSpPr>
        <p:spPr>
          <a:xfrm>
            <a:off x="1270000" y="3683000"/>
            <a:ext cx="6146800" cy="571500"/>
          </a:xfrm>
          <a:prstGeom prst="rect">
            <a:avLst/>
          </a:prstGeom>
          <a:noFill/>
          <a:ln/>
        </p:spPr>
        <p:txBody>
          <a:bodyPr wrap="square" lIns="0" tIns="0" rIns="0" bIns="0" rtlCol="0" anchor="t"/>
          <a:lstStyle/>
          <a:p>
            <a:pPr algn="l" indent="0" marL="0">
              <a:lnSpc>
                <a:spcPct val="108333"/>
              </a:lnSpc>
              <a:buNone/>
            </a:pPr>
            <a:r>
              <a:rPr lang="en-US" sz="1600" dirty="0">
                <a:solidFill>
                  <a:srgbClr val="1C1917"/>
                </a:solidFill>
                <a:latin typeface="IBM Plex Sans" pitchFamily="34" charset="0"/>
                <a:ea typeface="IBM Plex Sans" pitchFamily="34" charset="-122"/>
                <a:cs typeface="IBM Plex Sans" pitchFamily="34" charset="-120"/>
              </a:rPr>
              <a:t>J’ai évolué d’exécutant à co-pilote du projet</a:t>
            </a:r>
            <a:endParaRPr lang="en-US" sz="1600" dirty="0"/>
          </a:p>
        </p:txBody>
      </p:sp>
      <p:sp>
        <p:nvSpPr>
          <p:cNvPr id="16" name="Text 12-s22"/>
          <p:cNvSpPr txBox="1"/>
          <p:nvPr/>
        </p:nvSpPr>
        <p:spPr>
          <a:xfrm>
            <a:off x="812800" y="5080000"/>
            <a:ext cx="6604000" cy="825500"/>
          </a:xfrm>
          <a:prstGeom prst="rect">
            <a:avLst/>
          </a:prstGeom>
          <a:noFill/>
          <a:ln/>
        </p:spPr>
        <p:txBody>
          <a:bodyPr wrap="square" lIns="0" tIns="0" rIns="0" bIns="0" rtlCol="0" anchor="t"/>
          <a:lstStyle/>
          <a:p>
            <a:pPr algn="l" indent="0" marL="0">
              <a:lnSpc>
                <a:spcPct val="91667"/>
              </a:lnSpc>
              <a:buNone/>
            </a:pPr>
            <a:r>
              <a:rPr lang="en-US" sz="4800" b="1" dirty="0">
                <a:solidFill>
                  <a:srgbClr val="1C1917"/>
                </a:solidFill>
                <a:latin typeface="Space Grotesk" pitchFamily="34" charset="0"/>
                <a:ea typeface="Space Grotesk" pitchFamily="34" charset="-122"/>
                <a:cs typeface="Space Grotesk" pitchFamily="34" charset="-120"/>
              </a:rPr>
              <a:t>Merci.</a:t>
            </a:r>
            <a:endParaRPr lang="en-US" sz="4800" dirty="0"/>
          </a:p>
        </p:txBody>
      </p:sp>
      <p:sp>
        <p:nvSpPr>
          <p:cNvPr id="17" name="nav:2-s22">
            <a:hlinkClick r:id="rIdNav2" action="ppaction://hlinksldjump"/>
          </p:cNvPr>
          <p:cNvSpPr/>
          <p:nvPr/>
        </p:nvSpPr>
        <p:spPr>
          <a:xfrm>
            <a:off x="7823200" y="1270000"/>
            <a:ext cx="3048000" cy="3048000"/>
          </a:xfrm>
          <a:prstGeom prst="rect">
            <a:avLst/>
          </a:prstGeom>
          <a:solidFill>
            <a:srgbClr val="FFFFFF">
              <a:alpha val="0"/>
            </a:srgbClr>
          </a:solidFill>
          <a:ln/>
        </p:spPr>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Soutenance Kizeo vers Teepee</dc:title>
  <dc:subject>PptxGenJS Presentation</dc:subject>
  <dc:creator>PptxGenJS</dc:creator>
  <cp:lastModifiedBy>PptxGenJS</cp:lastModifiedBy>
  <cp:revision>1</cp:revision>
  <dcterms:created xsi:type="dcterms:W3CDTF">2026-10-13T13:55:37Z</dcterms:created>
  <dcterms:modified xsi:type="dcterms:W3CDTF">2026-10-13T13:55:37Z</dcterms:modified>
</cp:coreProperties>
</file>