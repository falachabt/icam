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le projet de transition numérique que j’ai mené chez VINCI Facilities Tertiaire Aquitaine : la migration des formulaires opérationnels de Kizeo vers Teepee, de septembre 2025 à la phase de stabilisation.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d’entrer dans le détail, voici le projet en dix secondes : on part des formulaires Kizeo, on les rationalise, on les reconstruit dans Teepee et on forme les utilisateurs. Ma présentation suit quatre temps : le contexte, le pilotage, les résultats puis le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répond à une directive du groupe VINCI et à des exigences de sécurité : le contrat cadre Kizeo n’a pas été renouvelé, alors que Teepee est une solution propriétaire du groupe. Côté tarif, 7 euros par utilisateur et par mois contre 18 pour Kizeo, mais la valeur attendue est surtout la conformité et l’exploitation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Kizeo était maîtrisé par les équipes terrain, alors que Teepee présentait au démarrage des bugs, des lenteurs et des difficultés de synchronisation. La question n’était donc pas seulement technique : comment conduire le changement tout en gardant la continuité opérationnelle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n’y a pas eu de framework agile formel, mais un fonctionnement itératif : tester, recueillir les retours, corriger, redéployer et vérifier. La migration a été vue comme une occasion de rationaliser, pas de recopier l’existant.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 paramétrage, tests, formation et déploiement ont été réalisés. La coupure de Kizeo a été décalée d’un mois, du 31 décembre 2025 au 31 janvier 2026. Ce n’est pas un simple retard : c’est un arbitrage pour réduire le risque de rupture opérationnelle. La stabilisation est devenue une phase à part entière.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L’instabilité de Teepee était le principal risque : perte de confiance des utilisateurs et comparaison défavorable avec Kizeo. J’ai centralisé les anomalies, je les ai classées par criticité, puis suivies avec les développeurs. Mon rôle a évolué : piloter le problème jusqu’à sa résolution plutôt que le résoudre moi-même.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utilisé le modèle ADKAR pour conduire le changement. L’étape critique est la lettre A de Ability : la capacité à utiliser l’outil malgré les bugs, grâce à la formation et à un accompagnement après la formation, en janvier 2026, d’abord auprès des équipes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cadrage identifiait six risques. Les trois les plus critiques, au niveau 4 sur 4, étaient l’instabilité technique, la perte de confiance et la perte de données. La réponse : suivi des anomalies, formation, accompagnement et maintien temporaire de Kizeo.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 la cartographie des formulaires Kizeo, avec leurs usages, pour distinguer les formulaires actifs, obsolètes ou redondants.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ont ensuite été importées directement dans Teepee. 84 % des formulaires avec données ont pu l’être ; pour le reste, les données ont été sauvegardées.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formulaire a été reconstruit dans l’éditeur de Teepee, avec ses champs, ses composants et ses modèles d’export.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workflows automatisent la validation et les notifications, par exemple l’envoi de 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terrain, les utilisateurs saisissent depuis l’application mobile, y compris hors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les supports de formation, réalisés en janvier 2026, et le journal des anomalies qui a piloté la stabilisation.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formulaires actifs ont été migrés. 70 utilisateurs sur 91 ont été formés, soit environ 77 %, ce qui couvre tous les utilisateurs actifs et réguliers. L’import atteint 84 % : les données de certains formulaires n’ont pas pu être importées à cause de différences de fonctionnement entre les deux solutions, mais elles ont été sauvegardées. Les incidents bloquants sont passés sous un par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objectifs sur cinq sont atteints. L’import de données est partiel, à 84 %, à cause de différences de fonctionnement entre les deux solutions : les données concernées ont tout de même été sauvegardées.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posture a évolué : d’abord l’exécution et le paramétrage, puis la coordination et le pilotage entre le terrain, les autres entités et l’équipe Teepee. Mes points forts sont la gestion de projet, l’analyse fonctionnelle, la gestion des risques et l’amélioration continue ; je progresse en conduite du changement et en pilotage par la donnée ; la communication reste à un niveau moyen.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difficulté la plus formatrice a été de travailler avec une solution qui n’était pas totalement stabilisée. Cela m’a appris à distinguer trois niveaux : le problème technique, son impact métier et sa gestion projet. Je ne pouvais pas toujours corriger le bug, mais je pouvais améliorer son escalade, sa priorisation et sa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le recul, trois améliorations auraient renforcé le projet : classer les anomalies dès les premières remontées, mettre en place un planning plus détaillé, et intégrer la stabilisation comme une vraie phase projet avec des ressources et des indicateurs dédiés. Pour un futur projet, j’évaluerais plus tôt la capacité de la solution à supporter le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prochaine étape est de consolider l’usage de Teepee avant d’élargir son périmètre. Une fois la stabilité suffisante, les données collectées pourront être valorisées : tableaux de bord, Power BI, automatisation de processus et analyse de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la migration, la formation et le déploiement ont été réalisés et Kizeo a été coupé le 31 janvier 2026. Le principal enseignement est la relation entre technique et humain : un bug n’est pas seulement un problème informatique, il touche la confiance et l’adhésion. Personnellement, je suis passé d’exécutant à co-pilote du projet. Merci de votre attention,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_0">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9DB0BF"/>
                </a:solidFill>
                <a:latin typeface="Calibri" pitchFamily="34" charset="0"/>
                <a:ea typeface="Calibri" pitchFamily="34" charset="-122"/>
                <a:cs typeface="Calibri" pitchFamily="34" charset="-120"/>
              </a:rPr>
              <a:t>01  ·  SOUTENANCE</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_1">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02  ·  LE PROJET EN BREF</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_2">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9DB0BF"/>
                </a:solidFill>
                <a:latin typeface="Calibri" pitchFamily="34" charset="0"/>
                <a:ea typeface="Calibri" pitchFamily="34" charset="-122"/>
                <a:cs typeface="Calibri" pitchFamily="34" charset="-120"/>
              </a:rPr>
              <a:t>03  ·  CONTEXTE</a:t>
            </a:r>
            <a:endParaRPr lang="en-US" sz="1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_3">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04  ·  PROBLÉMATIQUE</a:t>
            </a:r>
            <a:endParaRPr lang="en-US" sz="12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_4">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9DB0BF"/>
                </a:solidFill>
                <a:latin typeface="Calibri" pitchFamily="34" charset="0"/>
                <a:ea typeface="Calibri" pitchFamily="34" charset="-122"/>
                <a:cs typeface="Calibri" pitchFamily="34" charset="-120"/>
              </a:rPr>
              <a:t>05  ·  PILOTAGE</a:t>
            </a:r>
            <a:endParaRPr lang="en-US" sz="12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_5">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06  ·  PILOTAGE</a:t>
            </a:r>
            <a:endParaRPr lang="en-US" sz="12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_6">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9DB0BF"/>
                </a:solidFill>
                <a:latin typeface="Calibri" pitchFamily="34" charset="0"/>
                <a:ea typeface="Calibri" pitchFamily="34" charset="-122"/>
                <a:cs typeface="Calibri" pitchFamily="34" charset="-120"/>
              </a:rPr>
              <a:t>07  ·  PILOTAGE</a:t>
            </a:r>
            <a:endParaRPr lang="en-US" sz="12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_7">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08  ·  PILOTAGE</a:t>
            </a:r>
            <a:endParaRPr lang="en-US" sz="12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K_8">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9DB0BF"/>
                </a:solidFill>
                <a:latin typeface="Calibri" pitchFamily="34" charset="0"/>
                <a:ea typeface="Calibri" pitchFamily="34" charset="-122"/>
                <a:cs typeface="Calibri" pitchFamily="34" charset="-120"/>
              </a:rPr>
              <a:t>09  ·  PILOTAGE</a:t>
            </a:r>
            <a:endParaRPr lang="en-US" sz="12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K_9">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10  ·  RÉSULTATS</a:t>
            </a:r>
            <a:endParaRPr lang="en-US" sz="12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K_10">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11  ·  RÉSULTATS</a:t>
            </a:r>
            <a:endParaRPr lang="en-US" sz="12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_11">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12  ·  RÉSULTATS</a:t>
            </a:r>
            <a:endParaRPr lang="en-US" sz="12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K_12">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13  ·  RÉSULTATS</a:t>
            </a:r>
            <a:endParaRPr lang="en-US" sz="12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K_13">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14  ·  RÉSULTATS</a:t>
            </a:r>
            <a:endParaRPr lang="en-US" sz="120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K_14">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15  ·  RÉSULTATS</a:t>
            </a:r>
            <a:endParaRPr lang="en-US" sz="120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K_15">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9DB0BF"/>
                </a:solidFill>
                <a:latin typeface="Calibri" pitchFamily="34" charset="0"/>
                <a:ea typeface="Calibri" pitchFamily="34" charset="-122"/>
                <a:cs typeface="Calibri" pitchFamily="34" charset="-120"/>
              </a:rPr>
              <a:t>16  ·  RÉSULTATS</a:t>
            </a:r>
            <a:endParaRPr lang="en-US" sz="120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K_16">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17  ·  BILAN</a:t>
            </a:r>
            <a:endParaRPr lang="en-US" sz="120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K_17">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9DB0BF"/>
                </a:solidFill>
                <a:latin typeface="Calibri" pitchFamily="34" charset="0"/>
                <a:ea typeface="Calibri" pitchFamily="34" charset="-122"/>
                <a:cs typeface="Calibri" pitchFamily="34" charset="-120"/>
              </a:rPr>
              <a:t>18  ·  BILAN</a:t>
            </a:r>
            <a:endParaRPr lang="en-US" sz="1200"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K_18">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19  ·  BILAN</a:t>
            </a:r>
            <a:endParaRPr lang="en-US" sz="120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K_19">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9DB0BF"/>
                </a:solidFill>
                <a:latin typeface="Calibri" pitchFamily="34" charset="0"/>
                <a:ea typeface="Calibri" pitchFamily="34" charset="-122"/>
                <a:cs typeface="Calibri" pitchFamily="34" charset="-120"/>
              </a:rPr>
              <a:t>20  ·  BILAN</a:t>
            </a:r>
            <a:endParaRPr lang="en-US" sz="1200"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K_20">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5A6A77"/>
                </a:solidFill>
                <a:latin typeface="Calibri" pitchFamily="34" charset="0"/>
                <a:ea typeface="Calibri" pitchFamily="34" charset="-122"/>
                <a:cs typeface="Calibri" pitchFamily="34" charset="-120"/>
              </a:rPr>
              <a:t>21  ·  BILAN</a:t>
            </a:r>
            <a:endParaRPr lang="en-US" sz="1200"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K_21">
    <p:spTree>
      <p:nvGrpSpPr>
        <p:cNvPr id="1" name=""/>
        <p:cNvGrpSpPr/>
        <p:nvPr/>
      </p:nvGrpSpPr>
      <p:grpSpPr>
        <a:xfrm>
          <a:off x="0" y="0"/>
          <a:ext cx="0" cy="0"/>
          <a:chOff x="0" y="0"/>
          <a:chExt cx="0" cy="0"/>
        </a:xfrm>
      </p:grpSpPr>
      <p:sp>
        <p:nvSpPr>
          <p:cNvPr id="2" name="Text 0"/>
          <p:cNvSpPr/>
          <p:nvPr/>
        </p:nvSpPr>
        <p:spPr>
          <a:xfrm>
            <a:off x="812800" y="482600"/>
            <a:ext cx="5715000" cy="254000"/>
          </a:xfrm>
          <a:prstGeom prst="rect">
            <a:avLst/>
          </a:prstGeom>
          <a:noFill/>
          <a:ln/>
        </p:spPr>
        <p:txBody>
          <a:bodyPr wrap="square" lIns="0" tIns="0" rIns="0" bIns="0" rtlCol="0" anchor="ctr"/>
          <a:lstStyle/>
          <a:p>
            <a:pPr indent="0" marL="0">
              <a:buNone/>
            </a:pPr>
            <a:r>
              <a:rPr lang="en-US" sz="1200" b="1" spc="300" kern="0" dirty="0">
                <a:solidFill>
                  <a:srgbClr val="9DB0BF"/>
                </a:solidFill>
                <a:latin typeface="Calibri" pitchFamily="34" charset="0"/>
                <a:ea typeface="Calibri" pitchFamily="34" charset="-122"/>
                <a:cs typeface="Calibri" pitchFamily="34" charset="-120"/>
              </a:rPr>
              <a:t>22  ·  CONCLUSION</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video" Target="../media/media-2-3.mp4"/><Relationship Id="rId4" Type="http://schemas.microsoft.com/office/2007/relationships/media" Target="../media/media-2-3.mp4"/><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4.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5.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6.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7.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8.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9.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0.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3.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4"/>
        </a:solidFill>
      </p:bgPr>
    </p:bg>
    <p:spTree>
      <p:nvGrpSpPr>
        <p:cNvPr id="1" name="-s1"/>
        <p:cNvGrpSpPr/>
        <p:nvPr/>
      </p:nvGrpSpPr>
      <p:grpSpPr>
        <a:xfrm>
          <a:off x="0" y="0"/>
          <a:ext cx="0" cy="0"/>
          <a:chOff x="0" y="0"/>
          <a:chExt cx="0" cy="0"/>
        </a:xfrm>
      </p:grpSpPr>
      <p:sp>
        <p:nvSpPr>
          <p:cNvPr id="2" name="!!orb"/>
          <p:cNvSpPr/>
          <p:nvPr/>
        </p:nvSpPr>
        <p:spPr>
          <a:xfrm>
            <a:off x="6667500" y="2413000"/>
            <a:ext cx="6985000" cy="6985000"/>
          </a:xfrm>
          <a:prstGeom prst="ellipse">
            <a:avLst/>
          </a:prstGeom>
          <a:solidFill>
            <a:srgbClr val="3CC3B5">
              <a:alpha val="12000"/>
            </a:srgbClr>
          </a:solidFill>
          <a:ln/>
        </p:spPr>
      </p:sp>
      <p:sp>
        <p:nvSpPr>
          <p:cNvPr id="3" name="!!pv"/>
          <p:cNvSpPr/>
          <p:nvPr/>
        </p:nvSpPr>
        <p:spPr>
          <a:xfrm>
            <a:off x="812800" y="508000"/>
            <a:ext cx="2540000" cy="8255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1003300" y="561975"/>
            <a:ext cx="2159000" cy="717550"/>
          </a:xfrm>
          <a:prstGeom prst="rect">
            <a:avLst/>
          </a:prstGeom>
        </p:spPr>
      </p:pic>
      <p:sp>
        <p:nvSpPr>
          <p:cNvPr id="5" name="!!pi"/>
          <p:cNvSpPr/>
          <p:nvPr/>
        </p:nvSpPr>
        <p:spPr>
          <a:xfrm>
            <a:off x="3479800" y="508000"/>
            <a:ext cx="1397000" cy="8255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3733800" y="657225"/>
            <a:ext cx="889000" cy="527050"/>
          </a:xfrm>
          <a:prstGeom prst="rect">
            <a:avLst/>
          </a:prstGeom>
        </p:spPr>
      </p:pic>
      <p:sp>
        <p:nvSpPr>
          <p:cNvPr id="7" name="!!track"/>
          <p:cNvSpPr/>
          <p:nvPr/>
        </p:nvSpPr>
        <p:spPr>
          <a:xfrm>
            <a:off x="812800" y="6642100"/>
            <a:ext cx="10566400" cy="50800"/>
          </a:xfrm>
          <a:prstGeom prst="roundRect">
            <a:avLst>
              <a:gd name="adj" fmla="val 50000"/>
            </a:avLst>
          </a:prstGeom>
          <a:solidFill>
            <a:srgbClr val="2B4457"/>
          </a:solidFill>
          <a:ln/>
        </p:spPr>
      </p:sp>
      <p:sp>
        <p:nvSpPr>
          <p:cNvPr id="8" name="!!fill"/>
          <p:cNvSpPr/>
          <p:nvPr/>
        </p:nvSpPr>
        <p:spPr>
          <a:xfrm>
            <a:off x="812800" y="6642100"/>
            <a:ext cx="152400" cy="50800"/>
          </a:xfrm>
          <a:prstGeom prst="roundRect">
            <a:avLst>
              <a:gd name="adj" fmla="val 50000"/>
            </a:avLst>
          </a:prstGeom>
          <a:solidFill>
            <a:srgbClr val="3CC3B5"/>
          </a:solidFill>
          <a:ln/>
        </p:spPr>
      </p:sp>
      <p:sp>
        <p:nvSpPr>
          <p:cNvPr id="9" name="!!dot"/>
          <p:cNvSpPr/>
          <p:nvPr/>
        </p:nvSpPr>
        <p:spPr>
          <a:xfrm>
            <a:off x="876300" y="6604000"/>
            <a:ext cx="127000" cy="127000"/>
          </a:xfrm>
          <a:prstGeom prst="ellipse">
            <a:avLst/>
          </a:prstGeom>
          <a:solidFill>
            <a:srgbClr val="3CC3B5"/>
          </a:solidFill>
          <a:ln/>
        </p:spPr>
      </p:sp>
      <p:sp>
        <p:nvSpPr>
          <p:cNvPr id="10" name="Text 6-s1"/>
          <p:cNvSpPr txBox="1"/>
          <p:nvPr/>
        </p:nvSpPr>
        <p:spPr>
          <a:xfrm>
            <a:off x="812800" y="1905000"/>
            <a:ext cx="8255000" cy="254000"/>
          </a:xfrm>
          <a:prstGeom prst="rect">
            <a:avLst/>
          </a:prstGeom>
          <a:noFill/>
          <a:ln/>
        </p:spPr>
        <p:txBody>
          <a:bodyPr wrap="square" lIns="0" tIns="0" rIns="0" bIns="0" rtlCol="0" anchor="t"/>
          <a:lstStyle/>
          <a:p>
            <a:pPr algn="l" indent="0" marL="0">
              <a:lnSpc>
                <a:spcPct val="100000"/>
              </a:lnSpc>
              <a:buNone/>
            </a:pPr>
            <a:r>
              <a:rPr lang="en-US" sz="1400" b="1" spc="300" kern="0" dirty="0">
                <a:solidFill>
                  <a:srgbClr val="3CC3B5"/>
                </a:solidFill>
                <a:latin typeface="Calibri" pitchFamily="34" charset="0"/>
                <a:ea typeface="Calibri" pitchFamily="34" charset="-122"/>
                <a:cs typeface="Calibri" pitchFamily="34" charset="-120"/>
              </a:rPr>
              <a:t>SOUTENANCE · PROJET DE TRANSITION NUMÉRIQUE</a:t>
            </a:r>
            <a:endParaRPr lang="en-US" sz="1400" dirty="0"/>
          </a:p>
        </p:txBody>
      </p:sp>
      <p:sp>
        <p:nvSpPr>
          <p:cNvPr id="11" name="Text 7-s1"/>
          <p:cNvSpPr txBox="1"/>
          <p:nvPr/>
        </p:nvSpPr>
        <p:spPr>
          <a:xfrm>
            <a:off x="812800" y="2286000"/>
            <a:ext cx="9525000" cy="1270000"/>
          </a:xfrm>
          <a:prstGeom prst="rect">
            <a:avLst/>
          </a:prstGeom>
          <a:noFill/>
          <a:ln/>
        </p:spPr>
        <p:txBody>
          <a:bodyPr wrap="square" lIns="0" tIns="0" rIns="0" bIns="0" rtlCol="0" anchor="t"/>
          <a:lstStyle/>
          <a:p>
            <a:pPr algn="l" indent="0" marL="0">
              <a:lnSpc>
                <a:spcPct val="100000"/>
              </a:lnSpc>
              <a:buNone/>
            </a:pPr>
            <a:r>
              <a:rPr lang="en-US" sz="7500" b="1" dirty="0">
                <a:solidFill>
                  <a:srgbClr val="F4F1EA"/>
                </a:solidFill>
                <a:latin typeface="Georgia" pitchFamily="34" charset="0"/>
                <a:ea typeface="Georgia" pitchFamily="34" charset="-122"/>
                <a:cs typeface="Georgia" pitchFamily="34" charset="-120"/>
              </a:rPr>
              <a:t>Kizeo  →  Teepee</a:t>
            </a:r>
            <a:endParaRPr lang="en-US" sz="7500" dirty="0"/>
          </a:p>
        </p:txBody>
      </p:sp>
      <p:sp>
        <p:nvSpPr>
          <p:cNvPr id="12" name="Text 8-s1"/>
          <p:cNvSpPr txBox="1"/>
          <p:nvPr/>
        </p:nvSpPr>
        <p:spPr>
          <a:xfrm>
            <a:off x="812800" y="3746500"/>
            <a:ext cx="7302500" cy="889000"/>
          </a:xfrm>
          <a:prstGeom prst="rect">
            <a:avLst/>
          </a:prstGeom>
          <a:noFill/>
          <a:ln/>
        </p:spPr>
        <p:txBody>
          <a:bodyPr wrap="square" lIns="0" tIns="0" rIns="0" bIns="0" rtlCol="0" anchor="t"/>
          <a:lstStyle/>
          <a:p>
            <a:pPr algn="l" indent="0" marL="0">
              <a:lnSpc>
                <a:spcPct val="100000"/>
              </a:lnSpc>
              <a:buNone/>
            </a:pPr>
            <a:r>
              <a:rPr lang="en-US" sz="2200" dirty="0">
                <a:solidFill>
                  <a:srgbClr val="9DB0BF"/>
                </a:solidFill>
                <a:latin typeface="Calibri" pitchFamily="34" charset="0"/>
                <a:ea typeface="Calibri" pitchFamily="34" charset="-122"/>
                <a:cs typeface="Calibri" pitchFamily="34" charset="-120"/>
              </a:rPr>
              <a:t>Migrer les formulaires opérationnels de VINCI Facilities Tertiaire Aquitaine</a:t>
            </a:r>
            <a:endParaRPr lang="en-US" sz="2200" dirty="0"/>
          </a:p>
        </p:txBody>
      </p:sp>
      <p:sp>
        <p:nvSpPr>
          <p:cNvPr id="13" name="Text 9-s1"/>
          <p:cNvSpPr txBox="1"/>
          <p:nvPr/>
        </p:nvSpPr>
        <p:spPr>
          <a:xfrm>
            <a:off x="812800" y="5080000"/>
            <a:ext cx="6985000" cy="317500"/>
          </a:xfrm>
          <a:prstGeom prst="rect">
            <a:avLst/>
          </a:prstGeom>
          <a:noFill/>
          <a:ln/>
        </p:spPr>
        <p:txBody>
          <a:bodyPr wrap="square" lIns="0" tIns="0" rIns="0" bIns="0" rtlCol="0" anchor="t"/>
          <a:lstStyle/>
          <a:p>
            <a:pPr algn="l" indent="0" marL="0">
              <a:lnSpc>
                <a:spcPct val="100000"/>
              </a:lnSpc>
              <a:buNone/>
            </a:pPr>
            <a:r>
              <a:rPr lang="en-US" sz="2000" b="1" dirty="0">
                <a:solidFill>
                  <a:srgbClr val="F4F1EA"/>
                </a:solidFill>
                <a:latin typeface="Calibri" pitchFamily="34" charset="0"/>
                <a:ea typeface="Calibri" pitchFamily="34" charset="-122"/>
                <a:cs typeface="Calibri" pitchFamily="34" charset="-120"/>
              </a:rPr>
              <a:t>Yann Yankam Tchapda</a:t>
            </a:r>
            <a:endParaRPr lang="en-US" sz="2000" dirty="0"/>
          </a:p>
        </p:txBody>
      </p:sp>
      <p:sp>
        <p:nvSpPr>
          <p:cNvPr id="14" name="Text 10-s1"/>
          <p:cNvSpPr txBox="1"/>
          <p:nvPr/>
        </p:nvSpPr>
        <p:spPr>
          <a:xfrm>
            <a:off x="812800" y="5461000"/>
            <a:ext cx="8255000" cy="508000"/>
          </a:xfrm>
          <a:prstGeom prst="rect">
            <a:avLst/>
          </a:prstGeom>
          <a:noFill/>
          <a:ln/>
        </p:spPr>
        <p:txBody>
          <a:bodyPr wrap="square" lIns="0" tIns="0" rIns="0" bIns="0" rtlCol="0" anchor="t"/>
          <a:lstStyle/>
          <a:p>
            <a:pPr algn="l" indent="0" marL="0">
              <a:lnSpc>
                <a:spcPct val="100000"/>
              </a:lnSpc>
              <a:buNone/>
            </a:pPr>
            <a:r>
              <a:rPr lang="en-US" sz="1400" dirty="0">
                <a:solidFill>
                  <a:srgbClr val="9DB0BF"/>
                </a:solidFill>
                <a:latin typeface="Calibri" pitchFamily="34" charset="0"/>
                <a:ea typeface="Calibri" pitchFamily="34" charset="-122"/>
                <a:cs typeface="Calibri" pitchFamily="34" charset="-120"/>
              </a:rPr>
              <a:t>Ingénieur Systèmes Numériques et Génie Industriel · Icam · 2025–2026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s2"/>
        <p:cNvGrpSpPr/>
        <p:nvPr/>
      </p:nvGrpSpPr>
      <p:grpSpPr>
        <a:xfrm>
          <a:off x="0" y="0"/>
          <a:ext cx="0" cy="0"/>
          <a:chOff x="0" y="0"/>
          <a:chExt cx="0" cy="0"/>
        </a:xfrm>
      </p:grpSpPr>
      <p:sp>
        <p:nvSpPr>
          <p:cNvPr id="2" name="!!orb"/>
          <p:cNvSpPr/>
          <p:nvPr/>
        </p:nvSpPr>
        <p:spPr>
          <a:xfrm>
            <a:off x="9525000" y="-1587500"/>
            <a:ext cx="4445000" cy="4445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503162" cy="50800"/>
          </a:xfrm>
          <a:prstGeom prst="roundRect">
            <a:avLst>
              <a:gd name="adj" fmla="val 50000"/>
            </a:avLst>
          </a:prstGeom>
          <a:solidFill>
            <a:srgbClr val="0F766E"/>
          </a:solidFill>
          <a:ln/>
        </p:spPr>
      </p:sp>
      <p:sp>
        <p:nvSpPr>
          <p:cNvPr id="9" name="!!dot"/>
          <p:cNvSpPr/>
          <p:nvPr/>
        </p:nvSpPr>
        <p:spPr>
          <a:xfrm>
            <a:off x="1227062" y="6604000"/>
            <a:ext cx="127000" cy="127000"/>
          </a:xfrm>
          <a:prstGeom prst="ellipse">
            <a:avLst/>
          </a:prstGeom>
          <a:solidFill>
            <a:srgbClr val="0F766E"/>
          </a:solidFill>
          <a:ln/>
        </p:spPr>
      </p:sp>
      <p:sp>
        <p:nvSpPr>
          <p:cNvPr id="10" name="Text 6-s2"/>
          <p:cNvSpPr txBox="1"/>
          <p:nvPr/>
        </p:nvSpPr>
        <p:spPr>
          <a:xfrm>
            <a:off x="812800" y="1270000"/>
            <a:ext cx="9525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12202B"/>
                </a:solidFill>
                <a:latin typeface="Georgia" pitchFamily="34" charset="0"/>
                <a:ea typeface="Georgia" pitchFamily="34" charset="-122"/>
                <a:cs typeface="Georgia" pitchFamily="34" charset="-120"/>
              </a:rPr>
              <a:t>Le projet en bref</a:t>
            </a:r>
            <a:endParaRPr lang="en-US" sz="3200" dirty="0"/>
          </a:p>
        </p:txBody>
      </p:sp>
      <p:sp>
        <p:nvSpPr>
          <p:cNvPr id="11" name="Text 7-s2"/>
          <p:cNvSpPr txBox="1"/>
          <p:nvPr/>
        </p:nvSpPr>
        <p:spPr>
          <a:xfrm>
            <a:off x="812800" y="2095500"/>
            <a:ext cx="825500" cy="635000"/>
          </a:xfrm>
          <a:prstGeom prst="rect">
            <a:avLst/>
          </a:prstGeom>
          <a:noFill/>
          <a:ln/>
        </p:spPr>
        <p:txBody>
          <a:bodyPr wrap="square" lIns="0" tIns="0" rIns="0" bIns="0" rtlCol="0" anchor="t"/>
          <a:lstStyle/>
          <a:p>
            <a:pPr algn="l" indent="0" marL="0">
              <a:lnSpc>
                <a:spcPct val="100000"/>
              </a:lnSpc>
              <a:buNone/>
            </a:pPr>
            <a:r>
              <a:rPr lang="en-US" sz="3200" b="1" dirty="0">
                <a:solidFill>
                  <a:srgbClr val="0F766E"/>
                </a:solidFill>
                <a:latin typeface="Georgia" pitchFamily="34" charset="0"/>
                <a:ea typeface="Georgia" pitchFamily="34" charset="-122"/>
                <a:cs typeface="Georgia" pitchFamily="34" charset="-120"/>
              </a:rPr>
              <a:t>01</a:t>
            </a:r>
            <a:endParaRPr lang="en-US" sz="3200" dirty="0"/>
          </a:p>
        </p:txBody>
      </p:sp>
      <p:sp>
        <p:nvSpPr>
          <p:cNvPr id="12" name="Text 8-s2"/>
          <p:cNvSpPr txBox="1"/>
          <p:nvPr/>
        </p:nvSpPr>
        <p:spPr>
          <a:xfrm>
            <a:off x="1714500" y="2120900"/>
            <a:ext cx="3302000" cy="355600"/>
          </a:xfrm>
          <a:prstGeom prst="rect">
            <a:avLst/>
          </a:prstGeom>
          <a:noFill/>
          <a:ln/>
        </p:spPr>
        <p:txBody>
          <a:bodyPr wrap="square" lIns="0" tIns="0" rIns="0" bIns="0" rtlCol="0" anchor="t"/>
          <a:lstStyle/>
          <a:p>
            <a:pPr algn="l" indent="0" marL="0">
              <a:lnSpc>
                <a:spcPct val="100000"/>
              </a:lnSpc>
              <a:buNone/>
            </a:pPr>
            <a:r>
              <a:rPr lang="en-US" sz="2200" b="1" dirty="0">
                <a:solidFill>
                  <a:srgbClr val="12202B"/>
                </a:solidFill>
                <a:latin typeface="Calibri" pitchFamily="34" charset="0"/>
                <a:ea typeface="Calibri" pitchFamily="34" charset="-122"/>
                <a:cs typeface="Calibri" pitchFamily="34" charset="-120"/>
              </a:rPr>
              <a:t>Contexte</a:t>
            </a:r>
            <a:endParaRPr lang="en-US" sz="2200" dirty="0"/>
          </a:p>
        </p:txBody>
      </p:sp>
      <p:sp>
        <p:nvSpPr>
          <p:cNvPr id="13" name="Text 9-s2"/>
          <p:cNvSpPr txBox="1"/>
          <p:nvPr/>
        </p:nvSpPr>
        <p:spPr>
          <a:xfrm>
            <a:off x="1714500" y="2489200"/>
            <a:ext cx="3556000" cy="254000"/>
          </a:xfrm>
          <a:prstGeom prst="rect">
            <a:avLst/>
          </a:prstGeom>
          <a:noFill/>
          <a:ln/>
        </p:spPr>
        <p:txBody>
          <a:bodyPr wrap="square" lIns="0" tIns="0" rIns="0" bIns="0" rtlCol="0" anchor="t"/>
          <a:lstStyle/>
          <a:p>
            <a:pPr algn="l" indent="0" marL="0">
              <a:lnSpc>
                <a:spcPct val="100000"/>
              </a:lnSpc>
              <a:buNone/>
            </a:pPr>
            <a:r>
              <a:rPr lang="en-US" sz="1400" dirty="0">
                <a:solidFill>
                  <a:srgbClr val="5A6A77"/>
                </a:solidFill>
                <a:latin typeface="Calibri" pitchFamily="34" charset="0"/>
                <a:ea typeface="Calibri" pitchFamily="34" charset="-122"/>
                <a:cs typeface="Calibri" pitchFamily="34" charset="-120"/>
              </a:rPr>
              <a:t>Une décision du groupe VINCI</a:t>
            </a:r>
            <a:endParaRPr lang="en-US" sz="1400" dirty="0"/>
          </a:p>
        </p:txBody>
      </p:sp>
      <p:sp>
        <p:nvSpPr>
          <p:cNvPr id="14" name="Shape 10-s2"/>
          <p:cNvSpPr/>
          <p:nvPr/>
        </p:nvSpPr>
        <p:spPr>
          <a:xfrm>
            <a:off x="812800" y="2870200"/>
            <a:ext cx="4445000" cy="12700"/>
          </a:xfrm>
          <a:prstGeom prst="rect">
            <a:avLst/>
          </a:prstGeom>
          <a:solidFill>
            <a:srgbClr val="D9D4C8"/>
          </a:solidFill>
          <a:ln/>
        </p:spPr>
      </p:sp>
      <p:sp>
        <p:nvSpPr>
          <p:cNvPr id="15" name="Text 11-s2"/>
          <p:cNvSpPr txBox="1"/>
          <p:nvPr/>
        </p:nvSpPr>
        <p:spPr>
          <a:xfrm>
            <a:off x="812800" y="3048000"/>
            <a:ext cx="825500" cy="635000"/>
          </a:xfrm>
          <a:prstGeom prst="rect">
            <a:avLst/>
          </a:prstGeom>
          <a:noFill/>
          <a:ln/>
        </p:spPr>
        <p:txBody>
          <a:bodyPr wrap="square" lIns="0" tIns="0" rIns="0" bIns="0" rtlCol="0" anchor="t"/>
          <a:lstStyle/>
          <a:p>
            <a:pPr algn="l" indent="0" marL="0">
              <a:lnSpc>
                <a:spcPct val="100000"/>
              </a:lnSpc>
              <a:buNone/>
            </a:pPr>
            <a:r>
              <a:rPr lang="en-US" sz="3200" b="1" dirty="0">
                <a:solidFill>
                  <a:srgbClr val="0F766E"/>
                </a:solidFill>
                <a:latin typeface="Georgia" pitchFamily="34" charset="0"/>
                <a:ea typeface="Georgia" pitchFamily="34" charset="-122"/>
                <a:cs typeface="Georgia" pitchFamily="34" charset="-120"/>
              </a:rPr>
              <a:t>02</a:t>
            </a:r>
            <a:endParaRPr lang="en-US" sz="3200" dirty="0"/>
          </a:p>
        </p:txBody>
      </p:sp>
      <p:sp>
        <p:nvSpPr>
          <p:cNvPr id="16" name="Text 12-s2"/>
          <p:cNvSpPr txBox="1"/>
          <p:nvPr/>
        </p:nvSpPr>
        <p:spPr>
          <a:xfrm>
            <a:off x="1714500" y="3073400"/>
            <a:ext cx="3302000" cy="355600"/>
          </a:xfrm>
          <a:prstGeom prst="rect">
            <a:avLst/>
          </a:prstGeom>
          <a:noFill/>
          <a:ln/>
        </p:spPr>
        <p:txBody>
          <a:bodyPr wrap="square" lIns="0" tIns="0" rIns="0" bIns="0" rtlCol="0" anchor="t"/>
          <a:lstStyle/>
          <a:p>
            <a:pPr algn="l" indent="0" marL="0">
              <a:lnSpc>
                <a:spcPct val="100000"/>
              </a:lnSpc>
              <a:buNone/>
            </a:pPr>
            <a:r>
              <a:rPr lang="en-US" sz="2200" b="1" dirty="0">
                <a:solidFill>
                  <a:srgbClr val="12202B"/>
                </a:solidFill>
                <a:latin typeface="Calibri" pitchFamily="34" charset="0"/>
                <a:ea typeface="Calibri" pitchFamily="34" charset="-122"/>
                <a:cs typeface="Calibri" pitchFamily="34" charset="-120"/>
              </a:rPr>
              <a:t>Pilotage</a:t>
            </a:r>
            <a:endParaRPr lang="en-US" sz="2200" dirty="0"/>
          </a:p>
        </p:txBody>
      </p:sp>
      <p:sp>
        <p:nvSpPr>
          <p:cNvPr id="17" name="Text 13-s2"/>
          <p:cNvSpPr txBox="1"/>
          <p:nvPr/>
        </p:nvSpPr>
        <p:spPr>
          <a:xfrm>
            <a:off x="1714500" y="3441700"/>
            <a:ext cx="3556000" cy="254000"/>
          </a:xfrm>
          <a:prstGeom prst="rect">
            <a:avLst/>
          </a:prstGeom>
          <a:noFill/>
          <a:ln/>
        </p:spPr>
        <p:txBody>
          <a:bodyPr wrap="square" lIns="0" tIns="0" rIns="0" bIns="0" rtlCol="0" anchor="t"/>
          <a:lstStyle/>
          <a:p>
            <a:pPr algn="l" indent="0" marL="0">
              <a:lnSpc>
                <a:spcPct val="100000"/>
              </a:lnSpc>
              <a:buNone/>
            </a:pPr>
            <a:r>
              <a:rPr lang="en-US" sz="1400" dirty="0">
                <a:solidFill>
                  <a:srgbClr val="5A6A77"/>
                </a:solidFill>
                <a:latin typeface="Calibri" pitchFamily="34" charset="0"/>
                <a:ea typeface="Calibri" pitchFamily="34" charset="-122"/>
                <a:cs typeface="Calibri" pitchFamily="34" charset="-120"/>
              </a:rPr>
              <a:t>Démarche, bugs, conduite du changement</a:t>
            </a:r>
            <a:endParaRPr lang="en-US" sz="1400" dirty="0"/>
          </a:p>
        </p:txBody>
      </p:sp>
      <p:sp>
        <p:nvSpPr>
          <p:cNvPr id="18" name="Shape 14-s2"/>
          <p:cNvSpPr/>
          <p:nvPr/>
        </p:nvSpPr>
        <p:spPr>
          <a:xfrm>
            <a:off x="812800" y="3822700"/>
            <a:ext cx="4445000" cy="12700"/>
          </a:xfrm>
          <a:prstGeom prst="rect">
            <a:avLst/>
          </a:prstGeom>
          <a:solidFill>
            <a:srgbClr val="D9D4C8"/>
          </a:solidFill>
          <a:ln/>
        </p:spPr>
      </p:sp>
      <p:sp>
        <p:nvSpPr>
          <p:cNvPr id="19" name="Text 15-s2"/>
          <p:cNvSpPr txBox="1"/>
          <p:nvPr/>
        </p:nvSpPr>
        <p:spPr>
          <a:xfrm>
            <a:off x="812800" y="4000500"/>
            <a:ext cx="825500" cy="635000"/>
          </a:xfrm>
          <a:prstGeom prst="rect">
            <a:avLst/>
          </a:prstGeom>
          <a:noFill/>
          <a:ln/>
        </p:spPr>
        <p:txBody>
          <a:bodyPr wrap="square" lIns="0" tIns="0" rIns="0" bIns="0" rtlCol="0" anchor="t"/>
          <a:lstStyle/>
          <a:p>
            <a:pPr algn="l" indent="0" marL="0">
              <a:lnSpc>
                <a:spcPct val="100000"/>
              </a:lnSpc>
              <a:buNone/>
            </a:pPr>
            <a:r>
              <a:rPr lang="en-US" sz="3200" b="1" dirty="0">
                <a:solidFill>
                  <a:srgbClr val="0F766E"/>
                </a:solidFill>
                <a:latin typeface="Georgia" pitchFamily="34" charset="0"/>
                <a:ea typeface="Georgia" pitchFamily="34" charset="-122"/>
                <a:cs typeface="Georgia" pitchFamily="34" charset="-120"/>
              </a:rPr>
              <a:t>03</a:t>
            </a:r>
            <a:endParaRPr lang="en-US" sz="3200" dirty="0"/>
          </a:p>
        </p:txBody>
      </p:sp>
      <p:sp>
        <p:nvSpPr>
          <p:cNvPr id="20" name="Text 16-s2"/>
          <p:cNvSpPr txBox="1"/>
          <p:nvPr/>
        </p:nvSpPr>
        <p:spPr>
          <a:xfrm>
            <a:off x="1714500" y="4025900"/>
            <a:ext cx="3302000" cy="355600"/>
          </a:xfrm>
          <a:prstGeom prst="rect">
            <a:avLst/>
          </a:prstGeom>
          <a:noFill/>
          <a:ln/>
        </p:spPr>
        <p:txBody>
          <a:bodyPr wrap="square" lIns="0" tIns="0" rIns="0" bIns="0" rtlCol="0" anchor="t"/>
          <a:lstStyle/>
          <a:p>
            <a:pPr algn="l" indent="0" marL="0">
              <a:lnSpc>
                <a:spcPct val="100000"/>
              </a:lnSpc>
              <a:buNone/>
            </a:pPr>
            <a:r>
              <a:rPr lang="en-US" sz="2200" b="1" dirty="0">
                <a:solidFill>
                  <a:srgbClr val="12202B"/>
                </a:solidFill>
                <a:latin typeface="Calibri" pitchFamily="34" charset="0"/>
                <a:ea typeface="Calibri" pitchFamily="34" charset="-122"/>
                <a:cs typeface="Calibri" pitchFamily="34" charset="-120"/>
              </a:rPr>
              <a:t>Résultats</a:t>
            </a:r>
            <a:endParaRPr lang="en-US" sz="2200" dirty="0"/>
          </a:p>
        </p:txBody>
      </p:sp>
      <p:sp>
        <p:nvSpPr>
          <p:cNvPr id="21" name="Text 17-s2"/>
          <p:cNvSpPr txBox="1"/>
          <p:nvPr/>
        </p:nvSpPr>
        <p:spPr>
          <a:xfrm>
            <a:off x="1714500" y="4394200"/>
            <a:ext cx="3556000" cy="254000"/>
          </a:xfrm>
          <a:prstGeom prst="rect">
            <a:avLst/>
          </a:prstGeom>
          <a:noFill/>
          <a:ln/>
        </p:spPr>
        <p:txBody>
          <a:bodyPr wrap="square" lIns="0" tIns="0" rIns="0" bIns="0" rtlCol="0" anchor="t"/>
          <a:lstStyle/>
          <a:p>
            <a:pPr algn="l" indent="0" marL="0">
              <a:lnSpc>
                <a:spcPct val="100000"/>
              </a:lnSpc>
              <a:buNone/>
            </a:pPr>
            <a:r>
              <a:rPr lang="en-US" sz="1400" dirty="0">
                <a:solidFill>
                  <a:srgbClr val="5A6A77"/>
                </a:solidFill>
                <a:latin typeface="Calibri" pitchFamily="34" charset="0"/>
                <a:ea typeface="Calibri" pitchFamily="34" charset="-122"/>
                <a:cs typeface="Calibri" pitchFamily="34" charset="-120"/>
              </a:rPr>
              <a:t>Livrables, chiffres et écarts</a:t>
            </a:r>
            <a:endParaRPr lang="en-US" sz="1400" dirty="0"/>
          </a:p>
        </p:txBody>
      </p:sp>
      <p:sp>
        <p:nvSpPr>
          <p:cNvPr id="22" name="Shape 18-s2"/>
          <p:cNvSpPr/>
          <p:nvPr/>
        </p:nvSpPr>
        <p:spPr>
          <a:xfrm>
            <a:off x="812800" y="4775200"/>
            <a:ext cx="4445000" cy="12700"/>
          </a:xfrm>
          <a:prstGeom prst="rect">
            <a:avLst/>
          </a:prstGeom>
          <a:solidFill>
            <a:srgbClr val="D9D4C8"/>
          </a:solidFill>
          <a:ln/>
        </p:spPr>
      </p:sp>
      <p:sp>
        <p:nvSpPr>
          <p:cNvPr id="23" name="Text 19-s2"/>
          <p:cNvSpPr txBox="1"/>
          <p:nvPr/>
        </p:nvSpPr>
        <p:spPr>
          <a:xfrm>
            <a:off x="812800" y="4953000"/>
            <a:ext cx="825500" cy="635000"/>
          </a:xfrm>
          <a:prstGeom prst="rect">
            <a:avLst/>
          </a:prstGeom>
          <a:noFill/>
          <a:ln/>
        </p:spPr>
        <p:txBody>
          <a:bodyPr wrap="square" lIns="0" tIns="0" rIns="0" bIns="0" rtlCol="0" anchor="t"/>
          <a:lstStyle/>
          <a:p>
            <a:pPr algn="l" indent="0" marL="0">
              <a:lnSpc>
                <a:spcPct val="100000"/>
              </a:lnSpc>
              <a:buNone/>
            </a:pPr>
            <a:r>
              <a:rPr lang="en-US" sz="3200" b="1" dirty="0">
                <a:solidFill>
                  <a:srgbClr val="0F766E"/>
                </a:solidFill>
                <a:latin typeface="Georgia" pitchFamily="34" charset="0"/>
                <a:ea typeface="Georgia" pitchFamily="34" charset="-122"/>
                <a:cs typeface="Georgia" pitchFamily="34" charset="-120"/>
              </a:rPr>
              <a:t>04</a:t>
            </a:r>
            <a:endParaRPr lang="en-US" sz="3200" dirty="0"/>
          </a:p>
        </p:txBody>
      </p:sp>
      <p:sp>
        <p:nvSpPr>
          <p:cNvPr id="24" name="Text 20-s2"/>
          <p:cNvSpPr txBox="1"/>
          <p:nvPr/>
        </p:nvSpPr>
        <p:spPr>
          <a:xfrm>
            <a:off x="1714500" y="4978400"/>
            <a:ext cx="3302000" cy="355600"/>
          </a:xfrm>
          <a:prstGeom prst="rect">
            <a:avLst/>
          </a:prstGeom>
          <a:noFill/>
          <a:ln/>
        </p:spPr>
        <p:txBody>
          <a:bodyPr wrap="square" lIns="0" tIns="0" rIns="0" bIns="0" rtlCol="0" anchor="t"/>
          <a:lstStyle/>
          <a:p>
            <a:pPr algn="l" indent="0" marL="0">
              <a:lnSpc>
                <a:spcPct val="100000"/>
              </a:lnSpc>
              <a:buNone/>
            </a:pPr>
            <a:r>
              <a:rPr lang="en-US" sz="2200" b="1" dirty="0">
                <a:solidFill>
                  <a:srgbClr val="12202B"/>
                </a:solidFill>
                <a:latin typeface="Calibri" pitchFamily="34" charset="0"/>
                <a:ea typeface="Calibri" pitchFamily="34" charset="-122"/>
                <a:cs typeface="Calibri" pitchFamily="34" charset="-120"/>
              </a:rPr>
              <a:t>Bilan</a:t>
            </a:r>
            <a:endParaRPr lang="en-US" sz="2200" dirty="0"/>
          </a:p>
        </p:txBody>
      </p:sp>
      <p:sp>
        <p:nvSpPr>
          <p:cNvPr id="25" name="Text 21-s2"/>
          <p:cNvSpPr txBox="1"/>
          <p:nvPr/>
        </p:nvSpPr>
        <p:spPr>
          <a:xfrm>
            <a:off x="1714500" y="5346700"/>
            <a:ext cx="3556000" cy="254000"/>
          </a:xfrm>
          <a:prstGeom prst="rect">
            <a:avLst/>
          </a:prstGeom>
          <a:noFill/>
          <a:ln/>
        </p:spPr>
        <p:txBody>
          <a:bodyPr wrap="square" lIns="0" tIns="0" rIns="0" bIns="0" rtlCol="0" anchor="t"/>
          <a:lstStyle/>
          <a:p>
            <a:pPr algn="l" indent="0" marL="0">
              <a:lnSpc>
                <a:spcPct val="100000"/>
              </a:lnSpc>
              <a:buNone/>
            </a:pPr>
            <a:r>
              <a:rPr lang="en-US" sz="1400" dirty="0">
                <a:solidFill>
                  <a:srgbClr val="5A6A77"/>
                </a:solidFill>
                <a:latin typeface="Calibri" pitchFamily="34" charset="0"/>
                <a:ea typeface="Calibri" pitchFamily="34" charset="-122"/>
                <a:cs typeface="Calibri" pitchFamily="34" charset="-120"/>
              </a:rPr>
              <a:t>Compétences, retour critique, perspectives</a:t>
            </a:r>
            <a:endParaRPr lang="en-US" sz="1400" dirty="0"/>
          </a:p>
        </p:txBody>
      </p:sp>
      <p:sp>
        <p:nvSpPr>
          <p:cNvPr id="26" name="Shape 22-s2"/>
          <p:cNvSpPr/>
          <p:nvPr/>
        </p:nvSpPr>
        <p:spPr>
          <a:xfrm>
            <a:off x="812800" y="5727700"/>
            <a:ext cx="4445000" cy="12700"/>
          </a:xfrm>
          <a:prstGeom prst="rect">
            <a:avLst/>
          </a:prstGeom>
          <a:solidFill>
            <a:srgbClr val="D9D4C8"/>
          </a:solidFill>
          <a:ln/>
        </p:spPr>
      </p:sp>
      <p:sp>
        <p:nvSpPr>
          <p:cNvPr id="27" name="Shape 23-s2"/>
          <p:cNvSpPr/>
          <p:nvPr/>
        </p:nvSpPr>
        <p:spPr>
          <a:xfrm>
            <a:off x="5511800" y="1905000"/>
            <a:ext cx="5867400" cy="3302000"/>
          </a:xfrm>
          <a:prstGeom prst="roundRect">
            <a:avLst>
              <a:gd name="adj" fmla="val 12000"/>
            </a:avLst>
          </a:prstGeom>
          <a:solidFill>
            <a:srgbClr val="FFFFFF"/>
          </a:solidFill>
          <a:ln w="12700">
            <a:solidFill>
              <a:srgbClr val="D9D4C8"/>
            </a:solidFill>
            <a:prstDash val="solid"/>
          </a:ln>
        </p:spPr>
      </p:sp>
      <p:pic>
        <p:nvPicPr>
          <p:cNvPr id="5" name="Media 0-s2">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5588000" y="1981200"/>
            <a:ext cx="5715000" cy="3213100"/>
          </a:xfrm>
          <a:prstGeom prst="rect">
            <a:avLst/>
          </a:prstGeom>
        </p:spPr>
      </p:pic>
      <p:sp>
        <p:nvSpPr>
          <p:cNvPr id="29" name="Text 24-s2"/>
          <p:cNvSpPr txBox="1"/>
          <p:nvPr/>
        </p:nvSpPr>
        <p:spPr>
          <a:xfrm>
            <a:off x="5511800" y="5321300"/>
            <a:ext cx="5867400" cy="254000"/>
          </a:xfrm>
          <a:prstGeom prst="rect">
            <a:avLst/>
          </a:prstGeom>
          <a:noFill/>
          <a:ln/>
        </p:spPr>
        <p:txBody>
          <a:bodyPr wrap="square" lIns="0" tIns="0" rIns="0" bIns="0" rtlCol="0" anchor="t"/>
          <a:lstStyle/>
          <a:p>
            <a:pPr algn="l" indent="0" marL="0">
              <a:lnSpc>
                <a:spcPct val="100000"/>
              </a:lnSpc>
              <a:buNone/>
            </a:pPr>
            <a:r>
              <a:rPr lang="en-US" sz="1200" i="1" dirty="0">
                <a:solidFill>
                  <a:srgbClr val="5A6A77"/>
                </a:solidFill>
                <a:latin typeface="Calibri" pitchFamily="34" charset="0"/>
                <a:ea typeface="Calibri" pitchFamily="34" charset="-122"/>
                <a:cs typeface="Calibri" pitchFamily="34" charset="-120"/>
              </a:rPr>
              <a:t>Vidéo : la migration de Kizeo vers Teepee en 10 secondes (cliquer pour lancer)</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B24"/>
        </a:solidFill>
      </p:bgPr>
    </p:bg>
    <p:spTree>
      <p:nvGrpSpPr>
        <p:cNvPr id="1" name="-s3"/>
        <p:cNvGrpSpPr/>
        <p:nvPr/>
      </p:nvGrpSpPr>
      <p:grpSpPr>
        <a:xfrm>
          <a:off x="0" y="0"/>
          <a:ext cx="0" cy="0"/>
          <a:chOff x="0" y="0"/>
          <a:chExt cx="0" cy="0"/>
        </a:xfrm>
      </p:grpSpPr>
      <p:sp>
        <p:nvSpPr>
          <p:cNvPr id="2" name="!!orb"/>
          <p:cNvSpPr/>
          <p:nvPr/>
        </p:nvSpPr>
        <p:spPr>
          <a:xfrm>
            <a:off x="-1587500" y="3175000"/>
            <a:ext cx="3810000" cy="3810000"/>
          </a:xfrm>
          <a:prstGeom prst="ellipse">
            <a:avLst/>
          </a:prstGeom>
          <a:solidFill>
            <a:srgbClr val="3CC3B5">
              <a:alpha val="12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2B4457"/>
          </a:solidFill>
          <a:ln/>
        </p:spPr>
      </p:sp>
      <p:sp>
        <p:nvSpPr>
          <p:cNvPr id="8" name="!!fill"/>
          <p:cNvSpPr/>
          <p:nvPr/>
        </p:nvSpPr>
        <p:spPr>
          <a:xfrm>
            <a:off x="812800" y="6642100"/>
            <a:ext cx="1006324" cy="50800"/>
          </a:xfrm>
          <a:prstGeom prst="roundRect">
            <a:avLst>
              <a:gd name="adj" fmla="val 50000"/>
            </a:avLst>
          </a:prstGeom>
          <a:solidFill>
            <a:srgbClr val="3CC3B5"/>
          </a:solidFill>
          <a:ln/>
        </p:spPr>
      </p:sp>
      <p:sp>
        <p:nvSpPr>
          <p:cNvPr id="9" name="!!dot"/>
          <p:cNvSpPr/>
          <p:nvPr/>
        </p:nvSpPr>
        <p:spPr>
          <a:xfrm>
            <a:off x="1730224" y="6604000"/>
            <a:ext cx="127000" cy="127000"/>
          </a:xfrm>
          <a:prstGeom prst="ellipse">
            <a:avLst/>
          </a:prstGeom>
          <a:solidFill>
            <a:srgbClr val="3CC3B5"/>
          </a:solidFill>
          <a:ln/>
        </p:spPr>
      </p:sp>
      <p:sp>
        <p:nvSpPr>
          <p:cNvPr id="10" name="Text 6-s3"/>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F4F1EA"/>
                </a:solidFill>
                <a:latin typeface="Georgia" pitchFamily="34" charset="0"/>
                <a:ea typeface="Georgia" pitchFamily="34" charset="-122"/>
                <a:cs typeface="Georgia" pitchFamily="34" charset="-120"/>
              </a:rPr>
              <a:t>Une décision du groupe, pas un choix local</a:t>
            </a:r>
            <a:endParaRPr lang="en-US" sz="3200" dirty="0"/>
          </a:p>
        </p:txBody>
      </p:sp>
      <p:sp>
        <p:nvSpPr>
          <p:cNvPr id="11" name="Text 7-s3"/>
          <p:cNvSpPr txBox="1"/>
          <p:nvPr/>
        </p:nvSpPr>
        <p:spPr>
          <a:xfrm>
            <a:off x="812800" y="1905000"/>
            <a:ext cx="6985000" cy="254000"/>
          </a:xfrm>
          <a:prstGeom prst="rect">
            <a:avLst/>
          </a:prstGeom>
          <a:noFill/>
          <a:ln/>
        </p:spPr>
        <p:txBody>
          <a:bodyPr wrap="square" lIns="0" tIns="0" rIns="0" bIns="0" rtlCol="0" anchor="t"/>
          <a:lstStyle/>
          <a:p>
            <a:pPr algn="l" indent="0" marL="0">
              <a:lnSpc>
                <a:spcPct val="100000"/>
              </a:lnSpc>
              <a:buNone/>
            </a:pPr>
            <a:r>
              <a:rPr lang="en-US" sz="1400" dirty="0">
                <a:solidFill>
                  <a:srgbClr val="9DB0BF"/>
                </a:solidFill>
                <a:latin typeface="Calibri" pitchFamily="34" charset="0"/>
                <a:ea typeface="Calibri" pitchFamily="34" charset="-122"/>
                <a:cs typeface="Calibri" pitchFamily="34" charset="-120"/>
              </a:rPr>
              <a:t>Comparatif du cadrage : Kizeo (externe) face à Teepee (solution interne VINCI)</a:t>
            </a:r>
            <a:endParaRPr lang="en-US" sz="1400" dirty="0"/>
          </a:p>
        </p:txBody>
      </p:sp>
      <p:sp>
        <p:nvSpPr>
          <p:cNvPr id="12" name="Text 8-s3"/>
          <p:cNvSpPr txBox="1"/>
          <p:nvPr/>
        </p:nvSpPr>
        <p:spPr>
          <a:xfrm>
            <a:off x="5969000" y="2349500"/>
            <a:ext cx="2540000" cy="279400"/>
          </a:xfrm>
          <a:prstGeom prst="rect">
            <a:avLst/>
          </a:prstGeom>
          <a:noFill/>
          <a:ln/>
        </p:spPr>
        <p:txBody>
          <a:bodyPr wrap="square" lIns="0" tIns="0" rIns="0" bIns="0" rtlCol="0" anchor="t"/>
          <a:lstStyle/>
          <a:p>
            <a:pPr algn="ctr" indent="0" marL="0">
              <a:lnSpc>
                <a:spcPct val="100000"/>
              </a:lnSpc>
              <a:buNone/>
            </a:pPr>
            <a:r>
              <a:rPr lang="en-US" sz="1400" b="1" spc="300" kern="0" dirty="0">
                <a:solidFill>
                  <a:srgbClr val="F26B3A"/>
                </a:solidFill>
                <a:latin typeface="Calibri" pitchFamily="34" charset="0"/>
                <a:ea typeface="Calibri" pitchFamily="34" charset="-122"/>
                <a:cs typeface="Calibri" pitchFamily="34" charset="-120"/>
              </a:rPr>
              <a:t>KIZEO</a:t>
            </a:r>
            <a:endParaRPr lang="en-US" sz="1400" dirty="0"/>
          </a:p>
        </p:txBody>
      </p:sp>
      <p:sp>
        <p:nvSpPr>
          <p:cNvPr id="13" name="Text 9-s3"/>
          <p:cNvSpPr txBox="1"/>
          <p:nvPr/>
        </p:nvSpPr>
        <p:spPr>
          <a:xfrm>
            <a:off x="8763000" y="2349500"/>
            <a:ext cx="2616200" cy="279400"/>
          </a:xfrm>
          <a:prstGeom prst="rect">
            <a:avLst/>
          </a:prstGeom>
          <a:noFill/>
          <a:ln/>
        </p:spPr>
        <p:txBody>
          <a:bodyPr wrap="square" lIns="0" tIns="0" rIns="0" bIns="0" rtlCol="0" anchor="t"/>
          <a:lstStyle/>
          <a:p>
            <a:pPr algn="ctr" indent="0" marL="0">
              <a:lnSpc>
                <a:spcPct val="100000"/>
              </a:lnSpc>
              <a:buNone/>
            </a:pPr>
            <a:r>
              <a:rPr lang="en-US" sz="1400" b="1" spc="300" kern="0" dirty="0">
                <a:solidFill>
                  <a:srgbClr val="3CC3B5"/>
                </a:solidFill>
                <a:latin typeface="Calibri" pitchFamily="34" charset="0"/>
                <a:ea typeface="Calibri" pitchFamily="34" charset="-122"/>
                <a:cs typeface="Calibri" pitchFamily="34" charset="-120"/>
              </a:rPr>
              <a:t>TEEPEE</a:t>
            </a:r>
            <a:endParaRPr lang="en-US" sz="1400" dirty="0"/>
          </a:p>
        </p:txBody>
      </p:sp>
      <p:sp>
        <p:nvSpPr>
          <p:cNvPr id="14" name="Shape 10-s3"/>
          <p:cNvSpPr/>
          <p:nvPr/>
        </p:nvSpPr>
        <p:spPr>
          <a:xfrm>
            <a:off x="812800" y="2730500"/>
            <a:ext cx="10566400" cy="12700"/>
          </a:xfrm>
          <a:prstGeom prst="rect">
            <a:avLst/>
          </a:prstGeom>
          <a:solidFill>
            <a:srgbClr val="2B4457"/>
          </a:solidFill>
          <a:ln/>
        </p:spPr>
      </p:sp>
      <p:sp>
        <p:nvSpPr>
          <p:cNvPr id="15" name="Text 11-s3"/>
          <p:cNvSpPr txBox="1"/>
          <p:nvPr/>
        </p:nvSpPr>
        <p:spPr>
          <a:xfrm>
            <a:off x="812800" y="2794000"/>
            <a:ext cx="4953000" cy="482600"/>
          </a:xfrm>
          <a:prstGeom prst="rect">
            <a:avLst/>
          </a:prstGeom>
          <a:noFill/>
          <a:ln/>
        </p:spPr>
        <p:txBody>
          <a:bodyPr wrap="square" lIns="0" tIns="0" rIns="0" bIns="0" rtlCol="0" anchor="ctr"/>
          <a:lstStyle/>
          <a:p>
            <a:pPr algn="l" indent="0" marL="0">
              <a:lnSpc>
                <a:spcPct val="100000"/>
              </a:lnSpc>
              <a:buNone/>
            </a:pPr>
            <a:r>
              <a:rPr lang="en-US" sz="1800" dirty="0">
                <a:solidFill>
                  <a:srgbClr val="F4F1EA"/>
                </a:solidFill>
                <a:latin typeface="Calibri" pitchFamily="34" charset="0"/>
                <a:ea typeface="Calibri" pitchFamily="34" charset="-122"/>
                <a:cs typeface="Calibri" pitchFamily="34" charset="-120"/>
              </a:rPr>
              <a:t>Conformité sécurité VINCI</a:t>
            </a:r>
            <a:endParaRPr lang="en-US" sz="1800" dirty="0"/>
          </a:p>
        </p:txBody>
      </p:sp>
      <p:sp>
        <p:nvSpPr>
          <p:cNvPr id="16" name="Text 12-s3"/>
          <p:cNvSpPr txBox="1"/>
          <p:nvPr/>
        </p:nvSpPr>
        <p:spPr>
          <a:xfrm>
            <a:off x="5969000" y="2794000"/>
            <a:ext cx="25400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F26B3A"/>
                </a:solidFill>
                <a:latin typeface="Georgia" pitchFamily="34" charset="0"/>
                <a:ea typeface="Georgia" pitchFamily="34" charset="-122"/>
                <a:cs typeface="Georgia" pitchFamily="34" charset="-120"/>
              </a:rPr>
              <a:t>Non</a:t>
            </a:r>
            <a:endParaRPr lang="en-US" sz="2200" dirty="0"/>
          </a:p>
        </p:txBody>
      </p:sp>
      <p:sp>
        <p:nvSpPr>
          <p:cNvPr id="17" name="Text 13-s3"/>
          <p:cNvSpPr txBox="1"/>
          <p:nvPr/>
        </p:nvSpPr>
        <p:spPr>
          <a:xfrm>
            <a:off x="8763000" y="2794000"/>
            <a:ext cx="26162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3CC3B5"/>
                </a:solidFill>
                <a:latin typeface="Georgia" pitchFamily="34" charset="0"/>
                <a:ea typeface="Georgia" pitchFamily="34" charset="-122"/>
                <a:cs typeface="Georgia" pitchFamily="34" charset="-120"/>
              </a:rPr>
              <a:t>Oui</a:t>
            </a:r>
            <a:endParaRPr lang="en-US" sz="2200" dirty="0"/>
          </a:p>
        </p:txBody>
      </p:sp>
      <p:sp>
        <p:nvSpPr>
          <p:cNvPr id="18" name="Shape 14-s3"/>
          <p:cNvSpPr/>
          <p:nvPr/>
        </p:nvSpPr>
        <p:spPr>
          <a:xfrm>
            <a:off x="812800" y="3289300"/>
            <a:ext cx="10566400" cy="12700"/>
          </a:xfrm>
          <a:prstGeom prst="rect">
            <a:avLst/>
          </a:prstGeom>
          <a:solidFill>
            <a:srgbClr val="2B4457"/>
          </a:solidFill>
          <a:ln/>
        </p:spPr>
      </p:sp>
      <p:sp>
        <p:nvSpPr>
          <p:cNvPr id="19" name="Text 15-s3"/>
          <p:cNvSpPr txBox="1"/>
          <p:nvPr/>
        </p:nvSpPr>
        <p:spPr>
          <a:xfrm>
            <a:off x="812800" y="3352800"/>
            <a:ext cx="4953000" cy="482600"/>
          </a:xfrm>
          <a:prstGeom prst="rect">
            <a:avLst/>
          </a:prstGeom>
          <a:noFill/>
          <a:ln/>
        </p:spPr>
        <p:txBody>
          <a:bodyPr wrap="square" lIns="0" tIns="0" rIns="0" bIns="0" rtlCol="0" anchor="ctr"/>
          <a:lstStyle/>
          <a:p>
            <a:pPr algn="l" indent="0" marL="0">
              <a:lnSpc>
                <a:spcPct val="100000"/>
              </a:lnSpc>
              <a:buNone/>
            </a:pPr>
            <a:r>
              <a:rPr lang="en-US" sz="1800" dirty="0">
                <a:solidFill>
                  <a:srgbClr val="F4F1EA"/>
                </a:solidFill>
                <a:latin typeface="Calibri" pitchFamily="34" charset="0"/>
                <a:ea typeface="Calibri" pitchFamily="34" charset="-122"/>
                <a:cs typeface="Calibri" pitchFamily="34" charset="-120"/>
              </a:rPr>
              <a:t>Tableaux de bord</a:t>
            </a:r>
            <a:endParaRPr lang="en-US" sz="1800" dirty="0"/>
          </a:p>
        </p:txBody>
      </p:sp>
      <p:sp>
        <p:nvSpPr>
          <p:cNvPr id="20" name="Text 16-s3"/>
          <p:cNvSpPr txBox="1"/>
          <p:nvPr/>
        </p:nvSpPr>
        <p:spPr>
          <a:xfrm>
            <a:off x="5969000" y="3352800"/>
            <a:ext cx="25400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F26B3A"/>
                </a:solidFill>
                <a:latin typeface="Georgia" pitchFamily="34" charset="0"/>
                <a:ea typeface="Georgia" pitchFamily="34" charset="-122"/>
                <a:cs typeface="Georgia" pitchFamily="34" charset="-120"/>
              </a:rPr>
              <a:t>Non</a:t>
            </a:r>
            <a:endParaRPr lang="en-US" sz="2200" dirty="0"/>
          </a:p>
        </p:txBody>
      </p:sp>
      <p:sp>
        <p:nvSpPr>
          <p:cNvPr id="21" name="Text 17-s3"/>
          <p:cNvSpPr txBox="1"/>
          <p:nvPr/>
        </p:nvSpPr>
        <p:spPr>
          <a:xfrm>
            <a:off x="8763000" y="3352800"/>
            <a:ext cx="26162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3CC3B5"/>
                </a:solidFill>
                <a:latin typeface="Georgia" pitchFamily="34" charset="0"/>
                <a:ea typeface="Georgia" pitchFamily="34" charset="-122"/>
                <a:cs typeface="Georgia" pitchFamily="34" charset="-120"/>
              </a:rPr>
              <a:t>Oui</a:t>
            </a:r>
            <a:endParaRPr lang="en-US" sz="2200" dirty="0"/>
          </a:p>
        </p:txBody>
      </p:sp>
      <p:sp>
        <p:nvSpPr>
          <p:cNvPr id="22" name="Shape 18-s3"/>
          <p:cNvSpPr/>
          <p:nvPr/>
        </p:nvSpPr>
        <p:spPr>
          <a:xfrm>
            <a:off x="812800" y="3848100"/>
            <a:ext cx="10566400" cy="12700"/>
          </a:xfrm>
          <a:prstGeom prst="rect">
            <a:avLst/>
          </a:prstGeom>
          <a:solidFill>
            <a:srgbClr val="2B4457"/>
          </a:solidFill>
          <a:ln/>
        </p:spPr>
      </p:sp>
      <p:sp>
        <p:nvSpPr>
          <p:cNvPr id="23" name="Text 19-s3"/>
          <p:cNvSpPr txBox="1"/>
          <p:nvPr/>
        </p:nvSpPr>
        <p:spPr>
          <a:xfrm>
            <a:off x="812800" y="3911600"/>
            <a:ext cx="4953000" cy="482600"/>
          </a:xfrm>
          <a:prstGeom prst="rect">
            <a:avLst/>
          </a:prstGeom>
          <a:noFill/>
          <a:ln/>
        </p:spPr>
        <p:txBody>
          <a:bodyPr wrap="square" lIns="0" tIns="0" rIns="0" bIns="0" rtlCol="0" anchor="ctr"/>
          <a:lstStyle/>
          <a:p>
            <a:pPr algn="l" indent="0" marL="0">
              <a:lnSpc>
                <a:spcPct val="100000"/>
              </a:lnSpc>
              <a:buNone/>
            </a:pPr>
            <a:r>
              <a:rPr lang="en-US" sz="1800" dirty="0">
                <a:solidFill>
                  <a:srgbClr val="F4F1EA"/>
                </a:solidFill>
                <a:latin typeface="Calibri" pitchFamily="34" charset="0"/>
                <a:ea typeface="Calibri" pitchFamily="34" charset="-122"/>
                <a:cs typeface="Calibri" pitchFamily="34" charset="-120"/>
              </a:rPr>
              <a:t>Automatisation des processus</a:t>
            </a:r>
            <a:endParaRPr lang="en-US" sz="1800" dirty="0"/>
          </a:p>
        </p:txBody>
      </p:sp>
      <p:sp>
        <p:nvSpPr>
          <p:cNvPr id="24" name="Text 20-s3"/>
          <p:cNvSpPr txBox="1"/>
          <p:nvPr/>
        </p:nvSpPr>
        <p:spPr>
          <a:xfrm>
            <a:off x="5969000" y="3911600"/>
            <a:ext cx="25400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F4F1EA"/>
                </a:solidFill>
                <a:latin typeface="Georgia" pitchFamily="34" charset="0"/>
                <a:ea typeface="Georgia" pitchFamily="34" charset="-122"/>
                <a:cs typeface="Georgia" pitchFamily="34" charset="-120"/>
              </a:rPr>
              <a:t>Oui</a:t>
            </a:r>
            <a:endParaRPr lang="en-US" sz="2200" dirty="0"/>
          </a:p>
        </p:txBody>
      </p:sp>
      <p:sp>
        <p:nvSpPr>
          <p:cNvPr id="25" name="Text 21-s3"/>
          <p:cNvSpPr txBox="1"/>
          <p:nvPr/>
        </p:nvSpPr>
        <p:spPr>
          <a:xfrm>
            <a:off x="8763000" y="3911600"/>
            <a:ext cx="26162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3CC3B5"/>
                </a:solidFill>
                <a:latin typeface="Georgia" pitchFamily="34" charset="0"/>
                <a:ea typeface="Georgia" pitchFamily="34" charset="-122"/>
                <a:cs typeface="Georgia" pitchFamily="34" charset="-120"/>
              </a:rPr>
              <a:t>Oui</a:t>
            </a:r>
            <a:endParaRPr lang="en-US" sz="2200" dirty="0"/>
          </a:p>
        </p:txBody>
      </p:sp>
      <p:sp>
        <p:nvSpPr>
          <p:cNvPr id="26" name="Shape 22-s3"/>
          <p:cNvSpPr/>
          <p:nvPr/>
        </p:nvSpPr>
        <p:spPr>
          <a:xfrm>
            <a:off x="812800" y="4406900"/>
            <a:ext cx="10566400" cy="12700"/>
          </a:xfrm>
          <a:prstGeom prst="rect">
            <a:avLst/>
          </a:prstGeom>
          <a:solidFill>
            <a:srgbClr val="2B4457"/>
          </a:solidFill>
          <a:ln/>
        </p:spPr>
      </p:sp>
      <p:sp>
        <p:nvSpPr>
          <p:cNvPr id="27" name="Text 23-s3"/>
          <p:cNvSpPr txBox="1"/>
          <p:nvPr/>
        </p:nvSpPr>
        <p:spPr>
          <a:xfrm>
            <a:off x="812800" y="4470400"/>
            <a:ext cx="4953000" cy="482600"/>
          </a:xfrm>
          <a:prstGeom prst="rect">
            <a:avLst/>
          </a:prstGeom>
          <a:noFill/>
          <a:ln/>
        </p:spPr>
        <p:txBody>
          <a:bodyPr wrap="square" lIns="0" tIns="0" rIns="0" bIns="0" rtlCol="0" anchor="ctr"/>
          <a:lstStyle/>
          <a:p>
            <a:pPr algn="l" indent="0" marL="0">
              <a:lnSpc>
                <a:spcPct val="100000"/>
              </a:lnSpc>
              <a:buNone/>
            </a:pPr>
            <a:r>
              <a:rPr lang="en-US" sz="1800" dirty="0">
                <a:solidFill>
                  <a:srgbClr val="F4F1EA"/>
                </a:solidFill>
                <a:latin typeface="Calibri" pitchFamily="34" charset="0"/>
                <a:ea typeface="Calibri" pitchFamily="34" charset="-122"/>
                <a:cs typeface="Calibri" pitchFamily="34" charset="-120"/>
              </a:rPr>
              <a:t>Plans et schémas</a:t>
            </a:r>
            <a:endParaRPr lang="en-US" sz="1800" dirty="0"/>
          </a:p>
        </p:txBody>
      </p:sp>
      <p:sp>
        <p:nvSpPr>
          <p:cNvPr id="28" name="Text 24-s3"/>
          <p:cNvSpPr txBox="1"/>
          <p:nvPr/>
        </p:nvSpPr>
        <p:spPr>
          <a:xfrm>
            <a:off x="5969000" y="4470400"/>
            <a:ext cx="25400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F26B3A"/>
                </a:solidFill>
                <a:latin typeface="Georgia" pitchFamily="34" charset="0"/>
                <a:ea typeface="Georgia" pitchFamily="34" charset="-122"/>
                <a:cs typeface="Georgia" pitchFamily="34" charset="-120"/>
              </a:rPr>
              <a:t>Non</a:t>
            </a:r>
            <a:endParaRPr lang="en-US" sz="2200" dirty="0"/>
          </a:p>
        </p:txBody>
      </p:sp>
      <p:sp>
        <p:nvSpPr>
          <p:cNvPr id="29" name="Text 25-s3"/>
          <p:cNvSpPr txBox="1"/>
          <p:nvPr/>
        </p:nvSpPr>
        <p:spPr>
          <a:xfrm>
            <a:off x="8763000" y="4470400"/>
            <a:ext cx="26162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3CC3B5"/>
                </a:solidFill>
                <a:latin typeface="Georgia" pitchFamily="34" charset="0"/>
                <a:ea typeface="Georgia" pitchFamily="34" charset="-122"/>
                <a:cs typeface="Georgia" pitchFamily="34" charset="-120"/>
              </a:rPr>
              <a:t>Oui</a:t>
            </a:r>
            <a:endParaRPr lang="en-US" sz="2200" dirty="0"/>
          </a:p>
        </p:txBody>
      </p:sp>
      <p:sp>
        <p:nvSpPr>
          <p:cNvPr id="30" name="Shape 26-s3"/>
          <p:cNvSpPr/>
          <p:nvPr/>
        </p:nvSpPr>
        <p:spPr>
          <a:xfrm>
            <a:off x="812800" y="4965700"/>
            <a:ext cx="10566400" cy="12700"/>
          </a:xfrm>
          <a:prstGeom prst="rect">
            <a:avLst/>
          </a:prstGeom>
          <a:solidFill>
            <a:srgbClr val="2B4457"/>
          </a:solidFill>
          <a:ln/>
        </p:spPr>
      </p:sp>
      <p:sp>
        <p:nvSpPr>
          <p:cNvPr id="31" name="Text 27-s3"/>
          <p:cNvSpPr txBox="1"/>
          <p:nvPr/>
        </p:nvSpPr>
        <p:spPr>
          <a:xfrm>
            <a:off x="812800" y="5029200"/>
            <a:ext cx="4953000" cy="482600"/>
          </a:xfrm>
          <a:prstGeom prst="rect">
            <a:avLst/>
          </a:prstGeom>
          <a:noFill/>
          <a:ln/>
        </p:spPr>
        <p:txBody>
          <a:bodyPr wrap="square" lIns="0" tIns="0" rIns="0" bIns="0" rtlCol="0" anchor="ctr"/>
          <a:lstStyle/>
          <a:p>
            <a:pPr algn="l" indent="0" marL="0">
              <a:lnSpc>
                <a:spcPct val="100000"/>
              </a:lnSpc>
              <a:buNone/>
            </a:pPr>
            <a:r>
              <a:rPr lang="en-US" sz="1800" dirty="0">
                <a:solidFill>
                  <a:srgbClr val="F4F1EA"/>
                </a:solidFill>
                <a:latin typeface="Calibri" pitchFamily="34" charset="0"/>
                <a:ea typeface="Calibri" pitchFamily="34" charset="-122"/>
                <a:cs typeface="Calibri" pitchFamily="34" charset="-120"/>
              </a:rPr>
              <a:t>Connecteur Power BI</a:t>
            </a:r>
            <a:endParaRPr lang="en-US" sz="1800" dirty="0"/>
          </a:p>
        </p:txBody>
      </p:sp>
      <p:sp>
        <p:nvSpPr>
          <p:cNvPr id="32" name="Text 28-s3"/>
          <p:cNvSpPr txBox="1"/>
          <p:nvPr/>
        </p:nvSpPr>
        <p:spPr>
          <a:xfrm>
            <a:off x="5969000" y="5029200"/>
            <a:ext cx="25400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F26B3A"/>
                </a:solidFill>
                <a:latin typeface="Georgia" pitchFamily="34" charset="0"/>
                <a:ea typeface="Georgia" pitchFamily="34" charset="-122"/>
                <a:cs typeface="Georgia" pitchFamily="34" charset="-120"/>
              </a:rPr>
              <a:t>Non</a:t>
            </a:r>
            <a:endParaRPr lang="en-US" sz="2200" dirty="0"/>
          </a:p>
        </p:txBody>
      </p:sp>
      <p:sp>
        <p:nvSpPr>
          <p:cNvPr id="33" name="Text 29-s3"/>
          <p:cNvSpPr txBox="1"/>
          <p:nvPr/>
        </p:nvSpPr>
        <p:spPr>
          <a:xfrm>
            <a:off x="8763000" y="5029200"/>
            <a:ext cx="26162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3CC3B5"/>
                </a:solidFill>
                <a:latin typeface="Georgia" pitchFamily="34" charset="0"/>
                <a:ea typeface="Georgia" pitchFamily="34" charset="-122"/>
                <a:cs typeface="Georgia" pitchFamily="34" charset="-120"/>
              </a:rPr>
              <a:t>Oui</a:t>
            </a:r>
            <a:endParaRPr lang="en-US" sz="2200" dirty="0"/>
          </a:p>
        </p:txBody>
      </p:sp>
      <p:sp>
        <p:nvSpPr>
          <p:cNvPr id="34" name="Shape 30-s3"/>
          <p:cNvSpPr/>
          <p:nvPr/>
        </p:nvSpPr>
        <p:spPr>
          <a:xfrm>
            <a:off x="812800" y="5524500"/>
            <a:ext cx="10566400" cy="12700"/>
          </a:xfrm>
          <a:prstGeom prst="rect">
            <a:avLst/>
          </a:prstGeom>
          <a:solidFill>
            <a:srgbClr val="2B4457"/>
          </a:solidFill>
          <a:ln/>
        </p:spPr>
      </p:sp>
      <p:sp>
        <p:nvSpPr>
          <p:cNvPr id="35" name="Text 31-s3"/>
          <p:cNvSpPr txBox="1"/>
          <p:nvPr/>
        </p:nvSpPr>
        <p:spPr>
          <a:xfrm>
            <a:off x="812800" y="5588000"/>
            <a:ext cx="4953000" cy="482600"/>
          </a:xfrm>
          <a:prstGeom prst="rect">
            <a:avLst/>
          </a:prstGeom>
          <a:noFill/>
          <a:ln/>
        </p:spPr>
        <p:txBody>
          <a:bodyPr wrap="square" lIns="0" tIns="0" rIns="0" bIns="0" rtlCol="0" anchor="ctr"/>
          <a:lstStyle/>
          <a:p>
            <a:pPr algn="l" indent="0" marL="0">
              <a:lnSpc>
                <a:spcPct val="100000"/>
              </a:lnSpc>
              <a:buNone/>
            </a:pPr>
            <a:r>
              <a:rPr lang="en-US" sz="1800" dirty="0">
                <a:solidFill>
                  <a:srgbClr val="F4F1EA"/>
                </a:solidFill>
                <a:latin typeface="Calibri" pitchFamily="34" charset="0"/>
                <a:ea typeface="Calibri" pitchFamily="34" charset="-122"/>
                <a:cs typeface="Calibri" pitchFamily="34" charset="-120"/>
              </a:rPr>
              <a:t>Tarif par utilisateur et par mois</a:t>
            </a:r>
            <a:endParaRPr lang="en-US" sz="1800" dirty="0"/>
          </a:p>
        </p:txBody>
      </p:sp>
      <p:sp>
        <p:nvSpPr>
          <p:cNvPr id="36" name="Text 32-s3"/>
          <p:cNvSpPr txBox="1"/>
          <p:nvPr/>
        </p:nvSpPr>
        <p:spPr>
          <a:xfrm>
            <a:off x="5969000" y="5588000"/>
            <a:ext cx="25400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F4F1EA"/>
                </a:solidFill>
                <a:latin typeface="Georgia" pitchFamily="34" charset="0"/>
                <a:ea typeface="Georgia" pitchFamily="34" charset="-122"/>
                <a:cs typeface="Georgia" pitchFamily="34" charset="-120"/>
              </a:rPr>
              <a:t>18 €</a:t>
            </a:r>
            <a:endParaRPr lang="en-US" sz="2200" dirty="0"/>
          </a:p>
        </p:txBody>
      </p:sp>
      <p:sp>
        <p:nvSpPr>
          <p:cNvPr id="37" name="Text 33-s3"/>
          <p:cNvSpPr txBox="1"/>
          <p:nvPr/>
        </p:nvSpPr>
        <p:spPr>
          <a:xfrm>
            <a:off x="8763000" y="5588000"/>
            <a:ext cx="2616200" cy="482600"/>
          </a:xfrm>
          <a:prstGeom prst="rect">
            <a:avLst/>
          </a:prstGeom>
          <a:noFill/>
          <a:ln/>
        </p:spPr>
        <p:txBody>
          <a:bodyPr wrap="square" lIns="0" tIns="0" rIns="0" bIns="0" rtlCol="0" anchor="ctr"/>
          <a:lstStyle/>
          <a:p>
            <a:pPr algn="ctr" indent="0" marL="0">
              <a:lnSpc>
                <a:spcPct val="100000"/>
              </a:lnSpc>
              <a:buNone/>
            </a:pPr>
            <a:r>
              <a:rPr lang="en-US" sz="2200" b="1" dirty="0">
                <a:solidFill>
                  <a:srgbClr val="3CC3B5"/>
                </a:solidFill>
                <a:latin typeface="Georgia" pitchFamily="34" charset="0"/>
                <a:ea typeface="Georgia" pitchFamily="34" charset="-122"/>
                <a:cs typeface="Georgia" pitchFamily="34" charset="-120"/>
              </a:rPr>
              <a:t>7 €</a:t>
            </a:r>
            <a:endParaRPr lang="en-US" sz="2200" dirty="0"/>
          </a:p>
        </p:txBody>
      </p:sp>
      <p:sp>
        <p:nvSpPr>
          <p:cNvPr id="38" name="Shape 34-s3"/>
          <p:cNvSpPr/>
          <p:nvPr/>
        </p:nvSpPr>
        <p:spPr>
          <a:xfrm>
            <a:off x="812800" y="6083300"/>
            <a:ext cx="10566400" cy="12700"/>
          </a:xfrm>
          <a:prstGeom prst="rect">
            <a:avLst/>
          </a:prstGeom>
          <a:solidFill>
            <a:srgbClr val="2B4457"/>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s4"/>
        <p:cNvGrpSpPr/>
        <p:nvPr/>
      </p:nvGrpSpPr>
      <p:grpSpPr>
        <a:xfrm>
          <a:off x="0" y="0"/>
          <a:ext cx="0" cy="0"/>
          <a:chOff x="0" y="0"/>
          <a:chExt cx="0" cy="0"/>
        </a:xfrm>
      </p:grpSpPr>
      <p:sp>
        <p:nvSpPr>
          <p:cNvPr id="2" name="!!orb"/>
          <p:cNvSpPr/>
          <p:nvPr/>
        </p:nvSpPr>
        <p:spPr>
          <a:xfrm>
            <a:off x="8572500" y="3492500"/>
            <a:ext cx="5715000" cy="5715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1509486" cy="50800"/>
          </a:xfrm>
          <a:prstGeom prst="roundRect">
            <a:avLst>
              <a:gd name="adj" fmla="val 50000"/>
            </a:avLst>
          </a:prstGeom>
          <a:solidFill>
            <a:srgbClr val="0F766E"/>
          </a:solidFill>
          <a:ln/>
        </p:spPr>
      </p:sp>
      <p:sp>
        <p:nvSpPr>
          <p:cNvPr id="9" name="!!dot"/>
          <p:cNvSpPr/>
          <p:nvPr/>
        </p:nvSpPr>
        <p:spPr>
          <a:xfrm>
            <a:off x="2233386" y="6604000"/>
            <a:ext cx="127000" cy="127000"/>
          </a:xfrm>
          <a:prstGeom prst="ellipse">
            <a:avLst/>
          </a:prstGeom>
          <a:solidFill>
            <a:srgbClr val="0F766E"/>
          </a:solidFill>
          <a:ln/>
        </p:spPr>
      </p:sp>
      <p:sp>
        <p:nvSpPr>
          <p:cNvPr id="10" name="Text 6-s4"/>
          <p:cNvSpPr txBox="1"/>
          <p:nvPr/>
        </p:nvSpPr>
        <p:spPr>
          <a:xfrm>
            <a:off x="812800" y="1587500"/>
            <a:ext cx="1270000" cy="1651000"/>
          </a:xfrm>
          <a:prstGeom prst="rect">
            <a:avLst/>
          </a:prstGeom>
          <a:noFill/>
          <a:ln/>
        </p:spPr>
        <p:txBody>
          <a:bodyPr wrap="square" lIns="0" tIns="0" rIns="0" bIns="0" rtlCol="0" anchor="t"/>
          <a:lstStyle/>
          <a:p>
            <a:pPr algn="l" indent="0" marL="0">
              <a:lnSpc>
                <a:spcPct val="100000"/>
              </a:lnSpc>
              <a:buNone/>
            </a:pPr>
            <a:r>
              <a:rPr lang="en-US" sz="18000" b="1" dirty="0">
                <a:solidFill>
                  <a:srgbClr val="0F766E"/>
                </a:solidFill>
                <a:latin typeface="Georgia" pitchFamily="34" charset="0"/>
                <a:ea typeface="Georgia" pitchFamily="34" charset="-122"/>
                <a:cs typeface="Georgia" pitchFamily="34" charset="-120"/>
              </a:rPr>
              <a:t>“</a:t>
            </a:r>
            <a:endParaRPr lang="en-US" sz="18000" dirty="0"/>
          </a:p>
        </p:txBody>
      </p:sp>
      <p:sp>
        <p:nvSpPr>
          <p:cNvPr id="11" name="Text 7-s4"/>
          <p:cNvSpPr txBox="1"/>
          <p:nvPr/>
        </p:nvSpPr>
        <p:spPr>
          <a:xfrm>
            <a:off x="812800" y="1365250"/>
            <a:ext cx="3175000" cy="254000"/>
          </a:xfrm>
          <a:prstGeom prst="rect">
            <a:avLst/>
          </a:prstGeom>
          <a:noFill/>
          <a:ln/>
        </p:spPr>
        <p:txBody>
          <a:bodyPr wrap="square" lIns="0" tIns="0" rIns="0" bIns="0" rtlCol="0" anchor="t"/>
          <a:lstStyle/>
          <a:p>
            <a:pPr algn="l" indent="0" marL="0">
              <a:lnSpc>
                <a:spcPct val="100000"/>
              </a:lnSpc>
              <a:buNone/>
            </a:pPr>
            <a:r>
              <a:rPr lang="en-US" sz="1400" b="1" spc="300" kern="0" dirty="0">
                <a:solidFill>
                  <a:srgbClr val="0F766E"/>
                </a:solidFill>
                <a:latin typeface="Calibri" pitchFamily="34" charset="0"/>
                <a:ea typeface="Calibri" pitchFamily="34" charset="-122"/>
                <a:cs typeface="Calibri" pitchFamily="34" charset="-120"/>
              </a:rPr>
              <a:t>PROBLÉMATIQUE</a:t>
            </a:r>
            <a:endParaRPr lang="en-US" sz="1400" dirty="0"/>
          </a:p>
        </p:txBody>
      </p:sp>
      <p:sp>
        <p:nvSpPr>
          <p:cNvPr id="12" name="Text 8-s4"/>
          <p:cNvSpPr txBox="1"/>
          <p:nvPr/>
        </p:nvSpPr>
        <p:spPr>
          <a:xfrm>
            <a:off x="1905000" y="2095500"/>
            <a:ext cx="9207500" cy="2984500"/>
          </a:xfrm>
          <a:prstGeom prst="rect">
            <a:avLst/>
          </a:prstGeom>
          <a:noFill/>
          <a:ln/>
        </p:spPr>
        <p:txBody>
          <a:bodyPr wrap="square" lIns="0" tIns="0" rIns="0" bIns="0" rtlCol="0" anchor="t"/>
          <a:lstStyle/>
          <a:p>
            <a:pPr algn="l" indent="0" marL="0">
              <a:lnSpc>
                <a:spcPct val="104167"/>
              </a:lnSpc>
              <a:buNone/>
            </a:pPr>
            <a:r>
              <a:rPr lang="en-US" sz="2700" dirty="0">
                <a:solidFill>
                  <a:srgbClr val="12202B"/>
                </a:solidFill>
                <a:latin typeface="Georgia" pitchFamily="34" charset="0"/>
                <a:ea typeface="Georgia" pitchFamily="34" charset="-122"/>
                <a:cs typeface="Georgia" pitchFamily="34" charset="-120"/>
              </a:rPr>
              <a:t>Comment conduire une migration numérique attendue par le groupe sans dégrader la performance opérationnelle ni compromettre l’adhésion des équipes terrain, dans un contexte de maturité progressive de la solution cible ?</a:t>
            </a:r>
            <a:endParaRPr lang="en-US" sz="2700" dirty="0"/>
          </a:p>
        </p:txBody>
      </p:sp>
      <p:sp>
        <p:nvSpPr>
          <p:cNvPr id="13" name="Shape 9-s4"/>
          <p:cNvSpPr/>
          <p:nvPr/>
        </p:nvSpPr>
        <p:spPr>
          <a:xfrm>
            <a:off x="1905000" y="5461000"/>
            <a:ext cx="2730500" cy="444500"/>
          </a:xfrm>
          <a:prstGeom prst="roundRect">
            <a:avLst>
              <a:gd name="adj" fmla="val 50000"/>
            </a:avLst>
          </a:prstGeom>
          <a:solidFill>
            <a:srgbClr val="0F766E"/>
          </a:solidFill>
          <a:ln/>
        </p:spPr>
      </p:sp>
      <p:sp>
        <p:nvSpPr>
          <p:cNvPr id="14" name="Text 10-s4"/>
          <p:cNvSpPr txBox="1"/>
          <p:nvPr/>
        </p:nvSpPr>
        <p:spPr>
          <a:xfrm>
            <a:off x="1905000" y="5461000"/>
            <a:ext cx="2730500" cy="4445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Continuité opérationnelle</a:t>
            </a:r>
            <a:endParaRPr lang="en-US" sz="1400" dirty="0"/>
          </a:p>
        </p:txBody>
      </p:sp>
      <p:sp>
        <p:nvSpPr>
          <p:cNvPr id="15" name="Shape 11-s4"/>
          <p:cNvSpPr/>
          <p:nvPr/>
        </p:nvSpPr>
        <p:spPr>
          <a:xfrm>
            <a:off x="4826000" y="5461000"/>
            <a:ext cx="2413000" cy="444500"/>
          </a:xfrm>
          <a:prstGeom prst="roundRect">
            <a:avLst>
              <a:gd name="adj" fmla="val 50000"/>
            </a:avLst>
          </a:prstGeom>
          <a:solidFill>
            <a:srgbClr val="12202B"/>
          </a:solidFill>
          <a:ln/>
        </p:spPr>
      </p:sp>
      <p:sp>
        <p:nvSpPr>
          <p:cNvPr id="16" name="Text 12-s4"/>
          <p:cNvSpPr txBox="1"/>
          <p:nvPr/>
        </p:nvSpPr>
        <p:spPr>
          <a:xfrm>
            <a:off x="4826000" y="5461000"/>
            <a:ext cx="2413000" cy="444500"/>
          </a:xfrm>
          <a:prstGeom prst="rect">
            <a:avLst/>
          </a:prstGeom>
          <a:noFill/>
          <a:ln/>
        </p:spPr>
        <p:txBody>
          <a:bodyPr wrap="square" lIns="0" tIns="0" rIns="0" bIns="0" rtlCol="0" anchor="ctr"/>
          <a:lstStyle/>
          <a:p>
            <a:pPr algn="ctr" indent="0" marL="0">
              <a:lnSpc>
                <a:spcPct val="100000"/>
              </a:lnSpc>
              <a:buNone/>
            </a:pPr>
            <a:r>
              <a:rPr lang="en-US" sz="1400" b="1" dirty="0">
                <a:solidFill>
                  <a:srgbClr val="F6F4EF"/>
                </a:solidFill>
                <a:latin typeface="Calibri" pitchFamily="34" charset="0"/>
                <a:ea typeface="Calibri" pitchFamily="34" charset="-122"/>
                <a:cs typeface="Calibri" pitchFamily="34" charset="-120"/>
              </a:rPr>
              <a:t>Adhésion des équipes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B24"/>
        </a:solidFill>
      </p:bgPr>
    </p:bg>
    <p:spTree>
      <p:nvGrpSpPr>
        <p:cNvPr id="1" name="-s5"/>
        <p:cNvGrpSpPr/>
        <p:nvPr/>
      </p:nvGrpSpPr>
      <p:grpSpPr>
        <a:xfrm>
          <a:off x="0" y="0"/>
          <a:ext cx="0" cy="0"/>
          <a:chOff x="0" y="0"/>
          <a:chExt cx="0" cy="0"/>
        </a:xfrm>
      </p:grpSpPr>
      <p:sp>
        <p:nvSpPr>
          <p:cNvPr id="2" name="!!orb"/>
          <p:cNvSpPr/>
          <p:nvPr/>
        </p:nvSpPr>
        <p:spPr>
          <a:xfrm>
            <a:off x="-1905000" y="-1905000"/>
            <a:ext cx="4445000" cy="4445000"/>
          </a:xfrm>
          <a:prstGeom prst="ellipse">
            <a:avLst/>
          </a:prstGeom>
          <a:solidFill>
            <a:srgbClr val="3CC3B5">
              <a:alpha val="12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2B4457"/>
          </a:solidFill>
          <a:ln/>
        </p:spPr>
      </p:sp>
      <p:sp>
        <p:nvSpPr>
          <p:cNvPr id="8" name="!!fill"/>
          <p:cNvSpPr/>
          <p:nvPr/>
        </p:nvSpPr>
        <p:spPr>
          <a:xfrm>
            <a:off x="812800" y="6642100"/>
            <a:ext cx="2012648" cy="50800"/>
          </a:xfrm>
          <a:prstGeom prst="roundRect">
            <a:avLst>
              <a:gd name="adj" fmla="val 50000"/>
            </a:avLst>
          </a:prstGeom>
          <a:solidFill>
            <a:srgbClr val="3CC3B5"/>
          </a:solidFill>
          <a:ln/>
        </p:spPr>
      </p:sp>
      <p:sp>
        <p:nvSpPr>
          <p:cNvPr id="9" name="!!dot"/>
          <p:cNvSpPr/>
          <p:nvPr/>
        </p:nvSpPr>
        <p:spPr>
          <a:xfrm>
            <a:off x="2736548" y="6604000"/>
            <a:ext cx="127000" cy="127000"/>
          </a:xfrm>
          <a:prstGeom prst="ellipse">
            <a:avLst/>
          </a:prstGeom>
          <a:solidFill>
            <a:srgbClr val="3CC3B5"/>
          </a:solidFill>
          <a:ln/>
        </p:spPr>
      </p:sp>
      <p:sp>
        <p:nvSpPr>
          <p:cNvPr id="10" name="Text 6-s5"/>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F4F1EA"/>
                </a:solidFill>
                <a:latin typeface="Georgia" pitchFamily="34" charset="0"/>
                <a:ea typeface="Georgia" pitchFamily="34" charset="-122"/>
                <a:cs typeface="Georgia" pitchFamily="34" charset="-120"/>
              </a:rPr>
              <a:t>Une démarche itérative en cinq temps</a:t>
            </a:r>
            <a:endParaRPr lang="en-US" sz="3200" dirty="0"/>
          </a:p>
        </p:txBody>
      </p:sp>
      <p:sp>
        <p:nvSpPr>
          <p:cNvPr id="11" name="Shape 7-s5"/>
          <p:cNvSpPr/>
          <p:nvPr/>
        </p:nvSpPr>
        <p:spPr>
          <a:xfrm>
            <a:off x="1397000" y="3302000"/>
            <a:ext cx="9398000" cy="25400"/>
          </a:xfrm>
          <a:prstGeom prst="rect">
            <a:avLst/>
          </a:prstGeom>
          <a:solidFill>
            <a:srgbClr val="2B4457"/>
          </a:solidFill>
          <a:ln/>
        </p:spPr>
      </p:sp>
      <p:sp>
        <p:nvSpPr>
          <p:cNvPr id="12" name="Shape 8-s5"/>
          <p:cNvSpPr/>
          <p:nvPr/>
        </p:nvSpPr>
        <p:spPr>
          <a:xfrm>
            <a:off x="1587500" y="3035300"/>
            <a:ext cx="558800" cy="558800"/>
          </a:xfrm>
          <a:prstGeom prst="ellipse">
            <a:avLst/>
          </a:prstGeom>
          <a:solidFill>
            <a:srgbClr val="0E1B24"/>
          </a:solidFill>
          <a:ln w="19050">
            <a:solidFill>
              <a:srgbClr val="3CC3B5"/>
            </a:solidFill>
            <a:prstDash val="solid"/>
          </a:ln>
        </p:spPr>
      </p:sp>
      <p:sp>
        <p:nvSpPr>
          <p:cNvPr id="13" name="Text 9-s5"/>
          <p:cNvSpPr txBox="1"/>
          <p:nvPr/>
        </p:nvSpPr>
        <p:spPr>
          <a:xfrm>
            <a:off x="1587500" y="3035300"/>
            <a:ext cx="558800" cy="558800"/>
          </a:xfrm>
          <a:prstGeom prst="rect">
            <a:avLst/>
          </a:prstGeom>
          <a:noFill/>
          <a:ln/>
        </p:spPr>
        <p:txBody>
          <a:bodyPr wrap="square" lIns="0" tIns="0" rIns="0" bIns="0" rtlCol="0" anchor="ctr"/>
          <a:lstStyle/>
          <a:p>
            <a:pPr algn="ctr" indent="0" marL="0">
              <a:lnSpc>
                <a:spcPct val="100000"/>
              </a:lnSpc>
              <a:buNone/>
            </a:pPr>
            <a:r>
              <a:rPr lang="en-US" sz="2000" b="1" dirty="0">
                <a:solidFill>
                  <a:srgbClr val="3CC3B5"/>
                </a:solidFill>
                <a:latin typeface="Georgia" pitchFamily="34" charset="0"/>
                <a:ea typeface="Georgia" pitchFamily="34" charset="-122"/>
                <a:cs typeface="Georgia" pitchFamily="34" charset="-120"/>
              </a:rPr>
              <a:t>1</a:t>
            </a:r>
            <a:endParaRPr lang="en-US" sz="2000" dirty="0"/>
          </a:p>
        </p:txBody>
      </p:sp>
      <p:sp>
        <p:nvSpPr>
          <p:cNvPr id="14" name="Text 10-s5"/>
          <p:cNvSpPr txBox="1"/>
          <p:nvPr/>
        </p:nvSpPr>
        <p:spPr>
          <a:xfrm>
            <a:off x="914400" y="3810000"/>
            <a:ext cx="1905000" cy="635000"/>
          </a:xfrm>
          <a:prstGeom prst="rect">
            <a:avLst/>
          </a:prstGeom>
          <a:noFill/>
          <a:ln/>
        </p:spPr>
        <p:txBody>
          <a:bodyPr wrap="square" lIns="0" tIns="0" rIns="0" bIns="0" rtlCol="0" anchor="t"/>
          <a:lstStyle/>
          <a:p>
            <a:pPr algn="ctr" indent="0" marL="0">
              <a:lnSpc>
                <a:spcPct val="91667"/>
              </a:lnSpc>
              <a:buNone/>
            </a:pPr>
            <a:r>
              <a:rPr lang="en-US" sz="1800" b="1" dirty="0">
                <a:solidFill>
                  <a:srgbClr val="F4F1EA"/>
                </a:solidFill>
                <a:latin typeface="Georgia" pitchFamily="34" charset="0"/>
                <a:ea typeface="Georgia" pitchFamily="34" charset="-122"/>
                <a:cs typeface="Georgia" pitchFamily="34" charset="-120"/>
              </a:rPr>
              <a:t>Cartographier</a:t>
            </a:r>
            <a:endParaRPr lang="en-US" sz="1800" dirty="0"/>
          </a:p>
        </p:txBody>
      </p:sp>
      <p:sp>
        <p:nvSpPr>
          <p:cNvPr id="15" name="Text 11-s5"/>
          <p:cNvSpPr txBox="1"/>
          <p:nvPr/>
        </p:nvSpPr>
        <p:spPr>
          <a:xfrm>
            <a:off x="914400" y="4445000"/>
            <a:ext cx="1905000" cy="889000"/>
          </a:xfrm>
          <a:prstGeom prst="rect">
            <a:avLst/>
          </a:prstGeom>
          <a:noFill/>
          <a:ln/>
        </p:spPr>
        <p:txBody>
          <a:bodyPr wrap="square" lIns="0" tIns="0" rIns="0" bIns="0" rtlCol="0" anchor="t"/>
          <a:lstStyle/>
          <a:p>
            <a:pPr algn="ctr" indent="0" marL="0">
              <a:lnSpc>
                <a:spcPct val="104167"/>
              </a:lnSpc>
              <a:buNone/>
            </a:pPr>
            <a:r>
              <a:rPr lang="en-US" sz="1300" dirty="0">
                <a:solidFill>
                  <a:srgbClr val="9DB0BF"/>
                </a:solidFill>
                <a:latin typeface="Calibri" pitchFamily="34" charset="0"/>
                <a:ea typeface="Calibri" pitchFamily="34" charset="-122"/>
                <a:cs typeface="Calibri" pitchFamily="34" charset="-120"/>
              </a:rPr>
              <a:t>formulaires actifs, obsolètes et doublons</a:t>
            </a:r>
            <a:endParaRPr lang="en-US" sz="1300" dirty="0"/>
          </a:p>
        </p:txBody>
      </p:sp>
      <p:sp>
        <p:nvSpPr>
          <p:cNvPr id="16" name="Shape 12-s5"/>
          <p:cNvSpPr/>
          <p:nvPr/>
        </p:nvSpPr>
        <p:spPr>
          <a:xfrm>
            <a:off x="3702050" y="3035300"/>
            <a:ext cx="558800" cy="558800"/>
          </a:xfrm>
          <a:prstGeom prst="ellipse">
            <a:avLst/>
          </a:prstGeom>
          <a:solidFill>
            <a:srgbClr val="0E1B24"/>
          </a:solidFill>
          <a:ln w="19050">
            <a:solidFill>
              <a:srgbClr val="3CC3B5"/>
            </a:solidFill>
            <a:prstDash val="solid"/>
          </a:ln>
        </p:spPr>
      </p:sp>
      <p:sp>
        <p:nvSpPr>
          <p:cNvPr id="17" name="Text 13-s5"/>
          <p:cNvSpPr txBox="1"/>
          <p:nvPr/>
        </p:nvSpPr>
        <p:spPr>
          <a:xfrm>
            <a:off x="3702050" y="3035300"/>
            <a:ext cx="558800" cy="558800"/>
          </a:xfrm>
          <a:prstGeom prst="rect">
            <a:avLst/>
          </a:prstGeom>
          <a:noFill/>
          <a:ln/>
        </p:spPr>
        <p:txBody>
          <a:bodyPr wrap="square" lIns="0" tIns="0" rIns="0" bIns="0" rtlCol="0" anchor="ctr"/>
          <a:lstStyle/>
          <a:p>
            <a:pPr algn="ctr" indent="0" marL="0">
              <a:lnSpc>
                <a:spcPct val="100000"/>
              </a:lnSpc>
              <a:buNone/>
            </a:pPr>
            <a:r>
              <a:rPr lang="en-US" sz="2000" b="1" dirty="0">
                <a:solidFill>
                  <a:srgbClr val="3CC3B5"/>
                </a:solidFill>
                <a:latin typeface="Georgia" pitchFamily="34" charset="0"/>
                <a:ea typeface="Georgia" pitchFamily="34" charset="-122"/>
                <a:cs typeface="Georgia" pitchFamily="34" charset="-120"/>
              </a:rPr>
              <a:t>2</a:t>
            </a:r>
            <a:endParaRPr lang="en-US" sz="2000" dirty="0"/>
          </a:p>
        </p:txBody>
      </p:sp>
      <p:sp>
        <p:nvSpPr>
          <p:cNvPr id="18" name="Text 14-s5"/>
          <p:cNvSpPr txBox="1"/>
          <p:nvPr/>
        </p:nvSpPr>
        <p:spPr>
          <a:xfrm>
            <a:off x="3028950" y="3810000"/>
            <a:ext cx="1905000" cy="635000"/>
          </a:xfrm>
          <a:prstGeom prst="rect">
            <a:avLst/>
          </a:prstGeom>
          <a:noFill/>
          <a:ln/>
        </p:spPr>
        <p:txBody>
          <a:bodyPr wrap="square" lIns="0" tIns="0" rIns="0" bIns="0" rtlCol="0" anchor="t"/>
          <a:lstStyle/>
          <a:p>
            <a:pPr algn="ctr" indent="0" marL="0">
              <a:lnSpc>
                <a:spcPct val="91667"/>
              </a:lnSpc>
              <a:buNone/>
            </a:pPr>
            <a:r>
              <a:rPr lang="en-US" sz="1800" b="1" dirty="0">
                <a:solidFill>
                  <a:srgbClr val="F4F1EA"/>
                </a:solidFill>
                <a:latin typeface="Georgia" pitchFamily="34" charset="0"/>
                <a:ea typeface="Georgia" pitchFamily="34" charset="-122"/>
                <a:cs typeface="Georgia" pitchFamily="34" charset="-120"/>
              </a:rPr>
              <a:t>Rationaliser</a:t>
            </a:r>
            <a:endParaRPr lang="en-US" sz="1800" dirty="0"/>
          </a:p>
        </p:txBody>
      </p:sp>
      <p:sp>
        <p:nvSpPr>
          <p:cNvPr id="19" name="Text 15-s5"/>
          <p:cNvSpPr txBox="1"/>
          <p:nvPr/>
        </p:nvSpPr>
        <p:spPr>
          <a:xfrm>
            <a:off x="3028950" y="4445000"/>
            <a:ext cx="1905000" cy="889000"/>
          </a:xfrm>
          <a:prstGeom prst="rect">
            <a:avLst/>
          </a:prstGeom>
          <a:noFill/>
          <a:ln/>
        </p:spPr>
        <p:txBody>
          <a:bodyPr wrap="square" lIns="0" tIns="0" rIns="0" bIns="0" rtlCol="0" anchor="t"/>
          <a:lstStyle/>
          <a:p>
            <a:pPr algn="ctr" indent="0" marL="0">
              <a:lnSpc>
                <a:spcPct val="104167"/>
              </a:lnSpc>
              <a:buNone/>
            </a:pPr>
            <a:r>
              <a:rPr lang="en-US" sz="1300" dirty="0">
                <a:solidFill>
                  <a:srgbClr val="9DB0BF"/>
                </a:solidFill>
                <a:latin typeface="Calibri" pitchFamily="34" charset="0"/>
                <a:ea typeface="Calibri" pitchFamily="34" charset="-122"/>
                <a:cs typeface="Calibri" pitchFamily="34" charset="-120"/>
              </a:rPr>
              <a:t>garder l’essentiel, simplifier le reste</a:t>
            </a:r>
            <a:endParaRPr lang="en-US" sz="1300" dirty="0"/>
          </a:p>
        </p:txBody>
      </p:sp>
      <p:sp>
        <p:nvSpPr>
          <p:cNvPr id="20" name="Shape 16-s5"/>
          <p:cNvSpPr/>
          <p:nvPr/>
        </p:nvSpPr>
        <p:spPr>
          <a:xfrm>
            <a:off x="5816600" y="3035300"/>
            <a:ext cx="558800" cy="558800"/>
          </a:xfrm>
          <a:prstGeom prst="ellipse">
            <a:avLst/>
          </a:prstGeom>
          <a:solidFill>
            <a:srgbClr val="0E1B24"/>
          </a:solidFill>
          <a:ln w="19050">
            <a:solidFill>
              <a:srgbClr val="3CC3B5"/>
            </a:solidFill>
            <a:prstDash val="solid"/>
          </a:ln>
        </p:spPr>
      </p:sp>
      <p:sp>
        <p:nvSpPr>
          <p:cNvPr id="21" name="Text 17-s5"/>
          <p:cNvSpPr txBox="1"/>
          <p:nvPr/>
        </p:nvSpPr>
        <p:spPr>
          <a:xfrm>
            <a:off x="5816600" y="3035300"/>
            <a:ext cx="558800" cy="558800"/>
          </a:xfrm>
          <a:prstGeom prst="rect">
            <a:avLst/>
          </a:prstGeom>
          <a:noFill/>
          <a:ln/>
        </p:spPr>
        <p:txBody>
          <a:bodyPr wrap="square" lIns="0" tIns="0" rIns="0" bIns="0" rtlCol="0" anchor="ctr"/>
          <a:lstStyle/>
          <a:p>
            <a:pPr algn="ctr" indent="0" marL="0">
              <a:lnSpc>
                <a:spcPct val="100000"/>
              </a:lnSpc>
              <a:buNone/>
            </a:pPr>
            <a:r>
              <a:rPr lang="en-US" sz="2000" b="1" dirty="0">
                <a:solidFill>
                  <a:srgbClr val="3CC3B5"/>
                </a:solidFill>
                <a:latin typeface="Georgia" pitchFamily="34" charset="0"/>
                <a:ea typeface="Georgia" pitchFamily="34" charset="-122"/>
                <a:cs typeface="Georgia" pitchFamily="34" charset="-120"/>
              </a:rPr>
              <a:t>3</a:t>
            </a:r>
            <a:endParaRPr lang="en-US" sz="2000" dirty="0"/>
          </a:p>
        </p:txBody>
      </p:sp>
      <p:sp>
        <p:nvSpPr>
          <p:cNvPr id="22" name="Text 18-s5"/>
          <p:cNvSpPr txBox="1"/>
          <p:nvPr/>
        </p:nvSpPr>
        <p:spPr>
          <a:xfrm>
            <a:off x="5143500" y="3810000"/>
            <a:ext cx="1905000" cy="635000"/>
          </a:xfrm>
          <a:prstGeom prst="rect">
            <a:avLst/>
          </a:prstGeom>
          <a:noFill/>
          <a:ln/>
        </p:spPr>
        <p:txBody>
          <a:bodyPr wrap="square" lIns="0" tIns="0" rIns="0" bIns="0" rtlCol="0" anchor="t"/>
          <a:lstStyle/>
          <a:p>
            <a:pPr algn="ctr" indent="0" marL="0">
              <a:lnSpc>
                <a:spcPct val="91667"/>
              </a:lnSpc>
              <a:buNone/>
            </a:pPr>
            <a:r>
              <a:rPr lang="en-US" sz="1800" b="1" dirty="0">
                <a:solidFill>
                  <a:srgbClr val="F4F1EA"/>
                </a:solidFill>
                <a:latin typeface="Georgia" pitchFamily="34" charset="0"/>
                <a:ea typeface="Georgia" pitchFamily="34" charset="-122"/>
                <a:cs typeface="Georgia" pitchFamily="34" charset="-120"/>
              </a:rPr>
              <a:t>Paramétrer</a:t>
            </a:r>
            <a:endParaRPr lang="en-US" sz="1800" dirty="0"/>
          </a:p>
        </p:txBody>
      </p:sp>
      <p:sp>
        <p:nvSpPr>
          <p:cNvPr id="23" name="Text 19-s5"/>
          <p:cNvSpPr txBox="1"/>
          <p:nvPr/>
        </p:nvSpPr>
        <p:spPr>
          <a:xfrm>
            <a:off x="5143500" y="4445000"/>
            <a:ext cx="1905000" cy="889000"/>
          </a:xfrm>
          <a:prstGeom prst="rect">
            <a:avLst/>
          </a:prstGeom>
          <a:noFill/>
          <a:ln/>
        </p:spPr>
        <p:txBody>
          <a:bodyPr wrap="square" lIns="0" tIns="0" rIns="0" bIns="0" rtlCol="0" anchor="t"/>
          <a:lstStyle/>
          <a:p>
            <a:pPr algn="ctr" indent="0" marL="0">
              <a:lnSpc>
                <a:spcPct val="104167"/>
              </a:lnSpc>
              <a:buNone/>
            </a:pPr>
            <a:r>
              <a:rPr lang="en-US" sz="1300" dirty="0">
                <a:solidFill>
                  <a:srgbClr val="9DB0BF"/>
                </a:solidFill>
                <a:latin typeface="Calibri" pitchFamily="34" charset="0"/>
                <a:ea typeface="Calibri" pitchFamily="34" charset="-122"/>
                <a:cs typeface="Calibri" pitchFamily="34" charset="-120"/>
              </a:rPr>
              <a:t>formulaires, workflows et modèles d’export</a:t>
            </a:r>
            <a:endParaRPr lang="en-US" sz="1300" dirty="0"/>
          </a:p>
        </p:txBody>
      </p:sp>
      <p:sp>
        <p:nvSpPr>
          <p:cNvPr id="24" name="Shape 20-s5"/>
          <p:cNvSpPr/>
          <p:nvPr/>
        </p:nvSpPr>
        <p:spPr>
          <a:xfrm>
            <a:off x="7931150" y="3035300"/>
            <a:ext cx="558800" cy="558800"/>
          </a:xfrm>
          <a:prstGeom prst="ellipse">
            <a:avLst/>
          </a:prstGeom>
          <a:solidFill>
            <a:srgbClr val="0E1B24"/>
          </a:solidFill>
          <a:ln w="19050">
            <a:solidFill>
              <a:srgbClr val="3CC3B5"/>
            </a:solidFill>
            <a:prstDash val="solid"/>
          </a:ln>
        </p:spPr>
      </p:sp>
      <p:sp>
        <p:nvSpPr>
          <p:cNvPr id="25" name="Text 21-s5"/>
          <p:cNvSpPr txBox="1"/>
          <p:nvPr/>
        </p:nvSpPr>
        <p:spPr>
          <a:xfrm>
            <a:off x="7931150" y="3035300"/>
            <a:ext cx="558800" cy="558800"/>
          </a:xfrm>
          <a:prstGeom prst="rect">
            <a:avLst/>
          </a:prstGeom>
          <a:noFill/>
          <a:ln/>
        </p:spPr>
        <p:txBody>
          <a:bodyPr wrap="square" lIns="0" tIns="0" rIns="0" bIns="0" rtlCol="0" anchor="ctr"/>
          <a:lstStyle/>
          <a:p>
            <a:pPr algn="ctr" indent="0" marL="0">
              <a:lnSpc>
                <a:spcPct val="100000"/>
              </a:lnSpc>
              <a:buNone/>
            </a:pPr>
            <a:r>
              <a:rPr lang="en-US" sz="2000" b="1" dirty="0">
                <a:solidFill>
                  <a:srgbClr val="3CC3B5"/>
                </a:solidFill>
                <a:latin typeface="Georgia" pitchFamily="34" charset="0"/>
                <a:ea typeface="Georgia" pitchFamily="34" charset="-122"/>
                <a:cs typeface="Georgia" pitchFamily="34" charset="-120"/>
              </a:rPr>
              <a:t>4</a:t>
            </a:r>
            <a:endParaRPr lang="en-US" sz="2000" dirty="0"/>
          </a:p>
        </p:txBody>
      </p:sp>
      <p:sp>
        <p:nvSpPr>
          <p:cNvPr id="26" name="Text 22-s5"/>
          <p:cNvSpPr txBox="1"/>
          <p:nvPr/>
        </p:nvSpPr>
        <p:spPr>
          <a:xfrm>
            <a:off x="7258050" y="3810000"/>
            <a:ext cx="1905000" cy="635000"/>
          </a:xfrm>
          <a:prstGeom prst="rect">
            <a:avLst/>
          </a:prstGeom>
          <a:noFill/>
          <a:ln/>
        </p:spPr>
        <p:txBody>
          <a:bodyPr wrap="square" lIns="0" tIns="0" rIns="0" bIns="0" rtlCol="0" anchor="t"/>
          <a:lstStyle/>
          <a:p>
            <a:pPr algn="ctr" indent="0" marL="0">
              <a:lnSpc>
                <a:spcPct val="91667"/>
              </a:lnSpc>
              <a:buNone/>
            </a:pPr>
            <a:r>
              <a:rPr lang="en-US" sz="1800" b="1" dirty="0">
                <a:solidFill>
                  <a:srgbClr val="F4F1EA"/>
                </a:solidFill>
                <a:latin typeface="Georgia" pitchFamily="34" charset="0"/>
                <a:ea typeface="Georgia" pitchFamily="34" charset="-122"/>
                <a:cs typeface="Georgia" pitchFamily="34" charset="-120"/>
              </a:rPr>
              <a:t>Tester</a:t>
            </a:r>
            <a:endParaRPr lang="en-US" sz="1800" dirty="0"/>
          </a:p>
        </p:txBody>
      </p:sp>
      <p:sp>
        <p:nvSpPr>
          <p:cNvPr id="27" name="Text 23-s5"/>
          <p:cNvSpPr txBox="1"/>
          <p:nvPr/>
        </p:nvSpPr>
        <p:spPr>
          <a:xfrm>
            <a:off x="7258050" y="4445000"/>
            <a:ext cx="1905000" cy="889000"/>
          </a:xfrm>
          <a:prstGeom prst="rect">
            <a:avLst/>
          </a:prstGeom>
          <a:noFill/>
          <a:ln/>
        </p:spPr>
        <p:txBody>
          <a:bodyPr wrap="square" lIns="0" tIns="0" rIns="0" bIns="0" rtlCol="0" anchor="t"/>
          <a:lstStyle/>
          <a:p>
            <a:pPr algn="ctr" indent="0" marL="0">
              <a:lnSpc>
                <a:spcPct val="104167"/>
              </a:lnSpc>
              <a:buNone/>
            </a:pPr>
            <a:r>
              <a:rPr lang="en-US" sz="1300" dirty="0">
                <a:solidFill>
                  <a:srgbClr val="9DB0BF"/>
                </a:solidFill>
                <a:latin typeface="Calibri" pitchFamily="34" charset="0"/>
                <a:ea typeface="Calibri" pitchFamily="34" charset="-122"/>
                <a:cs typeface="Calibri" pitchFamily="34" charset="-120"/>
              </a:rPr>
              <a:t>fonctionnel, métier, workflow, export, terrain</a:t>
            </a:r>
            <a:endParaRPr lang="en-US" sz="1300" dirty="0"/>
          </a:p>
        </p:txBody>
      </p:sp>
      <p:sp>
        <p:nvSpPr>
          <p:cNvPr id="28" name="Shape 24-s5"/>
          <p:cNvSpPr/>
          <p:nvPr/>
        </p:nvSpPr>
        <p:spPr>
          <a:xfrm>
            <a:off x="10045700" y="3035300"/>
            <a:ext cx="558800" cy="558800"/>
          </a:xfrm>
          <a:prstGeom prst="ellipse">
            <a:avLst/>
          </a:prstGeom>
          <a:solidFill>
            <a:srgbClr val="3CC3B5"/>
          </a:solidFill>
          <a:ln w="19050">
            <a:solidFill>
              <a:srgbClr val="3CC3B5"/>
            </a:solidFill>
            <a:prstDash val="solid"/>
          </a:ln>
        </p:spPr>
      </p:sp>
      <p:sp>
        <p:nvSpPr>
          <p:cNvPr id="29" name="Text 25-s5"/>
          <p:cNvSpPr txBox="1"/>
          <p:nvPr/>
        </p:nvSpPr>
        <p:spPr>
          <a:xfrm>
            <a:off x="10045700" y="3035300"/>
            <a:ext cx="558800" cy="558800"/>
          </a:xfrm>
          <a:prstGeom prst="rect">
            <a:avLst/>
          </a:prstGeom>
          <a:noFill/>
          <a:ln/>
        </p:spPr>
        <p:txBody>
          <a:bodyPr wrap="square" lIns="0" tIns="0" rIns="0" bIns="0" rtlCol="0" anchor="ctr"/>
          <a:lstStyle/>
          <a:p>
            <a:pPr algn="ctr" indent="0" marL="0">
              <a:lnSpc>
                <a:spcPct val="100000"/>
              </a:lnSpc>
              <a:buNone/>
            </a:pPr>
            <a:r>
              <a:rPr lang="en-US" sz="2000" b="1" dirty="0">
                <a:solidFill>
                  <a:srgbClr val="0E1B24"/>
                </a:solidFill>
                <a:latin typeface="Georgia" pitchFamily="34" charset="0"/>
                <a:ea typeface="Georgia" pitchFamily="34" charset="-122"/>
                <a:cs typeface="Georgia" pitchFamily="34" charset="-120"/>
              </a:rPr>
              <a:t>5</a:t>
            </a:r>
            <a:endParaRPr lang="en-US" sz="2000" dirty="0"/>
          </a:p>
        </p:txBody>
      </p:sp>
      <p:sp>
        <p:nvSpPr>
          <p:cNvPr id="30" name="Text 26-s5"/>
          <p:cNvSpPr txBox="1"/>
          <p:nvPr/>
        </p:nvSpPr>
        <p:spPr>
          <a:xfrm>
            <a:off x="9372600" y="3810000"/>
            <a:ext cx="1905000" cy="635000"/>
          </a:xfrm>
          <a:prstGeom prst="rect">
            <a:avLst/>
          </a:prstGeom>
          <a:noFill/>
          <a:ln/>
        </p:spPr>
        <p:txBody>
          <a:bodyPr wrap="square" lIns="0" tIns="0" rIns="0" bIns="0" rtlCol="0" anchor="t"/>
          <a:lstStyle/>
          <a:p>
            <a:pPr algn="ctr" indent="0" marL="0">
              <a:lnSpc>
                <a:spcPct val="91667"/>
              </a:lnSpc>
              <a:buNone/>
            </a:pPr>
            <a:r>
              <a:rPr lang="en-US" sz="1800" b="1" dirty="0">
                <a:solidFill>
                  <a:srgbClr val="F4F1EA"/>
                </a:solidFill>
                <a:latin typeface="Georgia" pitchFamily="34" charset="0"/>
                <a:ea typeface="Georgia" pitchFamily="34" charset="-122"/>
                <a:cs typeface="Georgia" pitchFamily="34" charset="-120"/>
              </a:rPr>
              <a:t>Former et déployer</a:t>
            </a:r>
            <a:endParaRPr lang="en-US" sz="1800" dirty="0"/>
          </a:p>
        </p:txBody>
      </p:sp>
      <p:sp>
        <p:nvSpPr>
          <p:cNvPr id="31" name="Text 27-s5"/>
          <p:cNvSpPr txBox="1"/>
          <p:nvPr/>
        </p:nvSpPr>
        <p:spPr>
          <a:xfrm>
            <a:off x="9372600" y="4445000"/>
            <a:ext cx="1905000" cy="889000"/>
          </a:xfrm>
          <a:prstGeom prst="rect">
            <a:avLst/>
          </a:prstGeom>
          <a:noFill/>
          <a:ln/>
        </p:spPr>
        <p:txBody>
          <a:bodyPr wrap="square" lIns="0" tIns="0" rIns="0" bIns="0" rtlCol="0" anchor="t"/>
          <a:lstStyle/>
          <a:p>
            <a:pPr algn="ctr" indent="0" marL="0">
              <a:lnSpc>
                <a:spcPct val="104167"/>
              </a:lnSpc>
              <a:buNone/>
            </a:pPr>
            <a:r>
              <a:rPr lang="en-US" sz="1300" dirty="0">
                <a:solidFill>
                  <a:srgbClr val="9DB0BF"/>
                </a:solidFill>
                <a:latin typeface="Calibri" pitchFamily="34" charset="0"/>
                <a:ea typeface="Calibri" pitchFamily="34" charset="-122"/>
                <a:cs typeface="Calibri" pitchFamily="34" charset="-120"/>
              </a:rPr>
              <a:t>janvier 2026, puis stabilisation</a:t>
            </a:r>
            <a:endParaRPr lang="en-US" sz="1300" dirty="0"/>
          </a:p>
        </p:txBody>
      </p:sp>
      <p:sp>
        <p:nvSpPr>
          <p:cNvPr id="32" name="Shape 28-s5"/>
          <p:cNvSpPr/>
          <p:nvPr/>
        </p:nvSpPr>
        <p:spPr>
          <a:xfrm>
            <a:off x="812800" y="5588000"/>
            <a:ext cx="10566400" cy="508000"/>
          </a:xfrm>
          <a:prstGeom prst="roundRect">
            <a:avLst>
              <a:gd name="adj" fmla="val 50000"/>
            </a:avLst>
          </a:prstGeom>
          <a:solidFill>
            <a:srgbClr val="15283A"/>
          </a:solidFill>
          <a:ln w="12700">
            <a:solidFill>
              <a:srgbClr val="2B4457"/>
            </a:solidFill>
            <a:prstDash val="solid"/>
          </a:ln>
        </p:spPr>
      </p:sp>
      <p:sp>
        <p:nvSpPr>
          <p:cNvPr id="33" name="Text 29-s5"/>
          <p:cNvSpPr txBox="1"/>
          <p:nvPr/>
        </p:nvSpPr>
        <p:spPr>
          <a:xfrm>
            <a:off x="812800" y="5588000"/>
            <a:ext cx="10566400" cy="508000"/>
          </a:xfrm>
          <a:prstGeom prst="rect">
            <a:avLst/>
          </a:prstGeom>
          <a:noFill/>
          <a:ln/>
        </p:spPr>
        <p:txBody>
          <a:bodyPr wrap="square" lIns="0" tIns="0" rIns="0" bIns="0" rtlCol="0" anchor="ctr"/>
          <a:lstStyle/>
          <a:p>
            <a:pPr algn="ctr" indent="0" marL="0">
              <a:lnSpc>
                <a:spcPct val="100000"/>
              </a:lnSpc>
              <a:buNone/>
            </a:pPr>
            <a:r>
              <a:rPr lang="en-US" sz="1500" b="1" dirty="0">
                <a:solidFill>
                  <a:srgbClr val="3CC3B5"/>
                </a:solidFill>
                <a:latin typeface="Calibri" pitchFamily="34" charset="0"/>
                <a:ea typeface="Calibri" pitchFamily="34" charset="-122"/>
                <a:cs typeface="Calibri" pitchFamily="34" charset="-120"/>
              </a:rPr>
              <a:t>Boucle de travail : tester · recueillir les retours · corriger · redéployer · vérifier</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s6"/>
        <p:cNvGrpSpPr/>
        <p:nvPr/>
      </p:nvGrpSpPr>
      <p:grpSpPr>
        <a:xfrm>
          <a:off x="0" y="0"/>
          <a:ext cx="0" cy="0"/>
          <a:chOff x="0" y="0"/>
          <a:chExt cx="0" cy="0"/>
        </a:xfrm>
      </p:grpSpPr>
      <p:sp>
        <p:nvSpPr>
          <p:cNvPr id="2" name="!!orb"/>
          <p:cNvSpPr/>
          <p:nvPr/>
        </p:nvSpPr>
        <p:spPr>
          <a:xfrm>
            <a:off x="9207500" y="4127500"/>
            <a:ext cx="5080000" cy="5080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2515810" cy="50800"/>
          </a:xfrm>
          <a:prstGeom prst="roundRect">
            <a:avLst>
              <a:gd name="adj" fmla="val 50000"/>
            </a:avLst>
          </a:prstGeom>
          <a:solidFill>
            <a:srgbClr val="0F766E"/>
          </a:solidFill>
          <a:ln/>
        </p:spPr>
      </p:sp>
      <p:sp>
        <p:nvSpPr>
          <p:cNvPr id="9" name="!!dot"/>
          <p:cNvSpPr/>
          <p:nvPr/>
        </p:nvSpPr>
        <p:spPr>
          <a:xfrm>
            <a:off x="3239710" y="6604000"/>
            <a:ext cx="127000" cy="127000"/>
          </a:xfrm>
          <a:prstGeom prst="ellipse">
            <a:avLst/>
          </a:prstGeom>
          <a:solidFill>
            <a:srgbClr val="0F766E"/>
          </a:solidFill>
          <a:ln/>
        </p:spPr>
      </p:sp>
      <p:sp>
        <p:nvSpPr>
          <p:cNvPr id="10" name="Text 6-s6"/>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12202B"/>
                </a:solidFill>
                <a:latin typeface="Georgia" pitchFamily="34" charset="0"/>
                <a:ea typeface="Georgia" pitchFamily="34" charset="-122"/>
                <a:cs typeface="Georgia" pitchFamily="34" charset="-120"/>
              </a:rPr>
              <a:t>Planning : un mois de plus, par choix</a:t>
            </a:r>
            <a:endParaRPr lang="en-US" sz="3200" dirty="0"/>
          </a:p>
        </p:txBody>
      </p:sp>
      <p:sp>
        <p:nvSpPr>
          <p:cNvPr id="11" name="Shape 7-s6"/>
          <p:cNvSpPr/>
          <p:nvPr/>
        </p:nvSpPr>
        <p:spPr>
          <a:xfrm>
            <a:off x="812800" y="2032000"/>
            <a:ext cx="6731000" cy="3175000"/>
          </a:xfrm>
          <a:prstGeom prst="roundRect">
            <a:avLst>
              <a:gd name="adj" fmla="val 5000"/>
            </a:avLst>
          </a:prstGeom>
          <a:solidFill>
            <a:srgbClr val="FFFFFF"/>
          </a:solidFill>
          <a:ln w="12700">
            <a:solidFill>
              <a:srgbClr val="D9D4C8"/>
            </a:solidFill>
            <a:prstDash val="solid"/>
          </a:ln>
        </p:spPr>
      </p:sp>
      <p:pic>
        <p:nvPicPr>
          <p:cNvPr id="12" name="Image 2-s6" descr="Chronologie synthétique du projet">    </p:cNvPr>
          <p:cNvPicPr>
            <a:picLocks noChangeAspect="1"/>
          </p:cNvPicPr>
          <p:nvPr/>
        </p:nvPicPr>
        <p:blipFill>
          <a:blip r:embed="rId3"/>
          <a:stretch>
            <a:fillRect/>
          </a:stretch>
        </p:blipFill>
        <p:spPr>
          <a:xfrm>
            <a:off x="1003300" y="2184400"/>
            <a:ext cx="6470112" cy="2870200"/>
          </a:xfrm>
          <a:prstGeom prst="rect">
            <a:avLst/>
          </a:prstGeom>
        </p:spPr>
      </p:pic>
      <p:sp>
        <p:nvSpPr>
          <p:cNvPr id="13" name="Text 8-s6"/>
          <p:cNvSpPr txBox="1"/>
          <p:nvPr/>
        </p:nvSpPr>
        <p:spPr>
          <a:xfrm>
            <a:off x="812800" y="5334000"/>
            <a:ext cx="6731000" cy="254000"/>
          </a:xfrm>
          <a:prstGeom prst="rect">
            <a:avLst/>
          </a:prstGeom>
          <a:noFill/>
          <a:ln/>
        </p:spPr>
        <p:txBody>
          <a:bodyPr wrap="square" lIns="0" tIns="0" rIns="0" bIns="0" rtlCol="0" anchor="t"/>
          <a:lstStyle/>
          <a:p>
            <a:pPr algn="l" indent="0" marL="0">
              <a:lnSpc>
                <a:spcPct val="100000"/>
              </a:lnSpc>
              <a:buNone/>
            </a:pPr>
            <a:r>
              <a:rPr lang="en-US" sz="1200" i="1" dirty="0">
                <a:solidFill>
                  <a:srgbClr val="5A6A77"/>
                </a:solidFill>
                <a:latin typeface="Calibri" pitchFamily="34" charset="0"/>
                <a:ea typeface="Calibri" pitchFamily="34" charset="-122"/>
                <a:cs typeface="Calibri" pitchFamily="34" charset="-120"/>
              </a:rPr>
              <a:t>Figure 1 : chronologie synthétique du projet, en mois relatifs au lancement</a:t>
            </a:r>
            <a:endParaRPr lang="en-US" sz="1200" dirty="0"/>
          </a:p>
        </p:txBody>
      </p:sp>
      <p:sp>
        <p:nvSpPr>
          <p:cNvPr id="14" name="Text 9-s6"/>
          <p:cNvSpPr txBox="1"/>
          <p:nvPr/>
        </p:nvSpPr>
        <p:spPr>
          <a:xfrm>
            <a:off x="8001000" y="2032000"/>
            <a:ext cx="3429000" cy="952500"/>
          </a:xfrm>
          <a:prstGeom prst="rect">
            <a:avLst/>
          </a:prstGeom>
          <a:noFill/>
          <a:ln/>
        </p:spPr>
        <p:txBody>
          <a:bodyPr wrap="square" lIns="0" tIns="0" rIns="0" bIns="0" rtlCol="0" anchor="t"/>
          <a:lstStyle/>
          <a:p>
            <a:pPr algn="l" indent="0" marL="0">
              <a:lnSpc>
                <a:spcPct val="100000"/>
              </a:lnSpc>
              <a:buNone/>
            </a:pPr>
            <a:r>
              <a:rPr lang="en-US" sz="5000" b="1" dirty="0">
                <a:solidFill>
                  <a:srgbClr val="0F766E"/>
                </a:solidFill>
                <a:latin typeface="Georgia" pitchFamily="34" charset="0"/>
                <a:ea typeface="Georgia" pitchFamily="34" charset="-122"/>
                <a:cs typeface="Georgia" pitchFamily="34" charset="-120"/>
              </a:rPr>
              <a:t>+1 mois</a:t>
            </a:r>
            <a:endParaRPr lang="en-US" sz="5000" dirty="0"/>
          </a:p>
        </p:txBody>
      </p:sp>
      <p:sp>
        <p:nvSpPr>
          <p:cNvPr id="15" name="Text 10-s6"/>
          <p:cNvSpPr txBox="1"/>
          <p:nvPr/>
        </p:nvSpPr>
        <p:spPr>
          <a:xfrm>
            <a:off x="8001000" y="2984500"/>
            <a:ext cx="3429000" cy="762000"/>
          </a:xfrm>
          <a:prstGeom prst="rect">
            <a:avLst/>
          </a:prstGeom>
          <a:noFill/>
          <a:ln/>
        </p:spPr>
        <p:txBody>
          <a:bodyPr wrap="square" lIns="0" tIns="0" rIns="0" bIns="0" rtlCol="0" anchor="t"/>
          <a:lstStyle/>
          <a:p>
            <a:pPr algn="l" indent="0" marL="0">
              <a:lnSpc>
                <a:spcPct val="100000"/>
              </a:lnSpc>
              <a:buNone/>
            </a:pPr>
            <a:r>
              <a:rPr lang="en-US" sz="1700" b="1" dirty="0">
                <a:solidFill>
                  <a:srgbClr val="12202B"/>
                </a:solidFill>
                <a:latin typeface="Calibri" pitchFamily="34" charset="0"/>
                <a:ea typeface="Calibri" pitchFamily="34" charset="-122"/>
                <a:cs typeface="Calibri" pitchFamily="34" charset="-120"/>
              </a:rPr>
              <a:t>Coupure de Kizeo : du 31/12/2025 au 31/01/2026</a:t>
            </a:r>
            <a:endParaRPr lang="en-US" sz="1700" dirty="0"/>
          </a:p>
        </p:txBody>
      </p:sp>
      <p:sp>
        <p:nvSpPr>
          <p:cNvPr id="16" name="Text 11-s6"/>
          <p:cNvSpPr txBox="1"/>
          <p:nvPr/>
        </p:nvSpPr>
        <p:spPr>
          <a:xfrm>
            <a:off x="8001000" y="3937000"/>
            <a:ext cx="3365500" cy="1397000"/>
          </a:xfrm>
          <a:prstGeom prst="rect">
            <a:avLst/>
          </a:prstGeom>
          <a:noFill/>
          <a:ln/>
        </p:spPr>
        <p:txBody>
          <a:bodyPr wrap="square" lIns="0" tIns="0" rIns="0" bIns="0" rtlCol="0" anchor="t"/>
          <a:lstStyle/>
          <a:p>
            <a:pPr algn="l" indent="0" marL="0">
              <a:lnSpc>
                <a:spcPct val="108333"/>
              </a:lnSpc>
              <a:buNone/>
            </a:pPr>
            <a:r>
              <a:rPr lang="en-US" sz="1400" dirty="0">
                <a:solidFill>
                  <a:srgbClr val="5A6A77"/>
                </a:solidFill>
                <a:latin typeface="Calibri" pitchFamily="34" charset="0"/>
                <a:ea typeface="Calibri" pitchFamily="34" charset="-122"/>
                <a:cs typeface="Calibri" pitchFamily="34" charset="-120"/>
              </a:rPr>
              <a:t>Un arbitrage pour sécuriser la transition et réduire le risque de rupture, pas un simple retard. La stabilisation est devenue une phase à part entière.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B24"/>
        </a:solidFill>
      </p:bgPr>
    </p:bg>
    <p:spTree>
      <p:nvGrpSpPr>
        <p:cNvPr id="1" name="-s7"/>
        <p:cNvGrpSpPr/>
        <p:nvPr/>
      </p:nvGrpSpPr>
      <p:grpSpPr>
        <a:xfrm>
          <a:off x="0" y="0"/>
          <a:ext cx="0" cy="0"/>
          <a:chOff x="0" y="0"/>
          <a:chExt cx="0" cy="0"/>
        </a:xfrm>
      </p:grpSpPr>
      <p:sp>
        <p:nvSpPr>
          <p:cNvPr id="2" name="!!orb"/>
          <p:cNvSpPr/>
          <p:nvPr/>
        </p:nvSpPr>
        <p:spPr>
          <a:xfrm>
            <a:off x="9525000" y="-2222500"/>
            <a:ext cx="5080000" cy="5080000"/>
          </a:xfrm>
          <a:prstGeom prst="ellipse">
            <a:avLst/>
          </a:prstGeom>
          <a:solidFill>
            <a:srgbClr val="3CC3B5">
              <a:alpha val="12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2B4457"/>
          </a:solidFill>
          <a:ln/>
        </p:spPr>
      </p:sp>
      <p:sp>
        <p:nvSpPr>
          <p:cNvPr id="8" name="!!fill"/>
          <p:cNvSpPr/>
          <p:nvPr/>
        </p:nvSpPr>
        <p:spPr>
          <a:xfrm>
            <a:off x="812800" y="6642100"/>
            <a:ext cx="3018971" cy="50800"/>
          </a:xfrm>
          <a:prstGeom prst="roundRect">
            <a:avLst>
              <a:gd name="adj" fmla="val 50000"/>
            </a:avLst>
          </a:prstGeom>
          <a:solidFill>
            <a:srgbClr val="3CC3B5"/>
          </a:solidFill>
          <a:ln/>
        </p:spPr>
      </p:sp>
      <p:sp>
        <p:nvSpPr>
          <p:cNvPr id="9" name="!!dot"/>
          <p:cNvSpPr/>
          <p:nvPr/>
        </p:nvSpPr>
        <p:spPr>
          <a:xfrm>
            <a:off x="3742871" y="6604000"/>
            <a:ext cx="127000" cy="127000"/>
          </a:xfrm>
          <a:prstGeom prst="ellipse">
            <a:avLst/>
          </a:prstGeom>
          <a:solidFill>
            <a:srgbClr val="3CC3B5"/>
          </a:solidFill>
          <a:ln/>
        </p:spPr>
      </p:sp>
      <p:sp>
        <p:nvSpPr>
          <p:cNvPr id="10" name="Text 6-s7"/>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F4F1EA"/>
                </a:solidFill>
                <a:latin typeface="Georgia" pitchFamily="34" charset="0"/>
                <a:ea typeface="Georgia" pitchFamily="34" charset="-122"/>
                <a:cs typeface="Georgia" pitchFamily="34" charset="-120"/>
              </a:rPr>
              <a:t>Un bug se pilote en cinq niveaux</a:t>
            </a:r>
            <a:endParaRPr lang="en-US" sz="3200" dirty="0"/>
          </a:p>
        </p:txBody>
      </p:sp>
      <p:sp>
        <p:nvSpPr>
          <p:cNvPr id="11" name="Shape 7-s7"/>
          <p:cNvSpPr/>
          <p:nvPr/>
        </p:nvSpPr>
        <p:spPr>
          <a:xfrm>
            <a:off x="812800" y="2184400"/>
            <a:ext cx="482600" cy="482600"/>
          </a:xfrm>
          <a:prstGeom prst="ellipse">
            <a:avLst/>
          </a:prstGeom>
          <a:solidFill>
            <a:srgbClr val="3CC3B5"/>
          </a:solidFill>
          <a:ln/>
        </p:spPr>
      </p:sp>
      <p:sp>
        <p:nvSpPr>
          <p:cNvPr id="12" name="Text 8-s7"/>
          <p:cNvSpPr txBox="1"/>
          <p:nvPr/>
        </p:nvSpPr>
        <p:spPr>
          <a:xfrm>
            <a:off x="812800" y="2184400"/>
            <a:ext cx="482600" cy="482600"/>
          </a:xfrm>
          <a:prstGeom prst="rect">
            <a:avLst/>
          </a:prstGeom>
          <a:noFill/>
          <a:ln/>
        </p:spPr>
        <p:txBody>
          <a:bodyPr wrap="square" lIns="0" tIns="0" rIns="0" bIns="0" rtlCol="0" anchor="ctr"/>
          <a:lstStyle/>
          <a:p>
            <a:pPr algn="ctr" indent="0" marL="0">
              <a:lnSpc>
                <a:spcPct val="100000"/>
              </a:lnSpc>
              <a:buNone/>
            </a:pPr>
            <a:r>
              <a:rPr lang="en-US" sz="1800" b="1" dirty="0">
                <a:solidFill>
                  <a:srgbClr val="0E1B24"/>
                </a:solidFill>
                <a:latin typeface="Georgia" pitchFamily="34" charset="0"/>
                <a:ea typeface="Georgia" pitchFamily="34" charset="-122"/>
                <a:cs typeface="Georgia" pitchFamily="34" charset="-120"/>
              </a:rPr>
              <a:t>1</a:t>
            </a:r>
            <a:endParaRPr lang="en-US" sz="1800" dirty="0"/>
          </a:p>
        </p:txBody>
      </p:sp>
      <p:sp>
        <p:nvSpPr>
          <p:cNvPr id="13" name="Text 9-s7"/>
          <p:cNvSpPr txBox="1"/>
          <p:nvPr/>
        </p:nvSpPr>
        <p:spPr>
          <a:xfrm>
            <a:off x="1524000" y="2184400"/>
            <a:ext cx="3175000" cy="482600"/>
          </a:xfrm>
          <a:prstGeom prst="rect">
            <a:avLst/>
          </a:prstGeom>
          <a:noFill/>
          <a:ln/>
        </p:spPr>
        <p:txBody>
          <a:bodyPr wrap="square" lIns="0" tIns="0" rIns="0" bIns="0" rtlCol="0" anchor="ctr"/>
          <a:lstStyle/>
          <a:p>
            <a:pPr algn="l" indent="0" marL="0">
              <a:lnSpc>
                <a:spcPct val="100000"/>
              </a:lnSpc>
              <a:buNone/>
            </a:pPr>
            <a:r>
              <a:rPr lang="en-US" sz="2200" b="1" dirty="0">
                <a:solidFill>
                  <a:srgbClr val="F4F1EA"/>
                </a:solidFill>
                <a:latin typeface="Georgia" pitchFamily="34" charset="0"/>
                <a:ea typeface="Georgia" pitchFamily="34" charset="-122"/>
                <a:cs typeface="Georgia" pitchFamily="34" charset="-120"/>
              </a:rPr>
              <a:t>Identifier</a:t>
            </a:r>
            <a:endParaRPr lang="en-US" sz="2200" dirty="0"/>
          </a:p>
        </p:txBody>
      </p:sp>
      <p:sp>
        <p:nvSpPr>
          <p:cNvPr id="14" name="Text 10-s7"/>
          <p:cNvSpPr txBox="1"/>
          <p:nvPr/>
        </p:nvSpPr>
        <p:spPr>
          <a:xfrm>
            <a:off x="4826000" y="2184400"/>
            <a:ext cx="3302000" cy="482600"/>
          </a:xfrm>
          <a:prstGeom prst="rect">
            <a:avLst/>
          </a:prstGeom>
          <a:noFill/>
          <a:ln/>
        </p:spPr>
        <p:txBody>
          <a:bodyPr wrap="square" lIns="0" tIns="0" rIns="0" bIns="0" rtlCol="0" anchor="ctr"/>
          <a:lstStyle/>
          <a:p>
            <a:pPr algn="l" indent="0" marL="0">
              <a:lnSpc>
                <a:spcPct val="100000"/>
              </a:lnSpc>
              <a:buNone/>
            </a:pPr>
            <a:r>
              <a:rPr lang="en-US" sz="1600" dirty="0">
                <a:solidFill>
                  <a:srgbClr val="9DB0BF"/>
                </a:solidFill>
                <a:latin typeface="Calibri" pitchFamily="34" charset="0"/>
                <a:ea typeface="Calibri" pitchFamily="34" charset="-122"/>
                <a:cs typeface="Calibri" pitchFamily="34" charset="-120"/>
              </a:rPr>
              <a:t>Que se passe-t-il ?</a:t>
            </a:r>
            <a:endParaRPr lang="en-US" sz="1600" dirty="0"/>
          </a:p>
        </p:txBody>
      </p:sp>
      <p:sp>
        <p:nvSpPr>
          <p:cNvPr id="15" name="Text 11-s7"/>
          <p:cNvSpPr txBox="1"/>
          <p:nvPr/>
        </p:nvSpPr>
        <p:spPr>
          <a:xfrm>
            <a:off x="8191500" y="2184400"/>
            <a:ext cx="3187700" cy="482600"/>
          </a:xfrm>
          <a:prstGeom prst="rect">
            <a:avLst/>
          </a:prstGeom>
          <a:noFill/>
          <a:ln/>
        </p:spPr>
        <p:txBody>
          <a:bodyPr wrap="square" lIns="0" tIns="0" rIns="0" bIns="0" rtlCol="0" anchor="ctr"/>
          <a:lstStyle/>
          <a:p>
            <a:pPr algn="l" indent="0" marL="0">
              <a:lnSpc>
                <a:spcPct val="100000"/>
              </a:lnSpc>
              <a:buNone/>
            </a:pPr>
            <a:r>
              <a:rPr lang="en-US" sz="1500" b="1" dirty="0">
                <a:solidFill>
                  <a:srgbClr val="3CC3B5"/>
                </a:solidFill>
                <a:latin typeface="Calibri" pitchFamily="34" charset="0"/>
                <a:ea typeface="Calibri" pitchFamily="34" charset="-122"/>
                <a:cs typeface="Calibri" pitchFamily="34" charset="-120"/>
              </a:rPr>
              <a:t>Le formulaire ne se synchronise pas</a:t>
            </a:r>
            <a:endParaRPr lang="en-US" sz="1500" dirty="0"/>
          </a:p>
        </p:txBody>
      </p:sp>
      <p:sp>
        <p:nvSpPr>
          <p:cNvPr id="16" name="Shape 12-s7"/>
          <p:cNvSpPr/>
          <p:nvPr/>
        </p:nvSpPr>
        <p:spPr>
          <a:xfrm>
            <a:off x="812800" y="2794000"/>
            <a:ext cx="10566400" cy="12700"/>
          </a:xfrm>
          <a:prstGeom prst="rect">
            <a:avLst/>
          </a:prstGeom>
          <a:solidFill>
            <a:srgbClr val="2B4457"/>
          </a:solidFill>
          <a:ln/>
        </p:spPr>
      </p:sp>
      <p:sp>
        <p:nvSpPr>
          <p:cNvPr id="17" name="Shape 13-s7"/>
          <p:cNvSpPr/>
          <p:nvPr/>
        </p:nvSpPr>
        <p:spPr>
          <a:xfrm>
            <a:off x="812800" y="2971800"/>
            <a:ext cx="482600" cy="482600"/>
          </a:xfrm>
          <a:prstGeom prst="ellipse">
            <a:avLst/>
          </a:prstGeom>
          <a:solidFill>
            <a:srgbClr val="3CC3B5"/>
          </a:solidFill>
          <a:ln/>
        </p:spPr>
      </p:sp>
      <p:sp>
        <p:nvSpPr>
          <p:cNvPr id="18" name="Text 14-s7"/>
          <p:cNvSpPr txBox="1"/>
          <p:nvPr/>
        </p:nvSpPr>
        <p:spPr>
          <a:xfrm>
            <a:off x="812800" y="2971800"/>
            <a:ext cx="482600" cy="482600"/>
          </a:xfrm>
          <a:prstGeom prst="rect">
            <a:avLst/>
          </a:prstGeom>
          <a:noFill/>
          <a:ln/>
        </p:spPr>
        <p:txBody>
          <a:bodyPr wrap="square" lIns="0" tIns="0" rIns="0" bIns="0" rtlCol="0" anchor="ctr"/>
          <a:lstStyle/>
          <a:p>
            <a:pPr algn="ctr" indent="0" marL="0">
              <a:lnSpc>
                <a:spcPct val="100000"/>
              </a:lnSpc>
              <a:buNone/>
            </a:pPr>
            <a:r>
              <a:rPr lang="en-US" sz="1800" b="1" dirty="0">
                <a:solidFill>
                  <a:srgbClr val="0E1B24"/>
                </a:solidFill>
                <a:latin typeface="Georgia" pitchFamily="34" charset="0"/>
                <a:ea typeface="Georgia" pitchFamily="34" charset="-122"/>
                <a:cs typeface="Georgia" pitchFamily="34" charset="-120"/>
              </a:rPr>
              <a:t>2</a:t>
            </a:r>
            <a:endParaRPr lang="en-US" sz="1800" dirty="0"/>
          </a:p>
        </p:txBody>
      </p:sp>
      <p:sp>
        <p:nvSpPr>
          <p:cNvPr id="19" name="Text 15-s7"/>
          <p:cNvSpPr txBox="1"/>
          <p:nvPr/>
        </p:nvSpPr>
        <p:spPr>
          <a:xfrm>
            <a:off x="1524000" y="2971800"/>
            <a:ext cx="3175000" cy="482600"/>
          </a:xfrm>
          <a:prstGeom prst="rect">
            <a:avLst/>
          </a:prstGeom>
          <a:noFill/>
          <a:ln/>
        </p:spPr>
        <p:txBody>
          <a:bodyPr wrap="square" lIns="0" tIns="0" rIns="0" bIns="0" rtlCol="0" anchor="ctr"/>
          <a:lstStyle/>
          <a:p>
            <a:pPr algn="l" indent="0" marL="0">
              <a:lnSpc>
                <a:spcPct val="100000"/>
              </a:lnSpc>
              <a:buNone/>
            </a:pPr>
            <a:r>
              <a:rPr lang="en-US" sz="2200" b="1" dirty="0">
                <a:solidFill>
                  <a:srgbClr val="F4F1EA"/>
                </a:solidFill>
                <a:latin typeface="Georgia" pitchFamily="34" charset="0"/>
                <a:ea typeface="Georgia" pitchFamily="34" charset="-122"/>
                <a:cs typeface="Georgia" pitchFamily="34" charset="-120"/>
              </a:rPr>
              <a:t>Qualifier</a:t>
            </a:r>
            <a:endParaRPr lang="en-US" sz="2200" dirty="0"/>
          </a:p>
        </p:txBody>
      </p:sp>
      <p:sp>
        <p:nvSpPr>
          <p:cNvPr id="20" name="Text 16-s7"/>
          <p:cNvSpPr txBox="1"/>
          <p:nvPr/>
        </p:nvSpPr>
        <p:spPr>
          <a:xfrm>
            <a:off x="4826000" y="2971800"/>
            <a:ext cx="3302000" cy="482600"/>
          </a:xfrm>
          <a:prstGeom prst="rect">
            <a:avLst/>
          </a:prstGeom>
          <a:noFill/>
          <a:ln/>
        </p:spPr>
        <p:txBody>
          <a:bodyPr wrap="square" lIns="0" tIns="0" rIns="0" bIns="0" rtlCol="0" anchor="ctr"/>
          <a:lstStyle/>
          <a:p>
            <a:pPr algn="l" indent="0" marL="0">
              <a:lnSpc>
                <a:spcPct val="100000"/>
              </a:lnSpc>
              <a:buNone/>
            </a:pPr>
            <a:r>
              <a:rPr lang="en-US" sz="1600" dirty="0">
                <a:solidFill>
                  <a:srgbClr val="9DB0BF"/>
                </a:solidFill>
                <a:latin typeface="Calibri" pitchFamily="34" charset="0"/>
                <a:ea typeface="Calibri" pitchFamily="34" charset="-122"/>
                <a:cs typeface="Calibri" pitchFamily="34" charset="-120"/>
              </a:rPr>
              <a:t>Dans quelles conditions ?</a:t>
            </a:r>
            <a:endParaRPr lang="en-US" sz="1600" dirty="0"/>
          </a:p>
        </p:txBody>
      </p:sp>
      <p:sp>
        <p:nvSpPr>
          <p:cNvPr id="21" name="Text 17-s7"/>
          <p:cNvSpPr txBox="1"/>
          <p:nvPr/>
        </p:nvSpPr>
        <p:spPr>
          <a:xfrm>
            <a:off x="8191500" y="2971800"/>
            <a:ext cx="3187700" cy="482600"/>
          </a:xfrm>
          <a:prstGeom prst="rect">
            <a:avLst/>
          </a:prstGeom>
          <a:noFill/>
          <a:ln/>
        </p:spPr>
        <p:txBody>
          <a:bodyPr wrap="square" lIns="0" tIns="0" rIns="0" bIns="0" rtlCol="0" anchor="ctr"/>
          <a:lstStyle/>
          <a:p>
            <a:pPr algn="l" indent="0" marL="0">
              <a:lnSpc>
                <a:spcPct val="100000"/>
              </a:lnSpc>
              <a:buNone/>
            </a:pPr>
            <a:r>
              <a:rPr lang="en-US" sz="1500" b="1" dirty="0">
                <a:solidFill>
                  <a:srgbClr val="3CC3B5"/>
                </a:solidFill>
                <a:latin typeface="Calibri" pitchFamily="34" charset="0"/>
                <a:ea typeface="Calibri" pitchFamily="34" charset="-122"/>
                <a:cs typeface="Calibri" pitchFamily="34" charset="-120"/>
              </a:rPr>
              <a:t>Réseau faible, formulaire X, Android</a:t>
            </a:r>
            <a:endParaRPr lang="en-US" sz="1500" dirty="0"/>
          </a:p>
        </p:txBody>
      </p:sp>
      <p:sp>
        <p:nvSpPr>
          <p:cNvPr id="22" name="Shape 18-s7"/>
          <p:cNvSpPr/>
          <p:nvPr/>
        </p:nvSpPr>
        <p:spPr>
          <a:xfrm>
            <a:off x="812800" y="3581400"/>
            <a:ext cx="10566400" cy="12700"/>
          </a:xfrm>
          <a:prstGeom prst="rect">
            <a:avLst/>
          </a:prstGeom>
          <a:solidFill>
            <a:srgbClr val="2B4457"/>
          </a:solidFill>
          <a:ln/>
        </p:spPr>
      </p:sp>
      <p:sp>
        <p:nvSpPr>
          <p:cNvPr id="23" name="Shape 19-s7"/>
          <p:cNvSpPr/>
          <p:nvPr/>
        </p:nvSpPr>
        <p:spPr>
          <a:xfrm>
            <a:off x="812800" y="3759200"/>
            <a:ext cx="482600" cy="482600"/>
          </a:xfrm>
          <a:prstGeom prst="ellipse">
            <a:avLst/>
          </a:prstGeom>
          <a:solidFill>
            <a:srgbClr val="3CC3B5"/>
          </a:solidFill>
          <a:ln/>
        </p:spPr>
      </p:sp>
      <p:sp>
        <p:nvSpPr>
          <p:cNvPr id="24" name="Text 20-s7"/>
          <p:cNvSpPr txBox="1"/>
          <p:nvPr/>
        </p:nvSpPr>
        <p:spPr>
          <a:xfrm>
            <a:off x="812800" y="3759200"/>
            <a:ext cx="482600" cy="482600"/>
          </a:xfrm>
          <a:prstGeom prst="rect">
            <a:avLst/>
          </a:prstGeom>
          <a:noFill/>
          <a:ln/>
        </p:spPr>
        <p:txBody>
          <a:bodyPr wrap="square" lIns="0" tIns="0" rIns="0" bIns="0" rtlCol="0" anchor="ctr"/>
          <a:lstStyle/>
          <a:p>
            <a:pPr algn="ctr" indent="0" marL="0">
              <a:lnSpc>
                <a:spcPct val="100000"/>
              </a:lnSpc>
              <a:buNone/>
            </a:pPr>
            <a:r>
              <a:rPr lang="en-US" sz="1800" b="1" dirty="0">
                <a:solidFill>
                  <a:srgbClr val="0E1B24"/>
                </a:solidFill>
                <a:latin typeface="Georgia" pitchFamily="34" charset="0"/>
                <a:ea typeface="Georgia" pitchFamily="34" charset="-122"/>
                <a:cs typeface="Georgia" pitchFamily="34" charset="-120"/>
              </a:rPr>
              <a:t>3</a:t>
            </a:r>
            <a:endParaRPr lang="en-US" sz="1800" dirty="0"/>
          </a:p>
        </p:txBody>
      </p:sp>
      <p:sp>
        <p:nvSpPr>
          <p:cNvPr id="25" name="Text 21-s7"/>
          <p:cNvSpPr txBox="1"/>
          <p:nvPr/>
        </p:nvSpPr>
        <p:spPr>
          <a:xfrm>
            <a:off x="1524000" y="3759200"/>
            <a:ext cx="3175000" cy="482600"/>
          </a:xfrm>
          <a:prstGeom prst="rect">
            <a:avLst/>
          </a:prstGeom>
          <a:noFill/>
          <a:ln/>
        </p:spPr>
        <p:txBody>
          <a:bodyPr wrap="square" lIns="0" tIns="0" rIns="0" bIns="0" rtlCol="0" anchor="ctr"/>
          <a:lstStyle/>
          <a:p>
            <a:pPr algn="l" indent="0" marL="0">
              <a:lnSpc>
                <a:spcPct val="100000"/>
              </a:lnSpc>
              <a:buNone/>
            </a:pPr>
            <a:r>
              <a:rPr lang="en-US" sz="2200" b="1" dirty="0">
                <a:solidFill>
                  <a:srgbClr val="F4F1EA"/>
                </a:solidFill>
                <a:latin typeface="Georgia" pitchFamily="34" charset="0"/>
                <a:ea typeface="Georgia" pitchFamily="34" charset="-122"/>
                <a:cs typeface="Georgia" pitchFamily="34" charset="-120"/>
              </a:rPr>
              <a:t>Prioriser</a:t>
            </a:r>
            <a:endParaRPr lang="en-US" sz="2200" dirty="0"/>
          </a:p>
        </p:txBody>
      </p:sp>
      <p:sp>
        <p:nvSpPr>
          <p:cNvPr id="26" name="Text 22-s7"/>
          <p:cNvSpPr txBox="1"/>
          <p:nvPr/>
        </p:nvSpPr>
        <p:spPr>
          <a:xfrm>
            <a:off x="4826000" y="3759200"/>
            <a:ext cx="3302000" cy="482600"/>
          </a:xfrm>
          <a:prstGeom prst="rect">
            <a:avLst/>
          </a:prstGeom>
          <a:noFill/>
          <a:ln/>
        </p:spPr>
        <p:txBody>
          <a:bodyPr wrap="square" lIns="0" tIns="0" rIns="0" bIns="0" rtlCol="0" anchor="ctr"/>
          <a:lstStyle/>
          <a:p>
            <a:pPr algn="l" indent="0" marL="0">
              <a:lnSpc>
                <a:spcPct val="100000"/>
              </a:lnSpc>
              <a:buNone/>
            </a:pPr>
            <a:r>
              <a:rPr lang="en-US" sz="1600" dirty="0">
                <a:solidFill>
                  <a:srgbClr val="9DB0BF"/>
                </a:solidFill>
                <a:latin typeface="Calibri" pitchFamily="34" charset="0"/>
                <a:ea typeface="Calibri" pitchFamily="34" charset="-122"/>
                <a:cs typeface="Calibri" pitchFamily="34" charset="-120"/>
              </a:rPr>
              <a:t>Quel impact ?</a:t>
            </a:r>
            <a:endParaRPr lang="en-US" sz="1600" dirty="0"/>
          </a:p>
        </p:txBody>
      </p:sp>
      <p:sp>
        <p:nvSpPr>
          <p:cNvPr id="27" name="Text 23-s7"/>
          <p:cNvSpPr txBox="1"/>
          <p:nvPr/>
        </p:nvSpPr>
        <p:spPr>
          <a:xfrm>
            <a:off x="8191500" y="3759200"/>
            <a:ext cx="3187700" cy="482600"/>
          </a:xfrm>
          <a:prstGeom prst="rect">
            <a:avLst/>
          </a:prstGeom>
          <a:noFill/>
          <a:ln/>
        </p:spPr>
        <p:txBody>
          <a:bodyPr wrap="square" lIns="0" tIns="0" rIns="0" bIns="0" rtlCol="0" anchor="ctr"/>
          <a:lstStyle/>
          <a:p>
            <a:pPr algn="l" indent="0" marL="0">
              <a:lnSpc>
                <a:spcPct val="100000"/>
              </a:lnSpc>
              <a:buNone/>
            </a:pPr>
            <a:r>
              <a:rPr lang="en-US" sz="1500" b="1" dirty="0">
                <a:solidFill>
                  <a:srgbClr val="3CC3B5"/>
                </a:solidFill>
                <a:latin typeface="Calibri" pitchFamily="34" charset="0"/>
                <a:ea typeface="Calibri" pitchFamily="34" charset="-122"/>
                <a:cs typeface="Calibri" pitchFamily="34" charset="-120"/>
              </a:rPr>
              <a:t>Bloquant pour l’intervention</a:t>
            </a:r>
            <a:endParaRPr lang="en-US" sz="1500" dirty="0"/>
          </a:p>
        </p:txBody>
      </p:sp>
      <p:sp>
        <p:nvSpPr>
          <p:cNvPr id="28" name="Shape 24-s7"/>
          <p:cNvSpPr/>
          <p:nvPr/>
        </p:nvSpPr>
        <p:spPr>
          <a:xfrm>
            <a:off x="812800" y="4368800"/>
            <a:ext cx="10566400" cy="12700"/>
          </a:xfrm>
          <a:prstGeom prst="rect">
            <a:avLst/>
          </a:prstGeom>
          <a:solidFill>
            <a:srgbClr val="2B4457"/>
          </a:solidFill>
          <a:ln/>
        </p:spPr>
      </p:sp>
      <p:sp>
        <p:nvSpPr>
          <p:cNvPr id="29" name="Shape 25-s7"/>
          <p:cNvSpPr/>
          <p:nvPr/>
        </p:nvSpPr>
        <p:spPr>
          <a:xfrm>
            <a:off x="812800" y="4546600"/>
            <a:ext cx="482600" cy="482600"/>
          </a:xfrm>
          <a:prstGeom prst="ellipse">
            <a:avLst/>
          </a:prstGeom>
          <a:solidFill>
            <a:srgbClr val="3CC3B5"/>
          </a:solidFill>
          <a:ln/>
        </p:spPr>
      </p:sp>
      <p:sp>
        <p:nvSpPr>
          <p:cNvPr id="30" name="Text 26-s7"/>
          <p:cNvSpPr txBox="1"/>
          <p:nvPr/>
        </p:nvSpPr>
        <p:spPr>
          <a:xfrm>
            <a:off x="812800" y="4546600"/>
            <a:ext cx="482600" cy="482600"/>
          </a:xfrm>
          <a:prstGeom prst="rect">
            <a:avLst/>
          </a:prstGeom>
          <a:noFill/>
          <a:ln/>
        </p:spPr>
        <p:txBody>
          <a:bodyPr wrap="square" lIns="0" tIns="0" rIns="0" bIns="0" rtlCol="0" anchor="ctr"/>
          <a:lstStyle/>
          <a:p>
            <a:pPr algn="ctr" indent="0" marL="0">
              <a:lnSpc>
                <a:spcPct val="100000"/>
              </a:lnSpc>
              <a:buNone/>
            </a:pPr>
            <a:r>
              <a:rPr lang="en-US" sz="1800" b="1" dirty="0">
                <a:solidFill>
                  <a:srgbClr val="0E1B24"/>
                </a:solidFill>
                <a:latin typeface="Georgia" pitchFamily="34" charset="0"/>
                <a:ea typeface="Georgia" pitchFamily="34" charset="-122"/>
                <a:cs typeface="Georgia" pitchFamily="34" charset="-120"/>
              </a:rPr>
              <a:t>4</a:t>
            </a:r>
            <a:endParaRPr lang="en-US" sz="1800" dirty="0"/>
          </a:p>
        </p:txBody>
      </p:sp>
      <p:sp>
        <p:nvSpPr>
          <p:cNvPr id="31" name="Text 27-s7"/>
          <p:cNvSpPr txBox="1"/>
          <p:nvPr/>
        </p:nvSpPr>
        <p:spPr>
          <a:xfrm>
            <a:off x="1524000" y="4546600"/>
            <a:ext cx="3175000" cy="482600"/>
          </a:xfrm>
          <a:prstGeom prst="rect">
            <a:avLst/>
          </a:prstGeom>
          <a:noFill/>
          <a:ln/>
        </p:spPr>
        <p:txBody>
          <a:bodyPr wrap="square" lIns="0" tIns="0" rIns="0" bIns="0" rtlCol="0" anchor="ctr"/>
          <a:lstStyle/>
          <a:p>
            <a:pPr algn="l" indent="0" marL="0">
              <a:lnSpc>
                <a:spcPct val="100000"/>
              </a:lnSpc>
              <a:buNone/>
            </a:pPr>
            <a:r>
              <a:rPr lang="en-US" sz="2200" b="1" dirty="0">
                <a:solidFill>
                  <a:srgbClr val="F4F1EA"/>
                </a:solidFill>
                <a:latin typeface="Georgia" pitchFamily="34" charset="0"/>
                <a:ea typeface="Georgia" pitchFamily="34" charset="-122"/>
                <a:cs typeface="Georgia" pitchFamily="34" charset="-120"/>
              </a:rPr>
              <a:t>Escalader</a:t>
            </a:r>
            <a:endParaRPr lang="en-US" sz="2200" dirty="0"/>
          </a:p>
        </p:txBody>
      </p:sp>
      <p:sp>
        <p:nvSpPr>
          <p:cNvPr id="32" name="Text 28-s7"/>
          <p:cNvSpPr txBox="1"/>
          <p:nvPr/>
        </p:nvSpPr>
        <p:spPr>
          <a:xfrm>
            <a:off x="4826000" y="4546600"/>
            <a:ext cx="3302000" cy="482600"/>
          </a:xfrm>
          <a:prstGeom prst="rect">
            <a:avLst/>
          </a:prstGeom>
          <a:noFill/>
          <a:ln/>
        </p:spPr>
        <p:txBody>
          <a:bodyPr wrap="square" lIns="0" tIns="0" rIns="0" bIns="0" rtlCol="0" anchor="ctr"/>
          <a:lstStyle/>
          <a:p>
            <a:pPr algn="l" indent="0" marL="0">
              <a:lnSpc>
                <a:spcPct val="100000"/>
              </a:lnSpc>
              <a:buNone/>
            </a:pPr>
            <a:r>
              <a:rPr lang="en-US" sz="1600" dirty="0">
                <a:solidFill>
                  <a:srgbClr val="9DB0BF"/>
                </a:solidFill>
                <a:latin typeface="Calibri" pitchFamily="34" charset="0"/>
                <a:ea typeface="Calibri" pitchFamily="34" charset="-122"/>
                <a:cs typeface="Calibri" pitchFamily="34" charset="-120"/>
              </a:rPr>
              <a:t>Qui doit agir ?</a:t>
            </a:r>
            <a:endParaRPr lang="en-US" sz="1600" dirty="0"/>
          </a:p>
        </p:txBody>
      </p:sp>
      <p:sp>
        <p:nvSpPr>
          <p:cNvPr id="33" name="Text 29-s7"/>
          <p:cNvSpPr txBox="1"/>
          <p:nvPr/>
        </p:nvSpPr>
        <p:spPr>
          <a:xfrm>
            <a:off x="8191500" y="4546600"/>
            <a:ext cx="3187700" cy="482600"/>
          </a:xfrm>
          <a:prstGeom prst="rect">
            <a:avLst/>
          </a:prstGeom>
          <a:noFill/>
          <a:ln/>
        </p:spPr>
        <p:txBody>
          <a:bodyPr wrap="square" lIns="0" tIns="0" rIns="0" bIns="0" rtlCol="0" anchor="ctr"/>
          <a:lstStyle/>
          <a:p>
            <a:pPr algn="l" indent="0" marL="0">
              <a:lnSpc>
                <a:spcPct val="100000"/>
              </a:lnSpc>
              <a:buNone/>
            </a:pPr>
            <a:r>
              <a:rPr lang="en-US" sz="1500" b="1" dirty="0">
                <a:solidFill>
                  <a:srgbClr val="3CC3B5"/>
                </a:solidFill>
                <a:latin typeface="Calibri" pitchFamily="34" charset="0"/>
                <a:ea typeface="Calibri" pitchFamily="34" charset="-122"/>
                <a:cs typeface="Calibri" pitchFamily="34" charset="-120"/>
              </a:rPr>
              <a:t>L’équipe méthode, puis Teepee</a:t>
            </a:r>
            <a:endParaRPr lang="en-US" sz="1500" dirty="0"/>
          </a:p>
        </p:txBody>
      </p:sp>
      <p:sp>
        <p:nvSpPr>
          <p:cNvPr id="34" name="Shape 30-s7"/>
          <p:cNvSpPr/>
          <p:nvPr/>
        </p:nvSpPr>
        <p:spPr>
          <a:xfrm>
            <a:off x="812800" y="5156200"/>
            <a:ext cx="10566400" cy="12700"/>
          </a:xfrm>
          <a:prstGeom prst="rect">
            <a:avLst/>
          </a:prstGeom>
          <a:solidFill>
            <a:srgbClr val="2B4457"/>
          </a:solidFill>
          <a:ln/>
        </p:spPr>
      </p:sp>
      <p:sp>
        <p:nvSpPr>
          <p:cNvPr id="35" name="Shape 31-s7"/>
          <p:cNvSpPr/>
          <p:nvPr/>
        </p:nvSpPr>
        <p:spPr>
          <a:xfrm>
            <a:off x="812800" y="5334000"/>
            <a:ext cx="482600" cy="482600"/>
          </a:xfrm>
          <a:prstGeom prst="ellipse">
            <a:avLst/>
          </a:prstGeom>
          <a:solidFill>
            <a:srgbClr val="3CC3B5"/>
          </a:solidFill>
          <a:ln/>
        </p:spPr>
      </p:sp>
      <p:sp>
        <p:nvSpPr>
          <p:cNvPr id="36" name="Text 32-s7"/>
          <p:cNvSpPr txBox="1"/>
          <p:nvPr/>
        </p:nvSpPr>
        <p:spPr>
          <a:xfrm>
            <a:off x="812800" y="5334000"/>
            <a:ext cx="482600" cy="482600"/>
          </a:xfrm>
          <a:prstGeom prst="rect">
            <a:avLst/>
          </a:prstGeom>
          <a:noFill/>
          <a:ln/>
        </p:spPr>
        <p:txBody>
          <a:bodyPr wrap="square" lIns="0" tIns="0" rIns="0" bIns="0" rtlCol="0" anchor="ctr"/>
          <a:lstStyle/>
          <a:p>
            <a:pPr algn="ctr" indent="0" marL="0">
              <a:lnSpc>
                <a:spcPct val="100000"/>
              </a:lnSpc>
              <a:buNone/>
            </a:pPr>
            <a:r>
              <a:rPr lang="en-US" sz="1800" b="1" dirty="0">
                <a:solidFill>
                  <a:srgbClr val="0E1B24"/>
                </a:solidFill>
                <a:latin typeface="Georgia" pitchFamily="34" charset="0"/>
                <a:ea typeface="Georgia" pitchFamily="34" charset="-122"/>
                <a:cs typeface="Georgia" pitchFamily="34" charset="-120"/>
              </a:rPr>
              <a:t>5</a:t>
            </a:r>
            <a:endParaRPr lang="en-US" sz="1800" dirty="0"/>
          </a:p>
        </p:txBody>
      </p:sp>
      <p:sp>
        <p:nvSpPr>
          <p:cNvPr id="37" name="Text 33-s7"/>
          <p:cNvSpPr txBox="1"/>
          <p:nvPr/>
        </p:nvSpPr>
        <p:spPr>
          <a:xfrm>
            <a:off x="1524000" y="5334000"/>
            <a:ext cx="3175000" cy="482600"/>
          </a:xfrm>
          <a:prstGeom prst="rect">
            <a:avLst/>
          </a:prstGeom>
          <a:noFill/>
          <a:ln/>
        </p:spPr>
        <p:txBody>
          <a:bodyPr wrap="square" lIns="0" tIns="0" rIns="0" bIns="0" rtlCol="0" anchor="ctr"/>
          <a:lstStyle/>
          <a:p>
            <a:pPr algn="l" indent="0" marL="0">
              <a:lnSpc>
                <a:spcPct val="100000"/>
              </a:lnSpc>
              <a:buNone/>
            </a:pPr>
            <a:r>
              <a:rPr lang="en-US" sz="2200" b="1" dirty="0">
                <a:solidFill>
                  <a:srgbClr val="F4F1EA"/>
                </a:solidFill>
                <a:latin typeface="Georgia" pitchFamily="34" charset="0"/>
                <a:ea typeface="Georgia" pitchFamily="34" charset="-122"/>
                <a:cs typeface="Georgia" pitchFamily="34" charset="-120"/>
              </a:rPr>
              <a:t>Vérifier</a:t>
            </a:r>
            <a:endParaRPr lang="en-US" sz="2200" dirty="0"/>
          </a:p>
        </p:txBody>
      </p:sp>
      <p:sp>
        <p:nvSpPr>
          <p:cNvPr id="38" name="Text 34-s7"/>
          <p:cNvSpPr txBox="1"/>
          <p:nvPr/>
        </p:nvSpPr>
        <p:spPr>
          <a:xfrm>
            <a:off x="4826000" y="5334000"/>
            <a:ext cx="3302000" cy="482600"/>
          </a:xfrm>
          <a:prstGeom prst="rect">
            <a:avLst/>
          </a:prstGeom>
          <a:noFill/>
          <a:ln/>
        </p:spPr>
        <p:txBody>
          <a:bodyPr wrap="square" lIns="0" tIns="0" rIns="0" bIns="0" rtlCol="0" anchor="ctr"/>
          <a:lstStyle/>
          <a:p>
            <a:pPr algn="l" indent="0" marL="0">
              <a:lnSpc>
                <a:spcPct val="100000"/>
              </a:lnSpc>
              <a:buNone/>
            </a:pPr>
            <a:r>
              <a:rPr lang="en-US" sz="1600" dirty="0">
                <a:solidFill>
                  <a:srgbClr val="9DB0BF"/>
                </a:solidFill>
                <a:latin typeface="Calibri" pitchFamily="34" charset="0"/>
                <a:ea typeface="Calibri" pitchFamily="34" charset="-122"/>
                <a:cs typeface="Calibri" pitchFamily="34" charset="-120"/>
              </a:rPr>
              <a:t>Le correctif fonctionne-t-il ?</a:t>
            </a:r>
            <a:endParaRPr lang="en-US" sz="1600" dirty="0"/>
          </a:p>
        </p:txBody>
      </p:sp>
      <p:sp>
        <p:nvSpPr>
          <p:cNvPr id="39" name="Text 35-s7"/>
          <p:cNvSpPr txBox="1"/>
          <p:nvPr/>
        </p:nvSpPr>
        <p:spPr>
          <a:xfrm>
            <a:off x="8191500" y="5334000"/>
            <a:ext cx="3187700" cy="482600"/>
          </a:xfrm>
          <a:prstGeom prst="rect">
            <a:avLst/>
          </a:prstGeom>
          <a:noFill/>
          <a:ln/>
        </p:spPr>
        <p:txBody>
          <a:bodyPr wrap="square" lIns="0" tIns="0" rIns="0" bIns="0" rtlCol="0" anchor="ctr"/>
          <a:lstStyle/>
          <a:p>
            <a:pPr algn="l" indent="0" marL="0">
              <a:lnSpc>
                <a:spcPct val="100000"/>
              </a:lnSpc>
              <a:buNone/>
            </a:pPr>
            <a:r>
              <a:rPr lang="en-US" sz="1500" b="1" dirty="0">
                <a:solidFill>
                  <a:srgbClr val="3CC3B5"/>
                </a:solidFill>
                <a:latin typeface="Calibri" pitchFamily="34" charset="0"/>
                <a:ea typeface="Calibri" pitchFamily="34" charset="-122"/>
                <a:cs typeface="Calibri" pitchFamily="34" charset="-120"/>
              </a:rPr>
              <a:t>Test de non-régression</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s8"/>
        <p:cNvGrpSpPr/>
        <p:nvPr/>
      </p:nvGrpSpPr>
      <p:grpSpPr>
        <a:xfrm>
          <a:off x="0" y="0"/>
          <a:ext cx="0" cy="0"/>
          <a:chOff x="0" y="0"/>
          <a:chExt cx="0" cy="0"/>
        </a:xfrm>
      </p:grpSpPr>
      <p:sp>
        <p:nvSpPr>
          <p:cNvPr id="2" name="!!orb"/>
          <p:cNvSpPr/>
          <p:nvPr/>
        </p:nvSpPr>
        <p:spPr>
          <a:xfrm>
            <a:off x="-2222500" y="3810000"/>
            <a:ext cx="5080000" cy="5080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3522133" cy="50800"/>
          </a:xfrm>
          <a:prstGeom prst="roundRect">
            <a:avLst>
              <a:gd name="adj" fmla="val 50000"/>
            </a:avLst>
          </a:prstGeom>
          <a:solidFill>
            <a:srgbClr val="0F766E"/>
          </a:solidFill>
          <a:ln/>
        </p:spPr>
      </p:sp>
      <p:sp>
        <p:nvSpPr>
          <p:cNvPr id="9" name="!!dot"/>
          <p:cNvSpPr/>
          <p:nvPr/>
        </p:nvSpPr>
        <p:spPr>
          <a:xfrm>
            <a:off x="4246033" y="6604000"/>
            <a:ext cx="127000" cy="127000"/>
          </a:xfrm>
          <a:prstGeom prst="ellipse">
            <a:avLst/>
          </a:prstGeom>
          <a:solidFill>
            <a:srgbClr val="0F766E"/>
          </a:solidFill>
          <a:ln/>
        </p:spPr>
      </p:sp>
      <p:sp>
        <p:nvSpPr>
          <p:cNvPr id="10" name="Text 6-s8"/>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12202B"/>
                </a:solidFill>
                <a:latin typeface="Georgia" pitchFamily="34" charset="0"/>
                <a:ea typeface="Georgia" pitchFamily="34" charset="-122"/>
                <a:cs typeface="Georgia" pitchFamily="34" charset="-120"/>
              </a:rPr>
              <a:t>Conduire le changement : le modèle ADKAR</a:t>
            </a:r>
            <a:endParaRPr lang="en-US" sz="3200" dirty="0"/>
          </a:p>
        </p:txBody>
      </p:sp>
      <p:sp>
        <p:nvSpPr>
          <p:cNvPr id="11" name="Text 7-s8"/>
          <p:cNvSpPr txBox="1"/>
          <p:nvPr/>
        </p:nvSpPr>
        <p:spPr>
          <a:xfrm>
            <a:off x="812800" y="1905000"/>
            <a:ext cx="1905000" cy="1524000"/>
          </a:xfrm>
          <a:prstGeom prst="rect">
            <a:avLst/>
          </a:prstGeom>
          <a:noFill/>
          <a:ln/>
        </p:spPr>
        <p:txBody>
          <a:bodyPr wrap="square" lIns="0" tIns="0" rIns="0" bIns="0" rtlCol="0" anchor="t"/>
          <a:lstStyle/>
          <a:p>
            <a:pPr algn="l" indent="0" marL="0">
              <a:lnSpc>
                <a:spcPct val="83333"/>
              </a:lnSpc>
              <a:buNone/>
            </a:pPr>
            <a:r>
              <a:rPr lang="en-US" sz="11000" b="1" dirty="0">
                <a:solidFill>
                  <a:srgbClr val="C9C4B8"/>
                </a:solidFill>
                <a:latin typeface="Georgia" pitchFamily="34" charset="0"/>
                <a:ea typeface="Georgia" pitchFamily="34" charset="-122"/>
                <a:cs typeface="Georgia" pitchFamily="34" charset="-120"/>
              </a:rPr>
              <a:t>A</a:t>
            </a:r>
            <a:endParaRPr lang="en-US" sz="11000" dirty="0"/>
          </a:p>
        </p:txBody>
      </p:sp>
      <p:sp>
        <p:nvSpPr>
          <p:cNvPr id="12" name="Shape 8-s8"/>
          <p:cNvSpPr/>
          <p:nvPr/>
        </p:nvSpPr>
        <p:spPr>
          <a:xfrm>
            <a:off x="812800" y="3556000"/>
            <a:ext cx="635000" cy="25400"/>
          </a:xfrm>
          <a:prstGeom prst="rect">
            <a:avLst/>
          </a:prstGeom>
          <a:solidFill>
            <a:srgbClr val="D9D4C8"/>
          </a:solidFill>
          <a:ln/>
        </p:spPr>
      </p:sp>
      <p:sp>
        <p:nvSpPr>
          <p:cNvPr id="13" name="Text 9-s8"/>
          <p:cNvSpPr txBox="1"/>
          <p:nvPr/>
        </p:nvSpPr>
        <p:spPr>
          <a:xfrm>
            <a:off x="812800" y="3746500"/>
            <a:ext cx="1905000" cy="317500"/>
          </a:xfrm>
          <a:prstGeom prst="rect">
            <a:avLst/>
          </a:prstGeom>
          <a:noFill/>
          <a:ln/>
        </p:spPr>
        <p:txBody>
          <a:bodyPr wrap="square" lIns="0" tIns="0" rIns="0" bIns="0" rtlCol="0" anchor="t"/>
          <a:lstStyle/>
          <a:p>
            <a:pPr algn="l" indent="0" marL="0">
              <a:lnSpc>
                <a:spcPct val="100000"/>
              </a:lnSpc>
              <a:buNone/>
            </a:pPr>
            <a:r>
              <a:rPr lang="en-US" sz="1800" b="1" dirty="0">
                <a:solidFill>
                  <a:srgbClr val="12202B"/>
                </a:solidFill>
                <a:latin typeface="Georgia" pitchFamily="34" charset="0"/>
                <a:ea typeface="Georgia" pitchFamily="34" charset="-122"/>
                <a:cs typeface="Georgia" pitchFamily="34" charset="-120"/>
              </a:rPr>
              <a:t>Awareness</a:t>
            </a:r>
            <a:endParaRPr lang="en-US" sz="1800" dirty="0"/>
          </a:p>
        </p:txBody>
      </p:sp>
      <p:sp>
        <p:nvSpPr>
          <p:cNvPr id="14" name="Text 10-s8"/>
          <p:cNvSpPr txBox="1"/>
          <p:nvPr/>
        </p:nvSpPr>
        <p:spPr>
          <a:xfrm>
            <a:off x="812800" y="4127500"/>
            <a:ext cx="1841500" cy="1016000"/>
          </a:xfrm>
          <a:prstGeom prst="rect">
            <a:avLst/>
          </a:prstGeom>
          <a:noFill/>
          <a:ln/>
        </p:spPr>
        <p:txBody>
          <a:bodyPr wrap="square" lIns="0" tIns="0" rIns="0" bIns="0" rtlCol="0" anchor="t"/>
          <a:lstStyle/>
          <a:p>
            <a:pPr algn="l" indent="0" marL="0">
              <a:lnSpc>
                <a:spcPct val="104167"/>
              </a:lnSpc>
              <a:buNone/>
            </a:pPr>
            <a:r>
              <a:rPr lang="en-US" sz="1400" dirty="0">
                <a:solidFill>
                  <a:srgbClr val="5A6A77"/>
                </a:solidFill>
                <a:latin typeface="Calibri" pitchFamily="34" charset="0"/>
                <a:ea typeface="Calibri" pitchFamily="34" charset="-122"/>
                <a:cs typeface="Calibri" pitchFamily="34" charset="-120"/>
              </a:rPr>
              <a:t>Expliquer les raisons du groupe et de la sécurité</a:t>
            </a:r>
            <a:endParaRPr lang="en-US" sz="1400" dirty="0"/>
          </a:p>
        </p:txBody>
      </p:sp>
      <p:sp>
        <p:nvSpPr>
          <p:cNvPr id="15" name="Text 11-s8"/>
          <p:cNvSpPr txBox="1"/>
          <p:nvPr/>
        </p:nvSpPr>
        <p:spPr>
          <a:xfrm>
            <a:off x="2971800" y="1905000"/>
            <a:ext cx="1905000" cy="1524000"/>
          </a:xfrm>
          <a:prstGeom prst="rect">
            <a:avLst/>
          </a:prstGeom>
          <a:noFill/>
          <a:ln/>
        </p:spPr>
        <p:txBody>
          <a:bodyPr wrap="square" lIns="0" tIns="0" rIns="0" bIns="0" rtlCol="0" anchor="t"/>
          <a:lstStyle/>
          <a:p>
            <a:pPr algn="l" indent="0" marL="0">
              <a:lnSpc>
                <a:spcPct val="83333"/>
              </a:lnSpc>
              <a:buNone/>
            </a:pPr>
            <a:r>
              <a:rPr lang="en-US" sz="11000" b="1" dirty="0">
                <a:solidFill>
                  <a:srgbClr val="C9C4B8"/>
                </a:solidFill>
                <a:latin typeface="Georgia" pitchFamily="34" charset="0"/>
                <a:ea typeface="Georgia" pitchFamily="34" charset="-122"/>
                <a:cs typeface="Georgia" pitchFamily="34" charset="-120"/>
              </a:rPr>
              <a:t>D</a:t>
            </a:r>
            <a:endParaRPr lang="en-US" sz="11000" dirty="0"/>
          </a:p>
        </p:txBody>
      </p:sp>
      <p:sp>
        <p:nvSpPr>
          <p:cNvPr id="16" name="Shape 12-s8"/>
          <p:cNvSpPr/>
          <p:nvPr/>
        </p:nvSpPr>
        <p:spPr>
          <a:xfrm>
            <a:off x="2971800" y="3556000"/>
            <a:ext cx="635000" cy="25400"/>
          </a:xfrm>
          <a:prstGeom prst="rect">
            <a:avLst/>
          </a:prstGeom>
          <a:solidFill>
            <a:srgbClr val="D9D4C8"/>
          </a:solidFill>
          <a:ln/>
        </p:spPr>
      </p:sp>
      <p:sp>
        <p:nvSpPr>
          <p:cNvPr id="17" name="Text 13-s8"/>
          <p:cNvSpPr txBox="1"/>
          <p:nvPr/>
        </p:nvSpPr>
        <p:spPr>
          <a:xfrm>
            <a:off x="2971800" y="3746500"/>
            <a:ext cx="1905000" cy="317500"/>
          </a:xfrm>
          <a:prstGeom prst="rect">
            <a:avLst/>
          </a:prstGeom>
          <a:noFill/>
          <a:ln/>
        </p:spPr>
        <p:txBody>
          <a:bodyPr wrap="square" lIns="0" tIns="0" rIns="0" bIns="0" rtlCol="0" anchor="t"/>
          <a:lstStyle/>
          <a:p>
            <a:pPr algn="l" indent="0" marL="0">
              <a:lnSpc>
                <a:spcPct val="100000"/>
              </a:lnSpc>
              <a:buNone/>
            </a:pPr>
            <a:r>
              <a:rPr lang="en-US" sz="1800" b="1" dirty="0">
                <a:solidFill>
                  <a:srgbClr val="12202B"/>
                </a:solidFill>
                <a:latin typeface="Georgia" pitchFamily="34" charset="0"/>
                <a:ea typeface="Georgia" pitchFamily="34" charset="-122"/>
                <a:cs typeface="Georgia" pitchFamily="34" charset="-120"/>
              </a:rPr>
              <a:t>Desire</a:t>
            </a:r>
            <a:endParaRPr lang="en-US" sz="1800" dirty="0"/>
          </a:p>
        </p:txBody>
      </p:sp>
      <p:sp>
        <p:nvSpPr>
          <p:cNvPr id="18" name="Text 14-s8"/>
          <p:cNvSpPr txBox="1"/>
          <p:nvPr/>
        </p:nvSpPr>
        <p:spPr>
          <a:xfrm>
            <a:off x="2971800" y="4127500"/>
            <a:ext cx="1841500" cy="1016000"/>
          </a:xfrm>
          <a:prstGeom prst="rect">
            <a:avLst/>
          </a:prstGeom>
          <a:noFill/>
          <a:ln/>
        </p:spPr>
        <p:txBody>
          <a:bodyPr wrap="square" lIns="0" tIns="0" rIns="0" bIns="0" rtlCol="0" anchor="t"/>
          <a:lstStyle/>
          <a:p>
            <a:pPr algn="l" indent="0" marL="0">
              <a:lnSpc>
                <a:spcPct val="104167"/>
              </a:lnSpc>
              <a:buNone/>
            </a:pPr>
            <a:r>
              <a:rPr lang="en-US" sz="1400" dirty="0">
                <a:solidFill>
                  <a:srgbClr val="5A6A77"/>
                </a:solidFill>
                <a:latin typeface="Calibri" pitchFamily="34" charset="0"/>
                <a:ea typeface="Calibri" pitchFamily="34" charset="-122"/>
                <a:cs typeface="Calibri" pitchFamily="34" charset="-120"/>
              </a:rPr>
              <a:t>Impliquer les utilisateurs dans les remontées</a:t>
            </a:r>
            <a:endParaRPr lang="en-US" sz="1400" dirty="0"/>
          </a:p>
        </p:txBody>
      </p:sp>
      <p:sp>
        <p:nvSpPr>
          <p:cNvPr id="19" name="Text 15-s8"/>
          <p:cNvSpPr txBox="1"/>
          <p:nvPr/>
        </p:nvSpPr>
        <p:spPr>
          <a:xfrm>
            <a:off x="5130800" y="1905000"/>
            <a:ext cx="1905000" cy="1524000"/>
          </a:xfrm>
          <a:prstGeom prst="rect">
            <a:avLst/>
          </a:prstGeom>
          <a:noFill/>
          <a:ln/>
        </p:spPr>
        <p:txBody>
          <a:bodyPr wrap="square" lIns="0" tIns="0" rIns="0" bIns="0" rtlCol="0" anchor="t"/>
          <a:lstStyle/>
          <a:p>
            <a:pPr algn="l" indent="0" marL="0">
              <a:lnSpc>
                <a:spcPct val="83333"/>
              </a:lnSpc>
              <a:buNone/>
            </a:pPr>
            <a:r>
              <a:rPr lang="en-US" sz="11000" b="1" dirty="0">
                <a:solidFill>
                  <a:srgbClr val="C9C4B8"/>
                </a:solidFill>
                <a:latin typeface="Georgia" pitchFamily="34" charset="0"/>
                <a:ea typeface="Georgia" pitchFamily="34" charset="-122"/>
                <a:cs typeface="Georgia" pitchFamily="34" charset="-120"/>
              </a:rPr>
              <a:t>K</a:t>
            </a:r>
            <a:endParaRPr lang="en-US" sz="11000" dirty="0"/>
          </a:p>
        </p:txBody>
      </p:sp>
      <p:sp>
        <p:nvSpPr>
          <p:cNvPr id="20" name="Shape 16-s8"/>
          <p:cNvSpPr/>
          <p:nvPr/>
        </p:nvSpPr>
        <p:spPr>
          <a:xfrm>
            <a:off x="5130800" y="3556000"/>
            <a:ext cx="635000" cy="25400"/>
          </a:xfrm>
          <a:prstGeom prst="rect">
            <a:avLst/>
          </a:prstGeom>
          <a:solidFill>
            <a:srgbClr val="D9D4C8"/>
          </a:solidFill>
          <a:ln/>
        </p:spPr>
      </p:sp>
      <p:sp>
        <p:nvSpPr>
          <p:cNvPr id="21" name="Text 17-s8"/>
          <p:cNvSpPr txBox="1"/>
          <p:nvPr/>
        </p:nvSpPr>
        <p:spPr>
          <a:xfrm>
            <a:off x="5130800" y="3746500"/>
            <a:ext cx="1905000" cy="317500"/>
          </a:xfrm>
          <a:prstGeom prst="rect">
            <a:avLst/>
          </a:prstGeom>
          <a:noFill/>
          <a:ln/>
        </p:spPr>
        <p:txBody>
          <a:bodyPr wrap="square" lIns="0" tIns="0" rIns="0" bIns="0" rtlCol="0" anchor="t"/>
          <a:lstStyle/>
          <a:p>
            <a:pPr algn="l" indent="0" marL="0">
              <a:lnSpc>
                <a:spcPct val="100000"/>
              </a:lnSpc>
              <a:buNone/>
            </a:pPr>
            <a:r>
              <a:rPr lang="en-US" sz="1800" b="1" dirty="0">
                <a:solidFill>
                  <a:srgbClr val="12202B"/>
                </a:solidFill>
                <a:latin typeface="Georgia" pitchFamily="34" charset="0"/>
                <a:ea typeface="Georgia" pitchFamily="34" charset="-122"/>
                <a:cs typeface="Georgia" pitchFamily="34" charset="-120"/>
              </a:rPr>
              <a:t>Knowledge</a:t>
            </a:r>
            <a:endParaRPr lang="en-US" sz="1800" dirty="0"/>
          </a:p>
        </p:txBody>
      </p:sp>
      <p:sp>
        <p:nvSpPr>
          <p:cNvPr id="22" name="Text 18-s8"/>
          <p:cNvSpPr txBox="1"/>
          <p:nvPr/>
        </p:nvSpPr>
        <p:spPr>
          <a:xfrm>
            <a:off x="5130800" y="4127500"/>
            <a:ext cx="1841500" cy="1016000"/>
          </a:xfrm>
          <a:prstGeom prst="rect">
            <a:avLst/>
          </a:prstGeom>
          <a:noFill/>
          <a:ln/>
        </p:spPr>
        <p:txBody>
          <a:bodyPr wrap="square" lIns="0" tIns="0" rIns="0" bIns="0" rtlCol="0" anchor="t"/>
          <a:lstStyle/>
          <a:p>
            <a:pPr algn="l" indent="0" marL="0">
              <a:lnSpc>
                <a:spcPct val="104167"/>
              </a:lnSpc>
              <a:buNone/>
            </a:pPr>
            <a:r>
              <a:rPr lang="en-US" sz="1400" dirty="0">
                <a:solidFill>
                  <a:srgbClr val="5A6A77"/>
                </a:solidFill>
                <a:latin typeface="Calibri" pitchFamily="34" charset="0"/>
                <a:ea typeface="Calibri" pitchFamily="34" charset="-122"/>
                <a:cs typeface="Calibri" pitchFamily="34" charset="-120"/>
              </a:rPr>
              <a:t>Former aux fonctions Teepee et aux formulaires</a:t>
            </a:r>
            <a:endParaRPr lang="en-US" sz="1400" dirty="0"/>
          </a:p>
        </p:txBody>
      </p:sp>
      <p:sp>
        <p:nvSpPr>
          <p:cNvPr id="23" name="Text 19-s8"/>
          <p:cNvSpPr txBox="1"/>
          <p:nvPr/>
        </p:nvSpPr>
        <p:spPr>
          <a:xfrm>
            <a:off x="7289800" y="1905000"/>
            <a:ext cx="1905000" cy="1524000"/>
          </a:xfrm>
          <a:prstGeom prst="rect">
            <a:avLst/>
          </a:prstGeom>
          <a:noFill/>
          <a:ln/>
        </p:spPr>
        <p:txBody>
          <a:bodyPr wrap="square" lIns="0" tIns="0" rIns="0" bIns="0" rtlCol="0" anchor="t"/>
          <a:lstStyle/>
          <a:p>
            <a:pPr algn="l" indent="0" marL="0">
              <a:lnSpc>
                <a:spcPct val="83333"/>
              </a:lnSpc>
              <a:buNone/>
            </a:pPr>
            <a:r>
              <a:rPr lang="en-US" sz="11000" b="1" dirty="0">
                <a:solidFill>
                  <a:srgbClr val="0F766E"/>
                </a:solidFill>
                <a:latin typeface="Georgia" pitchFamily="34" charset="0"/>
                <a:ea typeface="Georgia" pitchFamily="34" charset="-122"/>
                <a:cs typeface="Georgia" pitchFamily="34" charset="-120"/>
              </a:rPr>
              <a:t>A</a:t>
            </a:r>
            <a:endParaRPr lang="en-US" sz="11000" dirty="0"/>
          </a:p>
        </p:txBody>
      </p:sp>
      <p:sp>
        <p:nvSpPr>
          <p:cNvPr id="24" name="Shape 20-s8"/>
          <p:cNvSpPr/>
          <p:nvPr/>
        </p:nvSpPr>
        <p:spPr>
          <a:xfrm>
            <a:off x="7289800" y="3556000"/>
            <a:ext cx="1905000" cy="63500"/>
          </a:xfrm>
          <a:prstGeom prst="rect">
            <a:avLst/>
          </a:prstGeom>
          <a:solidFill>
            <a:srgbClr val="0F766E"/>
          </a:solidFill>
          <a:ln/>
        </p:spPr>
      </p:sp>
      <p:sp>
        <p:nvSpPr>
          <p:cNvPr id="25" name="Text 21-s8"/>
          <p:cNvSpPr txBox="1"/>
          <p:nvPr/>
        </p:nvSpPr>
        <p:spPr>
          <a:xfrm>
            <a:off x="7289800" y="3746500"/>
            <a:ext cx="1905000" cy="317500"/>
          </a:xfrm>
          <a:prstGeom prst="rect">
            <a:avLst/>
          </a:prstGeom>
          <a:noFill/>
          <a:ln/>
        </p:spPr>
        <p:txBody>
          <a:bodyPr wrap="square" lIns="0" tIns="0" rIns="0" bIns="0" rtlCol="0" anchor="t"/>
          <a:lstStyle/>
          <a:p>
            <a:pPr algn="l" indent="0" marL="0">
              <a:lnSpc>
                <a:spcPct val="100000"/>
              </a:lnSpc>
              <a:buNone/>
            </a:pPr>
            <a:r>
              <a:rPr lang="en-US" sz="1800" b="1" dirty="0">
                <a:solidFill>
                  <a:srgbClr val="12202B"/>
                </a:solidFill>
                <a:latin typeface="Georgia" pitchFamily="34" charset="0"/>
                <a:ea typeface="Georgia" pitchFamily="34" charset="-122"/>
                <a:cs typeface="Georgia" pitchFamily="34" charset="-120"/>
              </a:rPr>
              <a:t>Ability</a:t>
            </a:r>
            <a:endParaRPr lang="en-US" sz="1800" dirty="0"/>
          </a:p>
        </p:txBody>
      </p:sp>
      <p:sp>
        <p:nvSpPr>
          <p:cNvPr id="26" name="Text 22-s8"/>
          <p:cNvSpPr txBox="1"/>
          <p:nvPr/>
        </p:nvSpPr>
        <p:spPr>
          <a:xfrm>
            <a:off x="7289800" y="4127500"/>
            <a:ext cx="1841500" cy="1016000"/>
          </a:xfrm>
          <a:prstGeom prst="rect">
            <a:avLst/>
          </a:prstGeom>
          <a:noFill/>
          <a:ln/>
        </p:spPr>
        <p:txBody>
          <a:bodyPr wrap="square" lIns="0" tIns="0" rIns="0" bIns="0" rtlCol="0" anchor="t"/>
          <a:lstStyle/>
          <a:p>
            <a:pPr algn="l" indent="0" marL="0">
              <a:lnSpc>
                <a:spcPct val="104167"/>
              </a:lnSpc>
              <a:buNone/>
            </a:pPr>
            <a:r>
              <a:rPr lang="en-US" sz="1400" dirty="0">
                <a:solidFill>
                  <a:srgbClr val="5A6A77"/>
                </a:solidFill>
                <a:latin typeface="Calibri" pitchFamily="34" charset="0"/>
                <a:ea typeface="Calibri" pitchFamily="34" charset="-122"/>
                <a:cs typeface="Calibri" pitchFamily="34" charset="-120"/>
              </a:rPr>
              <a:t>Accompagner l’usage en situation réelle</a:t>
            </a:r>
            <a:endParaRPr lang="en-US" sz="1400" dirty="0"/>
          </a:p>
        </p:txBody>
      </p:sp>
      <p:sp>
        <p:nvSpPr>
          <p:cNvPr id="27" name="Text 23-s8"/>
          <p:cNvSpPr txBox="1"/>
          <p:nvPr/>
        </p:nvSpPr>
        <p:spPr>
          <a:xfrm>
            <a:off x="9448800" y="1905000"/>
            <a:ext cx="1905000" cy="1524000"/>
          </a:xfrm>
          <a:prstGeom prst="rect">
            <a:avLst/>
          </a:prstGeom>
          <a:noFill/>
          <a:ln/>
        </p:spPr>
        <p:txBody>
          <a:bodyPr wrap="square" lIns="0" tIns="0" rIns="0" bIns="0" rtlCol="0" anchor="t"/>
          <a:lstStyle/>
          <a:p>
            <a:pPr algn="l" indent="0" marL="0">
              <a:lnSpc>
                <a:spcPct val="83333"/>
              </a:lnSpc>
              <a:buNone/>
            </a:pPr>
            <a:r>
              <a:rPr lang="en-US" sz="11000" b="1" dirty="0">
                <a:solidFill>
                  <a:srgbClr val="C9C4B8"/>
                </a:solidFill>
                <a:latin typeface="Georgia" pitchFamily="34" charset="0"/>
                <a:ea typeface="Georgia" pitchFamily="34" charset="-122"/>
                <a:cs typeface="Georgia" pitchFamily="34" charset="-120"/>
              </a:rPr>
              <a:t>R</a:t>
            </a:r>
            <a:endParaRPr lang="en-US" sz="11000" dirty="0"/>
          </a:p>
        </p:txBody>
      </p:sp>
      <p:sp>
        <p:nvSpPr>
          <p:cNvPr id="28" name="Shape 24-s8"/>
          <p:cNvSpPr/>
          <p:nvPr/>
        </p:nvSpPr>
        <p:spPr>
          <a:xfrm>
            <a:off x="9448800" y="3556000"/>
            <a:ext cx="635000" cy="25400"/>
          </a:xfrm>
          <a:prstGeom prst="rect">
            <a:avLst/>
          </a:prstGeom>
          <a:solidFill>
            <a:srgbClr val="D9D4C8"/>
          </a:solidFill>
          <a:ln/>
        </p:spPr>
      </p:sp>
      <p:sp>
        <p:nvSpPr>
          <p:cNvPr id="29" name="Text 25-s8"/>
          <p:cNvSpPr txBox="1"/>
          <p:nvPr/>
        </p:nvSpPr>
        <p:spPr>
          <a:xfrm>
            <a:off x="9448800" y="3746500"/>
            <a:ext cx="1905000" cy="317500"/>
          </a:xfrm>
          <a:prstGeom prst="rect">
            <a:avLst/>
          </a:prstGeom>
          <a:noFill/>
          <a:ln/>
        </p:spPr>
        <p:txBody>
          <a:bodyPr wrap="square" lIns="0" tIns="0" rIns="0" bIns="0" rtlCol="0" anchor="t"/>
          <a:lstStyle/>
          <a:p>
            <a:pPr algn="l" indent="0" marL="0">
              <a:lnSpc>
                <a:spcPct val="100000"/>
              </a:lnSpc>
              <a:buNone/>
            </a:pPr>
            <a:r>
              <a:rPr lang="en-US" sz="1800" b="1" dirty="0">
                <a:solidFill>
                  <a:srgbClr val="12202B"/>
                </a:solidFill>
                <a:latin typeface="Georgia" pitchFamily="34" charset="0"/>
                <a:ea typeface="Georgia" pitchFamily="34" charset="-122"/>
                <a:cs typeface="Georgia" pitchFamily="34" charset="-120"/>
              </a:rPr>
              <a:t>Reinforcement</a:t>
            </a:r>
            <a:endParaRPr lang="en-US" sz="1800" dirty="0"/>
          </a:p>
        </p:txBody>
      </p:sp>
      <p:sp>
        <p:nvSpPr>
          <p:cNvPr id="30" name="Text 26-s8"/>
          <p:cNvSpPr txBox="1"/>
          <p:nvPr/>
        </p:nvSpPr>
        <p:spPr>
          <a:xfrm>
            <a:off x="9448800" y="4127500"/>
            <a:ext cx="1841500" cy="1016000"/>
          </a:xfrm>
          <a:prstGeom prst="rect">
            <a:avLst/>
          </a:prstGeom>
          <a:noFill/>
          <a:ln/>
        </p:spPr>
        <p:txBody>
          <a:bodyPr wrap="square" lIns="0" tIns="0" rIns="0" bIns="0" rtlCol="0" anchor="t"/>
          <a:lstStyle/>
          <a:p>
            <a:pPr algn="l" indent="0" marL="0">
              <a:lnSpc>
                <a:spcPct val="104167"/>
              </a:lnSpc>
              <a:buNone/>
            </a:pPr>
            <a:r>
              <a:rPr lang="en-US" sz="1400" dirty="0">
                <a:solidFill>
                  <a:srgbClr val="5A6A77"/>
                </a:solidFill>
                <a:latin typeface="Calibri" pitchFamily="34" charset="0"/>
                <a:ea typeface="Calibri" pitchFamily="34" charset="-122"/>
                <a:cs typeface="Calibri" pitchFamily="34" charset="-120"/>
              </a:rPr>
              <a:t>Suivre l’adoption et communiquer les progrès</a:t>
            </a:r>
            <a:endParaRPr lang="en-US" sz="1400" dirty="0"/>
          </a:p>
        </p:txBody>
      </p:sp>
      <p:sp>
        <p:nvSpPr>
          <p:cNvPr id="31" name="Shape 27-s8"/>
          <p:cNvSpPr/>
          <p:nvPr/>
        </p:nvSpPr>
        <p:spPr>
          <a:xfrm>
            <a:off x="7289800" y="5461000"/>
            <a:ext cx="1905000" cy="444500"/>
          </a:xfrm>
          <a:prstGeom prst="roundRect">
            <a:avLst>
              <a:gd name="adj" fmla="val 50000"/>
            </a:avLst>
          </a:prstGeom>
          <a:solidFill>
            <a:srgbClr val="0F766E"/>
          </a:solidFill>
          <a:ln/>
        </p:spPr>
      </p:sp>
      <p:sp>
        <p:nvSpPr>
          <p:cNvPr id="32" name="Text 28-s8"/>
          <p:cNvSpPr txBox="1"/>
          <p:nvPr/>
        </p:nvSpPr>
        <p:spPr>
          <a:xfrm>
            <a:off x="7289800" y="5461000"/>
            <a:ext cx="1905000" cy="4445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Étape critique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B24"/>
        </a:solidFill>
      </p:bgPr>
    </p:bg>
    <p:spTree>
      <p:nvGrpSpPr>
        <p:cNvPr id="1" name="-s9"/>
        <p:cNvGrpSpPr/>
        <p:nvPr/>
      </p:nvGrpSpPr>
      <p:grpSpPr>
        <a:xfrm>
          <a:off x="0" y="0"/>
          <a:ext cx="0" cy="0"/>
          <a:chOff x="0" y="0"/>
          <a:chExt cx="0" cy="0"/>
        </a:xfrm>
      </p:grpSpPr>
      <p:sp>
        <p:nvSpPr>
          <p:cNvPr id="2" name="!!orb"/>
          <p:cNvSpPr/>
          <p:nvPr/>
        </p:nvSpPr>
        <p:spPr>
          <a:xfrm>
            <a:off x="8890000" y="3810000"/>
            <a:ext cx="5715000" cy="5715000"/>
          </a:xfrm>
          <a:prstGeom prst="ellipse">
            <a:avLst/>
          </a:prstGeom>
          <a:solidFill>
            <a:srgbClr val="3CC3B5">
              <a:alpha val="12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2B4457"/>
          </a:solidFill>
          <a:ln/>
        </p:spPr>
      </p:sp>
      <p:sp>
        <p:nvSpPr>
          <p:cNvPr id="8" name="!!fill"/>
          <p:cNvSpPr/>
          <p:nvPr/>
        </p:nvSpPr>
        <p:spPr>
          <a:xfrm>
            <a:off x="812800" y="6642100"/>
            <a:ext cx="4025295" cy="50800"/>
          </a:xfrm>
          <a:prstGeom prst="roundRect">
            <a:avLst>
              <a:gd name="adj" fmla="val 50000"/>
            </a:avLst>
          </a:prstGeom>
          <a:solidFill>
            <a:srgbClr val="3CC3B5"/>
          </a:solidFill>
          <a:ln/>
        </p:spPr>
      </p:sp>
      <p:sp>
        <p:nvSpPr>
          <p:cNvPr id="9" name="!!dot"/>
          <p:cNvSpPr/>
          <p:nvPr/>
        </p:nvSpPr>
        <p:spPr>
          <a:xfrm>
            <a:off x="4749195" y="6604000"/>
            <a:ext cx="127000" cy="127000"/>
          </a:xfrm>
          <a:prstGeom prst="ellipse">
            <a:avLst/>
          </a:prstGeom>
          <a:solidFill>
            <a:srgbClr val="3CC3B5"/>
          </a:solidFill>
          <a:ln/>
        </p:spPr>
      </p:sp>
      <p:sp>
        <p:nvSpPr>
          <p:cNvPr id="10" name="Text 6-s9"/>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F4F1EA"/>
                </a:solidFill>
                <a:latin typeface="Georgia" pitchFamily="34" charset="0"/>
                <a:ea typeface="Georgia" pitchFamily="34" charset="-122"/>
                <a:cs typeface="Georgia" pitchFamily="34" charset="-120"/>
              </a:rPr>
              <a:t>Les risques, du plus au moins critique</a:t>
            </a:r>
            <a:endParaRPr lang="en-US" sz="3200" dirty="0"/>
          </a:p>
        </p:txBody>
      </p:sp>
      <p:sp>
        <p:nvSpPr>
          <p:cNvPr id="11" name="Text 7-s9"/>
          <p:cNvSpPr txBox="1"/>
          <p:nvPr/>
        </p:nvSpPr>
        <p:spPr>
          <a:xfrm>
            <a:off x="812800" y="2095500"/>
            <a:ext cx="3302000" cy="406400"/>
          </a:xfrm>
          <a:prstGeom prst="rect">
            <a:avLst/>
          </a:prstGeom>
          <a:noFill/>
          <a:ln/>
        </p:spPr>
        <p:txBody>
          <a:bodyPr wrap="square" lIns="0" tIns="0" rIns="0" bIns="0" rtlCol="0" anchor="ctr"/>
          <a:lstStyle/>
          <a:p>
            <a:pPr algn="l" indent="0" marL="0">
              <a:lnSpc>
                <a:spcPct val="100000"/>
              </a:lnSpc>
              <a:buNone/>
            </a:pPr>
            <a:r>
              <a:rPr lang="en-US" sz="1700" dirty="0">
                <a:solidFill>
                  <a:srgbClr val="F4F1EA"/>
                </a:solidFill>
                <a:latin typeface="Calibri" pitchFamily="34" charset="0"/>
                <a:ea typeface="Calibri" pitchFamily="34" charset="-122"/>
                <a:cs typeface="Calibri" pitchFamily="34" charset="-120"/>
              </a:rPr>
              <a:t>Instabilité technique</a:t>
            </a:r>
            <a:endParaRPr lang="en-US" sz="1700" dirty="0"/>
          </a:p>
        </p:txBody>
      </p:sp>
      <p:sp>
        <p:nvSpPr>
          <p:cNvPr id="12" name="Shape 8-s9"/>
          <p:cNvSpPr/>
          <p:nvPr/>
        </p:nvSpPr>
        <p:spPr>
          <a:xfrm>
            <a:off x="4318000" y="2159000"/>
            <a:ext cx="6350000" cy="279400"/>
          </a:xfrm>
          <a:prstGeom prst="roundRect">
            <a:avLst>
              <a:gd name="adj" fmla="val 50000"/>
            </a:avLst>
          </a:prstGeom>
          <a:solidFill>
            <a:srgbClr val="15283A"/>
          </a:solidFill>
          <a:ln/>
        </p:spPr>
      </p:sp>
      <p:sp>
        <p:nvSpPr>
          <p:cNvPr id="13" name="Shape 9-s9"/>
          <p:cNvSpPr/>
          <p:nvPr/>
        </p:nvSpPr>
        <p:spPr>
          <a:xfrm>
            <a:off x="4318000" y="2159000"/>
            <a:ext cx="6350000" cy="279400"/>
          </a:xfrm>
          <a:prstGeom prst="roundRect">
            <a:avLst>
              <a:gd name="adj" fmla="val 50000"/>
            </a:avLst>
          </a:prstGeom>
          <a:solidFill>
            <a:srgbClr val="F26B3A"/>
          </a:solidFill>
          <a:ln/>
        </p:spPr>
      </p:sp>
      <p:sp>
        <p:nvSpPr>
          <p:cNvPr id="14" name="Text 10-s9"/>
          <p:cNvSpPr txBox="1"/>
          <p:nvPr/>
        </p:nvSpPr>
        <p:spPr>
          <a:xfrm>
            <a:off x="10858500" y="2095500"/>
            <a:ext cx="571500" cy="406400"/>
          </a:xfrm>
          <a:prstGeom prst="rect">
            <a:avLst/>
          </a:prstGeom>
          <a:noFill/>
          <a:ln/>
        </p:spPr>
        <p:txBody>
          <a:bodyPr wrap="square" lIns="0" tIns="0" rIns="0" bIns="0" rtlCol="0" anchor="ctr"/>
          <a:lstStyle/>
          <a:p>
            <a:pPr algn="l" indent="0" marL="0">
              <a:lnSpc>
                <a:spcPct val="100000"/>
              </a:lnSpc>
              <a:buNone/>
            </a:pPr>
            <a:r>
              <a:rPr lang="en-US" sz="1600" b="1" dirty="0">
                <a:solidFill>
                  <a:srgbClr val="F4F1EA"/>
                </a:solidFill>
                <a:latin typeface="Georgia" pitchFamily="34" charset="0"/>
                <a:ea typeface="Georgia" pitchFamily="34" charset="-122"/>
                <a:cs typeface="Georgia" pitchFamily="34" charset="-120"/>
              </a:rPr>
              <a:t>4 / 4</a:t>
            </a:r>
            <a:endParaRPr lang="en-US" sz="1600" dirty="0"/>
          </a:p>
        </p:txBody>
      </p:sp>
      <p:sp>
        <p:nvSpPr>
          <p:cNvPr id="15" name="Text 11-s9"/>
          <p:cNvSpPr txBox="1"/>
          <p:nvPr/>
        </p:nvSpPr>
        <p:spPr>
          <a:xfrm>
            <a:off x="812800" y="2730500"/>
            <a:ext cx="3302000" cy="406400"/>
          </a:xfrm>
          <a:prstGeom prst="rect">
            <a:avLst/>
          </a:prstGeom>
          <a:noFill/>
          <a:ln/>
        </p:spPr>
        <p:txBody>
          <a:bodyPr wrap="square" lIns="0" tIns="0" rIns="0" bIns="0" rtlCol="0" anchor="ctr"/>
          <a:lstStyle/>
          <a:p>
            <a:pPr algn="l" indent="0" marL="0">
              <a:lnSpc>
                <a:spcPct val="100000"/>
              </a:lnSpc>
              <a:buNone/>
            </a:pPr>
            <a:r>
              <a:rPr lang="en-US" sz="1700" dirty="0">
                <a:solidFill>
                  <a:srgbClr val="F4F1EA"/>
                </a:solidFill>
                <a:latin typeface="Calibri" pitchFamily="34" charset="0"/>
                <a:ea typeface="Calibri" pitchFamily="34" charset="-122"/>
                <a:cs typeface="Calibri" pitchFamily="34" charset="-120"/>
              </a:rPr>
              <a:t>Perte de confiance</a:t>
            </a:r>
            <a:endParaRPr lang="en-US" sz="1700" dirty="0"/>
          </a:p>
        </p:txBody>
      </p:sp>
      <p:sp>
        <p:nvSpPr>
          <p:cNvPr id="16" name="Shape 12-s9"/>
          <p:cNvSpPr/>
          <p:nvPr/>
        </p:nvSpPr>
        <p:spPr>
          <a:xfrm>
            <a:off x="4318000" y="2794000"/>
            <a:ext cx="6350000" cy="279400"/>
          </a:xfrm>
          <a:prstGeom prst="roundRect">
            <a:avLst>
              <a:gd name="adj" fmla="val 50000"/>
            </a:avLst>
          </a:prstGeom>
          <a:solidFill>
            <a:srgbClr val="15283A"/>
          </a:solidFill>
          <a:ln/>
        </p:spPr>
      </p:sp>
      <p:sp>
        <p:nvSpPr>
          <p:cNvPr id="17" name="Shape 13-s9"/>
          <p:cNvSpPr/>
          <p:nvPr/>
        </p:nvSpPr>
        <p:spPr>
          <a:xfrm>
            <a:off x="4318000" y="2794000"/>
            <a:ext cx="6350000" cy="279400"/>
          </a:xfrm>
          <a:prstGeom prst="roundRect">
            <a:avLst>
              <a:gd name="adj" fmla="val 50000"/>
            </a:avLst>
          </a:prstGeom>
          <a:solidFill>
            <a:srgbClr val="F26B3A"/>
          </a:solidFill>
          <a:ln/>
        </p:spPr>
      </p:sp>
      <p:sp>
        <p:nvSpPr>
          <p:cNvPr id="18" name="Text 14-s9"/>
          <p:cNvSpPr txBox="1"/>
          <p:nvPr/>
        </p:nvSpPr>
        <p:spPr>
          <a:xfrm>
            <a:off x="10858500" y="2730500"/>
            <a:ext cx="571500" cy="406400"/>
          </a:xfrm>
          <a:prstGeom prst="rect">
            <a:avLst/>
          </a:prstGeom>
          <a:noFill/>
          <a:ln/>
        </p:spPr>
        <p:txBody>
          <a:bodyPr wrap="square" lIns="0" tIns="0" rIns="0" bIns="0" rtlCol="0" anchor="ctr"/>
          <a:lstStyle/>
          <a:p>
            <a:pPr algn="l" indent="0" marL="0">
              <a:lnSpc>
                <a:spcPct val="100000"/>
              </a:lnSpc>
              <a:buNone/>
            </a:pPr>
            <a:r>
              <a:rPr lang="en-US" sz="1600" b="1" dirty="0">
                <a:solidFill>
                  <a:srgbClr val="F4F1EA"/>
                </a:solidFill>
                <a:latin typeface="Georgia" pitchFamily="34" charset="0"/>
                <a:ea typeface="Georgia" pitchFamily="34" charset="-122"/>
                <a:cs typeface="Georgia" pitchFamily="34" charset="-120"/>
              </a:rPr>
              <a:t>4 / 4</a:t>
            </a:r>
            <a:endParaRPr lang="en-US" sz="1600" dirty="0"/>
          </a:p>
        </p:txBody>
      </p:sp>
      <p:sp>
        <p:nvSpPr>
          <p:cNvPr id="19" name="Text 15-s9"/>
          <p:cNvSpPr txBox="1"/>
          <p:nvPr/>
        </p:nvSpPr>
        <p:spPr>
          <a:xfrm>
            <a:off x="812800" y="3365500"/>
            <a:ext cx="3302000" cy="406400"/>
          </a:xfrm>
          <a:prstGeom prst="rect">
            <a:avLst/>
          </a:prstGeom>
          <a:noFill/>
          <a:ln/>
        </p:spPr>
        <p:txBody>
          <a:bodyPr wrap="square" lIns="0" tIns="0" rIns="0" bIns="0" rtlCol="0" anchor="ctr"/>
          <a:lstStyle/>
          <a:p>
            <a:pPr algn="l" indent="0" marL="0">
              <a:lnSpc>
                <a:spcPct val="100000"/>
              </a:lnSpc>
              <a:buNone/>
            </a:pPr>
            <a:r>
              <a:rPr lang="en-US" sz="1700" dirty="0">
                <a:solidFill>
                  <a:srgbClr val="F4F1EA"/>
                </a:solidFill>
                <a:latin typeface="Calibri" pitchFamily="34" charset="0"/>
                <a:ea typeface="Calibri" pitchFamily="34" charset="-122"/>
                <a:cs typeface="Calibri" pitchFamily="34" charset="-120"/>
              </a:rPr>
              <a:t>Perte de données</a:t>
            </a:r>
            <a:endParaRPr lang="en-US" sz="1700" dirty="0"/>
          </a:p>
        </p:txBody>
      </p:sp>
      <p:sp>
        <p:nvSpPr>
          <p:cNvPr id="20" name="Shape 16-s9"/>
          <p:cNvSpPr/>
          <p:nvPr/>
        </p:nvSpPr>
        <p:spPr>
          <a:xfrm>
            <a:off x="4318000" y="3429000"/>
            <a:ext cx="6350000" cy="279400"/>
          </a:xfrm>
          <a:prstGeom prst="roundRect">
            <a:avLst>
              <a:gd name="adj" fmla="val 50000"/>
            </a:avLst>
          </a:prstGeom>
          <a:solidFill>
            <a:srgbClr val="15283A"/>
          </a:solidFill>
          <a:ln/>
        </p:spPr>
      </p:sp>
      <p:sp>
        <p:nvSpPr>
          <p:cNvPr id="21" name="Shape 17-s9"/>
          <p:cNvSpPr/>
          <p:nvPr/>
        </p:nvSpPr>
        <p:spPr>
          <a:xfrm>
            <a:off x="4318000" y="3429000"/>
            <a:ext cx="6350000" cy="279400"/>
          </a:xfrm>
          <a:prstGeom prst="roundRect">
            <a:avLst>
              <a:gd name="adj" fmla="val 50000"/>
            </a:avLst>
          </a:prstGeom>
          <a:solidFill>
            <a:srgbClr val="F26B3A"/>
          </a:solidFill>
          <a:ln/>
        </p:spPr>
      </p:sp>
      <p:sp>
        <p:nvSpPr>
          <p:cNvPr id="22" name="Text 18-s9"/>
          <p:cNvSpPr txBox="1"/>
          <p:nvPr/>
        </p:nvSpPr>
        <p:spPr>
          <a:xfrm>
            <a:off x="10858500" y="3365500"/>
            <a:ext cx="571500" cy="406400"/>
          </a:xfrm>
          <a:prstGeom prst="rect">
            <a:avLst/>
          </a:prstGeom>
          <a:noFill/>
          <a:ln/>
        </p:spPr>
        <p:txBody>
          <a:bodyPr wrap="square" lIns="0" tIns="0" rIns="0" bIns="0" rtlCol="0" anchor="ctr"/>
          <a:lstStyle/>
          <a:p>
            <a:pPr algn="l" indent="0" marL="0">
              <a:lnSpc>
                <a:spcPct val="100000"/>
              </a:lnSpc>
              <a:buNone/>
            </a:pPr>
            <a:r>
              <a:rPr lang="en-US" sz="1600" b="1" dirty="0">
                <a:solidFill>
                  <a:srgbClr val="F4F1EA"/>
                </a:solidFill>
                <a:latin typeface="Georgia" pitchFamily="34" charset="0"/>
                <a:ea typeface="Georgia" pitchFamily="34" charset="-122"/>
                <a:cs typeface="Georgia" pitchFamily="34" charset="-120"/>
              </a:rPr>
              <a:t>4 / 4</a:t>
            </a:r>
            <a:endParaRPr lang="en-US" sz="1600" dirty="0"/>
          </a:p>
        </p:txBody>
      </p:sp>
      <p:sp>
        <p:nvSpPr>
          <p:cNvPr id="23" name="Text 19-s9"/>
          <p:cNvSpPr txBox="1"/>
          <p:nvPr/>
        </p:nvSpPr>
        <p:spPr>
          <a:xfrm>
            <a:off x="812800" y="4000500"/>
            <a:ext cx="3302000" cy="406400"/>
          </a:xfrm>
          <a:prstGeom prst="rect">
            <a:avLst/>
          </a:prstGeom>
          <a:noFill/>
          <a:ln/>
        </p:spPr>
        <p:txBody>
          <a:bodyPr wrap="square" lIns="0" tIns="0" rIns="0" bIns="0" rtlCol="0" anchor="ctr"/>
          <a:lstStyle/>
          <a:p>
            <a:pPr algn="l" indent="0" marL="0">
              <a:lnSpc>
                <a:spcPct val="100000"/>
              </a:lnSpc>
              <a:buNone/>
            </a:pPr>
            <a:r>
              <a:rPr lang="en-US" sz="1700" dirty="0">
                <a:solidFill>
                  <a:srgbClr val="F4F1EA"/>
                </a:solidFill>
                <a:latin typeface="Calibri" pitchFamily="34" charset="0"/>
                <a:ea typeface="Calibri" pitchFamily="34" charset="-122"/>
                <a:cs typeface="Calibri" pitchFamily="34" charset="-120"/>
              </a:rPr>
              <a:t>Retard de planning</a:t>
            </a:r>
            <a:endParaRPr lang="en-US" sz="1700" dirty="0"/>
          </a:p>
        </p:txBody>
      </p:sp>
      <p:sp>
        <p:nvSpPr>
          <p:cNvPr id="24" name="Shape 20-s9"/>
          <p:cNvSpPr/>
          <p:nvPr/>
        </p:nvSpPr>
        <p:spPr>
          <a:xfrm>
            <a:off x="4318000" y="4064000"/>
            <a:ext cx="6350000" cy="279400"/>
          </a:xfrm>
          <a:prstGeom prst="roundRect">
            <a:avLst>
              <a:gd name="adj" fmla="val 50000"/>
            </a:avLst>
          </a:prstGeom>
          <a:solidFill>
            <a:srgbClr val="15283A"/>
          </a:solidFill>
          <a:ln/>
        </p:spPr>
      </p:sp>
      <p:sp>
        <p:nvSpPr>
          <p:cNvPr id="25" name="Shape 21-s9"/>
          <p:cNvSpPr/>
          <p:nvPr/>
        </p:nvSpPr>
        <p:spPr>
          <a:xfrm>
            <a:off x="4318000" y="4064000"/>
            <a:ext cx="4762500" cy="279400"/>
          </a:xfrm>
          <a:prstGeom prst="roundRect">
            <a:avLst>
              <a:gd name="adj" fmla="val 50000"/>
            </a:avLst>
          </a:prstGeom>
          <a:solidFill>
            <a:srgbClr val="3CC3B5"/>
          </a:solidFill>
          <a:ln/>
        </p:spPr>
      </p:sp>
      <p:sp>
        <p:nvSpPr>
          <p:cNvPr id="26" name="Text 22-s9"/>
          <p:cNvSpPr txBox="1"/>
          <p:nvPr/>
        </p:nvSpPr>
        <p:spPr>
          <a:xfrm>
            <a:off x="10858500" y="4000500"/>
            <a:ext cx="571500" cy="406400"/>
          </a:xfrm>
          <a:prstGeom prst="rect">
            <a:avLst/>
          </a:prstGeom>
          <a:noFill/>
          <a:ln/>
        </p:spPr>
        <p:txBody>
          <a:bodyPr wrap="square" lIns="0" tIns="0" rIns="0" bIns="0" rtlCol="0" anchor="ctr"/>
          <a:lstStyle/>
          <a:p>
            <a:pPr algn="l" indent="0" marL="0">
              <a:lnSpc>
                <a:spcPct val="100000"/>
              </a:lnSpc>
              <a:buNone/>
            </a:pPr>
            <a:r>
              <a:rPr lang="en-US" sz="1600" b="1" dirty="0">
                <a:solidFill>
                  <a:srgbClr val="F4F1EA"/>
                </a:solidFill>
                <a:latin typeface="Georgia" pitchFamily="34" charset="0"/>
                <a:ea typeface="Georgia" pitchFamily="34" charset="-122"/>
                <a:cs typeface="Georgia" pitchFamily="34" charset="-120"/>
              </a:rPr>
              <a:t>3 / 4</a:t>
            </a:r>
            <a:endParaRPr lang="en-US" sz="1600" dirty="0"/>
          </a:p>
        </p:txBody>
      </p:sp>
      <p:sp>
        <p:nvSpPr>
          <p:cNvPr id="27" name="Text 23-s9"/>
          <p:cNvSpPr txBox="1"/>
          <p:nvPr/>
        </p:nvSpPr>
        <p:spPr>
          <a:xfrm>
            <a:off x="812800" y="4635500"/>
            <a:ext cx="3302000" cy="406400"/>
          </a:xfrm>
          <a:prstGeom prst="rect">
            <a:avLst/>
          </a:prstGeom>
          <a:noFill/>
          <a:ln/>
        </p:spPr>
        <p:txBody>
          <a:bodyPr wrap="square" lIns="0" tIns="0" rIns="0" bIns="0" rtlCol="0" anchor="ctr"/>
          <a:lstStyle/>
          <a:p>
            <a:pPr algn="l" indent="0" marL="0">
              <a:lnSpc>
                <a:spcPct val="100000"/>
              </a:lnSpc>
              <a:buNone/>
            </a:pPr>
            <a:r>
              <a:rPr lang="en-US" sz="1700" dirty="0">
                <a:solidFill>
                  <a:srgbClr val="F4F1EA"/>
                </a:solidFill>
                <a:latin typeface="Calibri" pitchFamily="34" charset="0"/>
                <a:ea typeface="Calibri" pitchFamily="34" charset="-122"/>
                <a:cs typeface="Calibri" pitchFamily="34" charset="-120"/>
              </a:rPr>
              <a:t>Maîtrise de l’outil</a:t>
            </a:r>
            <a:endParaRPr lang="en-US" sz="1700" dirty="0"/>
          </a:p>
        </p:txBody>
      </p:sp>
      <p:sp>
        <p:nvSpPr>
          <p:cNvPr id="28" name="Shape 24-s9"/>
          <p:cNvSpPr/>
          <p:nvPr/>
        </p:nvSpPr>
        <p:spPr>
          <a:xfrm>
            <a:off x="4318000" y="4699000"/>
            <a:ext cx="6350000" cy="279400"/>
          </a:xfrm>
          <a:prstGeom prst="roundRect">
            <a:avLst>
              <a:gd name="adj" fmla="val 50000"/>
            </a:avLst>
          </a:prstGeom>
          <a:solidFill>
            <a:srgbClr val="15283A"/>
          </a:solidFill>
          <a:ln/>
        </p:spPr>
      </p:sp>
      <p:sp>
        <p:nvSpPr>
          <p:cNvPr id="29" name="Shape 25-s9"/>
          <p:cNvSpPr/>
          <p:nvPr/>
        </p:nvSpPr>
        <p:spPr>
          <a:xfrm>
            <a:off x="4318000" y="4699000"/>
            <a:ext cx="3175000" cy="279400"/>
          </a:xfrm>
          <a:prstGeom prst="roundRect">
            <a:avLst>
              <a:gd name="adj" fmla="val 50000"/>
            </a:avLst>
          </a:prstGeom>
          <a:solidFill>
            <a:srgbClr val="3CC3B5"/>
          </a:solidFill>
          <a:ln/>
        </p:spPr>
      </p:sp>
      <p:sp>
        <p:nvSpPr>
          <p:cNvPr id="30" name="Text 26-s9"/>
          <p:cNvSpPr txBox="1"/>
          <p:nvPr/>
        </p:nvSpPr>
        <p:spPr>
          <a:xfrm>
            <a:off x="10858500" y="4635500"/>
            <a:ext cx="571500" cy="406400"/>
          </a:xfrm>
          <a:prstGeom prst="rect">
            <a:avLst/>
          </a:prstGeom>
          <a:noFill/>
          <a:ln/>
        </p:spPr>
        <p:txBody>
          <a:bodyPr wrap="square" lIns="0" tIns="0" rIns="0" bIns="0" rtlCol="0" anchor="ctr"/>
          <a:lstStyle/>
          <a:p>
            <a:pPr algn="l" indent="0" marL="0">
              <a:lnSpc>
                <a:spcPct val="100000"/>
              </a:lnSpc>
              <a:buNone/>
            </a:pPr>
            <a:r>
              <a:rPr lang="en-US" sz="1600" b="1" dirty="0">
                <a:solidFill>
                  <a:srgbClr val="F4F1EA"/>
                </a:solidFill>
                <a:latin typeface="Georgia" pitchFamily="34" charset="0"/>
                <a:ea typeface="Georgia" pitchFamily="34" charset="-122"/>
                <a:cs typeface="Georgia" pitchFamily="34" charset="-120"/>
              </a:rPr>
              <a:t>2 / 4</a:t>
            </a:r>
            <a:endParaRPr lang="en-US" sz="1600" dirty="0"/>
          </a:p>
        </p:txBody>
      </p:sp>
      <p:sp>
        <p:nvSpPr>
          <p:cNvPr id="31" name="Text 27-s9"/>
          <p:cNvSpPr txBox="1"/>
          <p:nvPr/>
        </p:nvSpPr>
        <p:spPr>
          <a:xfrm>
            <a:off x="812800" y="5270500"/>
            <a:ext cx="3302000" cy="406400"/>
          </a:xfrm>
          <a:prstGeom prst="rect">
            <a:avLst/>
          </a:prstGeom>
          <a:noFill/>
          <a:ln/>
        </p:spPr>
        <p:txBody>
          <a:bodyPr wrap="square" lIns="0" tIns="0" rIns="0" bIns="0" rtlCol="0" anchor="ctr"/>
          <a:lstStyle/>
          <a:p>
            <a:pPr algn="l" indent="0" marL="0">
              <a:lnSpc>
                <a:spcPct val="100000"/>
              </a:lnSpc>
              <a:buNone/>
            </a:pPr>
            <a:r>
              <a:rPr lang="en-US" sz="1700" dirty="0">
                <a:solidFill>
                  <a:srgbClr val="F4F1EA"/>
                </a:solidFill>
                <a:latin typeface="Calibri" pitchFamily="34" charset="0"/>
                <a:ea typeface="Calibri" pitchFamily="34" charset="-122"/>
                <a:cs typeface="Calibri" pitchFamily="34" charset="-120"/>
              </a:rPr>
              <a:t>Résistance au changement</a:t>
            </a:r>
            <a:endParaRPr lang="en-US" sz="1700" dirty="0"/>
          </a:p>
        </p:txBody>
      </p:sp>
      <p:sp>
        <p:nvSpPr>
          <p:cNvPr id="32" name="Shape 28-s9"/>
          <p:cNvSpPr/>
          <p:nvPr/>
        </p:nvSpPr>
        <p:spPr>
          <a:xfrm>
            <a:off x="4318000" y="5334000"/>
            <a:ext cx="6350000" cy="279400"/>
          </a:xfrm>
          <a:prstGeom prst="roundRect">
            <a:avLst>
              <a:gd name="adj" fmla="val 50000"/>
            </a:avLst>
          </a:prstGeom>
          <a:solidFill>
            <a:srgbClr val="15283A"/>
          </a:solidFill>
          <a:ln/>
        </p:spPr>
      </p:sp>
      <p:sp>
        <p:nvSpPr>
          <p:cNvPr id="33" name="Shape 29-s9"/>
          <p:cNvSpPr/>
          <p:nvPr/>
        </p:nvSpPr>
        <p:spPr>
          <a:xfrm>
            <a:off x="4318000" y="5334000"/>
            <a:ext cx="3175000" cy="279400"/>
          </a:xfrm>
          <a:prstGeom prst="roundRect">
            <a:avLst>
              <a:gd name="adj" fmla="val 50000"/>
            </a:avLst>
          </a:prstGeom>
          <a:solidFill>
            <a:srgbClr val="3CC3B5"/>
          </a:solidFill>
          <a:ln/>
        </p:spPr>
      </p:sp>
      <p:sp>
        <p:nvSpPr>
          <p:cNvPr id="34" name="Text 30-s9"/>
          <p:cNvSpPr txBox="1"/>
          <p:nvPr/>
        </p:nvSpPr>
        <p:spPr>
          <a:xfrm>
            <a:off x="10858500" y="5270500"/>
            <a:ext cx="571500" cy="406400"/>
          </a:xfrm>
          <a:prstGeom prst="rect">
            <a:avLst/>
          </a:prstGeom>
          <a:noFill/>
          <a:ln/>
        </p:spPr>
        <p:txBody>
          <a:bodyPr wrap="square" lIns="0" tIns="0" rIns="0" bIns="0" rtlCol="0" anchor="ctr"/>
          <a:lstStyle/>
          <a:p>
            <a:pPr algn="l" indent="0" marL="0">
              <a:lnSpc>
                <a:spcPct val="100000"/>
              </a:lnSpc>
              <a:buNone/>
            </a:pPr>
            <a:r>
              <a:rPr lang="en-US" sz="1600" b="1" dirty="0">
                <a:solidFill>
                  <a:srgbClr val="F4F1EA"/>
                </a:solidFill>
                <a:latin typeface="Georgia" pitchFamily="34" charset="0"/>
                <a:ea typeface="Georgia" pitchFamily="34" charset="-122"/>
                <a:cs typeface="Georgia" pitchFamily="34" charset="-120"/>
              </a:rPr>
              <a:t>2 / 4</a:t>
            </a:r>
            <a:endParaRPr lang="en-US" sz="1600" dirty="0"/>
          </a:p>
        </p:txBody>
      </p:sp>
      <p:sp>
        <p:nvSpPr>
          <p:cNvPr id="35" name="Text 31-s9"/>
          <p:cNvSpPr txBox="1"/>
          <p:nvPr/>
        </p:nvSpPr>
        <p:spPr>
          <a:xfrm>
            <a:off x="812800" y="6032500"/>
            <a:ext cx="10566400" cy="254000"/>
          </a:xfrm>
          <a:prstGeom prst="rect">
            <a:avLst/>
          </a:prstGeom>
          <a:noFill/>
          <a:ln/>
        </p:spPr>
        <p:txBody>
          <a:bodyPr wrap="square" lIns="0" tIns="0" rIns="0" bIns="0" rtlCol="0" anchor="t"/>
          <a:lstStyle/>
          <a:p>
            <a:pPr algn="l" indent="0" marL="0">
              <a:lnSpc>
                <a:spcPct val="100000"/>
              </a:lnSpc>
              <a:buNone/>
            </a:pPr>
            <a:r>
              <a:rPr lang="en-US" sz="1200" i="1" dirty="0">
                <a:solidFill>
                  <a:srgbClr val="9DB0BF"/>
                </a:solidFill>
                <a:latin typeface="Calibri" pitchFamily="34" charset="0"/>
                <a:ea typeface="Calibri" pitchFamily="34" charset="-122"/>
                <a:cs typeface="Calibri" pitchFamily="34" charset="-120"/>
              </a:rPr>
              <a:t>Criticité de 1 (faible) à 4 (critique), évaluation qualitative issue de la note de cadrage</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s10"/>
        <p:cNvGrpSpPr/>
        <p:nvPr/>
      </p:nvGrpSpPr>
      <p:grpSpPr>
        <a:xfrm>
          <a:off x="0" y="0"/>
          <a:ext cx="0" cy="0"/>
          <a:chOff x="0" y="0"/>
          <a:chExt cx="0" cy="0"/>
        </a:xfrm>
      </p:grpSpPr>
      <p:sp>
        <p:nvSpPr>
          <p:cNvPr id="2" name="!!orb"/>
          <p:cNvSpPr/>
          <p:nvPr/>
        </p:nvSpPr>
        <p:spPr>
          <a:xfrm>
            <a:off x="9525000" y="4445000"/>
            <a:ext cx="5080000" cy="5080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4528457" cy="50800"/>
          </a:xfrm>
          <a:prstGeom prst="roundRect">
            <a:avLst>
              <a:gd name="adj" fmla="val 50000"/>
            </a:avLst>
          </a:prstGeom>
          <a:solidFill>
            <a:srgbClr val="0F766E"/>
          </a:solidFill>
          <a:ln/>
        </p:spPr>
      </p:sp>
      <p:sp>
        <p:nvSpPr>
          <p:cNvPr id="9" name="!!dot"/>
          <p:cNvSpPr/>
          <p:nvPr/>
        </p:nvSpPr>
        <p:spPr>
          <a:xfrm>
            <a:off x="5252357" y="6604000"/>
            <a:ext cx="127000" cy="127000"/>
          </a:xfrm>
          <a:prstGeom prst="ellipse">
            <a:avLst/>
          </a:prstGeom>
          <a:solidFill>
            <a:srgbClr val="0F766E"/>
          </a:solidFill>
          <a:ln/>
        </p:spPr>
      </p:sp>
      <p:sp>
        <p:nvSpPr>
          <p:cNvPr id="10" name="Text 6-s10"/>
          <p:cNvSpPr txBox="1"/>
          <p:nvPr/>
        </p:nvSpPr>
        <p:spPr>
          <a:xfrm>
            <a:off x="812800" y="1206500"/>
            <a:ext cx="9525000" cy="571500"/>
          </a:xfrm>
          <a:prstGeom prst="rect">
            <a:avLst/>
          </a:prstGeom>
          <a:noFill/>
          <a:ln/>
        </p:spPr>
        <p:txBody>
          <a:bodyPr wrap="square" lIns="0" tIns="0" rIns="0" bIns="0" rtlCol="0" anchor="t"/>
          <a:lstStyle/>
          <a:p>
            <a:pPr algn="l" indent="0" marL="0">
              <a:lnSpc>
                <a:spcPct val="100000"/>
              </a:lnSpc>
              <a:buNone/>
            </a:pPr>
            <a:r>
              <a:rPr lang="en-US" sz="2800" b="1" dirty="0">
                <a:solidFill>
                  <a:srgbClr val="12202B"/>
                </a:solidFill>
                <a:latin typeface="Georgia" pitchFamily="34" charset="0"/>
                <a:ea typeface="Georgia" pitchFamily="34" charset="-122"/>
                <a:cs typeface="Georgia" pitchFamily="34" charset="-120"/>
              </a:rPr>
              <a:t>Du formulaire Kizeo au terrain</a:t>
            </a:r>
            <a:endParaRPr lang="en-US" sz="2800" dirty="0"/>
          </a:p>
        </p:txBody>
      </p:sp>
      <p:sp>
        <p:nvSpPr>
          <p:cNvPr id="11" name="!!mcard"/>
          <p:cNvSpPr/>
          <p:nvPr/>
        </p:nvSpPr>
        <p:spPr>
          <a:xfrm>
            <a:off x="812800" y="1841500"/>
            <a:ext cx="6985000" cy="2984500"/>
          </a:xfrm>
          <a:prstGeom prst="roundRect">
            <a:avLst>
              <a:gd name="adj" fmla="val 4000"/>
            </a:avLst>
          </a:prstGeom>
          <a:solidFill>
            <a:srgbClr val="FFFFFF"/>
          </a:solidFill>
          <a:ln w="12700">
            <a:solidFill>
              <a:srgbClr val="D9D4C8"/>
            </a:solidFill>
            <a:prstDash val="solid"/>
          </a:ln>
        </p:spPr>
      </p:sp>
      <p:sp>
        <p:nvSpPr>
          <p:cNvPr id="12" name="!!tf0"/>
          <p:cNvSpPr/>
          <p:nvPr/>
        </p:nvSpPr>
        <p:spPr>
          <a:xfrm>
            <a:off x="812800" y="5397500"/>
            <a:ext cx="1524000" cy="762000"/>
          </a:xfrm>
          <a:prstGeom prst="roundRect">
            <a:avLst>
              <a:gd name="adj" fmla="val 6000"/>
            </a:avLst>
          </a:prstGeom>
          <a:solidFill>
            <a:srgbClr val="FFFFFF"/>
          </a:solidFill>
          <a:ln w="12700">
            <a:solidFill>
              <a:srgbClr val="D9D4C8"/>
            </a:solidFill>
            <a:prstDash val="solid"/>
          </a:ln>
        </p:spPr>
      </p:sp>
      <p:sp>
        <p:nvSpPr>
          <p:cNvPr id="13" name="!!tf1"/>
          <p:cNvSpPr/>
          <p:nvPr/>
        </p:nvSpPr>
        <p:spPr>
          <a:xfrm>
            <a:off x="2425700" y="5397500"/>
            <a:ext cx="1524000" cy="762000"/>
          </a:xfrm>
          <a:prstGeom prst="roundRect">
            <a:avLst>
              <a:gd name="adj" fmla="val 6000"/>
            </a:avLst>
          </a:prstGeom>
          <a:solidFill>
            <a:srgbClr val="FFFFFF"/>
          </a:solidFill>
          <a:ln w="12700">
            <a:solidFill>
              <a:srgbClr val="D9D4C8"/>
            </a:solidFill>
            <a:prstDash val="solid"/>
          </a:ln>
        </p:spPr>
      </p:sp>
      <p:sp>
        <p:nvSpPr>
          <p:cNvPr id="14" name="!!tf2"/>
          <p:cNvSpPr/>
          <p:nvPr/>
        </p:nvSpPr>
        <p:spPr>
          <a:xfrm>
            <a:off x="4038600" y="5397500"/>
            <a:ext cx="1524000" cy="762000"/>
          </a:xfrm>
          <a:prstGeom prst="roundRect">
            <a:avLst>
              <a:gd name="adj" fmla="val 6000"/>
            </a:avLst>
          </a:prstGeom>
          <a:solidFill>
            <a:srgbClr val="FFFFFF"/>
          </a:solidFill>
          <a:ln w="12700">
            <a:solidFill>
              <a:srgbClr val="D9D4C8"/>
            </a:solidFill>
            <a:prstDash val="solid"/>
          </a:ln>
        </p:spPr>
      </p:sp>
      <p:sp>
        <p:nvSpPr>
          <p:cNvPr id="15" name="!!tf3"/>
          <p:cNvSpPr/>
          <p:nvPr/>
        </p:nvSpPr>
        <p:spPr>
          <a:xfrm>
            <a:off x="5651500" y="5397500"/>
            <a:ext cx="1524000" cy="762000"/>
          </a:xfrm>
          <a:prstGeom prst="roundRect">
            <a:avLst>
              <a:gd name="adj" fmla="val 6000"/>
            </a:avLst>
          </a:prstGeom>
          <a:solidFill>
            <a:srgbClr val="FFFFFF"/>
          </a:solidFill>
          <a:ln w="12700">
            <a:solidFill>
              <a:srgbClr val="D9D4C8"/>
            </a:solidFill>
            <a:prstDash val="solid"/>
          </a:ln>
        </p:spPr>
      </p:sp>
      <p:sp>
        <p:nvSpPr>
          <p:cNvPr id="16" name="!!tf4"/>
          <p:cNvSpPr/>
          <p:nvPr/>
        </p:nvSpPr>
        <p:spPr>
          <a:xfrm>
            <a:off x="7264400" y="5397500"/>
            <a:ext cx="1524000" cy="762000"/>
          </a:xfrm>
          <a:prstGeom prst="roundRect">
            <a:avLst>
              <a:gd name="adj" fmla="val 6000"/>
            </a:avLst>
          </a:prstGeom>
          <a:solidFill>
            <a:srgbClr val="FFFFFF"/>
          </a:solidFill>
          <a:ln w="12700">
            <a:solidFill>
              <a:srgbClr val="D9D4C8"/>
            </a:solidFill>
            <a:prstDash val="solid"/>
          </a:ln>
        </p:spPr>
      </p:sp>
      <p:sp>
        <p:nvSpPr>
          <p:cNvPr id="17" name="!!tf5"/>
          <p:cNvSpPr/>
          <p:nvPr/>
        </p:nvSpPr>
        <p:spPr>
          <a:xfrm>
            <a:off x="8877300" y="5397500"/>
            <a:ext cx="1524000" cy="762000"/>
          </a:xfrm>
          <a:prstGeom prst="roundRect">
            <a:avLst>
              <a:gd name="adj" fmla="val 6000"/>
            </a:avLst>
          </a:prstGeom>
          <a:solidFill>
            <a:srgbClr val="FFFFFF"/>
          </a:solidFill>
          <a:ln w="12700">
            <a:solidFill>
              <a:srgbClr val="D9D4C8"/>
            </a:solidFill>
            <a:prstDash val="solid"/>
          </a:ln>
        </p:spPr>
      </p:sp>
      <p:sp>
        <p:nvSpPr>
          <p:cNvPr id="18" name="!!sel"/>
          <p:cNvSpPr/>
          <p:nvPr/>
        </p:nvSpPr>
        <p:spPr>
          <a:xfrm>
            <a:off x="774700" y="5359400"/>
            <a:ext cx="1600200" cy="838200"/>
          </a:xfrm>
          <a:prstGeom prst="roundRect">
            <a:avLst>
              <a:gd name="adj" fmla="val 7000"/>
            </a:avLst>
          </a:prstGeom>
          <a:ln w="31750">
            <a:solidFill>
              <a:srgbClr val="0F766E"/>
            </a:solidFill>
            <a:prstDash val="solid"/>
          </a:ln>
        </p:spPr>
      </p:sp>
      <p:pic>
        <p:nvPicPr>
          <p:cNvPr id="19" name="!!shot0" descr="Cartographie">    </p:cNvPr>
          <p:cNvPicPr>
            <a:picLocks noChangeAspect="1"/>
          </p:cNvPicPr>
          <p:nvPr/>
        </p:nvPicPr>
        <p:blipFill>
          <a:blip r:embed="rId3"/>
          <a:stretch>
            <a:fillRect/>
          </a:stretch>
        </p:blipFill>
        <p:spPr>
          <a:xfrm>
            <a:off x="1928492" y="1968500"/>
            <a:ext cx="4753617" cy="2730500"/>
          </a:xfrm>
          <a:prstGeom prst="rect">
            <a:avLst/>
          </a:prstGeom>
        </p:spPr>
      </p:pic>
      <p:pic>
        <p:nvPicPr>
          <p:cNvPr id="20" name="!!shot1" descr="Import des données">    </p:cNvPr>
          <p:cNvPicPr>
            <a:picLocks noChangeAspect="1"/>
          </p:cNvPicPr>
          <p:nvPr/>
        </p:nvPicPr>
        <p:blipFill>
          <a:blip r:embed="rId4"/>
          <a:stretch>
            <a:fillRect/>
          </a:stretch>
        </p:blipFill>
        <p:spPr>
          <a:xfrm>
            <a:off x="2556823" y="5461000"/>
            <a:ext cx="1261753" cy="635000"/>
          </a:xfrm>
          <a:prstGeom prst="rect">
            <a:avLst/>
          </a:prstGeom>
        </p:spPr>
      </p:pic>
      <p:pic>
        <p:nvPicPr>
          <p:cNvPr id="21" name="!!shot2" descr="Paramétrage">    </p:cNvPr>
          <p:cNvPicPr>
            <a:picLocks noChangeAspect="1"/>
          </p:cNvPicPr>
          <p:nvPr/>
        </p:nvPicPr>
        <p:blipFill>
          <a:blip r:embed="rId5"/>
          <a:stretch>
            <a:fillRect/>
          </a:stretch>
        </p:blipFill>
        <p:spPr>
          <a:xfrm>
            <a:off x="4102100" y="5499932"/>
            <a:ext cx="1397000" cy="557137"/>
          </a:xfrm>
          <a:prstGeom prst="rect">
            <a:avLst/>
          </a:prstGeom>
        </p:spPr>
      </p:pic>
      <p:pic>
        <p:nvPicPr>
          <p:cNvPr id="22" name="!!shot3" descr="Workflows">    </p:cNvPr>
          <p:cNvPicPr>
            <a:picLocks noChangeAspect="1"/>
          </p:cNvPicPr>
          <p:nvPr/>
        </p:nvPicPr>
        <p:blipFill>
          <a:blip r:embed="rId6"/>
          <a:stretch>
            <a:fillRect/>
          </a:stretch>
        </p:blipFill>
        <p:spPr>
          <a:xfrm>
            <a:off x="5728483" y="5461000"/>
            <a:ext cx="1370034" cy="635000"/>
          </a:xfrm>
          <a:prstGeom prst="rect">
            <a:avLst/>
          </a:prstGeom>
        </p:spPr>
      </p:pic>
      <p:pic>
        <p:nvPicPr>
          <p:cNvPr id="23" name="!!shot4" descr="Terrain">    </p:cNvPr>
          <p:cNvPicPr>
            <a:picLocks noChangeAspect="1"/>
          </p:cNvPicPr>
          <p:nvPr/>
        </p:nvPicPr>
        <p:blipFill>
          <a:blip r:embed="rId7"/>
          <a:stretch>
            <a:fillRect/>
          </a:stretch>
        </p:blipFill>
        <p:spPr>
          <a:xfrm>
            <a:off x="7449751" y="5461000"/>
            <a:ext cx="1153297" cy="635000"/>
          </a:xfrm>
          <a:prstGeom prst="rect">
            <a:avLst/>
          </a:prstGeom>
        </p:spPr>
      </p:pic>
      <p:pic>
        <p:nvPicPr>
          <p:cNvPr id="24" name="!!shot5" descr="Formation">    </p:cNvPr>
          <p:cNvPicPr>
            <a:picLocks noChangeAspect="1"/>
          </p:cNvPicPr>
          <p:nvPr/>
        </p:nvPicPr>
        <p:blipFill>
          <a:blip r:embed="rId8"/>
          <a:stretch>
            <a:fillRect/>
          </a:stretch>
        </p:blipFill>
        <p:spPr>
          <a:xfrm>
            <a:off x="9041653" y="5461000"/>
            <a:ext cx="1195294" cy="635000"/>
          </a:xfrm>
          <a:prstGeom prst="rect">
            <a:avLst/>
          </a:prstGeom>
        </p:spPr>
      </p:pic>
      <p:sp>
        <p:nvSpPr>
          <p:cNvPr id="25" name="Text 15-s10"/>
          <p:cNvSpPr txBox="1"/>
          <p:nvPr/>
        </p:nvSpPr>
        <p:spPr>
          <a:xfrm>
            <a:off x="812800" y="4902200"/>
            <a:ext cx="6985000" cy="254000"/>
          </a:xfrm>
          <a:prstGeom prst="rect">
            <a:avLst/>
          </a:prstGeom>
          <a:noFill/>
          <a:ln/>
        </p:spPr>
        <p:txBody>
          <a:bodyPr wrap="square" lIns="0" tIns="0" rIns="0" bIns="0" rtlCol="0" anchor="t"/>
          <a:lstStyle/>
          <a:p>
            <a:pPr algn="l" indent="0" marL="0">
              <a:lnSpc>
                <a:spcPct val="100000"/>
              </a:lnSpc>
              <a:buNone/>
            </a:pPr>
            <a:r>
              <a:rPr lang="en-US" sz="1200" i="1" dirty="0">
                <a:solidFill>
                  <a:srgbClr val="5A6A77"/>
                </a:solidFill>
                <a:latin typeface="Calibri" pitchFamily="34" charset="0"/>
                <a:ea typeface="Calibri" pitchFamily="34" charset="-122"/>
                <a:cs typeface="Calibri" pitchFamily="34" charset="-120"/>
              </a:rPr>
              <a:t>Figure 2 : cartographie des formulaires Kizeo</a:t>
            </a:r>
            <a:endParaRPr lang="en-US" sz="1200" dirty="0"/>
          </a:p>
        </p:txBody>
      </p:sp>
      <p:sp>
        <p:nvSpPr>
          <p:cNvPr id="26" name="Text 16-s10"/>
          <p:cNvSpPr txBox="1"/>
          <p:nvPr/>
        </p:nvSpPr>
        <p:spPr>
          <a:xfrm>
            <a:off x="8255000" y="1905000"/>
            <a:ext cx="3124200" cy="254000"/>
          </a:xfrm>
          <a:prstGeom prst="rect">
            <a:avLst/>
          </a:prstGeom>
          <a:noFill/>
          <a:ln/>
        </p:spPr>
        <p:txBody>
          <a:bodyPr wrap="square" lIns="0" tIns="0" rIns="0" bIns="0" rtlCol="0" anchor="t"/>
          <a:lstStyle/>
          <a:p>
            <a:pPr algn="l" indent="0" marL="0">
              <a:lnSpc>
                <a:spcPct val="100000"/>
              </a:lnSpc>
              <a:buNone/>
            </a:pPr>
            <a:r>
              <a:rPr lang="en-US" sz="1300" b="1" spc="300" kern="0" dirty="0">
                <a:solidFill>
                  <a:srgbClr val="0F766E"/>
                </a:solidFill>
                <a:latin typeface="Calibri" pitchFamily="34" charset="0"/>
                <a:ea typeface="Calibri" pitchFamily="34" charset="-122"/>
                <a:cs typeface="Calibri" pitchFamily="34" charset="-120"/>
              </a:rPr>
              <a:t>ÉTAPE 1 SUR 6</a:t>
            </a:r>
            <a:endParaRPr lang="en-US" sz="1300" dirty="0"/>
          </a:p>
        </p:txBody>
      </p:sp>
      <p:sp>
        <p:nvSpPr>
          <p:cNvPr id="27" name="Text 17-s10"/>
          <p:cNvSpPr txBox="1"/>
          <p:nvPr/>
        </p:nvSpPr>
        <p:spPr>
          <a:xfrm>
            <a:off x="8255000" y="2222500"/>
            <a:ext cx="3124200" cy="762000"/>
          </a:xfrm>
          <a:prstGeom prst="rect">
            <a:avLst/>
          </a:prstGeom>
          <a:noFill/>
          <a:ln/>
        </p:spPr>
        <p:txBody>
          <a:bodyPr wrap="square" lIns="0" tIns="0" rIns="0" bIns="0" rtlCol="0" anchor="t"/>
          <a:lstStyle/>
          <a:p>
            <a:pPr algn="l" indent="0" marL="0">
              <a:lnSpc>
                <a:spcPct val="87500"/>
              </a:lnSpc>
              <a:buNone/>
            </a:pPr>
            <a:r>
              <a:rPr lang="en-US" sz="2800" b="1" dirty="0">
                <a:solidFill>
                  <a:srgbClr val="12202B"/>
                </a:solidFill>
                <a:latin typeface="Georgia" pitchFamily="34" charset="0"/>
                <a:ea typeface="Georgia" pitchFamily="34" charset="-122"/>
                <a:cs typeface="Georgia" pitchFamily="34" charset="-120"/>
              </a:rPr>
              <a:t>Cartographie</a:t>
            </a:r>
            <a:endParaRPr lang="en-US" sz="2800" dirty="0"/>
          </a:p>
        </p:txBody>
      </p:sp>
      <p:sp>
        <p:nvSpPr>
          <p:cNvPr id="28" name="Text 18-s10"/>
          <p:cNvSpPr txBox="1"/>
          <p:nvPr/>
        </p:nvSpPr>
        <p:spPr>
          <a:xfrm>
            <a:off x="8255000" y="3111500"/>
            <a:ext cx="3124200" cy="1905000"/>
          </a:xfrm>
          <a:prstGeom prst="rect">
            <a:avLst/>
          </a:prstGeom>
          <a:noFill/>
          <a:ln/>
        </p:spPr>
        <p:txBody>
          <a:bodyPr wrap="square" lIns="0" tIns="0" rIns="0" bIns="0" rtlCol="0" anchor="t"/>
          <a:lstStyle/>
          <a:p>
            <a:pPr algn="l" indent="0" marL="0">
              <a:lnSpc>
                <a:spcPct val="108333"/>
              </a:lnSpc>
              <a:buNone/>
            </a:pPr>
            <a:r>
              <a:rPr lang="en-US" sz="1500" dirty="0">
                <a:solidFill>
                  <a:srgbClr val="5A6A77"/>
                </a:solidFill>
                <a:latin typeface="Calibri" pitchFamily="34" charset="0"/>
                <a:ea typeface="Calibri" pitchFamily="34" charset="-122"/>
                <a:cs typeface="Calibri" pitchFamily="34" charset="-120"/>
              </a:rPr>
              <a:t>Inventaire des formulaires Kizeo : usages, doublons et formulaires obsolètes.</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s11"/>
        <p:cNvGrpSpPr/>
        <p:nvPr/>
      </p:nvGrpSpPr>
      <p:grpSpPr>
        <a:xfrm>
          <a:off x="0" y="0"/>
          <a:ext cx="0" cy="0"/>
          <a:chOff x="0" y="0"/>
          <a:chExt cx="0" cy="0"/>
        </a:xfrm>
      </p:grpSpPr>
      <p:sp>
        <p:nvSpPr>
          <p:cNvPr id="2" name="!!orb"/>
          <p:cNvSpPr/>
          <p:nvPr/>
        </p:nvSpPr>
        <p:spPr>
          <a:xfrm>
            <a:off x="9779000" y="4064000"/>
            <a:ext cx="5080000" cy="5080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5031619" cy="50800"/>
          </a:xfrm>
          <a:prstGeom prst="roundRect">
            <a:avLst>
              <a:gd name="adj" fmla="val 50000"/>
            </a:avLst>
          </a:prstGeom>
          <a:solidFill>
            <a:srgbClr val="0F766E"/>
          </a:solidFill>
          <a:ln/>
        </p:spPr>
      </p:sp>
      <p:sp>
        <p:nvSpPr>
          <p:cNvPr id="9" name="!!dot"/>
          <p:cNvSpPr/>
          <p:nvPr/>
        </p:nvSpPr>
        <p:spPr>
          <a:xfrm>
            <a:off x="5755519" y="6604000"/>
            <a:ext cx="127000" cy="127000"/>
          </a:xfrm>
          <a:prstGeom prst="ellipse">
            <a:avLst/>
          </a:prstGeom>
          <a:solidFill>
            <a:srgbClr val="0F766E"/>
          </a:solidFill>
          <a:ln/>
        </p:spPr>
      </p:sp>
      <p:sp>
        <p:nvSpPr>
          <p:cNvPr id="10" name="Text 6-s11"/>
          <p:cNvSpPr txBox="1"/>
          <p:nvPr/>
        </p:nvSpPr>
        <p:spPr>
          <a:xfrm>
            <a:off x="812800" y="1206500"/>
            <a:ext cx="9525000" cy="571500"/>
          </a:xfrm>
          <a:prstGeom prst="rect">
            <a:avLst/>
          </a:prstGeom>
          <a:noFill/>
          <a:ln/>
        </p:spPr>
        <p:txBody>
          <a:bodyPr wrap="square" lIns="0" tIns="0" rIns="0" bIns="0" rtlCol="0" anchor="t"/>
          <a:lstStyle/>
          <a:p>
            <a:pPr algn="l" indent="0" marL="0">
              <a:lnSpc>
                <a:spcPct val="100000"/>
              </a:lnSpc>
              <a:buNone/>
            </a:pPr>
            <a:r>
              <a:rPr lang="en-US" sz="2800" b="1" dirty="0">
                <a:solidFill>
                  <a:srgbClr val="12202B"/>
                </a:solidFill>
                <a:latin typeface="Georgia" pitchFamily="34" charset="0"/>
                <a:ea typeface="Georgia" pitchFamily="34" charset="-122"/>
                <a:cs typeface="Georgia" pitchFamily="34" charset="-120"/>
              </a:rPr>
              <a:t>Du formulaire Kizeo au terrain</a:t>
            </a:r>
            <a:endParaRPr lang="en-US" sz="2800" dirty="0"/>
          </a:p>
        </p:txBody>
      </p:sp>
      <p:sp>
        <p:nvSpPr>
          <p:cNvPr id="11" name="!!mcard"/>
          <p:cNvSpPr/>
          <p:nvPr/>
        </p:nvSpPr>
        <p:spPr>
          <a:xfrm>
            <a:off x="812800" y="1841500"/>
            <a:ext cx="6985000" cy="2984500"/>
          </a:xfrm>
          <a:prstGeom prst="roundRect">
            <a:avLst>
              <a:gd name="adj" fmla="val 4000"/>
            </a:avLst>
          </a:prstGeom>
          <a:solidFill>
            <a:srgbClr val="FFFFFF"/>
          </a:solidFill>
          <a:ln w="12700">
            <a:solidFill>
              <a:srgbClr val="D9D4C8"/>
            </a:solidFill>
            <a:prstDash val="solid"/>
          </a:ln>
        </p:spPr>
      </p:sp>
      <p:sp>
        <p:nvSpPr>
          <p:cNvPr id="12" name="!!tf0"/>
          <p:cNvSpPr/>
          <p:nvPr/>
        </p:nvSpPr>
        <p:spPr>
          <a:xfrm>
            <a:off x="812800" y="5397500"/>
            <a:ext cx="1524000" cy="762000"/>
          </a:xfrm>
          <a:prstGeom prst="roundRect">
            <a:avLst>
              <a:gd name="adj" fmla="val 6000"/>
            </a:avLst>
          </a:prstGeom>
          <a:solidFill>
            <a:srgbClr val="FFFFFF"/>
          </a:solidFill>
          <a:ln w="12700">
            <a:solidFill>
              <a:srgbClr val="D9D4C8"/>
            </a:solidFill>
            <a:prstDash val="solid"/>
          </a:ln>
        </p:spPr>
      </p:sp>
      <p:sp>
        <p:nvSpPr>
          <p:cNvPr id="13" name="!!tf1"/>
          <p:cNvSpPr/>
          <p:nvPr/>
        </p:nvSpPr>
        <p:spPr>
          <a:xfrm>
            <a:off x="2425700" y="5397500"/>
            <a:ext cx="1524000" cy="762000"/>
          </a:xfrm>
          <a:prstGeom prst="roundRect">
            <a:avLst>
              <a:gd name="adj" fmla="val 6000"/>
            </a:avLst>
          </a:prstGeom>
          <a:solidFill>
            <a:srgbClr val="FFFFFF"/>
          </a:solidFill>
          <a:ln w="12700">
            <a:solidFill>
              <a:srgbClr val="D9D4C8"/>
            </a:solidFill>
            <a:prstDash val="solid"/>
          </a:ln>
        </p:spPr>
      </p:sp>
      <p:sp>
        <p:nvSpPr>
          <p:cNvPr id="14" name="!!tf2"/>
          <p:cNvSpPr/>
          <p:nvPr/>
        </p:nvSpPr>
        <p:spPr>
          <a:xfrm>
            <a:off x="4038600" y="5397500"/>
            <a:ext cx="1524000" cy="762000"/>
          </a:xfrm>
          <a:prstGeom prst="roundRect">
            <a:avLst>
              <a:gd name="adj" fmla="val 6000"/>
            </a:avLst>
          </a:prstGeom>
          <a:solidFill>
            <a:srgbClr val="FFFFFF"/>
          </a:solidFill>
          <a:ln w="12700">
            <a:solidFill>
              <a:srgbClr val="D9D4C8"/>
            </a:solidFill>
            <a:prstDash val="solid"/>
          </a:ln>
        </p:spPr>
      </p:sp>
      <p:sp>
        <p:nvSpPr>
          <p:cNvPr id="15" name="!!tf3"/>
          <p:cNvSpPr/>
          <p:nvPr/>
        </p:nvSpPr>
        <p:spPr>
          <a:xfrm>
            <a:off x="5651500" y="5397500"/>
            <a:ext cx="1524000" cy="762000"/>
          </a:xfrm>
          <a:prstGeom prst="roundRect">
            <a:avLst>
              <a:gd name="adj" fmla="val 6000"/>
            </a:avLst>
          </a:prstGeom>
          <a:solidFill>
            <a:srgbClr val="FFFFFF"/>
          </a:solidFill>
          <a:ln w="12700">
            <a:solidFill>
              <a:srgbClr val="D9D4C8"/>
            </a:solidFill>
            <a:prstDash val="solid"/>
          </a:ln>
        </p:spPr>
      </p:sp>
      <p:sp>
        <p:nvSpPr>
          <p:cNvPr id="16" name="!!tf4"/>
          <p:cNvSpPr/>
          <p:nvPr/>
        </p:nvSpPr>
        <p:spPr>
          <a:xfrm>
            <a:off x="7264400" y="5397500"/>
            <a:ext cx="1524000" cy="762000"/>
          </a:xfrm>
          <a:prstGeom prst="roundRect">
            <a:avLst>
              <a:gd name="adj" fmla="val 6000"/>
            </a:avLst>
          </a:prstGeom>
          <a:solidFill>
            <a:srgbClr val="FFFFFF"/>
          </a:solidFill>
          <a:ln w="12700">
            <a:solidFill>
              <a:srgbClr val="D9D4C8"/>
            </a:solidFill>
            <a:prstDash val="solid"/>
          </a:ln>
        </p:spPr>
      </p:sp>
      <p:sp>
        <p:nvSpPr>
          <p:cNvPr id="17" name="!!tf5"/>
          <p:cNvSpPr/>
          <p:nvPr/>
        </p:nvSpPr>
        <p:spPr>
          <a:xfrm>
            <a:off x="8877300" y="5397500"/>
            <a:ext cx="1524000" cy="762000"/>
          </a:xfrm>
          <a:prstGeom prst="roundRect">
            <a:avLst>
              <a:gd name="adj" fmla="val 6000"/>
            </a:avLst>
          </a:prstGeom>
          <a:solidFill>
            <a:srgbClr val="FFFFFF"/>
          </a:solidFill>
          <a:ln w="12700">
            <a:solidFill>
              <a:srgbClr val="D9D4C8"/>
            </a:solidFill>
            <a:prstDash val="solid"/>
          </a:ln>
        </p:spPr>
      </p:sp>
      <p:sp>
        <p:nvSpPr>
          <p:cNvPr id="18" name="!!sel"/>
          <p:cNvSpPr/>
          <p:nvPr/>
        </p:nvSpPr>
        <p:spPr>
          <a:xfrm>
            <a:off x="2387600" y="5359400"/>
            <a:ext cx="1600200" cy="838200"/>
          </a:xfrm>
          <a:prstGeom prst="roundRect">
            <a:avLst>
              <a:gd name="adj" fmla="val 7000"/>
            </a:avLst>
          </a:prstGeom>
          <a:ln w="31750">
            <a:solidFill>
              <a:srgbClr val="0F766E"/>
            </a:solidFill>
            <a:prstDash val="solid"/>
          </a:ln>
        </p:spPr>
      </p:sp>
      <p:pic>
        <p:nvPicPr>
          <p:cNvPr id="19" name="!!shot0" descr="Cartographie">    </p:cNvPr>
          <p:cNvPicPr>
            <a:picLocks noChangeAspect="1"/>
          </p:cNvPicPr>
          <p:nvPr/>
        </p:nvPicPr>
        <p:blipFill>
          <a:blip r:embed="rId3"/>
          <a:stretch>
            <a:fillRect/>
          </a:stretch>
        </p:blipFill>
        <p:spPr>
          <a:xfrm>
            <a:off x="1022054" y="5461000"/>
            <a:ext cx="1105492" cy="635000"/>
          </a:xfrm>
          <a:prstGeom prst="rect">
            <a:avLst/>
          </a:prstGeom>
        </p:spPr>
      </p:pic>
      <p:pic>
        <p:nvPicPr>
          <p:cNvPr id="20" name="!!shot1" descr="Import des données">    </p:cNvPr>
          <p:cNvPicPr>
            <a:picLocks noChangeAspect="1"/>
          </p:cNvPicPr>
          <p:nvPr/>
        </p:nvPicPr>
        <p:blipFill>
          <a:blip r:embed="rId4"/>
          <a:stretch>
            <a:fillRect/>
          </a:stretch>
        </p:blipFill>
        <p:spPr>
          <a:xfrm>
            <a:off x="1592531" y="1968500"/>
            <a:ext cx="5425539" cy="2730500"/>
          </a:xfrm>
          <a:prstGeom prst="rect">
            <a:avLst/>
          </a:prstGeom>
        </p:spPr>
      </p:pic>
      <p:pic>
        <p:nvPicPr>
          <p:cNvPr id="21" name="!!shot2" descr="Paramétrage">    </p:cNvPr>
          <p:cNvPicPr>
            <a:picLocks noChangeAspect="1"/>
          </p:cNvPicPr>
          <p:nvPr/>
        </p:nvPicPr>
        <p:blipFill>
          <a:blip r:embed="rId5"/>
          <a:stretch>
            <a:fillRect/>
          </a:stretch>
        </p:blipFill>
        <p:spPr>
          <a:xfrm>
            <a:off x="4102100" y="5499932"/>
            <a:ext cx="1397000" cy="557137"/>
          </a:xfrm>
          <a:prstGeom prst="rect">
            <a:avLst/>
          </a:prstGeom>
        </p:spPr>
      </p:pic>
      <p:pic>
        <p:nvPicPr>
          <p:cNvPr id="22" name="!!shot3" descr="Workflows">    </p:cNvPr>
          <p:cNvPicPr>
            <a:picLocks noChangeAspect="1"/>
          </p:cNvPicPr>
          <p:nvPr/>
        </p:nvPicPr>
        <p:blipFill>
          <a:blip r:embed="rId6"/>
          <a:stretch>
            <a:fillRect/>
          </a:stretch>
        </p:blipFill>
        <p:spPr>
          <a:xfrm>
            <a:off x="5728483" y="5461000"/>
            <a:ext cx="1370034" cy="635000"/>
          </a:xfrm>
          <a:prstGeom prst="rect">
            <a:avLst/>
          </a:prstGeom>
        </p:spPr>
      </p:pic>
      <p:pic>
        <p:nvPicPr>
          <p:cNvPr id="23" name="!!shot4" descr="Terrain">    </p:cNvPr>
          <p:cNvPicPr>
            <a:picLocks noChangeAspect="1"/>
          </p:cNvPicPr>
          <p:nvPr/>
        </p:nvPicPr>
        <p:blipFill>
          <a:blip r:embed="rId7"/>
          <a:stretch>
            <a:fillRect/>
          </a:stretch>
        </p:blipFill>
        <p:spPr>
          <a:xfrm>
            <a:off x="7449751" y="5461000"/>
            <a:ext cx="1153297" cy="635000"/>
          </a:xfrm>
          <a:prstGeom prst="rect">
            <a:avLst/>
          </a:prstGeom>
        </p:spPr>
      </p:pic>
      <p:pic>
        <p:nvPicPr>
          <p:cNvPr id="24" name="!!shot5" descr="Formation">    </p:cNvPr>
          <p:cNvPicPr>
            <a:picLocks noChangeAspect="1"/>
          </p:cNvPicPr>
          <p:nvPr/>
        </p:nvPicPr>
        <p:blipFill>
          <a:blip r:embed="rId8"/>
          <a:stretch>
            <a:fillRect/>
          </a:stretch>
        </p:blipFill>
        <p:spPr>
          <a:xfrm>
            <a:off x="9041653" y="5461000"/>
            <a:ext cx="1195294" cy="635000"/>
          </a:xfrm>
          <a:prstGeom prst="rect">
            <a:avLst/>
          </a:prstGeom>
        </p:spPr>
      </p:pic>
      <p:sp>
        <p:nvSpPr>
          <p:cNvPr id="25" name="Text 15-s11"/>
          <p:cNvSpPr txBox="1"/>
          <p:nvPr/>
        </p:nvSpPr>
        <p:spPr>
          <a:xfrm>
            <a:off x="812800" y="4902200"/>
            <a:ext cx="6985000" cy="254000"/>
          </a:xfrm>
          <a:prstGeom prst="rect">
            <a:avLst/>
          </a:prstGeom>
          <a:noFill/>
          <a:ln/>
        </p:spPr>
        <p:txBody>
          <a:bodyPr wrap="square" lIns="0" tIns="0" rIns="0" bIns="0" rtlCol="0" anchor="t"/>
          <a:lstStyle/>
          <a:p>
            <a:pPr algn="l" indent="0" marL="0">
              <a:lnSpc>
                <a:spcPct val="100000"/>
              </a:lnSpc>
              <a:buNone/>
            </a:pPr>
            <a:r>
              <a:rPr lang="en-US" sz="1200" i="1" dirty="0">
                <a:solidFill>
                  <a:srgbClr val="5A6A77"/>
                </a:solidFill>
                <a:latin typeface="Calibri" pitchFamily="34" charset="0"/>
                <a:ea typeface="Calibri" pitchFamily="34" charset="-122"/>
                <a:cs typeface="Calibri" pitchFamily="34" charset="-120"/>
              </a:rPr>
              <a:t>Figure 3 : listes de données dans Teepee</a:t>
            </a:r>
            <a:endParaRPr lang="en-US" sz="1200" dirty="0"/>
          </a:p>
        </p:txBody>
      </p:sp>
      <p:sp>
        <p:nvSpPr>
          <p:cNvPr id="26" name="Text 16-s11"/>
          <p:cNvSpPr txBox="1"/>
          <p:nvPr/>
        </p:nvSpPr>
        <p:spPr>
          <a:xfrm>
            <a:off x="8255000" y="1905000"/>
            <a:ext cx="3124200" cy="254000"/>
          </a:xfrm>
          <a:prstGeom prst="rect">
            <a:avLst/>
          </a:prstGeom>
          <a:noFill/>
          <a:ln/>
        </p:spPr>
        <p:txBody>
          <a:bodyPr wrap="square" lIns="0" tIns="0" rIns="0" bIns="0" rtlCol="0" anchor="t"/>
          <a:lstStyle/>
          <a:p>
            <a:pPr algn="l" indent="0" marL="0">
              <a:lnSpc>
                <a:spcPct val="100000"/>
              </a:lnSpc>
              <a:buNone/>
            </a:pPr>
            <a:r>
              <a:rPr lang="en-US" sz="1300" b="1" spc="300" kern="0" dirty="0">
                <a:solidFill>
                  <a:srgbClr val="0F766E"/>
                </a:solidFill>
                <a:latin typeface="Calibri" pitchFamily="34" charset="0"/>
                <a:ea typeface="Calibri" pitchFamily="34" charset="-122"/>
                <a:cs typeface="Calibri" pitchFamily="34" charset="-120"/>
              </a:rPr>
              <a:t>ÉTAPE 2 SUR 6</a:t>
            </a:r>
            <a:endParaRPr lang="en-US" sz="1300" dirty="0"/>
          </a:p>
        </p:txBody>
      </p:sp>
      <p:sp>
        <p:nvSpPr>
          <p:cNvPr id="27" name="Text 17-s11"/>
          <p:cNvSpPr txBox="1"/>
          <p:nvPr/>
        </p:nvSpPr>
        <p:spPr>
          <a:xfrm>
            <a:off x="8255000" y="2222500"/>
            <a:ext cx="3124200" cy="762000"/>
          </a:xfrm>
          <a:prstGeom prst="rect">
            <a:avLst/>
          </a:prstGeom>
          <a:noFill/>
          <a:ln/>
        </p:spPr>
        <p:txBody>
          <a:bodyPr wrap="square" lIns="0" tIns="0" rIns="0" bIns="0" rtlCol="0" anchor="t"/>
          <a:lstStyle/>
          <a:p>
            <a:pPr algn="l" indent="0" marL="0">
              <a:lnSpc>
                <a:spcPct val="87500"/>
              </a:lnSpc>
              <a:buNone/>
            </a:pPr>
            <a:r>
              <a:rPr lang="en-US" sz="2800" b="1" dirty="0">
                <a:solidFill>
                  <a:srgbClr val="12202B"/>
                </a:solidFill>
                <a:latin typeface="Georgia" pitchFamily="34" charset="0"/>
                <a:ea typeface="Georgia" pitchFamily="34" charset="-122"/>
                <a:cs typeface="Georgia" pitchFamily="34" charset="-120"/>
              </a:rPr>
              <a:t>Import des données</a:t>
            </a:r>
            <a:endParaRPr lang="en-US" sz="2800" dirty="0"/>
          </a:p>
        </p:txBody>
      </p:sp>
      <p:sp>
        <p:nvSpPr>
          <p:cNvPr id="28" name="Text 18-s11"/>
          <p:cNvSpPr txBox="1"/>
          <p:nvPr/>
        </p:nvSpPr>
        <p:spPr>
          <a:xfrm>
            <a:off x="8255000" y="3111500"/>
            <a:ext cx="3124200" cy="1905000"/>
          </a:xfrm>
          <a:prstGeom prst="rect">
            <a:avLst/>
          </a:prstGeom>
          <a:noFill/>
          <a:ln/>
        </p:spPr>
        <p:txBody>
          <a:bodyPr wrap="square" lIns="0" tIns="0" rIns="0" bIns="0" rtlCol="0" anchor="t"/>
          <a:lstStyle/>
          <a:p>
            <a:pPr algn="l" indent="0" marL="0">
              <a:lnSpc>
                <a:spcPct val="108333"/>
              </a:lnSpc>
              <a:buNone/>
            </a:pPr>
            <a:r>
              <a:rPr lang="en-US" sz="1500" dirty="0">
                <a:solidFill>
                  <a:srgbClr val="5A6A77"/>
                </a:solidFill>
                <a:latin typeface="Calibri" pitchFamily="34" charset="0"/>
                <a:ea typeface="Calibri" pitchFamily="34" charset="-122"/>
                <a:cs typeface="Calibri" pitchFamily="34" charset="-120"/>
              </a:rPr>
              <a:t>Les données sont importées directement dans Teepee : 84 % des formulaires avec données.</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s12"/>
        <p:cNvGrpSpPr/>
        <p:nvPr/>
      </p:nvGrpSpPr>
      <p:grpSpPr>
        <a:xfrm>
          <a:off x="0" y="0"/>
          <a:ext cx="0" cy="0"/>
          <a:chOff x="0" y="0"/>
          <a:chExt cx="0" cy="0"/>
        </a:xfrm>
      </p:grpSpPr>
      <p:sp>
        <p:nvSpPr>
          <p:cNvPr id="2" name="!!orb"/>
          <p:cNvSpPr/>
          <p:nvPr/>
        </p:nvSpPr>
        <p:spPr>
          <a:xfrm>
            <a:off x="10033000" y="3683000"/>
            <a:ext cx="5080000" cy="5080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5534781" cy="50800"/>
          </a:xfrm>
          <a:prstGeom prst="roundRect">
            <a:avLst>
              <a:gd name="adj" fmla="val 50000"/>
            </a:avLst>
          </a:prstGeom>
          <a:solidFill>
            <a:srgbClr val="0F766E"/>
          </a:solidFill>
          <a:ln/>
        </p:spPr>
      </p:sp>
      <p:sp>
        <p:nvSpPr>
          <p:cNvPr id="9" name="!!dot"/>
          <p:cNvSpPr/>
          <p:nvPr/>
        </p:nvSpPr>
        <p:spPr>
          <a:xfrm>
            <a:off x="6258681" y="6604000"/>
            <a:ext cx="127000" cy="127000"/>
          </a:xfrm>
          <a:prstGeom prst="ellipse">
            <a:avLst/>
          </a:prstGeom>
          <a:solidFill>
            <a:srgbClr val="0F766E"/>
          </a:solidFill>
          <a:ln/>
        </p:spPr>
      </p:sp>
      <p:sp>
        <p:nvSpPr>
          <p:cNvPr id="10" name="Text 6-s12"/>
          <p:cNvSpPr txBox="1"/>
          <p:nvPr/>
        </p:nvSpPr>
        <p:spPr>
          <a:xfrm>
            <a:off x="812800" y="1206500"/>
            <a:ext cx="9525000" cy="571500"/>
          </a:xfrm>
          <a:prstGeom prst="rect">
            <a:avLst/>
          </a:prstGeom>
          <a:noFill/>
          <a:ln/>
        </p:spPr>
        <p:txBody>
          <a:bodyPr wrap="square" lIns="0" tIns="0" rIns="0" bIns="0" rtlCol="0" anchor="t"/>
          <a:lstStyle/>
          <a:p>
            <a:pPr algn="l" indent="0" marL="0">
              <a:lnSpc>
                <a:spcPct val="100000"/>
              </a:lnSpc>
              <a:buNone/>
            </a:pPr>
            <a:r>
              <a:rPr lang="en-US" sz="2800" b="1" dirty="0">
                <a:solidFill>
                  <a:srgbClr val="12202B"/>
                </a:solidFill>
                <a:latin typeface="Georgia" pitchFamily="34" charset="0"/>
                <a:ea typeface="Georgia" pitchFamily="34" charset="-122"/>
                <a:cs typeface="Georgia" pitchFamily="34" charset="-120"/>
              </a:rPr>
              <a:t>Du formulaire Kizeo au terrain</a:t>
            </a:r>
            <a:endParaRPr lang="en-US" sz="2800" dirty="0"/>
          </a:p>
        </p:txBody>
      </p:sp>
      <p:sp>
        <p:nvSpPr>
          <p:cNvPr id="11" name="!!mcard"/>
          <p:cNvSpPr/>
          <p:nvPr/>
        </p:nvSpPr>
        <p:spPr>
          <a:xfrm>
            <a:off x="812800" y="1841500"/>
            <a:ext cx="6985000" cy="2984500"/>
          </a:xfrm>
          <a:prstGeom prst="roundRect">
            <a:avLst>
              <a:gd name="adj" fmla="val 4000"/>
            </a:avLst>
          </a:prstGeom>
          <a:solidFill>
            <a:srgbClr val="FFFFFF"/>
          </a:solidFill>
          <a:ln w="12700">
            <a:solidFill>
              <a:srgbClr val="D9D4C8"/>
            </a:solidFill>
            <a:prstDash val="solid"/>
          </a:ln>
        </p:spPr>
      </p:sp>
      <p:sp>
        <p:nvSpPr>
          <p:cNvPr id="12" name="!!tf0"/>
          <p:cNvSpPr/>
          <p:nvPr/>
        </p:nvSpPr>
        <p:spPr>
          <a:xfrm>
            <a:off x="812800" y="5397500"/>
            <a:ext cx="1524000" cy="762000"/>
          </a:xfrm>
          <a:prstGeom prst="roundRect">
            <a:avLst>
              <a:gd name="adj" fmla="val 6000"/>
            </a:avLst>
          </a:prstGeom>
          <a:solidFill>
            <a:srgbClr val="FFFFFF"/>
          </a:solidFill>
          <a:ln w="12700">
            <a:solidFill>
              <a:srgbClr val="D9D4C8"/>
            </a:solidFill>
            <a:prstDash val="solid"/>
          </a:ln>
        </p:spPr>
      </p:sp>
      <p:sp>
        <p:nvSpPr>
          <p:cNvPr id="13" name="!!tf1"/>
          <p:cNvSpPr/>
          <p:nvPr/>
        </p:nvSpPr>
        <p:spPr>
          <a:xfrm>
            <a:off x="2425700" y="5397500"/>
            <a:ext cx="1524000" cy="762000"/>
          </a:xfrm>
          <a:prstGeom prst="roundRect">
            <a:avLst>
              <a:gd name="adj" fmla="val 6000"/>
            </a:avLst>
          </a:prstGeom>
          <a:solidFill>
            <a:srgbClr val="FFFFFF"/>
          </a:solidFill>
          <a:ln w="12700">
            <a:solidFill>
              <a:srgbClr val="D9D4C8"/>
            </a:solidFill>
            <a:prstDash val="solid"/>
          </a:ln>
        </p:spPr>
      </p:sp>
      <p:sp>
        <p:nvSpPr>
          <p:cNvPr id="14" name="!!tf2"/>
          <p:cNvSpPr/>
          <p:nvPr/>
        </p:nvSpPr>
        <p:spPr>
          <a:xfrm>
            <a:off x="4038600" y="5397500"/>
            <a:ext cx="1524000" cy="762000"/>
          </a:xfrm>
          <a:prstGeom prst="roundRect">
            <a:avLst>
              <a:gd name="adj" fmla="val 6000"/>
            </a:avLst>
          </a:prstGeom>
          <a:solidFill>
            <a:srgbClr val="FFFFFF"/>
          </a:solidFill>
          <a:ln w="12700">
            <a:solidFill>
              <a:srgbClr val="D9D4C8"/>
            </a:solidFill>
            <a:prstDash val="solid"/>
          </a:ln>
        </p:spPr>
      </p:sp>
      <p:sp>
        <p:nvSpPr>
          <p:cNvPr id="15" name="!!tf3"/>
          <p:cNvSpPr/>
          <p:nvPr/>
        </p:nvSpPr>
        <p:spPr>
          <a:xfrm>
            <a:off x="5651500" y="5397500"/>
            <a:ext cx="1524000" cy="762000"/>
          </a:xfrm>
          <a:prstGeom prst="roundRect">
            <a:avLst>
              <a:gd name="adj" fmla="val 6000"/>
            </a:avLst>
          </a:prstGeom>
          <a:solidFill>
            <a:srgbClr val="FFFFFF"/>
          </a:solidFill>
          <a:ln w="12700">
            <a:solidFill>
              <a:srgbClr val="D9D4C8"/>
            </a:solidFill>
            <a:prstDash val="solid"/>
          </a:ln>
        </p:spPr>
      </p:sp>
      <p:sp>
        <p:nvSpPr>
          <p:cNvPr id="16" name="!!tf4"/>
          <p:cNvSpPr/>
          <p:nvPr/>
        </p:nvSpPr>
        <p:spPr>
          <a:xfrm>
            <a:off x="7264400" y="5397500"/>
            <a:ext cx="1524000" cy="762000"/>
          </a:xfrm>
          <a:prstGeom prst="roundRect">
            <a:avLst>
              <a:gd name="adj" fmla="val 6000"/>
            </a:avLst>
          </a:prstGeom>
          <a:solidFill>
            <a:srgbClr val="FFFFFF"/>
          </a:solidFill>
          <a:ln w="12700">
            <a:solidFill>
              <a:srgbClr val="D9D4C8"/>
            </a:solidFill>
            <a:prstDash val="solid"/>
          </a:ln>
        </p:spPr>
      </p:sp>
      <p:sp>
        <p:nvSpPr>
          <p:cNvPr id="17" name="!!tf5"/>
          <p:cNvSpPr/>
          <p:nvPr/>
        </p:nvSpPr>
        <p:spPr>
          <a:xfrm>
            <a:off x="8877300" y="5397500"/>
            <a:ext cx="1524000" cy="762000"/>
          </a:xfrm>
          <a:prstGeom prst="roundRect">
            <a:avLst>
              <a:gd name="adj" fmla="val 6000"/>
            </a:avLst>
          </a:prstGeom>
          <a:solidFill>
            <a:srgbClr val="FFFFFF"/>
          </a:solidFill>
          <a:ln w="12700">
            <a:solidFill>
              <a:srgbClr val="D9D4C8"/>
            </a:solidFill>
            <a:prstDash val="solid"/>
          </a:ln>
        </p:spPr>
      </p:sp>
      <p:sp>
        <p:nvSpPr>
          <p:cNvPr id="18" name="!!sel"/>
          <p:cNvSpPr/>
          <p:nvPr/>
        </p:nvSpPr>
        <p:spPr>
          <a:xfrm>
            <a:off x="4000500" y="5359400"/>
            <a:ext cx="1600200" cy="838200"/>
          </a:xfrm>
          <a:prstGeom prst="roundRect">
            <a:avLst>
              <a:gd name="adj" fmla="val 7000"/>
            </a:avLst>
          </a:prstGeom>
          <a:ln w="31750">
            <a:solidFill>
              <a:srgbClr val="0F766E"/>
            </a:solidFill>
            <a:prstDash val="solid"/>
          </a:ln>
        </p:spPr>
      </p:sp>
      <p:pic>
        <p:nvPicPr>
          <p:cNvPr id="19" name="!!shot0" descr="Cartographie">    </p:cNvPr>
          <p:cNvPicPr>
            <a:picLocks noChangeAspect="1"/>
          </p:cNvPicPr>
          <p:nvPr/>
        </p:nvPicPr>
        <p:blipFill>
          <a:blip r:embed="rId3"/>
          <a:stretch>
            <a:fillRect/>
          </a:stretch>
        </p:blipFill>
        <p:spPr>
          <a:xfrm>
            <a:off x="1022054" y="5461000"/>
            <a:ext cx="1105492" cy="635000"/>
          </a:xfrm>
          <a:prstGeom prst="rect">
            <a:avLst/>
          </a:prstGeom>
        </p:spPr>
      </p:pic>
      <p:pic>
        <p:nvPicPr>
          <p:cNvPr id="20" name="!!shot1" descr="Import des données">    </p:cNvPr>
          <p:cNvPicPr>
            <a:picLocks noChangeAspect="1"/>
          </p:cNvPicPr>
          <p:nvPr/>
        </p:nvPicPr>
        <p:blipFill>
          <a:blip r:embed="rId4"/>
          <a:stretch>
            <a:fillRect/>
          </a:stretch>
        </p:blipFill>
        <p:spPr>
          <a:xfrm>
            <a:off x="2556823" y="5461000"/>
            <a:ext cx="1261753" cy="635000"/>
          </a:xfrm>
          <a:prstGeom prst="rect">
            <a:avLst/>
          </a:prstGeom>
        </p:spPr>
      </p:pic>
      <p:pic>
        <p:nvPicPr>
          <p:cNvPr id="21" name="!!shot2" descr="Paramétrage">    </p:cNvPr>
          <p:cNvPicPr>
            <a:picLocks noChangeAspect="1"/>
          </p:cNvPicPr>
          <p:nvPr/>
        </p:nvPicPr>
        <p:blipFill>
          <a:blip r:embed="rId5"/>
          <a:stretch>
            <a:fillRect/>
          </a:stretch>
        </p:blipFill>
        <p:spPr>
          <a:xfrm>
            <a:off x="939800" y="1991557"/>
            <a:ext cx="6731000" cy="2684387"/>
          </a:xfrm>
          <a:prstGeom prst="rect">
            <a:avLst/>
          </a:prstGeom>
        </p:spPr>
      </p:pic>
      <p:pic>
        <p:nvPicPr>
          <p:cNvPr id="22" name="!!shot3" descr="Workflows">    </p:cNvPr>
          <p:cNvPicPr>
            <a:picLocks noChangeAspect="1"/>
          </p:cNvPicPr>
          <p:nvPr/>
        </p:nvPicPr>
        <p:blipFill>
          <a:blip r:embed="rId6"/>
          <a:stretch>
            <a:fillRect/>
          </a:stretch>
        </p:blipFill>
        <p:spPr>
          <a:xfrm>
            <a:off x="5728483" y="5461000"/>
            <a:ext cx="1370034" cy="635000"/>
          </a:xfrm>
          <a:prstGeom prst="rect">
            <a:avLst/>
          </a:prstGeom>
        </p:spPr>
      </p:pic>
      <p:pic>
        <p:nvPicPr>
          <p:cNvPr id="23" name="!!shot4" descr="Terrain">    </p:cNvPr>
          <p:cNvPicPr>
            <a:picLocks noChangeAspect="1"/>
          </p:cNvPicPr>
          <p:nvPr/>
        </p:nvPicPr>
        <p:blipFill>
          <a:blip r:embed="rId7"/>
          <a:stretch>
            <a:fillRect/>
          </a:stretch>
        </p:blipFill>
        <p:spPr>
          <a:xfrm>
            <a:off x="7449751" y="5461000"/>
            <a:ext cx="1153297" cy="635000"/>
          </a:xfrm>
          <a:prstGeom prst="rect">
            <a:avLst/>
          </a:prstGeom>
        </p:spPr>
      </p:pic>
      <p:pic>
        <p:nvPicPr>
          <p:cNvPr id="24" name="!!shot5" descr="Formation">    </p:cNvPr>
          <p:cNvPicPr>
            <a:picLocks noChangeAspect="1"/>
          </p:cNvPicPr>
          <p:nvPr/>
        </p:nvPicPr>
        <p:blipFill>
          <a:blip r:embed="rId8"/>
          <a:stretch>
            <a:fillRect/>
          </a:stretch>
        </p:blipFill>
        <p:spPr>
          <a:xfrm>
            <a:off x="9041653" y="5461000"/>
            <a:ext cx="1195294" cy="635000"/>
          </a:xfrm>
          <a:prstGeom prst="rect">
            <a:avLst/>
          </a:prstGeom>
        </p:spPr>
      </p:pic>
      <p:sp>
        <p:nvSpPr>
          <p:cNvPr id="25" name="Text 15-s12"/>
          <p:cNvSpPr txBox="1"/>
          <p:nvPr/>
        </p:nvSpPr>
        <p:spPr>
          <a:xfrm>
            <a:off x="812800" y="4902200"/>
            <a:ext cx="6985000" cy="254000"/>
          </a:xfrm>
          <a:prstGeom prst="rect">
            <a:avLst/>
          </a:prstGeom>
          <a:noFill/>
          <a:ln/>
        </p:spPr>
        <p:txBody>
          <a:bodyPr wrap="square" lIns="0" tIns="0" rIns="0" bIns="0" rtlCol="0" anchor="t"/>
          <a:lstStyle/>
          <a:p>
            <a:pPr algn="l" indent="0" marL="0">
              <a:lnSpc>
                <a:spcPct val="100000"/>
              </a:lnSpc>
              <a:buNone/>
            </a:pPr>
            <a:r>
              <a:rPr lang="en-US" sz="1200" i="1" dirty="0">
                <a:solidFill>
                  <a:srgbClr val="5A6A77"/>
                </a:solidFill>
                <a:latin typeface="Calibri" pitchFamily="34" charset="0"/>
                <a:ea typeface="Calibri" pitchFamily="34" charset="-122"/>
                <a:cs typeface="Calibri" pitchFamily="34" charset="-120"/>
              </a:rPr>
              <a:t>Figure 4 : éditeur de formulaire Teepee</a:t>
            </a:r>
            <a:endParaRPr lang="en-US" sz="1200" dirty="0"/>
          </a:p>
        </p:txBody>
      </p:sp>
      <p:sp>
        <p:nvSpPr>
          <p:cNvPr id="26" name="Text 16-s12"/>
          <p:cNvSpPr txBox="1"/>
          <p:nvPr/>
        </p:nvSpPr>
        <p:spPr>
          <a:xfrm>
            <a:off x="8255000" y="1905000"/>
            <a:ext cx="3124200" cy="254000"/>
          </a:xfrm>
          <a:prstGeom prst="rect">
            <a:avLst/>
          </a:prstGeom>
          <a:noFill/>
          <a:ln/>
        </p:spPr>
        <p:txBody>
          <a:bodyPr wrap="square" lIns="0" tIns="0" rIns="0" bIns="0" rtlCol="0" anchor="t"/>
          <a:lstStyle/>
          <a:p>
            <a:pPr algn="l" indent="0" marL="0">
              <a:lnSpc>
                <a:spcPct val="100000"/>
              </a:lnSpc>
              <a:buNone/>
            </a:pPr>
            <a:r>
              <a:rPr lang="en-US" sz="1300" b="1" spc="300" kern="0" dirty="0">
                <a:solidFill>
                  <a:srgbClr val="0F766E"/>
                </a:solidFill>
                <a:latin typeface="Calibri" pitchFamily="34" charset="0"/>
                <a:ea typeface="Calibri" pitchFamily="34" charset="-122"/>
                <a:cs typeface="Calibri" pitchFamily="34" charset="-120"/>
              </a:rPr>
              <a:t>ÉTAPE 3 SUR 6</a:t>
            </a:r>
            <a:endParaRPr lang="en-US" sz="1300" dirty="0"/>
          </a:p>
        </p:txBody>
      </p:sp>
      <p:sp>
        <p:nvSpPr>
          <p:cNvPr id="27" name="Text 17-s12"/>
          <p:cNvSpPr txBox="1"/>
          <p:nvPr/>
        </p:nvSpPr>
        <p:spPr>
          <a:xfrm>
            <a:off x="8255000" y="2222500"/>
            <a:ext cx="3124200" cy="762000"/>
          </a:xfrm>
          <a:prstGeom prst="rect">
            <a:avLst/>
          </a:prstGeom>
          <a:noFill/>
          <a:ln/>
        </p:spPr>
        <p:txBody>
          <a:bodyPr wrap="square" lIns="0" tIns="0" rIns="0" bIns="0" rtlCol="0" anchor="t"/>
          <a:lstStyle/>
          <a:p>
            <a:pPr algn="l" indent="0" marL="0">
              <a:lnSpc>
                <a:spcPct val="87500"/>
              </a:lnSpc>
              <a:buNone/>
            </a:pPr>
            <a:r>
              <a:rPr lang="en-US" sz="2800" b="1" dirty="0">
                <a:solidFill>
                  <a:srgbClr val="12202B"/>
                </a:solidFill>
                <a:latin typeface="Georgia" pitchFamily="34" charset="0"/>
                <a:ea typeface="Georgia" pitchFamily="34" charset="-122"/>
                <a:cs typeface="Georgia" pitchFamily="34" charset="-120"/>
              </a:rPr>
              <a:t>Paramétrage</a:t>
            </a:r>
            <a:endParaRPr lang="en-US" sz="2800" dirty="0"/>
          </a:p>
        </p:txBody>
      </p:sp>
      <p:sp>
        <p:nvSpPr>
          <p:cNvPr id="28" name="Text 18-s12"/>
          <p:cNvSpPr txBox="1"/>
          <p:nvPr/>
        </p:nvSpPr>
        <p:spPr>
          <a:xfrm>
            <a:off x="8255000" y="3111500"/>
            <a:ext cx="3124200" cy="1905000"/>
          </a:xfrm>
          <a:prstGeom prst="rect">
            <a:avLst/>
          </a:prstGeom>
          <a:noFill/>
          <a:ln/>
        </p:spPr>
        <p:txBody>
          <a:bodyPr wrap="square" lIns="0" tIns="0" rIns="0" bIns="0" rtlCol="0" anchor="t"/>
          <a:lstStyle/>
          <a:p>
            <a:pPr algn="l" indent="0" marL="0">
              <a:lnSpc>
                <a:spcPct val="108333"/>
              </a:lnSpc>
              <a:buNone/>
            </a:pPr>
            <a:r>
              <a:rPr lang="en-US" sz="1500" dirty="0">
                <a:solidFill>
                  <a:srgbClr val="5A6A77"/>
                </a:solidFill>
                <a:latin typeface="Calibri" pitchFamily="34" charset="0"/>
                <a:ea typeface="Calibri" pitchFamily="34" charset="-122"/>
                <a:cs typeface="Calibri" pitchFamily="34" charset="-120"/>
              </a:rPr>
              <a:t>Chaque formulaire est reconstruit dans l’éditeur de Teepee, avec ses champs et ses modèles d’export.</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s13"/>
        <p:cNvGrpSpPr/>
        <p:nvPr/>
      </p:nvGrpSpPr>
      <p:grpSpPr>
        <a:xfrm>
          <a:off x="0" y="0"/>
          <a:ext cx="0" cy="0"/>
          <a:chOff x="0" y="0"/>
          <a:chExt cx="0" cy="0"/>
        </a:xfrm>
      </p:grpSpPr>
      <p:sp>
        <p:nvSpPr>
          <p:cNvPr id="2" name="!!orb"/>
          <p:cNvSpPr/>
          <p:nvPr/>
        </p:nvSpPr>
        <p:spPr>
          <a:xfrm>
            <a:off x="10287000" y="3302000"/>
            <a:ext cx="5080000" cy="5080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6037943" cy="50800"/>
          </a:xfrm>
          <a:prstGeom prst="roundRect">
            <a:avLst>
              <a:gd name="adj" fmla="val 50000"/>
            </a:avLst>
          </a:prstGeom>
          <a:solidFill>
            <a:srgbClr val="0F766E"/>
          </a:solidFill>
          <a:ln/>
        </p:spPr>
      </p:sp>
      <p:sp>
        <p:nvSpPr>
          <p:cNvPr id="9" name="!!dot"/>
          <p:cNvSpPr/>
          <p:nvPr/>
        </p:nvSpPr>
        <p:spPr>
          <a:xfrm>
            <a:off x="6761843" y="6604000"/>
            <a:ext cx="127000" cy="127000"/>
          </a:xfrm>
          <a:prstGeom prst="ellipse">
            <a:avLst/>
          </a:prstGeom>
          <a:solidFill>
            <a:srgbClr val="0F766E"/>
          </a:solidFill>
          <a:ln/>
        </p:spPr>
      </p:sp>
      <p:sp>
        <p:nvSpPr>
          <p:cNvPr id="10" name="Text 6-s13"/>
          <p:cNvSpPr txBox="1"/>
          <p:nvPr/>
        </p:nvSpPr>
        <p:spPr>
          <a:xfrm>
            <a:off x="812800" y="1206500"/>
            <a:ext cx="9525000" cy="571500"/>
          </a:xfrm>
          <a:prstGeom prst="rect">
            <a:avLst/>
          </a:prstGeom>
          <a:noFill/>
          <a:ln/>
        </p:spPr>
        <p:txBody>
          <a:bodyPr wrap="square" lIns="0" tIns="0" rIns="0" bIns="0" rtlCol="0" anchor="t"/>
          <a:lstStyle/>
          <a:p>
            <a:pPr algn="l" indent="0" marL="0">
              <a:lnSpc>
                <a:spcPct val="100000"/>
              </a:lnSpc>
              <a:buNone/>
            </a:pPr>
            <a:r>
              <a:rPr lang="en-US" sz="2800" b="1" dirty="0">
                <a:solidFill>
                  <a:srgbClr val="12202B"/>
                </a:solidFill>
                <a:latin typeface="Georgia" pitchFamily="34" charset="0"/>
                <a:ea typeface="Georgia" pitchFamily="34" charset="-122"/>
                <a:cs typeface="Georgia" pitchFamily="34" charset="-120"/>
              </a:rPr>
              <a:t>Du formulaire Kizeo au terrain</a:t>
            </a:r>
            <a:endParaRPr lang="en-US" sz="2800" dirty="0"/>
          </a:p>
        </p:txBody>
      </p:sp>
      <p:sp>
        <p:nvSpPr>
          <p:cNvPr id="11" name="!!mcard"/>
          <p:cNvSpPr/>
          <p:nvPr/>
        </p:nvSpPr>
        <p:spPr>
          <a:xfrm>
            <a:off x="812800" y="1841500"/>
            <a:ext cx="6985000" cy="2984500"/>
          </a:xfrm>
          <a:prstGeom prst="roundRect">
            <a:avLst>
              <a:gd name="adj" fmla="val 4000"/>
            </a:avLst>
          </a:prstGeom>
          <a:solidFill>
            <a:srgbClr val="FFFFFF"/>
          </a:solidFill>
          <a:ln w="12700">
            <a:solidFill>
              <a:srgbClr val="D9D4C8"/>
            </a:solidFill>
            <a:prstDash val="solid"/>
          </a:ln>
        </p:spPr>
      </p:sp>
      <p:sp>
        <p:nvSpPr>
          <p:cNvPr id="12" name="!!tf0"/>
          <p:cNvSpPr/>
          <p:nvPr/>
        </p:nvSpPr>
        <p:spPr>
          <a:xfrm>
            <a:off x="812800" y="5397500"/>
            <a:ext cx="1524000" cy="762000"/>
          </a:xfrm>
          <a:prstGeom prst="roundRect">
            <a:avLst>
              <a:gd name="adj" fmla="val 6000"/>
            </a:avLst>
          </a:prstGeom>
          <a:solidFill>
            <a:srgbClr val="FFFFFF"/>
          </a:solidFill>
          <a:ln w="12700">
            <a:solidFill>
              <a:srgbClr val="D9D4C8"/>
            </a:solidFill>
            <a:prstDash val="solid"/>
          </a:ln>
        </p:spPr>
      </p:sp>
      <p:sp>
        <p:nvSpPr>
          <p:cNvPr id="13" name="!!tf1"/>
          <p:cNvSpPr/>
          <p:nvPr/>
        </p:nvSpPr>
        <p:spPr>
          <a:xfrm>
            <a:off x="2425700" y="5397500"/>
            <a:ext cx="1524000" cy="762000"/>
          </a:xfrm>
          <a:prstGeom prst="roundRect">
            <a:avLst>
              <a:gd name="adj" fmla="val 6000"/>
            </a:avLst>
          </a:prstGeom>
          <a:solidFill>
            <a:srgbClr val="FFFFFF"/>
          </a:solidFill>
          <a:ln w="12700">
            <a:solidFill>
              <a:srgbClr val="D9D4C8"/>
            </a:solidFill>
            <a:prstDash val="solid"/>
          </a:ln>
        </p:spPr>
      </p:sp>
      <p:sp>
        <p:nvSpPr>
          <p:cNvPr id="14" name="!!tf2"/>
          <p:cNvSpPr/>
          <p:nvPr/>
        </p:nvSpPr>
        <p:spPr>
          <a:xfrm>
            <a:off x="4038600" y="5397500"/>
            <a:ext cx="1524000" cy="762000"/>
          </a:xfrm>
          <a:prstGeom prst="roundRect">
            <a:avLst>
              <a:gd name="adj" fmla="val 6000"/>
            </a:avLst>
          </a:prstGeom>
          <a:solidFill>
            <a:srgbClr val="FFFFFF"/>
          </a:solidFill>
          <a:ln w="12700">
            <a:solidFill>
              <a:srgbClr val="D9D4C8"/>
            </a:solidFill>
            <a:prstDash val="solid"/>
          </a:ln>
        </p:spPr>
      </p:sp>
      <p:sp>
        <p:nvSpPr>
          <p:cNvPr id="15" name="!!tf3"/>
          <p:cNvSpPr/>
          <p:nvPr/>
        </p:nvSpPr>
        <p:spPr>
          <a:xfrm>
            <a:off x="5651500" y="5397500"/>
            <a:ext cx="1524000" cy="762000"/>
          </a:xfrm>
          <a:prstGeom prst="roundRect">
            <a:avLst>
              <a:gd name="adj" fmla="val 6000"/>
            </a:avLst>
          </a:prstGeom>
          <a:solidFill>
            <a:srgbClr val="FFFFFF"/>
          </a:solidFill>
          <a:ln w="12700">
            <a:solidFill>
              <a:srgbClr val="D9D4C8"/>
            </a:solidFill>
            <a:prstDash val="solid"/>
          </a:ln>
        </p:spPr>
      </p:sp>
      <p:sp>
        <p:nvSpPr>
          <p:cNvPr id="16" name="!!tf4"/>
          <p:cNvSpPr/>
          <p:nvPr/>
        </p:nvSpPr>
        <p:spPr>
          <a:xfrm>
            <a:off x="7264400" y="5397500"/>
            <a:ext cx="1524000" cy="762000"/>
          </a:xfrm>
          <a:prstGeom prst="roundRect">
            <a:avLst>
              <a:gd name="adj" fmla="val 6000"/>
            </a:avLst>
          </a:prstGeom>
          <a:solidFill>
            <a:srgbClr val="FFFFFF"/>
          </a:solidFill>
          <a:ln w="12700">
            <a:solidFill>
              <a:srgbClr val="D9D4C8"/>
            </a:solidFill>
            <a:prstDash val="solid"/>
          </a:ln>
        </p:spPr>
      </p:sp>
      <p:sp>
        <p:nvSpPr>
          <p:cNvPr id="17" name="!!tf5"/>
          <p:cNvSpPr/>
          <p:nvPr/>
        </p:nvSpPr>
        <p:spPr>
          <a:xfrm>
            <a:off x="8877300" y="5397500"/>
            <a:ext cx="1524000" cy="762000"/>
          </a:xfrm>
          <a:prstGeom prst="roundRect">
            <a:avLst>
              <a:gd name="adj" fmla="val 6000"/>
            </a:avLst>
          </a:prstGeom>
          <a:solidFill>
            <a:srgbClr val="FFFFFF"/>
          </a:solidFill>
          <a:ln w="12700">
            <a:solidFill>
              <a:srgbClr val="D9D4C8"/>
            </a:solidFill>
            <a:prstDash val="solid"/>
          </a:ln>
        </p:spPr>
      </p:sp>
      <p:sp>
        <p:nvSpPr>
          <p:cNvPr id="18" name="!!sel"/>
          <p:cNvSpPr/>
          <p:nvPr/>
        </p:nvSpPr>
        <p:spPr>
          <a:xfrm>
            <a:off x="5613400" y="5359400"/>
            <a:ext cx="1600200" cy="838200"/>
          </a:xfrm>
          <a:prstGeom prst="roundRect">
            <a:avLst>
              <a:gd name="adj" fmla="val 7000"/>
            </a:avLst>
          </a:prstGeom>
          <a:ln w="31750">
            <a:solidFill>
              <a:srgbClr val="0F766E"/>
            </a:solidFill>
            <a:prstDash val="solid"/>
          </a:ln>
        </p:spPr>
      </p:sp>
      <p:pic>
        <p:nvPicPr>
          <p:cNvPr id="19" name="!!shot0" descr="Cartographie">    </p:cNvPr>
          <p:cNvPicPr>
            <a:picLocks noChangeAspect="1"/>
          </p:cNvPicPr>
          <p:nvPr/>
        </p:nvPicPr>
        <p:blipFill>
          <a:blip r:embed="rId3"/>
          <a:stretch>
            <a:fillRect/>
          </a:stretch>
        </p:blipFill>
        <p:spPr>
          <a:xfrm>
            <a:off x="1022054" y="5461000"/>
            <a:ext cx="1105492" cy="635000"/>
          </a:xfrm>
          <a:prstGeom prst="rect">
            <a:avLst/>
          </a:prstGeom>
        </p:spPr>
      </p:pic>
      <p:pic>
        <p:nvPicPr>
          <p:cNvPr id="20" name="!!shot1" descr="Import des données">    </p:cNvPr>
          <p:cNvPicPr>
            <a:picLocks noChangeAspect="1"/>
          </p:cNvPicPr>
          <p:nvPr/>
        </p:nvPicPr>
        <p:blipFill>
          <a:blip r:embed="rId4"/>
          <a:stretch>
            <a:fillRect/>
          </a:stretch>
        </p:blipFill>
        <p:spPr>
          <a:xfrm>
            <a:off x="2556823" y="5461000"/>
            <a:ext cx="1261753" cy="635000"/>
          </a:xfrm>
          <a:prstGeom prst="rect">
            <a:avLst/>
          </a:prstGeom>
        </p:spPr>
      </p:pic>
      <p:pic>
        <p:nvPicPr>
          <p:cNvPr id="21" name="!!shot2" descr="Paramétrage">    </p:cNvPr>
          <p:cNvPicPr>
            <a:picLocks noChangeAspect="1"/>
          </p:cNvPicPr>
          <p:nvPr/>
        </p:nvPicPr>
        <p:blipFill>
          <a:blip r:embed="rId5"/>
          <a:stretch>
            <a:fillRect/>
          </a:stretch>
        </p:blipFill>
        <p:spPr>
          <a:xfrm>
            <a:off x="4102100" y="5499932"/>
            <a:ext cx="1397000" cy="557137"/>
          </a:xfrm>
          <a:prstGeom prst="rect">
            <a:avLst/>
          </a:prstGeom>
        </p:spPr>
      </p:pic>
      <p:pic>
        <p:nvPicPr>
          <p:cNvPr id="22" name="!!shot3" descr="Workflows">    </p:cNvPr>
          <p:cNvPicPr>
            <a:picLocks noChangeAspect="1"/>
          </p:cNvPicPr>
          <p:nvPr/>
        </p:nvPicPr>
        <p:blipFill>
          <a:blip r:embed="rId6"/>
          <a:stretch>
            <a:fillRect/>
          </a:stretch>
        </p:blipFill>
        <p:spPr>
          <a:xfrm>
            <a:off x="1359726" y="1968500"/>
            <a:ext cx="5891147" cy="2730500"/>
          </a:xfrm>
          <a:prstGeom prst="rect">
            <a:avLst/>
          </a:prstGeom>
        </p:spPr>
      </p:pic>
      <p:pic>
        <p:nvPicPr>
          <p:cNvPr id="23" name="!!shot4" descr="Terrain">    </p:cNvPr>
          <p:cNvPicPr>
            <a:picLocks noChangeAspect="1"/>
          </p:cNvPicPr>
          <p:nvPr/>
        </p:nvPicPr>
        <p:blipFill>
          <a:blip r:embed="rId7"/>
          <a:stretch>
            <a:fillRect/>
          </a:stretch>
        </p:blipFill>
        <p:spPr>
          <a:xfrm>
            <a:off x="7449751" y="5461000"/>
            <a:ext cx="1153297" cy="635000"/>
          </a:xfrm>
          <a:prstGeom prst="rect">
            <a:avLst/>
          </a:prstGeom>
        </p:spPr>
      </p:pic>
      <p:pic>
        <p:nvPicPr>
          <p:cNvPr id="24" name="!!shot5" descr="Formation">    </p:cNvPr>
          <p:cNvPicPr>
            <a:picLocks noChangeAspect="1"/>
          </p:cNvPicPr>
          <p:nvPr/>
        </p:nvPicPr>
        <p:blipFill>
          <a:blip r:embed="rId8"/>
          <a:stretch>
            <a:fillRect/>
          </a:stretch>
        </p:blipFill>
        <p:spPr>
          <a:xfrm>
            <a:off x="9041653" y="5461000"/>
            <a:ext cx="1195294" cy="635000"/>
          </a:xfrm>
          <a:prstGeom prst="rect">
            <a:avLst/>
          </a:prstGeom>
        </p:spPr>
      </p:pic>
      <p:sp>
        <p:nvSpPr>
          <p:cNvPr id="25" name="Text 15-s13"/>
          <p:cNvSpPr txBox="1"/>
          <p:nvPr/>
        </p:nvSpPr>
        <p:spPr>
          <a:xfrm>
            <a:off x="812800" y="4902200"/>
            <a:ext cx="6985000" cy="254000"/>
          </a:xfrm>
          <a:prstGeom prst="rect">
            <a:avLst/>
          </a:prstGeom>
          <a:noFill/>
          <a:ln/>
        </p:spPr>
        <p:txBody>
          <a:bodyPr wrap="square" lIns="0" tIns="0" rIns="0" bIns="0" rtlCol="0" anchor="t"/>
          <a:lstStyle/>
          <a:p>
            <a:pPr algn="l" indent="0" marL="0">
              <a:lnSpc>
                <a:spcPct val="100000"/>
              </a:lnSpc>
              <a:buNone/>
            </a:pPr>
            <a:r>
              <a:rPr lang="en-US" sz="1200" i="1" dirty="0">
                <a:solidFill>
                  <a:srgbClr val="5A6A77"/>
                </a:solidFill>
                <a:latin typeface="Calibri" pitchFamily="34" charset="0"/>
                <a:ea typeface="Calibri" pitchFamily="34" charset="-122"/>
                <a:cs typeface="Calibri" pitchFamily="34" charset="-120"/>
              </a:rPr>
              <a:t>Figure 5 : workflow d’envoi de mails</a:t>
            </a:r>
            <a:endParaRPr lang="en-US" sz="1200" dirty="0"/>
          </a:p>
        </p:txBody>
      </p:sp>
      <p:sp>
        <p:nvSpPr>
          <p:cNvPr id="26" name="Text 16-s13"/>
          <p:cNvSpPr txBox="1"/>
          <p:nvPr/>
        </p:nvSpPr>
        <p:spPr>
          <a:xfrm>
            <a:off x="8255000" y="1905000"/>
            <a:ext cx="3124200" cy="254000"/>
          </a:xfrm>
          <a:prstGeom prst="rect">
            <a:avLst/>
          </a:prstGeom>
          <a:noFill/>
          <a:ln/>
        </p:spPr>
        <p:txBody>
          <a:bodyPr wrap="square" lIns="0" tIns="0" rIns="0" bIns="0" rtlCol="0" anchor="t"/>
          <a:lstStyle/>
          <a:p>
            <a:pPr algn="l" indent="0" marL="0">
              <a:lnSpc>
                <a:spcPct val="100000"/>
              </a:lnSpc>
              <a:buNone/>
            </a:pPr>
            <a:r>
              <a:rPr lang="en-US" sz="1300" b="1" spc="300" kern="0" dirty="0">
                <a:solidFill>
                  <a:srgbClr val="0F766E"/>
                </a:solidFill>
                <a:latin typeface="Calibri" pitchFamily="34" charset="0"/>
                <a:ea typeface="Calibri" pitchFamily="34" charset="-122"/>
                <a:cs typeface="Calibri" pitchFamily="34" charset="-120"/>
              </a:rPr>
              <a:t>ÉTAPE 4 SUR 6</a:t>
            </a:r>
            <a:endParaRPr lang="en-US" sz="1300" dirty="0"/>
          </a:p>
        </p:txBody>
      </p:sp>
      <p:sp>
        <p:nvSpPr>
          <p:cNvPr id="27" name="Text 17-s13"/>
          <p:cNvSpPr txBox="1"/>
          <p:nvPr/>
        </p:nvSpPr>
        <p:spPr>
          <a:xfrm>
            <a:off x="8255000" y="2222500"/>
            <a:ext cx="3124200" cy="762000"/>
          </a:xfrm>
          <a:prstGeom prst="rect">
            <a:avLst/>
          </a:prstGeom>
          <a:noFill/>
          <a:ln/>
        </p:spPr>
        <p:txBody>
          <a:bodyPr wrap="square" lIns="0" tIns="0" rIns="0" bIns="0" rtlCol="0" anchor="t"/>
          <a:lstStyle/>
          <a:p>
            <a:pPr algn="l" indent="0" marL="0">
              <a:lnSpc>
                <a:spcPct val="87500"/>
              </a:lnSpc>
              <a:buNone/>
            </a:pPr>
            <a:r>
              <a:rPr lang="en-US" sz="2800" b="1" dirty="0">
                <a:solidFill>
                  <a:srgbClr val="12202B"/>
                </a:solidFill>
                <a:latin typeface="Georgia" pitchFamily="34" charset="0"/>
                <a:ea typeface="Georgia" pitchFamily="34" charset="-122"/>
                <a:cs typeface="Georgia" pitchFamily="34" charset="-120"/>
              </a:rPr>
              <a:t>Workflows</a:t>
            </a:r>
            <a:endParaRPr lang="en-US" sz="2800" dirty="0"/>
          </a:p>
        </p:txBody>
      </p:sp>
      <p:sp>
        <p:nvSpPr>
          <p:cNvPr id="28" name="Text 18-s13"/>
          <p:cNvSpPr txBox="1"/>
          <p:nvPr/>
        </p:nvSpPr>
        <p:spPr>
          <a:xfrm>
            <a:off x="8255000" y="3111500"/>
            <a:ext cx="3124200" cy="1905000"/>
          </a:xfrm>
          <a:prstGeom prst="rect">
            <a:avLst/>
          </a:prstGeom>
          <a:noFill/>
          <a:ln/>
        </p:spPr>
        <p:txBody>
          <a:bodyPr wrap="square" lIns="0" tIns="0" rIns="0" bIns="0" rtlCol="0" anchor="t"/>
          <a:lstStyle/>
          <a:p>
            <a:pPr algn="l" indent="0" marL="0">
              <a:lnSpc>
                <a:spcPct val="108333"/>
              </a:lnSpc>
              <a:buNone/>
            </a:pPr>
            <a:r>
              <a:rPr lang="en-US" sz="1500" dirty="0">
                <a:solidFill>
                  <a:srgbClr val="5A6A77"/>
                </a:solidFill>
                <a:latin typeface="Calibri" pitchFamily="34" charset="0"/>
                <a:ea typeface="Calibri" pitchFamily="34" charset="-122"/>
                <a:cs typeface="Calibri" pitchFamily="34" charset="-120"/>
              </a:rPr>
              <a:t>Automatiser la validation, par exemple par l’envoi de mails.</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s14"/>
        <p:cNvGrpSpPr/>
        <p:nvPr/>
      </p:nvGrpSpPr>
      <p:grpSpPr>
        <a:xfrm>
          <a:off x="0" y="0"/>
          <a:ext cx="0" cy="0"/>
          <a:chOff x="0" y="0"/>
          <a:chExt cx="0" cy="0"/>
        </a:xfrm>
      </p:grpSpPr>
      <p:sp>
        <p:nvSpPr>
          <p:cNvPr id="2" name="!!orb"/>
          <p:cNvSpPr/>
          <p:nvPr/>
        </p:nvSpPr>
        <p:spPr>
          <a:xfrm>
            <a:off x="10541000" y="2921000"/>
            <a:ext cx="5080000" cy="5080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6541105" cy="50800"/>
          </a:xfrm>
          <a:prstGeom prst="roundRect">
            <a:avLst>
              <a:gd name="adj" fmla="val 50000"/>
            </a:avLst>
          </a:prstGeom>
          <a:solidFill>
            <a:srgbClr val="0F766E"/>
          </a:solidFill>
          <a:ln/>
        </p:spPr>
      </p:sp>
      <p:sp>
        <p:nvSpPr>
          <p:cNvPr id="9" name="!!dot"/>
          <p:cNvSpPr/>
          <p:nvPr/>
        </p:nvSpPr>
        <p:spPr>
          <a:xfrm>
            <a:off x="7265005" y="6604000"/>
            <a:ext cx="127000" cy="127000"/>
          </a:xfrm>
          <a:prstGeom prst="ellipse">
            <a:avLst/>
          </a:prstGeom>
          <a:solidFill>
            <a:srgbClr val="0F766E"/>
          </a:solidFill>
          <a:ln/>
        </p:spPr>
      </p:sp>
      <p:sp>
        <p:nvSpPr>
          <p:cNvPr id="10" name="Text 6-s14"/>
          <p:cNvSpPr txBox="1"/>
          <p:nvPr/>
        </p:nvSpPr>
        <p:spPr>
          <a:xfrm>
            <a:off x="812800" y="1206500"/>
            <a:ext cx="9525000" cy="571500"/>
          </a:xfrm>
          <a:prstGeom prst="rect">
            <a:avLst/>
          </a:prstGeom>
          <a:noFill/>
          <a:ln/>
        </p:spPr>
        <p:txBody>
          <a:bodyPr wrap="square" lIns="0" tIns="0" rIns="0" bIns="0" rtlCol="0" anchor="t"/>
          <a:lstStyle/>
          <a:p>
            <a:pPr algn="l" indent="0" marL="0">
              <a:lnSpc>
                <a:spcPct val="100000"/>
              </a:lnSpc>
              <a:buNone/>
            </a:pPr>
            <a:r>
              <a:rPr lang="en-US" sz="2800" b="1" dirty="0">
                <a:solidFill>
                  <a:srgbClr val="12202B"/>
                </a:solidFill>
                <a:latin typeface="Georgia" pitchFamily="34" charset="0"/>
                <a:ea typeface="Georgia" pitchFamily="34" charset="-122"/>
                <a:cs typeface="Georgia" pitchFamily="34" charset="-120"/>
              </a:rPr>
              <a:t>Du formulaire Kizeo au terrain</a:t>
            </a:r>
            <a:endParaRPr lang="en-US" sz="2800" dirty="0"/>
          </a:p>
        </p:txBody>
      </p:sp>
      <p:sp>
        <p:nvSpPr>
          <p:cNvPr id="11" name="!!mcard"/>
          <p:cNvSpPr/>
          <p:nvPr/>
        </p:nvSpPr>
        <p:spPr>
          <a:xfrm>
            <a:off x="812800" y="1841500"/>
            <a:ext cx="6985000" cy="2984500"/>
          </a:xfrm>
          <a:prstGeom prst="roundRect">
            <a:avLst>
              <a:gd name="adj" fmla="val 4000"/>
            </a:avLst>
          </a:prstGeom>
          <a:solidFill>
            <a:srgbClr val="FFFFFF"/>
          </a:solidFill>
          <a:ln w="12700">
            <a:solidFill>
              <a:srgbClr val="D9D4C8"/>
            </a:solidFill>
            <a:prstDash val="solid"/>
          </a:ln>
        </p:spPr>
      </p:sp>
      <p:sp>
        <p:nvSpPr>
          <p:cNvPr id="12" name="!!tf0"/>
          <p:cNvSpPr/>
          <p:nvPr/>
        </p:nvSpPr>
        <p:spPr>
          <a:xfrm>
            <a:off x="812800" y="5397500"/>
            <a:ext cx="1524000" cy="762000"/>
          </a:xfrm>
          <a:prstGeom prst="roundRect">
            <a:avLst>
              <a:gd name="adj" fmla="val 6000"/>
            </a:avLst>
          </a:prstGeom>
          <a:solidFill>
            <a:srgbClr val="FFFFFF"/>
          </a:solidFill>
          <a:ln w="12700">
            <a:solidFill>
              <a:srgbClr val="D9D4C8"/>
            </a:solidFill>
            <a:prstDash val="solid"/>
          </a:ln>
        </p:spPr>
      </p:sp>
      <p:sp>
        <p:nvSpPr>
          <p:cNvPr id="13" name="!!tf1"/>
          <p:cNvSpPr/>
          <p:nvPr/>
        </p:nvSpPr>
        <p:spPr>
          <a:xfrm>
            <a:off x="2425700" y="5397500"/>
            <a:ext cx="1524000" cy="762000"/>
          </a:xfrm>
          <a:prstGeom prst="roundRect">
            <a:avLst>
              <a:gd name="adj" fmla="val 6000"/>
            </a:avLst>
          </a:prstGeom>
          <a:solidFill>
            <a:srgbClr val="FFFFFF"/>
          </a:solidFill>
          <a:ln w="12700">
            <a:solidFill>
              <a:srgbClr val="D9D4C8"/>
            </a:solidFill>
            <a:prstDash val="solid"/>
          </a:ln>
        </p:spPr>
      </p:sp>
      <p:sp>
        <p:nvSpPr>
          <p:cNvPr id="14" name="!!tf2"/>
          <p:cNvSpPr/>
          <p:nvPr/>
        </p:nvSpPr>
        <p:spPr>
          <a:xfrm>
            <a:off x="4038600" y="5397500"/>
            <a:ext cx="1524000" cy="762000"/>
          </a:xfrm>
          <a:prstGeom prst="roundRect">
            <a:avLst>
              <a:gd name="adj" fmla="val 6000"/>
            </a:avLst>
          </a:prstGeom>
          <a:solidFill>
            <a:srgbClr val="FFFFFF"/>
          </a:solidFill>
          <a:ln w="12700">
            <a:solidFill>
              <a:srgbClr val="D9D4C8"/>
            </a:solidFill>
            <a:prstDash val="solid"/>
          </a:ln>
        </p:spPr>
      </p:sp>
      <p:sp>
        <p:nvSpPr>
          <p:cNvPr id="15" name="!!tf3"/>
          <p:cNvSpPr/>
          <p:nvPr/>
        </p:nvSpPr>
        <p:spPr>
          <a:xfrm>
            <a:off x="5651500" y="5397500"/>
            <a:ext cx="1524000" cy="762000"/>
          </a:xfrm>
          <a:prstGeom prst="roundRect">
            <a:avLst>
              <a:gd name="adj" fmla="val 6000"/>
            </a:avLst>
          </a:prstGeom>
          <a:solidFill>
            <a:srgbClr val="FFFFFF"/>
          </a:solidFill>
          <a:ln w="12700">
            <a:solidFill>
              <a:srgbClr val="D9D4C8"/>
            </a:solidFill>
            <a:prstDash val="solid"/>
          </a:ln>
        </p:spPr>
      </p:sp>
      <p:sp>
        <p:nvSpPr>
          <p:cNvPr id="16" name="!!tf4"/>
          <p:cNvSpPr/>
          <p:nvPr/>
        </p:nvSpPr>
        <p:spPr>
          <a:xfrm>
            <a:off x="7264400" y="5397500"/>
            <a:ext cx="1524000" cy="762000"/>
          </a:xfrm>
          <a:prstGeom prst="roundRect">
            <a:avLst>
              <a:gd name="adj" fmla="val 6000"/>
            </a:avLst>
          </a:prstGeom>
          <a:solidFill>
            <a:srgbClr val="FFFFFF"/>
          </a:solidFill>
          <a:ln w="12700">
            <a:solidFill>
              <a:srgbClr val="D9D4C8"/>
            </a:solidFill>
            <a:prstDash val="solid"/>
          </a:ln>
        </p:spPr>
      </p:sp>
      <p:sp>
        <p:nvSpPr>
          <p:cNvPr id="17" name="!!tf5"/>
          <p:cNvSpPr/>
          <p:nvPr/>
        </p:nvSpPr>
        <p:spPr>
          <a:xfrm>
            <a:off x="8877300" y="5397500"/>
            <a:ext cx="1524000" cy="762000"/>
          </a:xfrm>
          <a:prstGeom prst="roundRect">
            <a:avLst>
              <a:gd name="adj" fmla="val 6000"/>
            </a:avLst>
          </a:prstGeom>
          <a:solidFill>
            <a:srgbClr val="FFFFFF"/>
          </a:solidFill>
          <a:ln w="12700">
            <a:solidFill>
              <a:srgbClr val="D9D4C8"/>
            </a:solidFill>
            <a:prstDash val="solid"/>
          </a:ln>
        </p:spPr>
      </p:sp>
      <p:sp>
        <p:nvSpPr>
          <p:cNvPr id="18" name="!!sel"/>
          <p:cNvSpPr/>
          <p:nvPr/>
        </p:nvSpPr>
        <p:spPr>
          <a:xfrm>
            <a:off x="7226300" y="5359400"/>
            <a:ext cx="1600200" cy="838200"/>
          </a:xfrm>
          <a:prstGeom prst="roundRect">
            <a:avLst>
              <a:gd name="adj" fmla="val 7000"/>
            </a:avLst>
          </a:prstGeom>
          <a:ln w="31750">
            <a:solidFill>
              <a:srgbClr val="0F766E"/>
            </a:solidFill>
            <a:prstDash val="solid"/>
          </a:ln>
        </p:spPr>
      </p:sp>
      <p:pic>
        <p:nvPicPr>
          <p:cNvPr id="19" name="!!shot0" descr="Cartographie">    </p:cNvPr>
          <p:cNvPicPr>
            <a:picLocks noChangeAspect="1"/>
          </p:cNvPicPr>
          <p:nvPr/>
        </p:nvPicPr>
        <p:blipFill>
          <a:blip r:embed="rId3"/>
          <a:stretch>
            <a:fillRect/>
          </a:stretch>
        </p:blipFill>
        <p:spPr>
          <a:xfrm>
            <a:off x="1022054" y="5461000"/>
            <a:ext cx="1105492" cy="635000"/>
          </a:xfrm>
          <a:prstGeom prst="rect">
            <a:avLst/>
          </a:prstGeom>
        </p:spPr>
      </p:pic>
      <p:pic>
        <p:nvPicPr>
          <p:cNvPr id="20" name="!!shot1" descr="Import des données">    </p:cNvPr>
          <p:cNvPicPr>
            <a:picLocks noChangeAspect="1"/>
          </p:cNvPicPr>
          <p:nvPr/>
        </p:nvPicPr>
        <p:blipFill>
          <a:blip r:embed="rId4"/>
          <a:stretch>
            <a:fillRect/>
          </a:stretch>
        </p:blipFill>
        <p:spPr>
          <a:xfrm>
            <a:off x="2556823" y="5461000"/>
            <a:ext cx="1261753" cy="635000"/>
          </a:xfrm>
          <a:prstGeom prst="rect">
            <a:avLst/>
          </a:prstGeom>
        </p:spPr>
      </p:pic>
      <p:pic>
        <p:nvPicPr>
          <p:cNvPr id="21" name="!!shot2" descr="Paramétrage">    </p:cNvPr>
          <p:cNvPicPr>
            <a:picLocks noChangeAspect="1"/>
          </p:cNvPicPr>
          <p:nvPr/>
        </p:nvPicPr>
        <p:blipFill>
          <a:blip r:embed="rId5"/>
          <a:stretch>
            <a:fillRect/>
          </a:stretch>
        </p:blipFill>
        <p:spPr>
          <a:xfrm>
            <a:off x="4102100" y="5499932"/>
            <a:ext cx="1397000" cy="557137"/>
          </a:xfrm>
          <a:prstGeom prst="rect">
            <a:avLst/>
          </a:prstGeom>
        </p:spPr>
      </p:pic>
      <p:pic>
        <p:nvPicPr>
          <p:cNvPr id="22" name="!!shot3" descr="Workflows">    </p:cNvPr>
          <p:cNvPicPr>
            <a:picLocks noChangeAspect="1"/>
          </p:cNvPicPr>
          <p:nvPr/>
        </p:nvPicPr>
        <p:blipFill>
          <a:blip r:embed="rId6"/>
          <a:stretch>
            <a:fillRect/>
          </a:stretch>
        </p:blipFill>
        <p:spPr>
          <a:xfrm>
            <a:off x="5728483" y="5461000"/>
            <a:ext cx="1370034" cy="635000"/>
          </a:xfrm>
          <a:prstGeom prst="rect">
            <a:avLst/>
          </a:prstGeom>
        </p:spPr>
      </p:pic>
      <p:pic>
        <p:nvPicPr>
          <p:cNvPr id="23" name="!!shot4" descr="Terrain">    </p:cNvPr>
          <p:cNvPicPr>
            <a:picLocks noChangeAspect="1"/>
          </p:cNvPicPr>
          <p:nvPr/>
        </p:nvPicPr>
        <p:blipFill>
          <a:blip r:embed="rId7"/>
          <a:stretch>
            <a:fillRect/>
          </a:stretch>
        </p:blipFill>
        <p:spPr>
          <a:xfrm>
            <a:off x="1825711" y="1968500"/>
            <a:ext cx="4959178" cy="2730500"/>
          </a:xfrm>
          <a:prstGeom prst="rect">
            <a:avLst/>
          </a:prstGeom>
        </p:spPr>
      </p:pic>
      <p:pic>
        <p:nvPicPr>
          <p:cNvPr id="24" name="!!shot5" descr="Formation">    </p:cNvPr>
          <p:cNvPicPr>
            <a:picLocks noChangeAspect="1"/>
          </p:cNvPicPr>
          <p:nvPr/>
        </p:nvPicPr>
        <p:blipFill>
          <a:blip r:embed="rId8"/>
          <a:stretch>
            <a:fillRect/>
          </a:stretch>
        </p:blipFill>
        <p:spPr>
          <a:xfrm>
            <a:off x="9041653" y="5461000"/>
            <a:ext cx="1195294" cy="635000"/>
          </a:xfrm>
          <a:prstGeom prst="rect">
            <a:avLst/>
          </a:prstGeom>
        </p:spPr>
      </p:pic>
      <p:sp>
        <p:nvSpPr>
          <p:cNvPr id="25" name="Text 15-s14"/>
          <p:cNvSpPr txBox="1"/>
          <p:nvPr/>
        </p:nvSpPr>
        <p:spPr>
          <a:xfrm>
            <a:off x="812800" y="4902200"/>
            <a:ext cx="6985000" cy="254000"/>
          </a:xfrm>
          <a:prstGeom prst="rect">
            <a:avLst/>
          </a:prstGeom>
          <a:noFill/>
          <a:ln/>
        </p:spPr>
        <p:txBody>
          <a:bodyPr wrap="square" lIns="0" tIns="0" rIns="0" bIns="0" rtlCol="0" anchor="t"/>
          <a:lstStyle/>
          <a:p>
            <a:pPr algn="l" indent="0" marL="0">
              <a:lnSpc>
                <a:spcPct val="100000"/>
              </a:lnSpc>
              <a:buNone/>
            </a:pPr>
            <a:r>
              <a:rPr lang="en-US" sz="1200" i="1" dirty="0">
                <a:solidFill>
                  <a:srgbClr val="5A6A77"/>
                </a:solidFill>
                <a:latin typeface="Calibri" pitchFamily="34" charset="0"/>
                <a:ea typeface="Calibri" pitchFamily="34" charset="-122"/>
                <a:cs typeface="Calibri" pitchFamily="34" charset="-120"/>
              </a:rPr>
              <a:t>Figure 6 : saisie d’un formulaire sur mobile</a:t>
            </a:r>
            <a:endParaRPr lang="en-US" sz="1200" dirty="0"/>
          </a:p>
        </p:txBody>
      </p:sp>
      <p:sp>
        <p:nvSpPr>
          <p:cNvPr id="26" name="Text 16-s14"/>
          <p:cNvSpPr txBox="1"/>
          <p:nvPr/>
        </p:nvSpPr>
        <p:spPr>
          <a:xfrm>
            <a:off x="8255000" y="1905000"/>
            <a:ext cx="3124200" cy="254000"/>
          </a:xfrm>
          <a:prstGeom prst="rect">
            <a:avLst/>
          </a:prstGeom>
          <a:noFill/>
          <a:ln/>
        </p:spPr>
        <p:txBody>
          <a:bodyPr wrap="square" lIns="0" tIns="0" rIns="0" bIns="0" rtlCol="0" anchor="t"/>
          <a:lstStyle/>
          <a:p>
            <a:pPr algn="l" indent="0" marL="0">
              <a:lnSpc>
                <a:spcPct val="100000"/>
              </a:lnSpc>
              <a:buNone/>
            </a:pPr>
            <a:r>
              <a:rPr lang="en-US" sz="1300" b="1" spc="300" kern="0" dirty="0">
                <a:solidFill>
                  <a:srgbClr val="0F766E"/>
                </a:solidFill>
                <a:latin typeface="Calibri" pitchFamily="34" charset="0"/>
                <a:ea typeface="Calibri" pitchFamily="34" charset="-122"/>
                <a:cs typeface="Calibri" pitchFamily="34" charset="-120"/>
              </a:rPr>
              <a:t>ÉTAPE 5 SUR 6</a:t>
            </a:r>
            <a:endParaRPr lang="en-US" sz="1300" dirty="0"/>
          </a:p>
        </p:txBody>
      </p:sp>
      <p:sp>
        <p:nvSpPr>
          <p:cNvPr id="27" name="Text 17-s14"/>
          <p:cNvSpPr txBox="1"/>
          <p:nvPr/>
        </p:nvSpPr>
        <p:spPr>
          <a:xfrm>
            <a:off x="8255000" y="2222500"/>
            <a:ext cx="3124200" cy="762000"/>
          </a:xfrm>
          <a:prstGeom prst="rect">
            <a:avLst/>
          </a:prstGeom>
          <a:noFill/>
          <a:ln/>
        </p:spPr>
        <p:txBody>
          <a:bodyPr wrap="square" lIns="0" tIns="0" rIns="0" bIns="0" rtlCol="0" anchor="t"/>
          <a:lstStyle/>
          <a:p>
            <a:pPr algn="l" indent="0" marL="0">
              <a:lnSpc>
                <a:spcPct val="87500"/>
              </a:lnSpc>
              <a:buNone/>
            </a:pPr>
            <a:r>
              <a:rPr lang="en-US" sz="2800" b="1" dirty="0">
                <a:solidFill>
                  <a:srgbClr val="12202B"/>
                </a:solidFill>
                <a:latin typeface="Georgia" pitchFamily="34" charset="0"/>
                <a:ea typeface="Georgia" pitchFamily="34" charset="-122"/>
                <a:cs typeface="Georgia" pitchFamily="34" charset="-120"/>
              </a:rPr>
              <a:t>Terrain</a:t>
            </a:r>
            <a:endParaRPr lang="en-US" sz="2800" dirty="0"/>
          </a:p>
        </p:txBody>
      </p:sp>
      <p:sp>
        <p:nvSpPr>
          <p:cNvPr id="28" name="Text 18-s14"/>
          <p:cNvSpPr txBox="1"/>
          <p:nvPr/>
        </p:nvSpPr>
        <p:spPr>
          <a:xfrm>
            <a:off x="8255000" y="3111500"/>
            <a:ext cx="3124200" cy="1905000"/>
          </a:xfrm>
          <a:prstGeom prst="rect">
            <a:avLst/>
          </a:prstGeom>
          <a:noFill/>
          <a:ln/>
        </p:spPr>
        <p:txBody>
          <a:bodyPr wrap="square" lIns="0" tIns="0" rIns="0" bIns="0" rtlCol="0" anchor="t"/>
          <a:lstStyle/>
          <a:p>
            <a:pPr algn="l" indent="0" marL="0">
              <a:lnSpc>
                <a:spcPct val="108333"/>
              </a:lnSpc>
              <a:buNone/>
            </a:pPr>
            <a:r>
              <a:rPr lang="en-US" sz="1500" dirty="0">
                <a:solidFill>
                  <a:srgbClr val="5A6A77"/>
                </a:solidFill>
                <a:latin typeface="Calibri" pitchFamily="34" charset="0"/>
                <a:ea typeface="Calibri" pitchFamily="34" charset="-122"/>
                <a:cs typeface="Calibri" pitchFamily="34" charset="-120"/>
              </a:rPr>
              <a:t>Saisie sur mobile par les équipes terrain, y compris hors réseau.</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s15"/>
        <p:cNvGrpSpPr/>
        <p:nvPr/>
      </p:nvGrpSpPr>
      <p:grpSpPr>
        <a:xfrm>
          <a:off x="0" y="0"/>
          <a:ext cx="0" cy="0"/>
          <a:chOff x="0" y="0"/>
          <a:chExt cx="0" cy="0"/>
        </a:xfrm>
      </p:grpSpPr>
      <p:sp>
        <p:nvSpPr>
          <p:cNvPr id="2" name="!!orb"/>
          <p:cNvSpPr/>
          <p:nvPr/>
        </p:nvSpPr>
        <p:spPr>
          <a:xfrm>
            <a:off x="10795000" y="2540000"/>
            <a:ext cx="5080000" cy="5080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7044267" cy="50800"/>
          </a:xfrm>
          <a:prstGeom prst="roundRect">
            <a:avLst>
              <a:gd name="adj" fmla="val 50000"/>
            </a:avLst>
          </a:prstGeom>
          <a:solidFill>
            <a:srgbClr val="0F766E"/>
          </a:solidFill>
          <a:ln/>
        </p:spPr>
      </p:sp>
      <p:sp>
        <p:nvSpPr>
          <p:cNvPr id="9" name="!!dot"/>
          <p:cNvSpPr/>
          <p:nvPr/>
        </p:nvSpPr>
        <p:spPr>
          <a:xfrm>
            <a:off x="7768167" y="6604000"/>
            <a:ext cx="127000" cy="127000"/>
          </a:xfrm>
          <a:prstGeom prst="ellipse">
            <a:avLst/>
          </a:prstGeom>
          <a:solidFill>
            <a:srgbClr val="0F766E"/>
          </a:solidFill>
          <a:ln/>
        </p:spPr>
      </p:sp>
      <p:sp>
        <p:nvSpPr>
          <p:cNvPr id="10" name="Text 6-s15"/>
          <p:cNvSpPr txBox="1"/>
          <p:nvPr/>
        </p:nvSpPr>
        <p:spPr>
          <a:xfrm>
            <a:off x="812800" y="1206500"/>
            <a:ext cx="9525000" cy="571500"/>
          </a:xfrm>
          <a:prstGeom prst="rect">
            <a:avLst/>
          </a:prstGeom>
          <a:noFill/>
          <a:ln/>
        </p:spPr>
        <p:txBody>
          <a:bodyPr wrap="square" lIns="0" tIns="0" rIns="0" bIns="0" rtlCol="0" anchor="t"/>
          <a:lstStyle/>
          <a:p>
            <a:pPr algn="l" indent="0" marL="0">
              <a:lnSpc>
                <a:spcPct val="100000"/>
              </a:lnSpc>
              <a:buNone/>
            </a:pPr>
            <a:r>
              <a:rPr lang="en-US" sz="2800" b="1" dirty="0">
                <a:solidFill>
                  <a:srgbClr val="12202B"/>
                </a:solidFill>
                <a:latin typeface="Georgia" pitchFamily="34" charset="0"/>
                <a:ea typeface="Georgia" pitchFamily="34" charset="-122"/>
                <a:cs typeface="Georgia" pitchFamily="34" charset="-120"/>
              </a:rPr>
              <a:t>Du formulaire Kizeo au terrain</a:t>
            </a:r>
            <a:endParaRPr lang="en-US" sz="2800" dirty="0"/>
          </a:p>
        </p:txBody>
      </p:sp>
      <p:sp>
        <p:nvSpPr>
          <p:cNvPr id="11" name="!!mcard"/>
          <p:cNvSpPr/>
          <p:nvPr/>
        </p:nvSpPr>
        <p:spPr>
          <a:xfrm>
            <a:off x="812800" y="1841500"/>
            <a:ext cx="6985000" cy="2984500"/>
          </a:xfrm>
          <a:prstGeom prst="roundRect">
            <a:avLst>
              <a:gd name="adj" fmla="val 4000"/>
            </a:avLst>
          </a:prstGeom>
          <a:solidFill>
            <a:srgbClr val="FFFFFF"/>
          </a:solidFill>
          <a:ln w="12700">
            <a:solidFill>
              <a:srgbClr val="D9D4C8"/>
            </a:solidFill>
            <a:prstDash val="solid"/>
          </a:ln>
        </p:spPr>
      </p:sp>
      <p:sp>
        <p:nvSpPr>
          <p:cNvPr id="12" name="!!tf0"/>
          <p:cNvSpPr/>
          <p:nvPr/>
        </p:nvSpPr>
        <p:spPr>
          <a:xfrm>
            <a:off x="812800" y="5397500"/>
            <a:ext cx="1524000" cy="762000"/>
          </a:xfrm>
          <a:prstGeom prst="roundRect">
            <a:avLst>
              <a:gd name="adj" fmla="val 6000"/>
            </a:avLst>
          </a:prstGeom>
          <a:solidFill>
            <a:srgbClr val="FFFFFF"/>
          </a:solidFill>
          <a:ln w="12700">
            <a:solidFill>
              <a:srgbClr val="D9D4C8"/>
            </a:solidFill>
            <a:prstDash val="solid"/>
          </a:ln>
        </p:spPr>
      </p:sp>
      <p:sp>
        <p:nvSpPr>
          <p:cNvPr id="13" name="!!tf1"/>
          <p:cNvSpPr/>
          <p:nvPr/>
        </p:nvSpPr>
        <p:spPr>
          <a:xfrm>
            <a:off x="2425700" y="5397500"/>
            <a:ext cx="1524000" cy="762000"/>
          </a:xfrm>
          <a:prstGeom prst="roundRect">
            <a:avLst>
              <a:gd name="adj" fmla="val 6000"/>
            </a:avLst>
          </a:prstGeom>
          <a:solidFill>
            <a:srgbClr val="FFFFFF"/>
          </a:solidFill>
          <a:ln w="12700">
            <a:solidFill>
              <a:srgbClr val="D9D4C8"/>
            </a:solidFill>
            <a:prstDash val="solid"/>
          </a:ln>
        </p:spPr>
      </p:sp>
      <p:sp>
        <p:nvSpPr>
          <p:cNvPr id="14" name="!!tf2"/>
          <p:cNvSpPr/>
          <p:nvPr/>
        </p:nvSpPr>
        <p:spPr>
          <a:xfrm>
            <a:off x="4038600" y="5397500"/>
            <a:ext cx="1524000" cy="762000"/>
          </a:xfrm>
          <a:prstGeom prst="roundRect">
            <a:avLst>
              <a:gd name="adj" fmla="val 6000"/>
            </a:avLst>
          </a:prstGeom>
          <a:solidFill>
            <a:srgbClr val="FFFFFF"/>
          </a:solidFill>
          <a:ln w="12700">
            <a:solidFill>
              <a:srgbClr val="D9D4C8"/>
            </a:solidFill>
            <a:prstDash val="solid"/>
          </a:ln>
        </p:spPr>
      </p:sp>
      <p:sp>
        <p:nvSpPr>
          <p:cNvPr id="15" name="!!tf3"/>
          <p:cNvSpPr/>
          <p:nvPr/>
        </p:nvSpPr>
        <p:spPr>
          <a:xfrm>
            <a:off x="5651500" y="5397500"/>
            <a:ext cx="1524000" cy="762000"/>
          </a:xfrm>
          <a:prstGeom prst="roundRect">
            <a:avLst>
              <a:gd name="adj" fmla="val 6000"/>
            </a:avLst>
          </a:prstGeom>
          <a:solidFill>
            <a:srgbClr val="FFFFFF"/>
          </a:solidFill>
          <a:ln w="12700">
            <a:solidFill>
              <a:srgbClr val="D9D4C8"/>
            </a:solidFill>
            <a:prstDash val="solid"/>
          </a:ln>
        </p:spPr>
      </p:sp>
      <p:sp>
        <p:nvSpPr>
          <p:cNvPr id="16" name="!!tf4"/>
          <p:cNvSpPr/>
          <p:nvPr/>
        </p:nvSpPr>
        <p:spPr>
          <a:xfrm>
            <a:off x="7264400" y="5397500"/>
            <a:ext cx="1524000" cy="762000"/>
          </a:xfrm>
          <a:prstGeom prst="roundRect">
            <a:avLst>
              <a:gd name="adj" fmla="val 6000"/>
            </a:avLst>
          </a:prstGeom>
          <a:solidFill>
            <a:srgbClr val="FFFFFF"/>
          </a:solidFill>
          <a:ln w="12700">
            <a:solidFill>
              <a:srgbClr val="D9D4C8"/>
            </a:solidFill>
            <a:prstDash val="solid"/>
          </a:ln>
        </p:spPr>
      </p:sp>
      <p:sp>
        <p:nvSpPr>
          <p:cNvPr id="17" name="!!tf5"/>
          <p:cNvSpPr/>
          <p:nvPr/>
        </p:nvSpPr>
        <p:spPr>
          <a:xfrm>
            <a:off x="8877300" y="5397500"/>
            <a:ext cx="1524000" cy="762000"/>
          </a:xfrm>
          <a:prstGeom prst="roundRect">
            <a:avLst>
              <a:gd name="adj" fmla="val 6000"/>
            </a:avLst>
          </a:prstGeom>
          <a:solidFill>
            <a:srgbClr val="FFFFFF"/>
          </a:solidFill>
          <a:ln w="12700">
            <a:solidFill>
              <a:srgbClr val="D9D4C8"/>
            </a:solidFill>
            <a:prstDash val="solid"/>
          </a:ln>
        </p:spPr>
      </p:sp>
      <p:sp>
        <p:nvSpPr>
          <p:cNvPr id="18" name="!!sel"/>
          <p:cNvSpPr/>
          <p:nvPr/>
        </p:nvSpPr>
        <p:spPr>
          <a:xfrm>
            <a:off x="8839200" y="5359400"/>
            <a:ext cx="1600200" cy="838200"/>
          </a:xfrm>
          <a:prstGeom prst="roundRect">
            <a:avLst>
              <a:gd name="adj" fmla="val 7000"/>
            </a:avLst>
          </a:prstGeom>
          <a:ln w="31750">
            <a:solidFill>
              <a:srgbClr val="0F766E"/>
            </a:solidFill>
            <a:prstDash val="solid"/>
          </a:ln>
        </p:spPr>
      </p:sp>
      <p:pic>
        <p:nvPicPr>
          <p:cNvPr id="19" name="!!shot0" descr="Cartographie">    </p:cNvPr>
          <p:cNvPicPr>
            <a:picLocks noChangeAspect="1"/>
          </p:cNvPicPr>
          <p:nvPr/>
        </p:nvPicPr>
        <p:blipFill>
          <a:blip r:embed="rId3"/>
          <a:stretch>
            <a:fillRect/>
          </a:stretch>
        </p:blipFill>
        <p:spPr>
          <a:xfrm>
            <a:off x="1022054" y="5461000"/>
            <a:ext cx="1105492" cy="635000"/>
          </a:xfrm>
          <a:prstGeom prst="rect">
            <a:avLst/>
          </a:prstGeom>
        </p:spPr>
      </p:pic>
      <p:pic>
        <p:nvPicPr>
          <p:cNvPr id="20" name="!!shot1" descr="Import des données">    </p:cNvPr>
          <p:cNvPicPr>
            <a:picLocks noChangeAspect="1"/>
          </p:cNvPicPr>
          <p:nvPr/>
        </p:nvPicPr>
        <p:blipFill>
          <a:blip r:embed="rId4"/>
          <a:stretch>
            <a:fillRect/>
          </a:stretch>
        </p:blipFill>
        <p:spPr>
          <a:xfrm>
            <a:off x="2556823" y="5461000"/>
            <a:ext cx="1261753" cy="635000"/>
          </a:xfrm>
          <a:prstGeom prst="rect">
            <a:avLst/>
          </a:prstGeom>
        </p:spPr>
      </p:pic>
      <p:pic>
        <p:nvPicPr>
          <p:cNvPr id="21" name="!!shot2" descr="Paramétrage">    </p:cNvPr>
          <p:cNvPicPr>
            <a:picLocks noChangeAspect="1"/>
          </p:cNvPicPr>
          <p:nvPr/>
        </p:nvPicPr>
        <p:blipFill>
          <a:blip r:embed="rId5"/>
          <a:stretch>
            <a:fillRect/>
          </a:stretch>
        </p:blipFill>
        <p:spPr>
          <a:xfrm>
            <a:off x="4102100" y="5499932"/>
            <a:ext cx="1397000" cy="557137"/>
          </a:xfrm>
          <a:prstGeom prst="rect">
            <a:avLst/>
          </a:prstGeom>
        </p:spPr>
      </p:pic>
      <p:pic>
        <p:nvPicPr>
          <p:cNvPr id="22" name="!!shot3" descr="Workflows">    </p:cNvPr>
          <p:cNvPicPr>
            <a:picLocks noChangeAspect="1"/>
          </p:cNvPicPr>
          <p:nvPr/>
        </p:nvPicPr>
        <p:blipFill>
          <a:blip r:embed="rId6"/>
          <a:stretch>
            <a:fillRect/>
          </a:stretch>
        </p:blipFill>
        <p:spPr>
          <a:xfrm>
            <a:off x="5728483" y="5461000"/>
            <a:ext cx="1370034" cy="635000"/>
          </a:xfrm>
          <a:prstGeom prst="rect">
            <a:avLst/>
          </a:prstGeom>
        </p:spPr>
      </p:pic>
      <p:pic>
        <p:nvPicPr>
          <p:cNvPr id="23" name="!!shot4" descr="Terrain">    </p:cNvPr>
          <p:cNvPicPr>
            <a:picLocks noChangeAspect="1"/>
          </p:cNvPicPr>
          <p:nvPr/>
        </p:nvPicPr>
        <p:blipFill>
          <a:blip r:embed="rId7"/>
          <a:stretch>
            <a:fillRect/>
          </a:stretch>
        </p:blipFill>
        <p:spPr>
          <a:xfrm>
            <a:off x="7449751" y="5461000"/>
            <a:ext cx="1153297" cy="635000"/>
          </a:xfrm>
          <a:prstGeom prst="rect">
            <a:avLst/>
          </a:prstGeom>
        </p:spPr>
      </p:pic>
      <p:pic>
        <p:nvPicPr>
          <p:cNvPr id="24" name="!!shot5" descr="Formation">    </p:cNvPr>
          <p:cNvPicPr>
            <a:picLocks noChangeAspect="1"/>
          </p:cNvPicPr>
          <p:nvPr/>
        </p:nvPicPr>
        <p:blipFill>
          <a:blip r:embed="rId8"/>
          <a:stretch>
            <a:fillRect/>
          </a:stretch>
        </p:blipFill>
        <p:spPr>
          <a:xfrm>
            <a:off x="1735418" y="1968500"/>
            <a:ext cx="5139765" cy="2730500"/>
          </a:xfrm>
          <a:prstGeom prst="rect">
            <a:avLst/>
          </a:prstGeom>
        </p:spPr>
      </p:pic>
      <p:sp>
        <p:nvSpPr>
          <p:cNvPr id="25" name="Text 15-s15"/>
          <p:cNvSpPr txBox="1"/>
          <p:nvPr/>
        </p:nvSpPr>
        <p:spPr>
          <a:xfrm>
            <a:off x="812800" y="4902200"/>
            <a:ext cx="6985000" cy="254000"/>
          </a:xfrm>
          <a:prstGeom prst="rect">
            <a:avLst/>
          </a:prstGeom>
          <a:noFill/>
          <a:ln/>
        </p:spPr>
        <p:txBody>
          <a:bodyPr wrap="square" lIns="0" tIns="0" rIns="0" bIns="0" rtlCol="0" anchor="t"/>
          <a:lstStyle/>
          <a:p>
            <a:pPr algn="l" indent="0" marL="0">
              <a:lnSpc>
                <a:spcPct val="100000"/>
              </a:lnSpc>
              <a:buNone/>
            </a:pPr>
            <a:r>
              <a:rPr lang="en-US" sz="1200" i="1" dirty="0">
                <a:solidFill>
                  <a:srgbClr val="5A6A77"/>
                </a:solidFill>
                <a:latin typeface="Calibri" pitchFamily="34" charset="0"/>
                <a:ea typeface="Calibri" pitchFamily="34" charset="-122"/>
                <a:cs typeface="Calibri" pitchFamily="34" charset="-120"/>
              </a:rPr>
              <a:t>Figure 7 : guide de formation Teepee</a:t>
            </a:r>
            <a:endParaRPr lang="en-US" sz="1200" dirty="0"/>
          </a:p>
        </p:txBody>
      </p:sp>
      <p:sp>
        <p:nvSpPr>
          <p:cNvPr id="26" name="Text 16-s15"/>
          <p:cNvSpPr txBox="1"/>
          <p:nvPr/>
        </p:nvSpPr>
        <p:spPr>
          <a:xfrm>
            <a:off x="8255000" y="1905000"/>
            <a:ext cx="3124200" cy="254000"/>
          </a:xfrm>
          <a:prstGeom prst="rect">
            <a:avLst/>
          </a:prstGeom>
          <a:noFill/>
          <a:ln/>
        </p:spPr>
        <p:txBody>
          <a:bodyPr wrap="square" lIns="0" tIns="0" rIns="0" bIns="0" rtlCol="0" anchor="t"/>
          <a:lstStyle/>
          <a:p>
            <a:pPr algn="l" indent="0" marL="0">
              <a:lnSpc>
                <a:spcPct val="100000"/>
              </a:lnSpc>
              <a:buNone/>
            </a:pPr>
            <a:r>
              <a:rPr lang="en-US" sz="1300" b="1" spc="300" kern="0" dirty="0">
                <a:solidFill>
                  <a:srgbClr val="0F766E"/>
                </a:solidFill>
                <a:latin typeface="Calibri" pitchFamily="34" charset="0"/>
                <a:ea typeface="Calibri" pitchFamily="34" charset="-122"/>
                <a:cs typeface="Calibri" pitchFamily="34" charset="-120"/>
              </a:rPr>
              <a:t>ÉTAPE 6 SUR 6</a:t>
            </a:r>
            <a:endParaRPr lang="en-US" sz="1300" dirty="0"/>
          </a:p>
        </p:txBody>
      </p:sp>
      <p:sp>
        <p:nvSpPr>
          <p:cNvPr id="27" name="Text 17-s15"/>
          <p:cNvSpPr txBox="1"/>
          <p:nvPr/>
        </p:nvSpPr>
        <p:spPr>
          <a:xfrm>
            <a:off x="8255000" y="2222500"/>
            <a:ext cx="3124200" cy="762000"/>
          </a:xfrm>
          <a:prstGeom prst="rect">
            <a:avLst/>
          </a:prstGeom>
          <a:noFill/>
          <a:ln/>
        </p:spPr>
        <p:txBody>
          <a:bodyPr wrap="square" lIns="0" tIns="0" rIns="0" bIns="0" rtlCol="0" anchor="t"/>
          <a:lstStyle/>
          <a:p>
            <a:pPr algn="l" indent="0" marL="0">
              <a:lnSpc>
                <a:spcPct val="87500"/>
              </a:lnSpc>
              <a:buNone/>
            </a:pPr>
            <a:r>
              <a:rPr lang="en-US" sz="2800" b="1" dirty="0">
                <a:solidFill>
                  <a:srgbClr val="12202B"/>
                </a:solidFill>
                <a:latin typeface="Georgia" pitchFamily="34" charset="0"/>
                <a:ea typeface="Georgia" pitchFamily="34" charset="-122"/>
                <a:cs typeface="Georgia" pitchFamily="34" charset="-120"/>
              </a:rPr>
              <a:t>Formation</a:t>
            </a:r>
            <a:endParaRPr lang="en-US" sz="2800" dirty="0"/>
          </a:p>
        </p:txBody>
      </p:sp>
      <p:sp>
        <p:nvSpPr>
          <p:cNvPr id="28" name="Text 18-s15"/>
          <p:cNvSpPr txBox="1"/>
          <p:nvPr/>
        </p:nvSpPr>
        <p:spPr>
          <a:xfrm>
            <a:off x="8255000" y="3111500"/>
            <a:ext cx="3124200" cy="1905000"/>
          </a:xfrm>
          <a:prstGeom prst="rect">
            <a:avLst/>
          </a:prstGeom>
          <a:noFill/>
          <a:ln/>
        </p:spPr>
        <p:txBody>
          <a:bodyPr wrap="square" lIns="0" tIns="0" rIns="0" bIns="0" rtlCol="0" anchor="t"/>
          <a:lstStyle/>
          <a:p>
            <a:pPr algn="l" indent="0" marL="0">
              <a:lnSpc>
                <a:spcPct val="108333"/>
              </a:lnSpc>
              <a:buNone/>
            </a:pPr>
            <a:r>
              <a:rPr lang="en-US" sz="1500" dirty="0">
                <a:solidFill>
                  <a:srgbClr val="5A6A77"/>
                </a:solidFill>
                <a:latin typeface="Calibri" pitchFamily="34" charset="0"/>
                <a:ea typeface="Calibri" pitchFamily="34" charset="-122"/>
                <a:cs typeface="Calibri" pitchFamily="34" charset="-120"/>
              </a:rPr>
              <a:t>Supports de formation, janvier 2026, d’abord pour les équipes terrain. Le journal des anomalies a servi à piloter la stabilisation.</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B24"/>
        </a:solidFill>
      </p:bgPr>
    </p:bg>
    <p:spTree>
      <p:nvGrpSpPr>
        <p:cNvPr id="1" name="-s16"/>
        <p:cNvGrpSpPr/>
        <p:nvPr/>
      </p:nvGrpSpPr>
      <p:grpSpPr>
        <a:xfrm>
          <a:off x="0" y="0"/>
          <a:ext cx="0" cy="0"/>
          <a:chOff x="0" y="0"/>
          <a:chExt cx="0" cy="0"/>
        </a:xfrm>
      </p:grpSpPr>
      <p:sp>
        <p:nvSpPr>
          <p:cNvPr id="2" name="!!orb"/>
          <p:cNvSpPr/>
          <p:nvPr/>
        </p:nvSpPr>
        <p:spPr>
          <a:xfrm>
            <a:off x="-1905000" y="3175000"/>
            <a:ext cx="4445000" cy="4445000"/>
          </a:xfrm>
          <a:prstGeom prst="ellipse">
            <a:avLst/>
          </a:prstGeom>
          <a:solidFill>
            <a:srgbClr val="3CC3B5">
              <a:alpha val="12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2B4457"/>
          </a:solidFill>
          <a:ln/>
        </p:spPr>
      </p:sp>
      <p:sp>
        <p:nvSpPr>
          <p:cNvPr id="8" name="!!fill"/>
          <p:cNvSpPr/>
          <p:nvPr/>
        </p:nvSpPr>
        <p:spPr>
          <a:xfrm>
            <a:off x="812800" y="6642100"/>
            <a:ext cx="7547429" cy="50800"/>
          </a:xfrm>
          <a:prstGeom prst="roundRect">
            <a:avLst>
              <a:gd name="adj" fmla="val 50000"/>
            </a:avLst>
          </a:prstGeom>
          <a:solidFill>
            <a:srgbClr val="3CC3B5"/>
          </a:solidFill>
          <a:ln/>
        </p:spPr>
      </p:sp>
      <p:sp>
        <p:nvSpPr>
          <p:cNvPr id="9" name="!!dot"/>
          <p:cNvSpPr/>
          <p:nvPr/>
        </p:nvSpPr>
        <p:spPr>
          <a:xfrm>
            <a:off x="8271329" y="6604000"/>
            <a:ext cx="127000" cy="127000"/>
          </a:xfrm>
          <a:prstGeom prst="ellipse">
            <a:avLst/>
          </a:prstGeom>
          <a:solidFill>
            <a:srgbClr val="3CC3B5"/>
          </a:solidFill>
          <a:ln/>
        </p:spPr>
      </p:sp>
      <p:sp>
        <p:nvSpPr>
          <p:cNvPr id="10" name="Text 6-s16"/>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F4F1EA"/>
                </a:solidFill>
                <a:latin typeface="Georgia" pitchFamily="34" charset="0"/>
                <a:ea typeface="Georgia" pitchFamily="34" charset="-122"/>
                <a:cs typeface="Georgia" pitchFamily="34" charset="-120"/>
              </a:rPr>
              <a:t>Ce que disent les chiffres</a:t>
            </a:r>
            <a:endParaRPr lang="en-US" sz="3200" dirty="0"/>
          </a:p>
        </p:txBody>
      </p:sp>
      <p:sp>
        <p:nvSpPr>
          <p:cNvPr id="11" name="Text 7-s16"/>
          <p:cNvSpPr txBox="1"/>
          <p:nvPr/>
        </p:nvSpPr>
        <p:spPr>
          <a:xfrm>
            <a:off x="812800" y="2095500"/>
            <a:ext cx="5715000" cy="317500"/>
          </a:xfrm>
          <a:prstGeom prst="rect">
            <a:avLst/>
          </a:prstGeom>
          <a:noFill/>
          <a:ln/>
        </p:spPr>
        <p:txBody>
          <a:bodyPr wrap="square" lIns="0" tIns="0" rIns="0" bIns="0" rtlCol="0" anchor="t"/>
          <a:lstStyle/>
          <a:p>
            <a:pPr algn="l" indent="0" marL="0">
              <a:lnSpc>
                <a:spcPct val="100000"/>
              </a:lnSpc>
              <a:buNone/>
            </a:pPr>
            <a:r>
              <a:rPr lang="en-US" sz="1800" b="1" dirty="0">
                <a:solidFill>
                  <a:srgbClr val="F4F1EA"/>
                </a:solidFill>
                <a:latin typeface="Calibri" pitchFamily="34" charset="0"/>
                <a:ea typeface="Calibri" pitchFamily="34" charset="-122"/>
                <a:cs typeface="Calibri" pitchFamily="34" charset="-120"/>
              </a:rPr>
              <a:t>Formulaires actifs migrés</a:t>
            </a:r>
            <a:endParaRPr lang="en-US" sz="1800" dirty="0"/>
          </a:p>
        </p:txBody>
      </p:sp>
      <p:sp>
        <p:nvSpPr>
          <p:cNvPr id="12" name="Text 8-s16"/>
          <p:cNvSpPr txBox="1"/>
          <p:nvPr/>
        </p:nvSpPr>
        <p:spPr>
          <a:xfrm>
            <a:off x="812800" y="2438400"/>
            <a:ext cx="5715000" cy="254000"/>
          </a:xfrm>
          <a:prstGeom prst="rect">
            <a:avLst/>
          </a:prstGeom>
          <a:noFill/>
          <a:ln/>
        </p:spPr>
        <p:txBody>
          <a:bodyPr wrap="square" lIns="0" tIns="0" rIns="0" bIns="0" rtlCol="0" anchor="t"/>
          <a:lstStyle/>
          <a:p>
            <a:pPr algn="l" indent="0" marL="0">
              <a:lnSpc>
                <a:spcPct val="100000"/>
              </a:lnSpc>
              <a:buNone/>
            </a:pPr>
            <a:r>
              <a:rPr lang="en-US" sz="1300" dirty="0">
                <a:solidFill>
                  <a:srgbClr val="9DB0BF"/>
                </a:solidFill>
                <a:latin typeface="Calibri" pitchFamily="34" charset="0"/>
                <a:ea typeface="Calibri" pitchFamily="34" charset="-122"/>
                <a:cs typeface="Calibri" pitchFamily="34" charset="-120"/>
              </a:rPr>
              <a:t>cible 100 %</a:t>
            </a:r>
            <a:endParaRPr lang="en-US" sz="1300" dirty="0"/>
          </a:p>
        </p:txBody>
      </p:sp>
      <p:sp>
        <p:nvSpPr>
          <p:cNvPr id="13" name="Shape 9-s16"/>
          <p:cNvSpPr/>
          <p:nvPr/>
        </p:nvSpPr>
        <p:spPr>
          <a:xfrm>
            <a:off x="6350000" y="2222500"/>
            <a:ext cx="3556000" cy="254000"/>
          </a:xfrm>
          <a:prstGeom prst="roundRect">
            <a:avLst>
              <a:gd name="adj" fmla="val 50000"/>
            </a:avLst>
          </a:prstGeom>
          <a:solidFill>
            <a:srgbClr val="15283A"/>
          </a:solidFill>
          <a:ln/>
        </p:spPr>
      </p:sp>
      <p:sp>
        <p:nvSpPr>
          <p:cNvPr id="14" name="Shape 10-s16"/>
          <p:cNvSpPr/>
          <p:nvPr/>
        </p:nvSpPr>
        <p:spPr>
          <a:xfrm>
            <a:off x="6350000" y="2222500"/>
            <a:ext cx="3556000" cy="254000"/>
          </a:xfrm>
          <a:prstGeom prst="roundRect">
            <a:avLst>
              <a:gd name="adj" fmla="val 50000"/>
            </a:avLst>
          </a:prstGeom>
          <a:solidFill>
            <a:srgbClr val="3CC3B5"/>
          </a:solidFill>
          <a:ln/>
        </p:spPr>
      </p:sp>
      <p:sp>
        <p:nvSpPr>
          <p:cNvPr id="15" name="Text 11-s16"/>
          <p:cNvSpPr txBox="1"/>
          <p:nvPr/>
        </p:nvSpPr>
        <p:spPr>
          <a:xfrm>
            <a:off x="10096500" y="2044700"/>
            <a:ext cx="1397000" cy="635000"/>
          </a:xfrm>
          <a:prstGeom prst="rect">
            <a:avLst/>
          </a:prstGeom>
          <a:noFill/>
          <a:ln/>
        </p:spPr>
        <p:txBody>
          <a:bodyPr wrap="square" lIns="0" tIns="0" rIns="0" bIns="0" rtlCol="0" anchor="ctr"/>
          <a:lstStyle/>
          <a:p>
            <a:pPr algn="l" indent="0" marL="0">
              <a:lnSpc>
                <a:spcPct val="100000"/>
              </a:lnSpc>
              <a:buNone/>
            </a:pPr>
            <a:r>
              <a:rPr lang="en-US" sz="3000" b="1" dirty="0">
                <a:solidFill>
                  <a:srgbClr val="F4F1EA"/>
                </a:solidFill>
                <a:latin typeface="Georgia" pitchFamily="34" charset="0"/>
                <a:ea typeface="Georgia" pitchFamily="34" charset="-122"/>
                <a:cs typeface="Georgia" pitchFamily="34" charset="-120"/>
              </a:rPr>
              <a:t>100 %</a:t>
            </a:r>
            <a:endParaRPr lang="en-US" sz="3000" dirty="0"/>
          </a:p>
        </p:txBody>
      </p:sp>
      <p:sp>
        <p:nvSpPr>
          <p:cNvPr id="16" name="Text 12-s16"/>
          <p:cNvSpPr txBox="1"/>
          <p:nvPr/>
        </p:nvSpPr>
        <p:spPr>
          <a:xfrm>
            <a:off x="812800" y="3175000"/>
            <a:ext cx="5715000" cy="317500"/>
          </a:xfrm>
          <a:prstGeom prst="rect">
            <a:avLst/>
          </a:prstGeom>
          <a:noFill/>
          <a:ln/>
        </p:spPr>
        <p:txBody>
          <a:bodyPr wrap="square" lIns="0" tIns="0" rIns="0" bIns="0" rtlCol="0" anchor="t"/>
          <a:lstStyle/>
          <a:p>
            <a:pPr algn="l" indent="0" marL="0">
              <a:lnSpc>
                <a:spcPct val="100000"/>
              </a:lnSpc>
              <a:buNone/>
            </a:pPr>
            <a:r>
              <a:rPr lang="en-US" sz="1800" b="1" dirty="0">
                <a:solidFill>
                  <a:srgbClr val="F4F1EA"/>
                </a:solidFill>
                <a:latin typeface="Calibri" pitchFamily="34" charset="0"/>
                <a:ea typeface="Calibri" pitchFamily="34" charset="-122"/>
                <a:cs typeface="Calibri" pitchFamily="34" charset="-120"/>
              </a:rPr>
              <a:t>Utilisateurs formés</a:t>
            </a:r>
            <a:endParaRPr lang="en-US" sz="1800" dirty="0"/>
          </a:p>
        </p:txBody>
      </p:sp>
      <p:sp>
        <p:nvSpPr>
          <p:cNvPr id="17" name="Text 13-s16"/>
          <p:cNvSpPr txBox="1"/>
          <p:nvPr/>
        </p:nvSpPr>
        <p:spPr>
          <a:xfrm>
            <a:off x="812800" y="3517900"/>
            <a:ext cx="5715000" cy="254000"/>
          </a:xfrm>
          <a:prstGeom prst="rect">
            <a:avLst/>
          </a:prstGeom>
          <a:noFill/>
          <a:ln/>
        </p:spPr>
        <p:txBody>
          <a:bodyPr wrap="square" lIns="0" tIns="0" rIns="0" bIns="0" rtlCol="0" anchor="t"/>
          <a:lstStyle/>
          <a:p>
            <a:pPr algn="l" indent="0" marL="0">
              <a:lnSpc>
                <a:spcPct val="100000"/>
              </a:lnSpc>
              <a:buNone/>
            </a:pPr>
            <a:r>
              <a:rPr lang="en-US" sz="1300" dirty="0">
                <a:solidFill>
                  <a:srgbClr val="9DB0BF"/>
                </a:solidFill>
                <a:latin typeface="Calibri" pitchFamily="34" charset="0"/>
                <a:ea typeface="Calibri" pitchFamily="34" charset="-122"/>
                <a:cs typeface="Calibri" pitchFamily="34" charset="-120"/>
              </a:rPr>
              <a:t>70 sur 91, tous les actifs</a:t>
            </a:r>
            <a:endParaRPr lang="en-US" sz="1300" dirty="0"/>
          </a:p>
        </p:txBody>
      </p:sp>
      <p:sp>
        <p:nvSpPr>
          <p:cNvPr id="18" name="Shape 14-s16"/>
          <p:cNvSpPr/>
          <p:nvPr/>
        </p:nvSpPr>
        <p:spPr>
          <a:xfrm>
            <a:off x="6350000" y="3302000"/>
            <a:ext cx="3556000" cy="254000"/>
          </a:xfrm>
          <a:prstGeom prst="roundRect">
            <a:avLst>
              <a:gd name="adj" fmla="val 50000"/>
            </a:avLst>
          </a:prstGeom>
          <a:solidFill>
            <a:srgbClr val="15283A"/>
          </a:solidFill>
          <a:ln/>
        </p:spPr>
      </p:sp>
      <p:sp>
        <p:nvSpPr>
          <p:cNvPr id="19" name="Shape 15-s16"/>
          <p:cNvSpPr/>
          <p:nvPr/>
        </p:nvSpPr>
        <p:spPr>
          <a:xfrm>
            <a:off x="6350000" y="3302000"/>
            <a:ext cx="2738120" cy="254000"/>
          </a:xfrm>
          <a:prstGeom prst="roundRect">
            <a:avLst>
              <a:gd name="adj" fmla="val 50000"/>
            </a:avLst>
          </a:prstGeom>
          <a:solidFill>
            <a:srgbClr val="3CC3B5"/>
          </a:solidFill>
          <a:ln/>
        </p:spPr>
      </p:sp>
      <p:sp>
        <p:nvSpPr>
          <p:cNvPr id="20" name="Text 16-s16"/>
          <p:cNvSpPr txBox="1"/>
          <p:nvPr/>
        </p:nvSpPr>
        <p:spPr>
          <a:xfrm>
            <a:off x="10096500" y="3124200"/>
            <a:ext cx="1397000" cy="635000"/>
          </a:xfrm>
          <a:prstGeom prst="rect">
            <a:avLst/>
          </a:prstGeom>
          <a:noFill/>
          <a:ln/>
        </p:spPr>
        <p:txBody>
          <a:bodyPr wrap="square" lIns="0" tIns="0" rIns="0" bIns="0" rtlCol="0" anchor="ctr"/>
          <a:lstStyle/>
          <a:p>
            <a:pPr algn="l" indent="0" marL="0">
              <a:lnSpc>
                <a:spcPct val="100000"/>
              </a:lnSpc>
              <a:buNone/>
            </a:pPr>
            <a:r>
              <a:rPr lang="en-US" sz="3000" b="1" dirty="0">
                <a:solidFill>
                  <a:srgbClr val="F4F1EA"/>
                </a:solidFill>
                <a:latin typeface="Georgia" pitchFamily="34" charset="0"/>
                <a:ea typeface="Georgia" pitchFamily="34" charset="-122"/>
                <a:cs typeface="Georgia" pitchFamily="34" charset="-120"/>
              </a:rPr>
              <a:t>≈ 77 %</a:t>
            </a:r>
            <a:endParaRPr lang="en-US" sz="3000" dirty="0"/>
          </a:p>
        </p:txBody>
      </p:sp>
      <p:sp>
        <p:nvSpPr>
          <p:cNvPr id="21" name="Text 17-s16"/>
          <p:cNvSpPr txBox="1"/>
          <p:nvPr/>
        </p:nvSpPr>
        <p:spPr>
          <a:xfrm>
            <a:off x="812800" y="4254500"/>
            <a:ext cx="5715000" cy="317500"/>
          </a:xfrm>
          <a:prstGeom prst="rect">
            <a:avLst/>
          </a:prstGeom>
          <a:noFill/>
          <a:ln/>
        </p:spPr>
        <p:txBody>
          <a:bodyPr wrap="square" lIns="0" tIns="0" rIns="0" bIns="0" rtlCol="0" anchor="t"/>
          <a:lstStyle/>
          <a:p>
            <a:pPr algn="l" indent="0" marL="0">
              <a:lnSpc>
                <a:spcPct val="100000"/>
              </a:lnSpc>
              <a:buNone/>
            </a:pPr>
            <a:r>
              <a:rPr lang="en-US" sz="1800" b="1" dirty="0">
                <a:solidFill>
                  <a:srgbClr val="F4F1EA"/>
                </a:solidFill>
                <a:latin typeface="Calibri" pitchFamily="34" charset="0"/>
                <a:ea typeface="Calibri" pitchFamily="34" charset="-122"/>
                <a:cs typeface="Calibri" pitchFamily="34" charset="-120"/>
              </a:rPr>
              <a:t>Formulaires avec données importés</a:t>
            </a:r>
            <a:endParaRPr lang="en-US" sz="1800" dirty="0"/>
          </a:p>
        </p:txBody>
      </p:sp>
      <p:sp>
        <p:nvSpPr>
          <p:cNvPr id="22" name="Text 18-s16"/>
          <p:cNvSpPr txBox="1"/>
          <p:nvPr/>
        </p:nvSpPr>
        <p:spPr>
          <a:xfrm>
            <a:off x="812800" y="4597400"/>
            <a:ext cx="5715000" cy="254000"/>
          </a:xfrm>
          <a:prstGeom prst="rect">
            <a:avLst/>
          </a:prstGeom>
          <a:noFill/>
          <a:ln/>
        </p:spPr>
        <p:txBody>
          <a:bodyPr wrap="square" lIns="0" tIns="0" rIns="0" bIns="0" rtlCol="0" anchor="t"/>
          <a:lstStyle/>
          <a:p>
            <a:pPr algn="l" indent="0" marL="0">
              <a:lnSpc>
                <a:spcPct val="100000"/>
              </a:lnSpc>
              <a:buNone/>
            </a:pPr>
            <a:r>
              <a:rPr lang="en-US" sz="1300" dirty="0">
                <a:solidFill>
                  <a:srgbClr val="9DB0BF"/>
                </a:solidFill>
                <a:latin typeface="Calibri" pitchFamily="34" charset="0"/>
                <a:ea typeface="Calibri" pitchFamily="34" charset="-122"/>
                <a:cs typeface="Calibri" pitchFamily="34" charset="-120"/>
              </a:rPr>
              <a:t>le reste a été sauvegardé</a:t>
            </a:r>
            <a:endParaRPr lang="en-US" sz="1300" dirty="0"/>
          </a:p>
        </p:txBody>
      </p:sp>
      <p:sp>
        <p:nvSpPr>
          <p:cNvPr id="23" name="Shape 19-s16"/>
          <p:cNvSpPr/>
          <p:nvPr/>
        </p:nvSpPr>
        <p:spPr>
          <a:xfrm>
            <a:off x="6350000" y="4381500"/>
            <a:ext cx="3556000" cy="254000"/>
          </a:xfrm>
          <a:prstGeom prst="roundRect">
            <a:avLst>
              <a:gd name="adj" fmla="val 50000"/>
            </a:avLst>
          </a:prstGeom>
          <a:solidFill>
            <a:srgbClr val="15283A"/>
          </a:solidFill>
          <a:ln/>
        </p:spPr>
      </p:sp>
      <p:sp>
        <p:nvSpPr>
          <p:cNvPr id="24" name="Shape 20-s16"/>
          <p:cNvSpPr/>
          <p:nvPr/>
        </p:nvSpPr>
        <p:spPr>
          <a:xfrm>
            <a:off x="6350000" y="4381500"/>
            <a:ext cx="2987040" cy="254000"/>
          </a:xfrm>
          <a:prstGeom prst="roundRect">
            <a:avLst>
              <a:gd name="adj" fmla="val 50000"/>
            </a:avLst>
          </a:prstGeom>
          <a:solidFill>
            <a:srgbClr val="3CC3B5"/>
          </a:solidFill>
          <a:ln/>
        </p:spPr>
      </p:sp>
      <p:sp>
        <p:nvSpPr>
          <p:cNvPr id="25" name="Text 21-s16"/>
          <p:cNvSpPr txBox="1"/>
          <p:nvPr/>
        </p:nvSpPr>
        <p:spPr>
          <a:xfrm>
            <a:off x="10096500" y="4203700"/>
            <a:ext cx="1397000" cy="635000"/>
          </a:xfrm>
          <a:prstGeom prst="rect">
            <a:avLst/>
          </a:prstGeom>
          <a:noFill/>
          <a:ln/>
        </p:spPr>
        <p:txBody>
          <a:bodyPr wrap="square" lIns="0" tIns="0" rIns="0" bIns="0" rtlCol="0" anchor="ctr"/>
          <a:lstStyle/>
          <a:p>
            <a:pPr algn="l" indent="0" marL="0">
              <a:lnSpc>
                <a:spcPct val="100000"/>
              </a:lnSpc>
              <a:buNone/>
            </a:pPr>
            <a:r>
              <a:rPr lang="en-US" sz="3000" b="1" dirty="0">
                <a:solidFill>
                  <a:srgbClr val="F4F1EA"/>
                </a:solidFill>
                <a:latin typeface="Georgia" pitchFamily="34" charset="0"/>
                <a:ea typeface="Georgia" pitchFamily="34" charset="-122"/>
                <a:cs typeface="Georgia" pitchFamily="34" charset="-120"/>
              </a:rPr>
              <a:t>84 %</a:t>
            </a:r>
            <a:endParaRPr lang="en-US" sz="3000" dirty="0"/>
          </a:p>
        </p:txBody>
      </p:sp>
      <p:sp>
        <p:nvSpPr>
          <p:cNvPr id="26" name="Shape 22-s16"/>
          <p:cNvSpPr/>
          <p:nvPr/>
        </p:nvSpPr>
        <p:spPr>
          <a:xfrm>
            <a:off x="812800" y="5397500"/>
            <a:ext cx="10566400" cy="12700"/>
          </a:xfrm>
          <a:prstGeom prst="rect">
            <a:avLst/>
          </a:prstGeom>
          <a:solidFill>
            <a:srgbClr val="2B4457"/>
          </a:solidFill>
          <a:ln/>
        </p:spPr>
      </p:sp>
      <p:sp>
        <p:nvSpPr>
          <p:cNvPr id="27" name="Text 23-s16"/>
          <p:cNvSpPr txBox="1"/>
          <p:nvPr/>
        </p:nvSpPr>
        <p:spPr>
          <a:xfrm>
            <a:off x="812800" y="5537200"/>
            <a:ext cx="5715000" cy="317500"/>
          </a:xfrm>
          <a:prstGeom prst="rect">
            <a:avLst/>
          </a:prstGeom>
          <a:noFill/>
          <a:ln/>
        </p:spPr>
        <p:txBody>
          <a:bodyPr wrap="square" lIns="0" tIns="0" rIns="0" bIns="0" rtlCol="0" anchor="t"/>
          <a:lstStyle/>
          <a:p>
            <a:pPr algn="l" indent="0" marL="0">
              <a:lnSpc>
                <a:spcPct val="100000"/>
              </a:lnSpc>
              <a:buNone/>
            </a:pPr>
            <a:r>
              <a:rPr lang="en-US" sz="1800" b="1" dirty="0">
                <a:solidFill>
                  <a:srgbClr val="F4F1EA"/>
                </a:solidFill>
                <a:latin typeface="Calibri" pitchFamily="34" charset="0"/>
                <a:ea typeface="Calibri" pitchFamily="34" charset="-122"/>
                <a:cs typeface="Calibri" pitchFamily="34" charset="-120"/>
              </a:rPr>
              <a:t>Incidents bloquants</a:t>
            </a:r>
            <a:endParaRPr lang="en-US" sz="1800" dirty="0"/>
          </a:p>
        </p:txBody>
      </p:sp>
      <p:sp>
        <p:nvSpPr>
          <p:cNvPr id="28" name="Text 24-s16"/>
          <p:cNvSpPr txBox="1"/>
          <p:nvPr/>
        </p:nvSpPr>
        <p:spPr>
          <a:xfrm>
            <a:off x="812800" y="5880100"/>
            <a:ext cx="5715000" cy="254000"/>
          </a:xfrm>
          <a:prstGeom prst="rect">
            <a:avLst/>
          </a:prstGeom>
          <a:noFill/>
          <a:ln/>
        </p:spPr>
        <p:txBody>
          <a:bodyPr wrap="square" lIns="0" tIns="0" rIns="0" bIns="0" rtlCol="0" anchor="t"/>
          <a:lstStyle/>
          <a:p>
            <a:pPr algn="l" indent="0" marL="0">
              <a:lnSpc>
                <a:spcPct val="100000"/>
              </a:lnSpc>
              <a:buNone/>
            </a:pPr>
            <a:r>
              <a:rPr lang="en-US" sz="1300" dirty="0">
                <a:solidFill>
                  <a:srgbClr val="9DB0BF"/>
                </a:solidFill>
                <a:latin typeface="Calibri" pitchFamily="34" charset="0"/>
                <a:ea typeface="Calibri" pitchFamily="34" charset="-122"/>
                <a:cs typeface="Calibri" pitchFamily="34" charset="-120"/>
              </a:rPr>
              <a:t>cible initiale : moins de 1 par semaine</a:t>
            </a:r>
            <a:endParaRPr lang="en-US" sz="1300" dirty="0"/>
          </a:p>
        </p:txBody>
      </p:sp>
      <p:sp>
        <p:nvSpPr>
          <p:cNvPr id="29" name="Text 25-s16"/>
          <p:cNvSpPr txBox="1"/>
          <p:nvPr/>
        </p:nvSpPr>
        <p:spPr>
          <a:xfrm>
            <a:off x="6350000" y="5473700"/>
            <a:ext cx="5029200" cy="635000"/>
          </a:xfrm>
          <a:prstGeom prst="rect">
            <a:avLst/>
          </a:prstGeom>
          <a:noFill/>
          <a:ln/>
        </p:spPr>
        <p:txBody>
          <a:bodyPr wrap="square" lIns="0" tIns="0" rIns="0" bIns="0" rtlCol="0" anchor="ctr"/>
          <a:lstStyle/>
          <a:p>
            <a:pPr algn="r" indent="0" marL="0">
              <a:lnSpc>
                <a:spcPct val="100000"/>
              </a:lnSpc>
              <a:buNone/>
            </a:pPr>
            <a:r>
              <a:rPr lang="en-US" sz="3000" b="1" dirty="0">
                <a:solidFill>
                  <a:srgbClr val="3CC3B5"/>
                </a:solidFill>
                <a:latin typeface="Georgia" pitchFamily="34" charset="0"/>
                <a:ea typeface="Georgia" pitchFamily="34" charset="-122"/>
                <a:cs typeface="Georgia" pitchFamily="34" charset="-120"/>
              </a:rPr>
              <a:t>moins de 1 par mois</a:t>
            </a:r>
            <a:endParaRPr lang="en-US" sz="3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s17"/>
        <p:cNvGrpSpPr/>
        <p:nvPr/>
      </p:nvGrpSpPr>
      <p:grpSpPr>
        <a:xfrm>
          <a:off x="0" y="0"/>
          <a:ext cx="0" cy="0"/>
          <a:chOff x="0" y="0"/>
          <a:chExt cx="0" cy="0"/>
        </a:xfrm>
      </p:grpSpPr>
      <p:sp>
        <p:nvSpPr>
          <p:cNvPr id="2" name="!!orb"/>
          <p:cNvSpPr/>
          <p:nvPr/>
        </p:nvSpPr>
        <p:spPr>
          <a:xfrm>
            <a:off x="9525000" y="-1905000"/>
            <a:ext cx="4445000" cy="4445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8050590" cy="50800"/>
          </a:xfrm>
          <a:prstGeom prst="roundRect">
            <a:avLst>
              <a:gd name="adj" fmla="val 50000"/>
            </a:avLst>
          </a:prstGeom>
          <a:solidFill>
            <a:srgbClr val="0F766E"/>
          </a:solidFill>
          <a:ln/>
        </p:spPr>
      </p:sp>
      <p:sp>
        <p:nvSpPr>
          <p:cNvPr id="9" name="!!dot"/>
          <p:cNvSpPr/>
          <p:nvPr/>
        </p:nvSpPr>
        <p:spPr>
          <a:xfrm>
            <a:off x="8774490" y="6604000"/>
            <a:ext cx="127000" cy="127000"/>
          </a:xfrm>
          <a:prstGeom prst="ellipse">
            <a:avLst/>
          </a:prstGeom>
          <a:solidFill>
            <a:srgbClr val="0F766E"/>
          </a:solidFill>
          <a:ln/>
        </p:spPr>
      </p:sp>
      <p:sp>
        <p:nvSpPr>
          <p:cNvPr id="10" name="Text 6-s17"/>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12202B"/>
                </a:solidFill>
                <a:latin typeface="Georgia" pitchFamily="34" charset="0"/>
                <a:ea typeface="Georgia" pitchFamily="34" charset="-122"/>
                <a:cs typeface="Georgia" pitchFamily="34" charset="-120"/>
              </a:rPr>
              <a:t>Objectifs initiaux : quatre sur cinq atteints</a:t>
            </a:r>
            <a:endParaRPr lang="en-US" sz="3200" dirty="0"/>
          </a:p>
        </p:txBody>
      </p:sp>
      <p:sp>
        <p:nvSpPr>
          <p:cNvPr id="11" name="Shape 7-s17"/>
          <p:cNvSpPr/>
          <p:nvPr/>
        </p:nvSpPr>
        <p:spPr>
          <a:xfrm>
            <a:off x="812800" y="2108200"/>
            <a:ext cx="533400" cy="533400"/>
          </a:xfrm>
          <a:prstGeom prst="ellipse">
            <a:avLst/>
          </a:prstGeom>
          <a:solidFill>
            <a:srgbClr val="0F766E"/>
          </a:solidFill>
          <a:ln w="31750">
            <a:solidFill>
              <a:srgbClr val="0F766E"/>
            </a:solidFill>
            <a:prstDash val="solid"/>
          </a:ln>
        </p:spPr>
      </p:sp>
      <p:sp>
        <p:nvSpPr>
          <p:cNvPr id="12" name="Text 8-s17"/>
          <p:cNvSpPr txBox="1"/>
          <p:nvPr/>
        </p:nvSpPr>
        <p:spPr>
          <a:xfrm>
            <a:off x="812800" y="2108200"/>
            <a:ext cx="533400" cy="533400"/>
          </a:xfrm>
          <a:prstGeom prst="rect">
            <a:avLst/>
          </a:prstGeom>
          <a:noFill/>
          <a:ln/>
        </p:spPr>
        <p:txBody>
          <a:bodyPr wrap="square" lIns="0" tIns="0" rIns="0" bIns="0" rtlCol="0" anchor="ctr"/>
          <a:lstStyle/>
          <a:p>
            <a:pPr algn="ctr" indent="0" marL="0">
              <a:lnSpc>
                <a:spcPct val="100000"/>
              </a:lnSpc>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3" name="Text 9-s17"/>
          <p:cNvSpPr txBox="1"/>
          <p:nvPr/>
        </p:nvSpPr>
        <p:spPr>
          <a:xfrm>
            <a:off x="1587500" y="2057400"/>
            <a:ext cx="5207000" cy="355600"/>
          </a:xfrm>
          <a:prstGeom prst="rect">
            <a:avLst/>
          </a:prstGeom>
          <a:noFill/>
          <a:ln/>
        </p:spPr>
        <p:txBody>
          <a:bodyPr wrap="square" lIns="0" tIns="0" rIns="0" bIns="0" rtlCol="0" anchor="ctr"/>
          <a:lstStyle/>
          <a:p>
            <a:pPr algn="l" indent="0" marL="0">
              <a:lnSpc>
                <a:spcPct val="100000"/>
              </a:lnSpc>
              <a:buNone/>
            </a:pPr>
            <a:r>
              <a:rPr lang="en-US" sz="2000" b="1" dirty="0">
                <a:solidFill>
                  <a:srgbClr val="12202B"/>
                </a:solidFill>
                <a:latin typeface="Georgia" pitchFamily="34" charset="0"/>
                <a:ea typeface="Georgia" pitchFamily="34" charset="-122"/>
                <a:cs typeface="Georgia" pitchFamily="34" charset="-120"/>
              </a:rPr>
              <a:t>Migrer les formulaires actifs</a:t>
            </a:r>
            <a:endParaRPr lang="en-US" sz="2000" dirty="0"/>
          </a:p>
        </p:txBody>
      </p:sp>
      <p:sp>
        <p:nvSpPr>
          <p:cNvPr id="14" name="Text 10-s17"/>
          <p:cNvSpPr txBox="1"/>
          <p:nvPr/>
        </p:nvSpPr>
        <p:spPr>
          <a:xfrm>
            <a:off x="1587500" y="2400300"/>
            <a:ext cx="5715000" cy="279400"/>
          </a:xfrm>
          <a:prstGeom prst="rect">
            <a:avLst/>
          </a:prstGeom>
          <a:noFill/>
          <a:ln/>
        </p:spPr>
        <p:txBody>
          <a:bodyPr wrap="square" lIns="0" tIns="0" rIns="0" bIns="0" rtlCol="0" anchor="t"/>
          <a:lstStyle/>
          <a:p>
            <a:pPr algn="l" indent="0" marL="0">
              <a:lnSpc>
                <a:spcPct val="100000"/>
              </a:lnSpc>
              <a:buNone/>
            </a:pPr>
            <a:r>
              <a:rPr lang="en-US" sz="1400" dirty="0">
                <a:solidFill>
                  <a:srgbClr val="5A6A77"/>
                </a:solidFill>
                <a:latin typeface="Calibri" pitchFamily="34" charset="0"/>
                <a:ea typeface="Calibri" pitchFamily="34" charset="-122"/>
                <a:cs typeface="Calibri" pitchFamily="34" charset="-120"/>
              </a:rPr>
              <a:t>100 % migrés</a:t>
            </a:r>
            <a:endParaRPr lang="en-US" sz="1400" dirty="0"/>
          </a:p>
        </p:txBody>
      </p:sp>
      <p:sp>
        <p:nvSpPr>
          <p:cNvPr id="15" name="Shape 11-s17"/>
          <p:cNvSpPr/>
          <p:nvPr/>
        </p:nvSpPr>
        <p:spPr>
          <a:xfrm>
            <a:off x="9906000" y="2184400"/>
            <a:ext cx="1473200" cy="381000"/>
          </a:xfrm>
          <a:prstGeom prst="roundRect">
            <a:avLst>
              <a:gd name="adj" fmla="val 50000"/>
            </a:avLst>
          </a:prstGeom>
          <a:solidFill>
            <a:srgbClr val="0F766E"/>
          </a:solidFill>
          <a:ln/>
        </p:spPr>
      </p:sp>
      <p:sp>
        <p:nvSpPr>
          <p:cNvPr id="16" name="Text 12-s17"/>
          <p:cNvSpPr txBox="1"/>
          <p:nvPr/>
        </p:nvSpPr>
        <p:spPr>
          <a:xfrm>
            <a:off x="9906000" y="2184400"/>
            <a:ext cx="1473200" cy="3810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Atteint</a:t>
            </a:r>
            <a:endParaRPr lang="en-US" sz="1400" dirty="0"/>
          </a:p>
        </p:txBody>
      </p:sp>
      <p:sp>
        <p:nvSpPr>
          <p:cNvPr id="17" name="Shape 13-s17"/>
          <p:cNvSpPr/>
          <p:nvPr/>
        </p:nvSpPr>
        <p:spPr>
          <a:xfrm>
            <a:off x="812800" y="2768600"/>
            <a:ext cx="10566400" cy="12700"/>
          </a:xfrm>
          <a:prstGeom prst="rect">
            <a:avLst/>
          </a:prstGeom>
          <a:solidFill>
            <a:srgbClr val="D9D4C8"/>
          </a:solidFill>
          <a:ln/>
        </p:spPr>
      </p:sp>
      <p:sp>
        <p:nvSpPr>
          <p:cNvPr id="18" name="Shape 14-s17"/>
          <p:cNvSpPr/>
          <p:nvPr/>
        </p:nvSpPr>
        <p:spPr>
          <a:xfrm>
            <a:off x="812800" y="2895600"/>
            <a:ext cx="533400" cy="533400"/>
          </a:xfrm>
          <a:prstGeom prst="ellipse">
            <a:avLst/>
          </a:prstGeom>
          <a:solidFill>
            <a:srgbClr val="0F766E"/>
          </a:solidFill>
          <a:ln w="31750">
            <a:solidFill>
              <a:srgbClr val="0F766E"/>
            </a:solidFill>
            <a:prstDash val="solid"/>
          </a:ln>
        </p:spPr>
      </p:sp>
      <p:sp>
        <p:nvSpPr>
          <p:cNvPr id="19" name="Text 15-s17"/>
          <p:cNvSpPr txBox="1"/>
          <p:nvPr/>
        </p:nvSpPr>
        <p:spPr>
          <a:xfrm>
            <a:off x="812800" y="2895600"/>
            <a:ext cx="533400" cy="533400"/>
          </a:xfrm>
          <a:prstGeom prst="rect">
            <a:avLst/>
          </a:prstGeom>
          <a:noFill/>
          <a:ln/>
        </p:spPr>
        <p:txBody>
          <a:bodyPr wrap="square" lIns="0" tIns="0" rIns="0" bIns="0" rtlCol="0" anchor="ctr"/>
          <a:lstStyle/>
          <a:p>
            <a:pPr algn="ctr" indent="0" marL="0">
              <a:lnSpc>
                <a:spcPct val="100000"/>
              </a:lnSpc>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0" name="Text 16-s17"/>
          <p:cNvSpPr txBox="1"/>
          <p:nvPr/>
        </p:nvSpPr>
        <p:spPr>
          <a:xfrm>
            <a:off x="1587500" y="2844800"/>
            <a:ext cx="5207000" cy="355600"/>
          </a:xfrm>
          <a:prstGeom prst="rect">
            <a:avLst/>
          </a:prstGeom>
          <a:noFill/>
          <a:ln/>
        </p:spPr>
        <p:txBody>
          <a:bodyPr wrap="square" lIns="0" tIns="0" rIns="0" bIns="0" rtlCol="0" anchor="ctr"/>
          <a:lstStyle/>
          <a:p>
            <a:pPr algn="l" indent="0" marL="0">
              <a:lnSpc>
                <a:spcPct val="100000"/>
              </a:lnSpc>
              <a:buNone/>
            </a:pPr>
            <a:r>
              <a:rPr lang="en-US" sz="2000" b="1" dirty="0">
                <a:solidFill>
                  <a:srgbClr val="12202B"/>
                </a:solidFill>
                <a:latin typeface="Georgia" pitchFamily="34" charset="0"/>
                <a:ea typeface="Georgia" pitchFamily="34" charset="-122"/>
                <a:cs typeface="Georgia" pitchFamily="34" charset="-120"/>
              </a:rPr>
              <a:t>Arrêter Kizeo</a:t>
            </a:r>
            <a:endParaRPr lang="en-US" sz="2000" dirty="0"/>
          </a:p>
        </p:txBody>
      </p:sp>
      <p:sp>
        <p:nvSpPr>
          <p:cNvPr id="21" name="Text 17-s17"/>
          <p:cNvSpPr txBox="1"/>
          <p:nvPr/>
        </p:nvSpPr>
        <p:spPr>
          <a:xfrm>
            <a:off x="1587500" y="3187700"/>
            <a:ext cx="5715000" cy="279400"/>
          </a:xfrm>
          <a:prstGeom prst="rect">
            <a:avLst/>
          </a:prstGeom>
          <a:noFill/>
          <a:ln/>
        </p:spPr>
        <p:txBody>
          <a:bodyPr wrap="square" lIns="0" tIns="0" rIns="0" bIns="0" rtlCol="0" anchor="t"/>
          <a:lstStyle/>
          <a:p>
            <a:pPr algn="l" indent="0" marL="0">
              <a:lnSpc>
                <a:spcPct val="100000"/>
              </a:lnSpc>
              <a:buNone/>
            </a:pPr>
            <a:r>
              <a:rPr lang="en-US" sz="1400" dirty="0">
                <a:solidFill>
                  <a:srgbClr val="5A6A77"/>
                </a:solidFill>
                <a:latin typeface="Calibri" pitchFamily="34" charset="0"/>
                <a:ea typeface="Calibri" pitchFamily="34" charset="-122"/>
                <a:cs typeface="Calibri" pitchFamily="34" charset="-120"/>
              </a:rPr>
              <a:t>coupure réalisée le 31/01/2026</a:t>
            </a:r>
            <a:endParaRPr lang="en-US" sz="1400" dirty="0"/>
          </a:p>
        </p:txBody>
      </p:sp>
      <p:sp>
        <p:nvSpPr>
          <p:cNvPr id="22" name="Shape 18-s17"/>
          <p:cNvSpPr/>
          <p:nvPr/>
        </p:nvSpPr>
        <p:spPr>
          <a:xfrm>
            <a:off x="9906000" y="2971800"/>
            <a:ext cx="1473200" cy="381000"/>
          </a:xfrm>
          <a:prstGeom prst="roundRect">
            <a:avLst>
              <a:gd name="adj" fmla="val 50000"/>
            </a:avLst>
          </a:prstGeom>
          <a:solidFill>
            <a:srgbClr val="0F766E"/>
          </a:solidFill>
          <a:ln/>
        </p:spPr>
      </p:sp>
      <p:sp>
        <p:nvSpPr>
          <p:cNvPr id="23" name="Text 19-s17"/>
          <p:cNvSpPr txBox="1"/>
          <p:nvPr/>
        </p:nvSpPr>
        <p:spPr>
          <a:xfrm>
            <a:off x="9906000" y="2971800"/>
            <a:ext cx="1473200" cy="3810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Atteint</a:t>
            </a:r>
            <a:endParaRPr lang="en-US" sz="1400" dirty="0"/>
          </a:p>
        </p:txBody>
      </p:sp>
      <p:sp>
        <p:nvSpPr>
          <p:cNvPr id="24" name="Shape 20-s17"/>
          <p:cNvSpPr/>
          <p:nvPr/>
        </p:nvSpPr>
        <p:spPr>
          <a:xfrm>
            <a:off x="812800" y="3556000"/>
            <a:ext cx="10566400" cy="12700"/>
          </a:xfrm>
          <a:prstGeom prst="rect">
            <a:avLst/>
          </a:prstGeom>
          <a:solidFill>
            <a:srgbClr val="D9D4C8"/>
          </a:solidFill>
          <a:ln/>
        </p:spPr>
      </p:sp>
      <p:sp>
        <p:nvSpPr>
          <p:cNvPr id="25" name="Shape 21-s17"/>
          <p:cNvSpPr/>
          <p:nvPr/>
        </p:nvSpPr>
        <p:spPr>
          <a:xfrm>
            <a:off x="812800" y="3683000"/>
            <a:ext cx="533400" cy="533400"/>
          </a:xfrm>
          <a:prstGeom prst="ellipse">
            <a:avLst/>
          </a:prstGeom>
          <a:solidFill>
            <a:srgbClr val="0F766E"/>
          </a:solidFill>
          <a:ln w="31750">
            <a:solidFill>
              <a:srgbClr val="0F766E"/>
            </a:solidFill>
            <a:prstDash val="solid"/>
          </a:ln>
        </p:spPr>
      </p:sp>
      <p:sp>
        <p:nvSpPr>
          <p:cNvPr id="26" name="Text 22-s17"/>
          <p:cNvSpPr txBox="1"/>
          <p:nvPr/>
        </p:nvSpPr>
        <p:spPr>
          <a:xfrm>
            <a:off x="812800" y="3683000"/>
            <a:ext cx="533400" cy="533400"/>
          </a:xfrm>
          <a:prstGeom prst="rect">
            <a:avLst/>
          </a:prstGeom>
          <a:noFill/>
          <a:ln/>
        </p:spPr>
        <p:txBody>
          <a:bodyPr wrap="square" lIns="0" tIns="0" rIns="0" bIns="0" rtlCol="0" anchor="ctr"/>
          <a:lstStyle/>
          <a:p>
            <a:pPr algn="ctr" indent="0" marL="0">
              <a:lnSpc>
                <a:spcPct val="100000"/>
              </a:lnSpc>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7" name="Text 23-s17"/>
          <p:cNvSpPr txBox="1"/>
          <p:nvPr/>
        </p:nvSpPr>
        <p:spPr>
          <a:xfrm>
            <a:off x="1587500" y="3632200"/>
            <a:ext cx="5207000" cy="355600"/>
          </a:xfrm>
          <a:prstGeom prst="rect">
            <a:avLst/>
          </a:prstGeom>
          <a:noFill/>
          <a:ln/>
        </p:spPr>
        <p:txBody>
          <a:bodyPr wrap="square" lIns="0" tIns="0" rIns="0" bIns="0" rtlCol="0" anchor="ctr"/>
          <a:lstStyle/>
          <a:p>
            <a:pPr algn="l" indent="0" marL="0">
              <a:lnSpc>
                <a:spcPct val="100000"/>
              </a:lnSpc>
              <a:buNone/>
            </a:pPr>
            <a:r>
              <a:rPr lang="en-US" sz="2000" b="1" dirty="0">
                <a:solidFill>
                  <a:srgbClr val="12202B"/>
                </a:solidFill>
                <a:latin typeface="Georgia" pitchFamily="34" charset="0"/>
                <a:ea typeface="Georgia" pitchFamily="34" charset="-122"/>
                <a:cs typeface="Georgia" pitchFamily="34" charset="-120"/>
              </a:rPr>
              <a:t>Former les utilisateurs</a:t>
            </a:r>
            <a:endParaRPr lang="en-US" sz="2000" dirty="0"/>
          </a:p>
        </p:txBody>
      </p:sp>
      <p:sp>
        <p:nvSpPr>
          <p:cNvPr id="28" name="Text 24-s17"/>
          <p:cNvSpPr txBox="1"/>
          <p:nvPr/>
        </p:nvSpPr>
        <p:spPr>
          <a:xfrm>
            <a:off x="1587500" y="3975100"/>
            <a:ext cx="5715000" cy="279400"/>
          </a:xfrm>
          <a:prstGeom prst="rect">
            <a:avLst/>
          </a:prstGeom>
          <a:noFill/>
          <a:ln/>
        </p:spPr>
        <p:txBody>
          <a:bodyPr wrap="square" lIns="0" tIns="0" rIns="0" bIns="0" rtlCol="0" anchor="t"/>
          <a:lstStyle/>
          <a:p>
            <a:pPr algn="l" indent="0" marL="0">
              <a:lnSpc>
                <a:spcPct val="100000"/>
              </a:lnSpc>
              <a:buNone/>
            </a:pPr>
            <a:r>
              <a:rPr lang="en-US" sz="1400" dirty="0">
                <a:solidFill>
                  <a:srgbClr val="5A6A77"/>
                </a:solidFill>
                <a:latin typeface="Calibri" pitchFamily="34" charset="0"/>
                <a:ea typeface="Calibri" pitchFamily="34" charset="-122"/>
                <a:cs typeface="Calibri" pitchFamily="34" charset="-120"/>
              </a:rPr>
              <a:t>≈ 77 % formés, tous les actifs</a:t>
            </a:r>
            <a:endParaRPr lang="en-US" sz="1400" dirty="0"/>
          </a:p>
        </p:txBody>
      </p:sp>
      <p:sp>
        <p:nvSpPr>
          <p:cNvPr id="29" name="Shape 25-s17"/>
          <p:cNvSpPr/>
          <p:nvPr/>
        </p:nvSpPr>
        <p:spPr>
          <a:xfrm>
            <a:off x="9906000" y="3759200"/>
            <a:ext cx="1473200" cy="381000"/>
          </a:xfrm>
          <a:prstGeom prst="roundRect">
            <a:avLst>
              <a:gd name="adj" fmla="val 50000"/>
            </a:avLst>
          </a:prstGeom>
          <a:solidFill>
            <a:srgbClr val="0F766E"/>
          </a:solidFill>
          <a:ln/>
        </p:spPr>
      </p:sp>
      <p:sp>
        <p:nvSpPr>
          <p:cNvPr id="30" name="Text 26-s17"/>
          <p:cNvSpPr txBox="1"/>
          <p:nvPr/>
        </p:nvSpPr>
        <p:spPr>
          <a:xfrm>
            <a:off x="9906000" y="3759200"/>
            <a:ext cx="1473200" cy="3810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Atteint</a:t>
            </a:r>
            <a:endParaRPr lang="en-US" sz="1400" dirty="0"/>
          </a:p>
        </p:txBody>
      </p:sp>
      <p:sp>
        <p:nvSpPr>
          <p:cNvPr id="31" name="Shape 27-s17"/>
          <p:cNvSpPr/>
          <p:nvPr/>
        </p:nvSpPr>
        <p:spPr>
          <a:xfrm>
            <a:off x="812800" y="4343400"/>
            <a:ext cx="10566400" cy="12700"/>
          </a:xfrm>
          <a:prstGeom prst="rect">
            <a:avLst/>
          </a:prstGeom>
          <a:solidFill>
            <a:srgbClr val="D9D4C8"/>
          </a:solidFill>
          <a:ln/>
        </p:spPr>
      </p:sp>
      <p:sp>
        <p:nvSpPr>
          <p:cNvPr id="32" name="Shape 28-s17"/>
          <p:cNvSpPr/>
          <p:nvPr/>
        </p:nvSpPr>
        <p:spPr>
          <a:xfrm>
            <a:off x="812800" y="4470400"/>
            <a:ext cx="533400" cy="533400"/>
          </a:xfrm>
          <a:prstGeom prst="ellipse">
            <a:avLst/>
          </a:prstGeom>
          <a:solidFill>
            <a:srgbClr val="FFFFFF"/>
          </a:solidFill>
          <a:ln w="31750">
            <a:solidFill>
              <a:srgbClr val="D9480F"/>
            </a:solidFill>
            <a:prstDash val="solid"/>
          </a:ln>
        </p:spPr>
      </p:sp>
      <p:sp>
        <p:nvSpPr>
          <p:cNvPr id="33" name="Text 29-s17"/>
          <p:cNvSpPr txBox="1"/>
          <p:nvPr/>
        </p:nvSpPr>
        <p:spPr>
          <a:xfrm>
            <a:off x="812800" y="4470400"/>
            <a:ext cx="533400" cy="533400"/>
          </a:xfrm>
          <a:prstGeom prst="rect">
            <a:avLst/>
          </a:prstGeom>
          <a:noFill/>
          <a:ln/>
        </p:spPr>
        <p:txBody>
          <a:bodyPr wrap="square" lIns="0" tIns="0" rIns="0" bIns="0" rtlCol="0" anchor="ctr"/>
          <a:lstStyle/>
          <a:p>
            <a:pPr algn="ctr" indent="0" marL="0">
              <a:lnSpc>
                <a:spcPct val="100000"/>
              </a:lnSpc>
              <a:buNone/>
            </a:pPr>
            <a:r>
              <a:rPr lang="en-US" sz="1500" b="1" dirty="0">
                <a:solidFill>
                  <a:srgbClr val="D9480F"/>
                </a:solidFill>
                <a:latin typeface="Calibri" pitchFamily="34" charset="0"/>
                <a:ea typeface="Calibri" pitchFamily="34" charset="-122"/>
                <a:cs typeface="Calibri" pitchFamily="34" charset="-120"/>
              </a:rPr>
              <a:t>84</a:t>
            </a:r>
            <a:endParaRPr lang="en-US" sz="1500" dirty="0"/>
          </a:p>
        </p:txBody>
      </p:sp>
      <p:sp>
        <p:nvSpPr>
          <p:cNvPr id="34" name="Text 30-s17"/>
          <p:cNvSpPr txBox="1"/>
          <p:nvPr/>
        </p:nvSpPr>
        <p:spPr>
          <a:xfrm>
            <a:off x="1587500" y="4419600"/>
            <a:ext cx="5207000" cy="355600"/>
          </a:xfrm>
          <a:prstGeom prst="rect">
            <a:avLst/>
          </a:prstGeom>
          <a:noFill/>
          <a:ln/>
        </p:spPr>
        <p:txBody>
          <a:bodyPr wrap="square" lIns="0" tIns="0" rIns="0" bIns="0" rtlCol="0" anchor="ctr"/>
          <a:lstStyle/>
          <a:p>
            <a:pPr algn="l" indent="0" marL="0">
              <a:lnSpc>
                <a:spcPct val="100000"/>
              </a:lnSpc>
              <a:buNone/>
            </a:pPr>
            <a:r>
              <a:rPr lang="en-US" sz="2000" b="1" dirty="0">
                <a:solidFill>
                  <a:srgbClr val="12202B"/>
                </a:solidFill>
                <a:latin typeface="Georgia" pitchFamily="34" charset="0"/>
                <a:ea typeface="Georgia" pitchFamily="34" charset="-122"/>
                <a:cs typeface="Georgia" pitchFamily="34" charset="-120"/>
              </a:rPr>
              <a:t>Importer les données</a:t>
            </a:r>
            <a:endParaRPr lang="en-US" sz="2000" dirty="0"/>
          </a:p>
        </p:txBody>
      </p:sp>
      <p:sp>
        <p:nvSpPr>
          <p:cNvPr id="35" name="Text 31-s17"/>
          <p:cNvSpPr txBox="1"/>
          <p:nvPr/>
        </p:nvSpPr>
        <p:spPr>
          <a:xfrm>
            <a:off x="1587500" y="4762500"/>
            <a:ext cx="5715000" cy="279400"/>
          </a:xfrm>
          <a:prstGeom prst="rect">
            <a:avLst/>
          </a:prstGeom>
          <a:noFill/>
          <a:ln/>
        </p:spPr>
        <p:txBody>
          <a:bodyPr wrap="square" lIns="0" tIns="0" rIns="0" bIns="0" rtlCol="0" anchor="t"/>
          <a:lstStyle/>
          <a:p>
            <a:pPr algn="l" indent="0" marL="0">
              <a:lnSpc>
                <a:spcPct val="100000"/>
              </a:lnSpc>
              <a:buNone/>
            </a:pPr>
            <a:r>
              <a:rPr lang="en-US" sz="1400" dirty="0">
                <a:solidFill>
                  <a:srgbClr val="5A6A77"/>
                </a:solidFill>
                <a:latin typeface="Calibri" pitchFamily="34" charset="0"/>
                <a:ea typeface="Calibri" pitchFamily="34" charset="-122"/>
                <a:cs typeface="Calibri" pitchFamily="34" charset="-120"/>
              </a:rPr>
              <a:t>84 % des formulaires avec données</a:t>
            </a:r>
            <a:endParaRPr lang="en-US" sz="1400" dirty="0"/>
          </a:p>
        </p:txBody>
      </p:sp>
      <p:sp>
        <p:nvSpPr>
          <p:cNvPr id="36" name="Shape 32-s17"/>
          <p:cNvSpPr/>
          <p:nvPr/>
        </p:nvSpPr>
        <p:spPr>
          <a:xfrm>
            <a:off x="9906000" y="4546600"/>
            <a:ext cx="1473200" cy="381000"/>
          </a:xfrm>
          <a:prstGeom prst="roundRect">
            <a:avLst>
              <a:gd name="adj" fmla="val 50000"/>
            </a:avLst>
          </a:prstGeom>
          <a:solidFill>
            <a:srgbClr val="D9480F"/>
          </a:solidFill>
          <a:ln/>
        </p:spPr>
      </p:sp>
      <p:sp>
        <p:nvSpPr>
          <p:cNvPr id="37" name="Text 33-s17"/>
          <p:cNvSpPr txBox="1"/>
          <p:nvPr/>
        </p:nvSpPr>
        <p:spPr>
          <a:xfrm>
            <a:off x="9906000" y="4546600"/>
            <a:ext cx="1473200" cy="3810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Partiel</a:t>
            </a:r>
            <a:endParaRPr lang="en-US" sz="1400" dirty="0"/>
          </a:p>
        </p:txBody>
      </p:sp>
      <p:sp>
        <p:nvSpPr>
          <p:cNvPr id="38" name="Shape 34-s17"/>
          <p:cNvSpPr/>
          <p:nvPr/>
        </p:nvSpPr>
        <p:spPr>
          <a:xfrm>
            <a:off x="812800" y="5130800"/>
            <a:ext cx="10566400" cy="12700"/>
          </a:xfrm>
          <a:prstGeom prst="rect">
            <a:avLst/>
          </a:prstGeom>
          <a:solidFill>
            <a:srgbClr val="D9D4C8"/>
          </a:solidFill>
          <a:ln/>
        </p:spPr>
      </p:sp>
      <p:sp>
        <p:nvSpPr>
          <p:cNvPr id="39" name="Shape 35-s17"/>
          <p:cNvSpPr/>
          <p:nvPr/>
        </p:nvSpPr>
        <p:spPr>
          <a:xfrm>
            <a:off x="812800" y="5257800"/>
            <a:ext cx="533400" cy="533400"/>
          </a:xfrm>
          <a:prstGeom prst="ellipse">
            <a:avLst/>
          </a:prstGeom>
          <a:solidFill>
            <a:srgbClr val="0F766E"/>
          </a:solidFill>
          <a:ln w="31750">
            <a:solidFill>
              <a:srgbClr val="0F766E"/>
            </a:solidFill>
            <a:prstDash val="solid"/>
          </a:ln>
        </p:spPr>
      </p:sp>
      <p:sp>
        <p:nvSpPr>
          <p:cNvPr id="40" name="Text 36-s17"/>
          <p:cNvSpPr txBox="1"/>
          <p:nvPr/>
        </p:nvSpPr>
        <p:spPr>
          <a:xfrm>
            <a:off x="812800" y="5257800"/>
            <a:ext cx="533400" cy="533400"/>
          </a:xfrm>
          <a:prstGeom prst="rect">
            <a:avLst/>
          </a:prstGeom>
          <a:noFill/>
          <a:ln/>
        </p:spPr>
        <p:txBody>
          <a:bodyPr wrap="square" lIns="0" tIns="0" rIns="0" bIns="0" rtlCol="0" anchor="ctr"/>
          <a:lstStyle/>
          <a:p>
            <a:pPr algn="ctr" indent="0" marL="0">
              <a:lnSpc>
                <a:spcPct val="100000"/>
              </a:lnSpc>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41" name="Text 37-s17"/>
          <p:cNvSpPr txBox="1"/>
          <p:nvPr/>
        </p:nvSpPr>
        <p:spPr>
          <a:xfrm>
            <a:off x="1587500" y="5207000"/>
            <a:ext cx="5207000" cy="355600"/>
          </a:xfrm>
          <a:prstGeom prst="rect">
            <a:avLst/>
          </a:prstGeom>
          <a:noFill/>
          <a:ln/>
        </p:spPr>
        <p:txBody>
          <a:bodyPr wrap="square" lIns="0" tIns="0" rIns="0" bIns="0" rtlCol="0" anchor="ctr"/>
          <a:lstStyle/>
          <a:p>
            <a:pPr algn="l" indent="0" marL="0">
              <a:lnSpc>
                <a:spcPct val="100000"/>
              </a:lnSpc>
              <a:buNone/>
            </a:pPr>
            <a:r>
              <a:rPr lang="en-US" sz="2000" b="1" dirty="0">
                <a:solidFill>
                  <a:srgbClr val="12202B"/>
                </a:solidFill>
                <a:latin typeface="Georgia" pitchFamily="34" charset="0"/>
                <a:ea typeface="Georgia" pitchFamily="34" charset="-122"/>
                <a:cs typeface="Georgia" pitchFamily="34" charset="-120"/>
              </a:rPr>
              <a:t>Stabiliser l’outil</a:t>
            </a:r>
            <a:endParaRPr lang="en-US" sz="2000" dirty="0"/>
          </a:p>
        </p:txBody>
      </p:sp>
      <p:sp>
        <p:nvSpPr>
          <p:cNvPr id="42" name="Text 38-s17"/>
          <p:cNvSpPr txBox="1"/>
          <p:nvPr/>
        </p:nvSpPr>
        <p:spPr>
          <a:xfrm>
            <a:off x="1587500" y="5549900"/>
            <a:ext cx="5715000" cy="279400"/>
          </a:xfrm>
          <a:prstGeom prst="rect">
            <a:avLst/>
          </a:prstGeom>
          <a:noFill/>
          <a:ln/>
        </p:spPr>
        <p:txBody>
          <a:bodyPr wrap="square" lIns="0" tIns="0" rIns="0" bIns="0" rtlCol="0" anchor="t"/>
          <a:lstStyle/>
          <a:p>
            <a:pPr algn="l" indent="0" marL="0">
              <a:lnSpc>
                <a:spcPct val="100000"/>
              </a:lnSpc>
              <a:buNone/>
            </a:pPr>
            <a:r>
              <a:rPr lang="en-US" sz="1400" dirty="0">
                <a:solidFill>
                  <a:srgbClr val="5A6A77"/>
                </a:solidFill>
                <a:latin typeface="Calibri" pitchFamily="34" charset="0"/>
                <a:ea typeface="Calibri" pitchFamily="34" charset="-122"/>
                <a:cs typeface="Calibri" pitchFamily="34" charset="-120"/>
              </a:rPr>
              <a:t>moins de 1 incident bloquant par mois</a:t>
            </a:r>
            <a:endParaRPr lang="en-US" sz="1400" dirty="0"/>
          </a:p>
        </p:txBody>
      </p:sp>
      <p:sp>
        <p:nvSpPr>
          <p:cNvPr id="43" name="Shape 39-s17"/>
          <p:cNvSpPr/>
          <p:nvPr/>
        </p:nvSpPr>
        <p:spPr>
          <a:xfrm>
            <a:off x="9906000" y="5334000"/>
            <a:ext cx="1473200" cy="381000"/>
          </a:xfrm>
          <a:prstGeom prst="roundRect">
            <a:avLst>
              <a:gd name="adj" fmla="val 50000"/>
            </a:avLst>
          </a:prstGeom>
          <a:solidFill>
            <a:srgbClr val="0F766E"/>
          </a:solidFill>
          <a:ln/>
        </p:spPr>
      </p:sp>
      <p:sp>
        <p:nvSpPr>
          <p:cNvPr id="44" name="Text 40-s17"/>
          <p:cNvSpPr txBox="1"/>
          <p:nvPr/>
        </p:nvSpPr>
        <p:spPr>
          <a:xfrm>
            <a:off x="9906000" y="5334000"/>
            <a:ext cx="1473200" cy="3810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Atteint</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B24"/>
        </a:solidFill>
      </p:bgPr>
    </p:bg>
    <p:spTree>
      <p:nvGrpSpPr>
        <p:cNvPr id="1" name="-s18"/>
        <p:cNvGrpSpPr/>
        <p:nvPr/>
      </p:nvGrpSpPr>
      <p:grpSpPr>
        <a:xfrm>
          <a:off x="0" y="0"/>
          <a:ext cx="0" cy="0"/>
          <a:chOff x="0" y="0"/>
          <a:chExt cx="0" cy="0"/>
        </a:xfrm>
      </p:grpSpPr>
      <p:sp>
        <p:nvSpPr>
          <p:cNvPr id="2" name="!!orb"/>
          <p:cNvSpPr/>
          <p:nvPr/>
        </p:nvSpPr>
        <p:spPr>
          <a:xfrm>
            <a:off x="8572500" y="3175000"/>
            <a:ext cx="5715000" cy="5715000"/>
          </a:xfrm>
          <a:prstGeom prst="ellipse">
            <a:avLst/>
          </a:prstGeom>
          <a:solidFill>
            <a:srgbClr val="3CC3B5">
              <a:alpha val="12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2B4457"/>
          </a:solidFill>
          <a:ln/>
        </p:spPr>
      </p:sp>
      <p:sp>
        <p:nvSpPr>
          <p:cNvPr id="8" name="!!fill"/>
          <p:cNvSpPr/>
          <p:nvPr/>
        </p:nvSpPr>
        <p:spPr>
          <a:xfrm>
            <a:off x="812800" y="6642100"/>
            <a:ext cx="8553752" cy="50800"/>
          </a:xfrm>
          <a:prstGeom prst="roundRect">
            <a:avLst>
              <a:gd name="adj" fmla="val 50000"/>
            </a:avLst>
          </a:prstGeom>
          <a:solidFill>
            <a:srgbClr val="3CC3B5"/>
          </a:solidFill>
          <a:ln/>
        </p:spPr>
      </p:sp>
      <p:sp>
        <p:nvSpPr>
          <p:cNvPr id="9" name="!!dot"/>
          <p:cNvSpPr/>
          <p:nvPr/>
        </p:nvSpPr>
        <p:spPr>
          <a:xfrm>
            <a:off x="9277652" y="6604000"/>
            <a:ext cx="127000" cy="127000"/>
          </a:xfrm>
          <a:prstGeom prst="ellipse">
            <a:avLst/>
          </a:prstGeom>
          <a:solidFill>
            <a:srgbClr val="3CC3B5"/>
          </a:solidFill>
          <a:ln/>
        </p:spPr>
      </p:sp>
      <p:sp>
        <p:nvSpPr>
          <p:cNvPr id="10" name="Text 6-s18"/>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F4F1EA"/>
                </a:solidFill>
                <a:latin typeface="Georgia" pitchFamily="34" charset="0"/>
                <a:ea typeface="Georgia" pitchFamily="34" charset="-122"/>
                <a:cs typeface="Georgia" pitchFamily="34" charset="-120"/>
              </a:rPr>
              <a:t>Compétences développées</a:t>
            </a:r>
            <a:endParaRPr lang="en-US" sz="3200" dirty="0"/>
          </a:p>
        </p:txBody>
      </p:sp>
      <p:sp>
        <p:nvSpPr>
          <p:cNvPr id="11" name="Text 7-s18"/>
          <p:cNvSpPr txBox="1"/>
          <p:nvPr/>
        </p:nvSpPr>
        <p:spPr>
          <a:xfrm>
            <a:off x="812800" y="2032000"/>
            <a:ext cx="3302000" cy="317500"/>
          </a:xfrm>
          <a:prstGeom prst="rect">
            <a:avLst/>
          </a:prstGeom>
          <a:noFill/>
          <a:ln/>
        </p:spPr>
        <p:txBody>
          <a:bodyPr wrap="square" lIns="0" tIns="0" rIns="0" bIns="0" rtlCol="0" anchor="t"/>
          <a:lstStyle/>
          <a:p>
            <a:pPr algn="l" indent="0" marL="0">
              <a:lnSpc>
                <a:spcPct val="100000"/>
              </a:lnSpc>
              <a:buNone/>
            </a:pPr>
            <a:r>
              <a:rPr lang="en-US" sz="1400" b="1" spc="300" kern="0" dirty="0">
                <a:solidFill>
                  <a:srgbClr val="3CC3B5"/>
                </a:solidFill>
                <a:latin typeface="Calibri" pitchFamily="34" charset="0"/>
                <a:ea typeface="Calibri" pitchFamily="34" charset="-122"/>
                <a:cs typeface="Calibri" pitchFamily="34" charset="-120"/>
              </a:rPr>
              <a:t>NIVEAU FORT</a:t>
            </a:r>
            <a:endParaRPr lang="en-US" sz="1400" dirty="0"/>
          </a:p>
        </p:txBody>
      </p:sp>
      <p:sp>
        <p:nvSpPr>
          <p:cNvPr id="12" name="Shape 8-s18"/>
          <p:cNvSpPr/>
          <p:nvPr/>
        </p:nvSpPr>
        <p:spPr>
          <a:xfrm>
            <a:off x="812800" y="2387600"/>
            <a:ext cx="3302000" cy="25400"/>
          </a:xfrm>
          <a:prstGeom prst="rect">
            <a:avLst/>
          </a:prstGeom>
          <a:solidFill>
            <a:srgbClr val="3CC3B5"/>
          </a:solidFill>
          <a:ln/>
        </p:spPr>
      </p:sp>
      <p:sp>
        <p:nvSpPr>
          <p:cNvPr id="13" name="Shape 9-s18"/>
          <p:cNvSpPr/>
          <p:nvPr/>
        </p:nvSpPr>
        <p:spPr>
          <a:xfrm>
            <a:off x="812800" y="2603500"/>
            <a:ext cx="3302000" cy="508000"/>
          </a:xfrm>
          <a:prstGeom prst="roundRect">
            <a:avLst>
              <a:gd name="adj" fmla="val 20000"/>
            </a:avLst>
          </a:prstGeom>
          <a:solidFill>
            <a:srgbClr val="15283A"/>
          </a:solidFill>
          <a:ln/>
        </p:spPr>
      </p:sp>
      <p:sp>
        <p:nvSpPr>
          <p:cNvPr id="14" name="Text 10-s18"/>
          <p:cNvSpPr txBox="1"/>
          <p:nvPr/>
        </p:nvSpPr>
        <p:spPr>
          <a:xfrm>
            <a:off x="990600" y="2603500"/>
            <a:ext cx="2984500" cy="508000"/>
          </a:xfrm>
          <a:prstGeom prst="rect">
            <a:avLst/>
          </a:prstGeom>
          <a:noFill/>
          <a:ln/>
        </p:spPr>
        <p:txBody>
          <a:bodyPr wrap="square" lIns="0" tIns="0" rIns="0" bIns="0" rtlCol="0" anchor="ctr"/>
          <a:lstStyle/>
          <a:p>
            <a:pPr algn="l" indent="0" marL="0">
              <a:lnSpc>
                <a:spcPct val="100000"/>
              </a:lnSpc>
              <a:buNone/>
            </a:pPr>
            <a:r>
              <a:rPr lang="en-US" sz="1600" dirty="0">
                <a:solidFill>
                  <a:srgbClr val="F4F1EA"/>
                </a:solidFill>
                <a:latin typeface="Calibri" pitchFamily="34" charset="0"/>
                <a:ea typeface="Calibri" pitchFamily="34" charset="-122"/>
                <a:cs typeface="Calibri" pitchFamily="34" charset="-120"/>
              </a:rPr>
              <a:t>Gestion de projet</a:t>
            </a:r>
            <a:endParaRPr lang="en-US" sz="1600" dirty="0"/>
          </a:p>
        </p:txBody>
      </p:sp>
      <p:sp>
        <p:nvSpPr>
          <p:cNvPr id="15" name="Shape 11-s18"/>
          <p:cNvSpPr/>
          <p:nvPr/>
        </p:nvSpPr>
        <p:spPr>
          <a:xfrm>
            <a:off x="812800" y="3238500"/>
            <a:ext cx="3302000" cy="508000"/>
          </a:xfrm>
          <a:prstGeom prst="roundRect">
            <a:avLst>
              <a:gd name="adj" fmla="val 20000"/>
            </a:avLst>
          </a:prstGeom>
          <a:solidFill>
            <a:srgbClr val="15283A"/>
          </a:solidFill>
          <a:ln/>
        </p:spPr>
      </p:sp>
      <p:sp>
        <p:nvSpPr>
          <p:cNvPr id="16" name="Text 12-s18"/>
          <p:cNvSpPr txBox="1"/>
          <p:nvPr/>
        </p:nvSpPr>
        <p:spPr>
          <a:xfrm>
            <a:off x="990600" y="3238500"/>
            <a:ext cx="2984500" cy="508000"/>
          </a:xfrm>
          <a:prstGeom prst="rect">
            <a:avLst/>
          </a:prstGeom>
          <a:noFill/>
          <a:ln/>
        </p:spPr>
        <p:txBody>
          <a:bodyPr wrap="square" lIns="0" tIns="0" rIns="0" bIns="0" rtlCol="0" anchor="ctr"/>
          <a:lstStyle/>
          <a:p>
            <a:pPr algn="l" indent="0" marL="0">
              <a:lnSpc>
                <a:spcPct val="100000"/>
              </a:lnSpc>
              <a:buNone/>
            </a:pPr>
            <a:r>
              <a:rPr lang="en-US" sz="1600" dirty="0">
                <a:solidFill>
                  <a:srgbClr val="F4F1EA"/>
                </a:solidFill>
                <a:latin typeface="Calibri" pitchFamily="34" charset="0"/>
                <a:ea typeface="Calibri" pitchFamily="34" charset="-122"/>
                <a:cs typeface="Calibri" pitchFamily="34" charset="-120"/>
              </a:rPr>
              <a:t>Analyse fonctionnelle</a:t>
            </a:r>
            <a:endParaRPr lang="en-US" sz="1600" dirty="0"/>
          </a:p>
        </p:txBody>
      </p:sp>
      <p:sp>
        <p:nvSpPr>
          <p:cNvPr id="17" name="Shape 13-s18"/>
          <p:cNvSpPr/>
          <p:nvPr/>
        </p:nvSpPr>
        <p:spPr>
          <a:xfrm>
            <a:off x="812800" y="3873500"/>
            <a:ext cx="3302000" cy="508000"/>
          </a:xfrm>
          <a:prstGeom prst="roundRect">
            <a:avLst>
              <a:gd name="adj" fmla="val 20000"/>
            </a:avLst>
          </a:prstGeom>
          <a:solidFill>
            <a:srgbClr val="15283A"/>
          </a:solidFill>
          <a:ln/>
        </p:spPr>
      </p:sp>
      <p:sp>
        <p:nvSpPr>
          <p:cNvPr id="18" name="Text 14-s18"/>
          <p:cNvSpPr txBox="1"/>
          <p:nvPr/>
        </p:nvSpPr>
        <p:spPr>
          <a:xfrm>
            <a:off x="990600" y="3873500"/>
            <a:ext cx="2984500" cy="508000"/>
          </a:xfrm>
          <a:prstGeom prst="rect">
            <a:avLst/>
          </a:prstGeom>
          <a:noFill/>
          <a:ln/>
        </p:spPr>
        <p:txBody>
          <a:bodyPr wrap="square" lIns="0" tIns="0" rIns="0" bIns="0" rtlCol="0" anchor="ctr"/>
          <a:lstStyle/>
          <a:p>
            <a:pPr algn="l" indent="0" marL="0">
              <a:lnSpc>
                <a:spcPct val="100000"/>
              </a:lnSpc>
              <a:buNone/>
            </a:pPr>
            <a:r>
              <a:rPr lang="en-US" sz="1600" dirty="0">
                <a:solidFill>
                  <a:srgbClr val="F4F1EA"/>
                </a:solidFill>
                <a:latin typeface="Calibri" pitchFamily="34" charset="0"/>
                <a:ea typeface="Calibri" pitchFamily="34" charset="-122"/>
                <a:cs typeface="Calibri" pitchFamily="34" charset="-120"/>
              </a:rPr>
              <a:t>Gestion des risques</a:t>
            </a:r>
            <a:endParaRPr lang="en-US" sz="1600" dirty="0"/>
          </a:p>
        </p:txBody>
      </p:sp>
      <p:sp>
        <p:nvSpPr>
          <p:cNvPr id="19" name="Shape 15-s18"/>
          <p:cNvSpPr/>
          <p:nvPr/>
        </p:nvSpPr>
        <p:spPr>
          <a:xfrm>
            <a:off x="812800" y="4508500"/>
            <a:ext cx="3302000" cy="508000"/>
          </a:xfrm>
          <a:prstGeom prst="roundRect">
            <a:avLst>
              <a:gd name="adj" fmla="val 20000"/>
            </a:avLst>
          </a:prstGeom>
          <a:solidFill>
            <a:srgbClr val="15283A"/>
          </a:solidFill>
          <a:ln/>
        </p:spPr>
      </p:sp>
      <p:sp>
        <p:nvSpPr>
          <p:cNvPr id="20" name="Text 16-s18"/>
          <p:cNvSpPr txBox="1"/>
          <p:nvPr/>
        </p:nvSpPr>
        <p:spPr>
          <a:xfrm>
            <a:off x="990600" y="4508500"/>
            <a:ext cx="2984500" cy="508000"/>
          </a:xfrm>
          <a:prstGeom prst="rect">
            <a:avLst/>
          </a:prstGeom>
          <a:noFill/>
          <a:ln/>
        </p:spPr>
        <p:txBody>
          <a:bodyPr wrap="square" lIns="0" tIns="0" rIns="0" bIns="0" rtlCol="0" anchor="ctr"/>
          <a:lstStyle/>
          <a:p>
            <a:pPr algn="l" indent="0" marL="0">
              <a:lnSpc>
                <a:spcPct val="100000"/>
              </a:lnSpc>
              <a:buNone/>
            </a:pPr>
            <a:r>
              <a:rPr lang="en-US" sz="1600" dirty="0">
                <a:solidFill>
                  <a:srgbClr val="F4F1EA"/>
                </a:solidFill>
                <a:latin typeface="Calibri" pitchFamily="34" charset="0"/>
                <a:ea typeface="Calibri" pitchFamily="34" charset="-122"/>
                <a:cs typeface="Calibri" pitchFamily="34" charset="-120"/>
              </a:rPr>
              <a:t>Amélioration continue</a:t>
            </a:r>
            <a:endParaRPr lang="en-US" sz="1600" dirty="0"/>
          </a:p>
        </p:txBody>
      </p:sp>
      <p:sp>
        <p:nvSpPr>
          <p:cNvPr id="21" name="Text 17-s18"/>
          <p:cNvSpPr txBox="1"/>
          <p:nvPr/>
        </p:nvSpPr>
        <p:spPr>
          <a:xfrm>
            <a:off x="4432300" y="2032000"/>
            <a:ext cx="3302000" cy="317500"/>
          </a:xfrm>
          <a:prstGeom prst="rect">
            <a:avLst/>
          </a:prstGeom>
          <a:noFill/>
          <a:ln/>
        </p:spPr>
        <p:txBody>
          <a:bodyPr wrap="square" lIns="0" tIns="0" rIns="0" bIns="0" rtlCol="0" anchor="t"/>
          <a:lstStyle/>
          <a:p>
            <a:pPr algn="l" indent="0" marL="0">
              <a:lnSpc>
                <a:spcPct val="100000"/>
              </a:lnSpc>
              <a:buNone/>
            </a:pPr>
            <a:r>
              <a:rPr lang="en-US" sz="1400" b="1" spc="300" kern="0" dirty="0">
                <a:solidFill>
                  <a:srgbClr val="F4F1EA"/>
                </a:solidFill>
                <a:latin typeface="Calibri" pitchFamily="34" charset="0"/>
                <a:ea typeface="Calibri" pitchFamily="34" charset="-122"/>
                <a:cs typeface="Calibri" pitchFamily="34" charset="-120"/>
              </a:rPr>
              <a:t>EN PROGRESSION</a:t>
            </a:r>
            <a:endParaRPr lang="en-US" sz="1400" dirty="0"/>
          </a:p>
        </p:txBody>
      </p:sp>
      <p:sp>
        <p:nvSpPr>
          <p:cNvPr id="22" name="Shape 18-s18"/>
          <p:cNvSpPr/>
          <p:nvPr/>
        </p:nvSpPr>
        <p:spPr>
          <a:xfrm>
            <a:off x="4432300" y="2387600"/>
            <a:ext cx="3302000" cy="25400"/>
          </a:xfrm>
          <a:prstGeom prst="rect">
            <a:avLst/>
          </a:prstGeom>
          <a:solidFill>
            <a:srgbClr val="F4F1EA"/>
          </a:solidFill>
          <a:ln/>
        </p:spPr>
      </p:sp>
      <p:sp>
        <p:nvSpPr>
          <p:cNvPr id="23" name="Shape 19-s18"/>
          <p:cNvSpPr/>
          <p:nvPr/>
        </p:nvSpPr>
        <p:spPr>
          <a:xfrm>
            <a:off x="4432300" y="2603500"/>
            <a:ext cx="3302000" cy="508000"/>
          </a:xfrm>
          <a:prstGeom prst="roundRect">
            <a:avLst>
              <a:gd name="adj" fmla="val 20000"/>
            </a:avLst>
          </a:prstGeom>
          <a:solidFill>
            <a:srgbClr val="15283A"/>
          </a:solidFill>
          <a:ln/>
        </p:spPr>
      </p:sp>
      <p:sp>
        <p:nvSpPr>
          <p:cNvPr id="24" name="Text 20-s18"/>
          <p:cNvSpPr txBox="1"/>
          <p:nvPr/>
        </p:nvSpPr>
        <p:spPr>
          <a:xfrm>
            <a:off x="4610100" y="2603500"/>
            <a:ext cx="2984500" cy="508000"/>
          </a:xfrm>
          <a:prstGeom prst="rect">
            <a:avLst/>
          </a:prstGeom>
          <a:noFill/>
          <a:ln/>
        </p:spPr>
        <p:txBody>
          <a:bodyPr wrap="square" lIns="0" tIns="0" rIns="0" bIns="0" rtlCol="0" anchor="ctr"/>
          <a:lstStyle/>
          <a:p>
            <a:pPr algn="l" indent="0" marL="0">
              <a:lnSpc>
                <a:spcPct val="100000"/>
              </a:lnSpc>
              <a:buNone/>
            </a:pPr>
            <a:r>
              <a:rPr lang="en-US" sz="1600" dirty="0">
                <a:solidFill>
                  <a:srgbClr val="F4F1EA"/>
                </a:solidFill>
                <a:latin typeface="Calibri" pitchFamily="34" charset="0"/>
                <a:ea typeface="Calibri" pitchFamily="34" charset="-122"/>
                <a:cs typeface="Calibri" pitchFamily="34" charset="-120"/>
              </a:rPr>
              <a:t>Conduite du changement</a:t>
            </a:r>
            <a:endParaRPr lang="en-US" sz="1600" dirty="0"/>
          </a:p>
        </p:txBody>
      </p:sp>
      <p:sp>
        <p:nvSpPr>
          <p:cNvPr id="25" name="Shape 21-s18"/>
          <p:cNvSpPr/>
          <p:nvPr/>
        </p:nvSpPr>
        <p:spPr>
          <a:xfrm>
            <a:off x="4432300" y="3238500"/>
            <a:ext cx="3302000" cy="508000"/>
          </a:xfrm>
          <a:prstGeom prst="roundRect">
            <a:avLst>
              <a:gd name="adj" fmla="val 20000"/>
            </a:avLst>
          </a:prstGeom>
          <a:solidFill>
            <a:srgbClr val="15283A"/>
          </a:solidFill>
          <a:ln/>
        </p:spPr>
      </p:sp>
      <p:sp>
        <p:nvSpPr>
          <p:cNvPr id="26" name="Text 22-s18"/>
          <p:cNvSpPr txBox="1"/>
          <p:nvPr/>
        </p:nvSpPr>
        <p:spPr>
          <a:xfrm>
            <a:off x="4610100" y="3238500"/>
            <a:ext cx="2984500" cy="508000"/>
          </a:xfrm>
          <a:prstGeom prst="rect">
            <a:avLst/>
          </a:prstGeom>
          <a:noFill/>
          <a:ln/>
        </p:spPr>
        <p:txBody>
          <a:bodyPr wrap="square" lIns="0" tIns="0" rIns="0" bIns="0" rtlCol="0" anchor="ctr"/>
          <a:lstStyle/>
          <a:p>
            <a:pPr algn="l" indent="0" marL="0">
              <a:lnSpc>
                <a:spcPct val="100000"/>
              </a:lnSpc>
              <a:buNone/>
            </a:pPr>
            <a:r>
              <a:rPr lang="en-US" sz="1600" dirty="0">
                <a:solidFill>
                  <a:srgbClr val="F4F1EA"/>
                </a:solidFill>
                <a:latin typeface="Calibri" pitchFamily="34" charset="0"/>
                <a:ea typeface="Calibri" pitchFamily="34" charset="-122"/>
                <a:cs typeface="Calibri" pitchFamily="34" charset="-120"/>
              </a:rPr>
              <a:t>Pilotage par la donnée</a:t>
            </a:r>
            <a:endParaRPr lang="en-US" sz="1600" dirty="0"/>
          </a:p>
        </p:txBody>
      </p:sp>
      <p:sp>
        <p:nvSpPr>
          <p:cNvPr id="27" name="Text 23-s18"/>
          <p:cNvSpPr txBox="1"/>
          <p:nvPr/>
        </p:nvSpPr>
        <p:spPr>
          <a:xfrm>
            <a:off x="8051800" y="2032000"/>
            <a:ext cx="3302000" cy="317500"/>
          </a:xfrm>
          <a:prstGeom prst="rect">
            <a:avLst/>
          </a:prstGeom>
          <a:noFill/>
          <a:ln/>
        </p:spPr>
        <p:txBody>
          <a:bodyPr wrap="square" lIns="0" tIns="0" rIns="0" bIns="0" rtlCol="0" anchor="t"/>
          <a:lstStyle/>
          <a:p>
            <a:pPr algn="l" indent="0" marL="0">
              <a:lnSpc>
                <a:spcPct val="100000"/>
              </a:lnSpc>
              <a:buNone/>
            </a:pPr>
            <a:r>
              <a:rPr lang="en-US" sz="1400" b="1" spc="300" kern="0" dirty="0">
                <a:solidFill>
                  <a:srgbClr val="9DB0BF"/>
                </a:solidFill>
                <a:latin typeface="Calibri" pitchFamily="34" charset="0"/>
                <a:ea typeface="Calibri" pitchFamily="34" charset="-122"/>
                <a:cs typeface="Calibri" pitchFamily="34" charset="-120"/>
              </a:rPr>
              <a:t>NIVEAU MOYEN</a:t>
            </a:r>
            <a:endParaRPr lang="en-US" sz="1400" dirty="0"/>
          </a:p>
        </p:txBody>
      </p:sp>
      <p:sp>
        <p:nvSpPr>
          <p:cNvPr id="28" name="Shape 24-s18"/>
          <p:cNvSpPr/>
          <p:nvPr/>
        </p:nvSpPr>
        <p:spPr>
          <a:xfrm>
            <a:off x="8051800" y="2387600"/>
            <a:ext cx="3302000" cy="25400"/>
          </a:xfrm>
          <a:prstGeom prst="rect">
            <a:avLst/>
          </a:prstGeom>
          <a:solidFill>
            <a:srgbClr val="9DB0BF"/>
          </a:solidFill>
          <a:ln/>
        </p:spPr>
      </p:sp>
      <p:sp>
        <p:nvSpPr>
          <p:cNvPr id="29" name="Shape 25-s18"/>
          <p:cNvSpPr/>
          <p:nvPr/>
        </p:nvSpPr>
        <p:spPr>
          <a:xfrm>
            <a:off x="8051800" y="2603500"/>
            <a:ext cx="3302000" cy="508000"/>
          </a:xfrm>
          <a:prstGeom prst="roundRect">
            <a:avLst>
              <a:gd name="adj" fmla="val 20000"/>
            </a:avLst>
          </a:prstGeom>
          <a:solidFill>
            <a:srgbClr val="15283A"/>
          </a:solidFill>
          <a:ln/>
        </p:spPr>
      </p:sp>
      <p:sp>
        <p:nvSpPr>
          <p:cNvPr id="30" name="Text 26-s18"/>
          <p:cNvSpPr txBox="1"/>
          <p:nvPr/>
        </p:nvSpPr>
        <p:spPr>
          <a:xfrm>
            <a:off x="8229600" y="2603500"/>
            <a:ext cx="2984500" cy="508000"/>
          </a:xfrm>
          <a:prstGeom prst="rect">
            <a:avLst/>
          </a:prstGeom>
          <a:noFill/>
          <a:ln/>
        </p:spPr>
        <p:txBody>
          <a:bodyPr wrap="square" lIns="0" tIns="0" rIns="0" bIns="0" rtlCol="0" anchor="ctr"/>
          <a:lstStyle/>
          <a:p>
            <a:pPr algn="l" indent="0" marL="0">
              <a:lnSpc>
                <a:spcPct val="100000"/>
              </a:lnSpc>
              <a:buNone/>
            </a:pPr>
            <a:r>
              <a:rPr lang="en-US" sz="1600" dirty="0">
                <a:solidFill>
                  <a:srgbClr val="F4F1EA"/>
                </a:solidFill>
                <a:latin typeface="Calibri" pitchFamily="34" charset="0"/>
                <a:ea typeface="Calibri" pitchFamily="34" charset="-122"/>
                <a:cs typeface="Calibri" pitchFamily="34" charset="-120"/>
              </a:rPr>
              <a:t>Communication</a:t>
            </a:r>
            <a:endParaRPr lang="en-US" sz="1600" dirty="0"/>
          </a:p>
        </p:txBody>
      </p:sp>
      <p:sp>
        <p:nvSpPr>
          <p:cNvPr id="31" name="Text 27-s18"/>
          <p:cNvSpPr txBox="1"/>
          <p:nvPr/>
        </p:nvSpPr>
        <p:spPr>
          <a:xfrm>
            <a:off x="812800" y="5461000"/>
            <a:ext cx="10566400" cy="571500"/>
          </a:xfrm>
          <a:prstGeom prst="rect">
            <a:avLst/>
          </a:prstGeom>
          <a:noFill/>
          <a:ln/>
        </p:spPr>
        <p:txBody>
          <a:bodyPr wrap="square" lIns="0" tIns="0" rIns="0" bIns="0" rtlCol="0" anchor="ctr"/>
          <a:lstStyle/>
          <a:p>
            <a:pPr algn="l" indent="0" marL="0">
              <a:lnSpc>
                <a:spcPct val="100000"/>
              </a:lnSpc>
              <a:buNone/>
            </a:pPr>
            <a:r>
              <a:rPr lang="en-US" sz="2000" i="1" dirty="0">
                <a:solidFill>
                  <a:srgbClr val="3CC3B5"/>
                </a:solidFill>
                <a:latin typeface="Georgia" pitchFamily="34" charset="0"/>
                <a:ea typeface="Georgia" pitchFamily="34" charset="-122"/>
                <a:cs typeface="Georgia" pitchFamily="34" charset="-120"/>
              </a:rPr>
              <a:t>Posture : de l’exécution et du paramétrage vers la coordination et le pilotage</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s19"/>
        <p:cNvGrpSpPr/>
        <p:nvPr/>
      </p:nvGrpSpPr>
      <p:grpSpPr>
        <a:xfrm>
          <a:off x="0" y="0"/>
          <a:ext cx="0" cy="0"/>
          <a:chOff x="0" y="0"/>
          <a:chExt cx="0" cy="0"/>
        </a:xfrm>
      </p:grpSpPr>
      <p:sp>
        <p:nvSpPr>
          <p:cNvPr id="2" name="!!orb"/>
          <p:cNvSpPr/>
          <p:nvPr/>
        </p:nvSpPr>
        <p:spPr>
          <a:xfrm>
            <a:off x="-1905000" y="-1587500"/>
            <a:ext cx="4445000" cy="4445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9056914" cy="50800"/>
          </a:xfrm>
          <a:prstGeom prst="roundRect">
            <a:avLst>
              <a:gd name="adj" fmla="val 50000"/>
            </a:avLst>
          </a:prstGeom>
          <a:solidFill>
            <a:srgbClr val="0F766E"/>
          </a:solidFill>
          <a:ln/>
        </p:spPr>
      </p:sp>
      <p:sp>
        <p:nvSpPr>
          <p:cNvPr id="9" name="!!dot"/>
          <p:cNvSpPr/>
          <p:nvPr/>
        </p:nvSpPr>
        <p:spPr>
          <a:xfrm>
            <a:off x="9780814" y="6604000"/>
            <a:ext cx="127000" cy="127000"/>
          </a:xfrm>
          <a:prstGeom prst="ellipse">
            <a:avLst/>
          </a:prstGeom>
          <a:solidFill>
            <a:srgbClr val="0F766E"/>
          </a:solidFill>
          <a:ln/>
        </p:spPr>
      </p:sp>
      <p:sp>
        <p:nvSpPr>
          <p:cNvPr id="10" name="Text 6-s19"/>
          <p:cNvSpPr txBox="1"/>
          <p:nvPr/>
        </p:nvSpPr>
        <p:spPr>
          <a:xfrm>
            <a:off x="812800" y="1270000"/>
            <a:ext cx="10477500" cy="635000"/>
          </a:xfrm>
          <a:prstGeom prst="rect">
            <a:avLst/>
          </a:prstGeom>
          <a:noFill/>
          <a:ln/>
        </p:spPr>
        <p:txBody>
          <a:bodyPr wrap="square" lIns="0" tIns="0" rIns="0" bIns="0" rtlCol="0" anchor="t"/>
          <a:lstStyle/>
          <a:p>
            <a:pPr algn="l" indent="0" marL="0">
              <a:lnSpc>
                <a:spcPct val="100000"/>
              </a:lnSpc>
              <a:buNone/>
            </a:pPr>
            <a:r>
              <a:rPr lang="en-US" sz="3200" b="1" dirty="0">
                <a:solidFill>
                  <a:srgbClr val="12202B"/>
                </a:solidFill>
                <a:latin typeface="Georgia" pitchFamily="34" charset="0"/>
                <a:ea typeface="Georgia" pitchFamily="34" charset="-122"/>
                <a:cs typeface="Georgia" pitchFamily="34" charset="-120"/>
              </a:rPr>
              <a:t>Gérer l’incertitude technique</a:t>
            </a:r>
            <a:endParaRPr lang="en-US" sz="3200" dirty="0"/>
          </a:p>
        </p:txBody>
      </p:sp>
      <p:sp>
        <p:nvSpPr>
          <p:cNvPr id="11" name="Shape 7-s19"/>
          <p:cNvSpPr/>
          <p:nvPr/>
        </p:nvSpPr>
        <p:spPr>
          <a:xfrm>
            <a:off x="812800" y="2159000"/>
            <a:ext cx="762000" cy="762000"/>
          </a:xfrm>
          <a:prstGeom prst="ellipse">
            <a:avLst/>
          </a:prstGeom>
          <a:solidFill>
            <a:srgbClr val="FFFFFF"/>
          </a:solidFill>
          <a:ln w="25400">
            <a:solidFill>
              <a:srgbClr val="0F766E"/>
            </a:solidFill>
            <a:prstDash val="solid"/>
          </a:ln>
        </p:spPr>
      </p:sp>
      <p:sp>
        <p:nvSpPr>
          <p:cNvPr id="12" name="Text 8-s19"/>
          <p:cNvSpPr txBox="1"/>
          <p:nvPr/>
        </p:nvSpPr>
        <p:spPr>
          <a:xfrm>
            <a:off x="812800" y="2159000"/>
            <a:ext cx="762000" cy="762000"/>
          </a:xfrm>
          <a:prstGeom prst="rect">
            <a:avLst/>
          </a:prstGeom>
          <a:noFill/>
          <a:ln/>
        </p:spPr>
        <p:txBody>
          <a:bodyPr wrap="square" lIns="0" tIns="0" rIns="0" bIns="0" rtlCol="0" anchor="ctr"/>
          <a:lstStyle/>
          <a:p>
            <a:pPr algn="ctr" indent="0" marL="0">
              <a:lnSpc>
                <a:spcPct val="100000"/>
              </a:lnSpc>
              <a:buNone/>
            </a:pPr>
            <a:r>
              <a:rPr lang="en-US" sz="2800" b="1" dirty="0">
                <a:solidFill>
                  <a:srgbClr val="0F766E"/>
                </a:solidFill>
                <a:latin typeface="Georgia" pitchFamily="34" charset="0"/>
                <a:ea typeface="Georgia" pitchFamily="34" charset="-122"/>
                <a:cs typeface="Georgia" pitchFamily="34" charset="-120"/>
              </a:rPr>
              <a:t>1</a:t>
            </a:r>
            <a:endParaRPr lang="en-US" sz="2800" dirty="0"/>
          </a:p>
        </p:txBody>
      </p:sp>
      <p:sp>
        <p:nvSpPr>
          <p:cNvPr id="13" name="Text 9-s19"/>
          <p:cNvSpPr txBox="1"/>
          <p:nvPr/>
        </p:nvSpPr>
        <p:spPr>
          <a:xfrm>
            <a:off x="812800" y="3111500"/>
            <a:ext cx="3302000" cy="698500"/>
          </a:xfrm>
          <a:prstGeom prst="rect">
            <a:avLst/>
          </a:prstGeom>
          <a:noFill/>
          <a:ln/>
        </p:spPr>
        <p:txBody>
          <a:bodyPr wrap="square" lIns="0" tIns="0" rIns="0" bIns="0" rtlCol="0" anchor="t"/>
          <a:lstStyle/>
          <a:p>
            <a:pPr algn="l" indent="0" marL="0">
              <a:lnSpc>
                <a:spcPct val="91667"/>
              </a:lnSpc>
              <a:buNone/>
            </a:pPr>
            <a:r>
              <a:rPr lang="en-US" sz="2100" b="1" dirty="0">
                <a:solidFill>
                  <a:srgbClr val="12202B"/>
                </a:solidFill>
                <a:latin typeface="Georgia" pitchFamily="34" charset="0"/>
                <a:ea typeface="Georgia" pitchFamily="34" charset="-122"/>
                <a:cs typeface="Georgia" pitchFamily="34" charset="-120"/>
              </a:rPr>
              <a:t>Le problème technique</a:t>
            </a:r>
            <a:endParaRPr lang="en-US" sz="2100" dirty="0"/>
          </a:p>
        </p:txBody>
      </p:sp>
      <p:sp>
        <p:nvSpPr>
          <p:cNvPr id="14" name="Text 10-s19"/>
          <p:cNvSpPr txBox="1"/>
          <p:nvPr/>
        </p:nvSpPr>
        <p:spPr>
          <a:xfrm>
            <a:off x="812800" y="3873500"/>
            <a:ext cx="3175000" cy="698500"/>
          </a:xfrm>
          <a:prstGeom prst="rect">
            <a:avLst/>
          </a:prstGeom>
          <a:noFill/>
          <a:ln/>
        </p:spPr>
        <p:txBody>
          <a:bodyPr wrap="square" lIns="0" tIns="0" rIns="0" bIns="0" rtlCol="0" anchor="t"/>
          <a:lstStyle/>
          <a:p>
            <a:pPr algn="l" indent="0" marL="0">
              <a:lnSpc>
                <a:spcPct val="108333"/>
              </a:lnSpc>
              <a:buNone/>
            </a:pPr>
            <a:r>
              <a:rPr lang="en-US" sz="1400" dirty="0">
                <a:solidFill>
                  <a:srgbClr val="5A6A77"/>
                </a:solidFill>
                <a:latin typeface="Calibri" pitchFamily="34" charset="0"/>
                <a:ea typeface="Calibri" pitchFamily="34" charset="-122"/>
                <a:cs typeface="Calibri" pitchFamily="34" charset="-120"/>
              </a:rPr>
              <a:t>Un bug, une lenteur, une synchronisation qui échoue</a:t>
            </a:r>
            <a:endParaRPr lang="en-US" sz="1400" dirty="0"/>
          </a:p>
        </p:txBody>
      </p:sp>
      <p:sp>
        <p:nvSpPr>
          <p:cNvPr id="15" name="Shape 11-s19"/>
          <p:cNvSpPr/>
          <p:nvPr/>
        </p:nvSpPr>
        <p:spPr>
          <a:xfrm>
            <a:off x="4432300" y="2159000"/>
            <a:ext cx="762000" cy="762000"/>
          </a:xfrm>
          <a:prstGeom prst="ellipse">
            <a:avLst/>
          </a:prstGeom>
          <a:solidFill>
            <a:srgbClr val="FFFFFF"/>
          </a:solidFill>
          <a:ln w="25400">
            <a:solidFill>
              <a:srgbClr val="0F766E"/>
            </a:solidFill>
            <a:prstDash val="solid"/>
          </a:ln>
        </p:spPr>
      </p:sp>
      <p:sp>
        <p:nvSpPr>
          <p:cNvPr id="16" name="Text 12-s19"/>
          <p:cNvSpPr txBox="1"/>
          <p:nvPr/>
        </p:nvSpPr>
        <p:spPr>
          <a:xfrm>
            <a:off x="4432300" y="2159000"/>
            <a:ext cx="762000" cy="762000"/>
          </a:xfrm>
          <a:prstGeom prst="rect">
            <a:avLst/>
          </a:prstGeom>
          <a:noFill/>
          <a:ln/>
        </p:spPr>
        <p:txBody>
          <a:bodyPr wrap="square" lIns="0" tIns="0" rIns="0" bIns="0" rtlCol="0" anchor="ctr"/>
          <a:lstStyle/>
          <a:p>
            <a:pPr algn="ctr" indent="0" marL="0">
              <a:lnSpc>
                <a:spcPct val="100000"/>
              </a:lnSpc>
              <a:buNone/>
            </a:pPr>
            <a:r>
              <a:rPr lang="en-US" sz="2800" b="1" dirty="0">
                <a:solidFill>
                  <a:srgbClr val="0F766E"/>
                </a:solidFill>
                <a:latin typeface="Georgia" pitchFamily="34" charset="0"/>
                <a:ea typeface="Georgia" pitchFamily="34" charset="-122"/>
                <a:cs typeface="Georgia" pitchFamily="34" charset="-120"/>
              </a:rPr>
              <a:t>2</a:t>
            </a:r>
            <a:endParaRPr lang="en-US" sz="2800" dirty="0"/>
          </a:p>
        </p:txBody>
      </p:sp>
      <p:sp>
        <p:nvSpPr>
          <p:cNvPr id="17" name="Text 13-s19"/>
          <p:cNvSpPr txBox="1"/>
          <p:nvPr/>
        </p:nvSpPr>
        <p:spPr>
          <a:xfrm>
            <a:off x="4432300" y="3111500"/>
            <a:ext cx="3302000" cy="698500"/>
          </a:xfrm>
          <a:prstGeom prst="rect">
            <a:avLst/>
          </a:prstGeom>
          <a:noFill/>
          <a:ln/>
        </p:spPr>
        <p:txBody>
          <a:bodyPr wrap="square" lIns="0" tIns="0" rIns="0" bIns="0" rtlCol="0" anchor="t"/>
          <a:lstStyle/>
          <a:p>
            <a:pPr algn="l" indent="0" marL="0">
              <a:lnSpc>
                <a:spcPct val="91667"/>
              </a:lnSpc>
              <a:buNone/>
            </a:pPr>
            <a:r>
              <a:rPr lang="en-US" sz="2100" b="1" dirty="0">
                <a:solidFill>
                  <a:srgbClr val="12202B"/>
                </a:solidFill>
                <a:latin typeface="Georgia" pitchFamily="34" charset="0"/>
                <a:ea typeface="Georgia" pitchFamily="34" charset="-122"/>
                <a:cs typeface="Georgia" pitchFamily="34" charset="-120"/>
              </a:rPr>
              <a:t>Son impact métier</a:t>
            </a:r>
            <a:endParaRPr lang="en-US" sz="2100" dirty="0"/>
          </a:p>
        </p:txBody>
      </p:sp>
      <p:sp>
        <p:nvSpPr>
          <p:cNvPr id="18" name="Text 14-s19"/>
          <p:cNvSpPr txBox="1"/>
          <p:nvPr/>
        </p:nvSpPr>
        <p:spPr>
          <a:xfrm>
            <a:off x="4432300" y="3873500"/>
            <a:ext cx="3175000" cy="698500"/>
          </a:xfrm>
          <a:prstGeom prst="rect">
            <a:avLst/>
          </a:prstGeom>
          <a:noFill/>
          <a:ln/>
        </p:spPr>
        <p:txBody>
          <a:bodyPr wrap="square" lIns="0" tIns="0" rIns="0" bIns="0" rtlCol="0" anchor="t"/>
          <a:lstStyle/>
          <a:p>
            <a:pPr algn="l" indent="0" marL="0">
              <a:lnSpc>
                <a:spcPct val="108333"/>
              </a:lnSpc>
              <a:buNone/>
            </a:pPr>
            <a:r>
              <a:rPr lang="en-US" sz="1400" dirty="0">
                <a:solidFill>
                  <a:srgbClr val="5A6A77"/>
                </a:solidFill>
                <a:latin typeface="Calibri" pitchFamily="34" charset="0"/>
                <a:ea typeface="Calibri" pitchFamily="34" charset="-122"/>
                <a:cs typeface="Calibri" pitchFamily="34" charset="-120"/>
              </a:rPr>
              <a:t>Productivité, confiance, adhésion des utilisateurs</a:t>
            </a:r>
            <a:endParaRPr lang="en-US" sz="1400" dirty="0"/>
          </a:p>
        </p:txBody>
      </p:sp>
      <p:sp>
        <p:nvSpPr>
          <p:cNvPr id="19" name="Shape 15-s19"/>
          <p:cNvSpPr/>
          <p:nvPr/>
        </p:nvSpPr>
        <p:spPr>
          <a:xfrm>
            <a:off x="8051800" y="2159000"/>
            <a:ext cx="762000" cy="762000"/>
          </a:xfrm>
          <a:prstGeom prst="ellipse">
            <a:avLst/>
          </a:prstGeom>
          <a:solidFill>
            <a:srgbClr val="0F766E"/>
          </a:solidFill>
          <a:ln w="25400">
            <a:solidFill>
              <a:srgbClr val="0F766E"/>
            </a:solidFill>
            <a:prstDash val="solid"/>
          </a:ln>
        </p:spPr>
      </p:sp>
      <p:sp>
        <p:nvSpPr>
          <p:cNvPr id="20" name="Text 16-s19"/>
          <p:cNvSpPr txBox="1"/>
          <p:nvPr/>
        </p:nvSpPr>
        <p:spPr>
          <a:xfrm>
            <a:off x="8051800" y="2159000"/>
            <a:ext cx="762000" cy="762000"/>
          </a:xfrm>
          <a:prstGeom prst="rect">
            <a:avLst/>
          </a:prstGeom>
          <a:noFill/>
          <a:ln/>
        </p:spPr>
        <p:txBody>
          <a:bodyPr wrap="square" lIns="0" tIns="0" rIns="0" bIns="0" rtlCol="0" anchor="ctr"/>
          <a:lstStyle/>
          <a:p>
            <a:pPr algn="ctr" indent="0" marL="0">
              <a:lnSpc>
                <a:spcPct val="100000"/>
              </a:lnSpc>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21" name="Text 17-s19"/>
          <p:cNvSpPr txBox="1"/>
          <p:nvPr/>
        </p:nvSpPr>
        <p:spPr>
          <a:xfrm>
            <a:off x="8051800" y="3111500"/>
            <a:ext cx="3302000" cy="698500"/>
          </a:xfrm>
          <a:prstGeom prst="rect">
            <a:avLst/>
          </a:prstGeom>
          <a:noFill/>
          <a:ln/>
        </p:spPr>
        <p:txBody>
          <a:bodyPr wrap="square" lIns="0" tIns="0" rIns="0" bIns="0" rtlCol="0" anchor="t"/>
          <a:lstStyle/>
          <a:p>
            <a:pPr algn="l" indent="0" marL="0">
              <a:lnSpc>
                <a:spcPct val="91667"/>
              </a:lnSpc>
              <a:buNone/>
            </a:pPr>
            <a:r>
              <a:rPr lang="en-US" sz="2100" b="1" dirty="0">
                <a:solidFill>
                  <a:srgbClr val="12202B"/>
                </a:solidFill>
                <a:latin typeface="Georgia" pitchFamily="34" charset="0"/>
                <a:ea typeface="Georgia" pitchFamily="34" charset="-122"/>
                <a:cs typeface="Georgia" pitchFamily="34" charset="-120"/>
              </a:rPr>
              <a:t>Sa gestion projet</a:t>
            </a:r>
            <a:endParaRPr lang="en-US" sz="2100" dirty="0"/>
          </a:p>
        </p:txBody>
      </p:sp>
      <p:sp>
        <p:nvSpPr>
          <p:cNvPr id="22" name="Text 18-s19"/>
          <p:cNvSpPr txBox="1"/>
          <p:nvPr/>
        </p:nvSpPr>
        <p:spPr>
          <a:xfrm>
            <a:off x="8051800" y="3873500"/>
            <a:ext cx="3175000" cy="698500"/>
          </a:xfrm>
          <a:prstGeom prst="rect">
            <a:avLst/>
          </a:prstGeom>
          <a:noFill/>
          <a:ln/>
        </p:spPr>
        <p:txBody>
          <a:bodyPr wrap="square" lIns="0" tIns="0" rIns="0" bIns="0" rtlCol="0" anchor="t"/>
          <a:lstStyle/>
          <a:p>
            <a:pPr algn="l" indent="0" marL="0">
              <a:lnSpc>
                <a:spcPct val="108333"/>
              </a:lnSpc>
              <a:buNone/>
            </a:pPr>
            <a:r>
              <a:rPr lang="en-US" sz="1400" dirty="0">
                <a:solidFill>
                  <a:srgbClr val="5A6A77"/>
                </a:solidFill>
                <a:latin typeface="Calibri" pitchFamily="34" charset="0"/>
                <a:ea typeface="Calibri" pitchFamily="34" charset="-122"/>
                <a:cs typeface="Calibri" pitchFamily="34" charset="-120"/>
              </a:rPr>
              <a:t>Escalade, priorisation et communication</a:t>
            </a:r>
            <a:endParaRPr lang="en-US" sz="1400" dirty="0"/>
          </a:p>
        </p:txBody>
      </p:sp>
      <p:sp>
        <p:nvSpPr>
          <p:cNvPr id="23" name="Shape 19-s19"/>
          <p:cNvSpPr/>
          <p:nvPr/>
        </p:nvSpPr>
        <p:spPr>
          <a:xfrm>
            <a:off x="812800" y="5016500"/>
            <a:ext cx="10566400" cy="12700"/>
          </a:xfrm>
          <a:prstGeom prst="rect">
            <a:avLst/>
          </a:prstGeom>
          <a:solidFill>
            <a:srgbClr val="D9D4C8"/>
          </a:solidFill>
          <a:ln/>
        </p:spPr>
      </p:sp>
      <p:sp>
        <p:nvSpPr>
          <p:cNvPr id="24" name="Text 20-s19"/>
          <p:cNvSpPr txBox="1"/>
          <p:nvPr/>
        </p:nvSpPr>
        <p:spPr>
          <a:xfrm>
            <a:off x="812800" y="5207000"/>
            <a:ext cx="10566400" cy="762000"/>
          </a:xfrm>
          <a:prstGeom prst="rect">
            <a:avLst/>
          </a:prstGeom>
          <a:noFill/>
          <a:ln/>
        </p:spPr>
        <p:txBody>
          <a:bodyPr wrap="square" lIns="0" tIns="0" rIns="0" bIns="0" rtlCol="0" anchor="t"/>
          <a:lstStyle/>
          <a:p>
            <a:pPr algn="l" indent="0" marL="0">
              <a:lnSpc>
                <a:spcPct val="104167"/>
              </a:lnSpc>
              <a:buNone/>
            </a:pPr>
            <a:r>
              <a:rPr lang="en-US" sz="2000" i="1" dirty="0">
                <a:solidFill>
                  <a:srgbClr val="12202B"/>
                </a:solidFill>
                <a:latin typeface="Georgia" pitchFamily="34" charset="0"/>
                <a:ea typeface="Georgia" pitchFamily="34" charset="-122"/>
                <a:cs typeface="Georgia" pitchFamily="34" charset="-120"/>
              </a:rPr>
              <a:t>Je ne pouvais pas toujours corriger le bug, mais je pouvais améliorer son escalade, sa priorisation et sa communication.</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B24"/>
        </a:solidFill>
      </p:bgPr>
    </p:bg>
    <p:spTree>
      <p:nvGrpSpPr>
        <p:cNvPr id="1" name="-s20"/>
        <p:cNvGrpSpPr/>
        <p:nvPr/>
      </p:nvGrpSpPr>
      <p:grpSpPr>
        <a:xfrm>
          <a:off x="0" y="0"/>
          <a:ext cx="0" cy="0"/>
          <a:chOff x="0" y="0"/>
          <a:chExt cx="0" cy="0"/>
        </a:xfrm>
      </p:grpSpPr>
      <p:sp>
        <p:nvSpPr>
          <p:cNvPr id="2" name="!!orb"/>
          <p:cNvSpPr/>
          <p:nvPr/>
        </p:nvSpPr>
        <p:spPr>
          <a:xfrm>
            <a:off x="8890000" y="3810000"/>
            <a:ext cx="5715000" cy="5715000"/>
          </a:xfrm>
          <a:prstGeom prst="ellipse">
            <a:avLst/>
          </a:prstGeom>
          <a:solidFill>
            <a:srgbClr val="3CC3B5">
              <a:alpha val="12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2B4457"/>
          </a:solidFill>
          <a:ln/>
        </p:spPr>
      </p:sp>
      <p:sp>
        <p:nvSpPr>
          <p:cNvPr id="8" name="!!fill"/>
          <p:cNvSpPr/>
          <p:nvPr/>
        </p:nvSpPr>
        <p:spPr>
          <a:xfrm>
            <a:off x="812800" y="6642100"/>
            <a:ext cx="9560076" cy="50800"/>
          </a:xfrm>
          <a:prstGeom prst="roundRect">
            <a:avLst>
              <a:gd name="adj" fmla="val 50000"/>
            </a:avLst>
          </a:prstGeom>
          <a:solidFill>
            <a:srgbClr val="3CC3B5"/>
          </a:solidFill>
          <a:ln/>
        </p:spPr>
      </p:sp>
      <p:sp>
        <p:nvSpPr>
          <p:cNvPr id="9" name="!!dot"/>
          <p:cNvSpPr/>
          <p:nvPr/>
        </p:nvSpPr>
        <p:spPr>
          <a:xfrm>
            <a:off x="10283976" y="6604000"/>
            <a:ext cx="127000" cy="127000"/>
          </a:xfrm>
          <a:prstGeom prst="ellipse">
            <a:avLst/>
          </a:prstGeom>
          <a:solidFill>
            <a:srgbClr val="3CC3B5"/>
          </a:solidFill>
          <a:ln/>
        </p:spPr>
      </p:sp>
      <p:sp>
        <p:nvSpPr>
          <p:cNvPr id="10" name="Text 6-s20"/>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F4F1EA"/>
                </a:solidFill>
                <a:latin typeface="Georgia" pitchFamily="34" charset="0"/>
                <a:ea typeface="Georgia" pitchFamily="34" charset="-122"/>
                <a:cs typeface="Georgia" pitchFamily="34" charset="-120"/>
              </a:rPr>
              <a:t>Avec le recul, trois choses à refaire</a:t>
            </a:r>
            <a:endParaRPr lang="en-US" sz="3200" dirty="0"/>
          </a:p>
        </p:txBody>
      </p:sp>
      <p:sp>
        <p:nvSpPr>
          <p:cNvPr id="11" name="Text 7-s20"/>
          <p:cNvSpPr txBox="1"/>
          <p:nvPr/>
        </p:nvSpPr>
        <p:spPr>
          <a:xfrm>
            <a:off x="812800" y="1905000"/>
            <a:ext cx="1397000" cy="1270000"/>
          </a:xfrm>
          <a:prstGeom prst="rect">
            <a:avLst/>
          </a:prstGeom>
          <a:noFill/>
          <a:ln/>
        </p:spPr>
        <p:txBody>
          <a:bodyPr wrap="square" lIns="0" tIns="0" rIns="0" bIns="0" rtlCol="0" anchor="t"/>
          <a:lstStyle/>
          <a:p>
            <a:pPr algn="l" indent="0" marL="0">
              <a:lnSpc>
                <a:spcPct val="83333"/>
              </a:lnSpc>
              <a:buNone/>
            </a:pPr>
            <a:r>
              <a:rPr lang="en-US" sz="10000" b="1" dirty="0">
                <a:solidFill>
                  <a:srgbClr val="3CC3B5"/>
                </a:solidFill>
                <a:latin typeface="Georgia" pitchFamily="34" charset="0"/>
                <a:ea typeface="Georgia" pitchFamily="34" charset="-122"/>
                <a:cs typeface="Georgia" pitchFamily="34" charset="-120"/>
              </a:rPr>
              <a:t>1</a:t>
            </a:r>
            <a:endParaRPr lang="en-US" sz="10000" dirty="0"/>
          </a:p>
        </p:txBody>
      </p:sp>
      <p:sp>
        <p:nvSpPr>
          <p:cNvPr id="12" name="Text 8-s20"/>
          <p:cNvSpPr txBox="1"/>
          <p:nvPr/>
        </p:nvSpPr>
        <p:spPr>
          <a:xfrm>
            <a:off x="2413000" y="2222500"/>
            <a:ext cx="8890000" cy="444500"/>
          </a:xfrm>
          <a:prstGeom prst="rect">
            <a:avLst/>
          </a:prstGeom>
          <a:noFill/>
          <a:ln/>
        </p:spPr>
        <p:txBody>
          <a:bodyPr wrap="square" lIns="0" tIns="0" rIns="0" bIns="0" rtlCol="0" anchor="t"/>
          <a:lstStyle/>
          <a:p>
            <a:pPr algn="l" indent="0" marL="0">
              <a:lnSpc>
                <a:spcPct val="100000"/>
              </a:lnSpc>
              <a:buNone/>
            </a:pPr>
            <a:r>
              <a:rPr lang="en-US" sz="2700" b="1" dirty="0">
                <a:solidFill>
                  <a:srgbClr val="F4F1EA"/>
                </a:solidFill>
                <a:latin typeface="Georgia" pitchFamily="34" charset="0"/>
                <a:ea typeface="Georgia" pitchFamily="34" charset="-122"/>
                <a:cs typeface="Georgia" pitchFamily="34" charset="-120"/>
              </a:rPr>
              <a:t>Classer les anomalies</a:t>
            </a:r>
            <a:endParaRPr lang="en-US" sz="2700" dirty="0"/>
          </a:p>
        </p:txBody>
      </p:sp>
      <p:sp>
        <p:nvSpPr>
          <p:cNvPr id="13" name="Text 9-s20"/>
          <p:cNvSpPr txBox="1"/>
          <p:nvPr/>
        </p:nvSpPr>
        <p:spPr>
          <a:xfrm>
            <a:off x="2413000" y="2698750"/>
            <a:ext cx="8890000" cy="317500"/>
          </a:xfrm>
          <a:prstGeom prst="rect">
            <a:avLst/>
          </a:prstGeom>
          <a:noFill/>
          <a:ln/>
        </p:spPr>
        <p:txBody>
          <a:bodyPr wrap="square" lIns="0" tIns="0" rIns="0" bIns="0" rtlCol="0" anchor="t"/>
          <a:lstStyle/>
          <a:p>
            <a:pPr algn="l" indent="0" marL="0">
              <a:lnSpc>
                <a:spcPct val="100000"/>
              </a:lnSpc>
              <a:buNone/>
            </a:pPr>
            <a:r>
              <a:rPr lang="en-US" sz="1600" dirty="0">
                <a:solidFill>
                  <a:srgbClr val="9DB0BF"/>
                </a:solidFill>
                <a:latin typeface="Calibri" pitchFamily="34" charset="0"/>
                <a:ea typeface="Calibri" pitchFamily="34" charset="-122"/>
                <a:cs typeface="Calibri" pitchFamily="34" charset="-120"/>
              </a:rPr>
              <a:t>dès les premières remontées, de façon standardisée</a:t>
            </a:r>
            <a:endParaRPr lang="en-US" sz="1600" dirty="0"/>
          </a:p>
        </p:txBody>
      </p:sp>
      <p:sp>
        <p:nvSpPr>
          <p:cNvPr id="14" name="Shape 10-s20"/>
          <p:cNvSpPr/>
          <p:nvPr/>
        </p:nvSpPr>
        <p:spPr>
          <a:xfrm>
            <a:off x="2413000" y="3175000"/>
            <a:ext cx="8966200" cy="12700"/>
          </a:xfrm>
          <a:prstGeom prst="rect">
            <a:avLst/>
          </a:prstGeom>
          <a:solidFill>
            <a:srgbClr val="2B4457"/>
          </a:solidFill>
          <a:ln/>
        </p:spPr>
      </p:sp>
      <p:sp>
        <p:nvSpPr>
          <p:cNvPr id="15" name="Text 11-s20"/>
          <p:cNvSpPr txBox="1"/>
          <p:nvPr/>
        </p:nvSpPr>
        <p:spPr>
          <a:xfrm>
            <a:off x="812800" y="3238500"/>
            <a:ext cx="1397000" cy="1270000"/>
          </a:xfrm>
          <a:prstGeom prst="rect">
            <a:avLst/>
          </a:prstGeom>
          <a:noFill/>
          <a:ln/>
        </p:spPr>
        <p:txBody>
          <a:bodyPr wrap="square" lIns="0" tIns="0" rIns="0" bIns="0" rtlCol="0" anchor="t"/>
          <a:lstStyle/>
          <a:p>
            <a:pPr algn="l" indent="0" marL="0">
              <a:lnSpc>
                <a:spcPct val="83333"/>
              </a:lnSpc>
              <a:buNone/>
            </a:pPr>
            <a:r>
              <a:rPr lang="en-US" sz="10000" b="1" dirty="0">
                <a:solidFill>
                  <a:srgbClr val="3CC3B5"/>
                </a:solidFill>
                <a:latin typeface="Georgia" pitchFamily="34" charset="0"/>
                <a:ea typeface="Georgia" pitchFamily="34" charset="-122"/>
                <a:cs typeface="Georgia" pitchFamily="34" charset="-120"/>
              </a:rPr>
              <a:t>2</a:t>
            </a:r>
            <a:endParaRPr lang="en-US" sz="10000" dirty="0"/>
          </a:p>
        </p:txBody>
      </p:sp>
      <p:sp>
        <p:nvSpPr>
          <p:cNvPr id="16" name="Text 12-s20"/>
          <p:cNvSpPr txBox="1"/>
          <p:nvPr/>
        </p:nvSpPr>
        <p:spPr>
          <a:xfrm>
            <a:off x="2413000" y="3556000"/>
            <a:ext cx="8890000" cy="444500"/>
          </a:xfrm>
          <a:prstGeom prst="rect">
            <a:avLst/>
          </a:prstGeom>
          <a:noFill/>
          <a:ln/>
        </p:spPr>
        <p:txBody>
          <a:bodyPr wrap="square" lIns="0" tIns="0" rIns="0" bIns="0" rtlCol="0" anchor="t"/>
          <a:lstStyle/>
          <a:p>
            <a:pPr algn="l" indent="0" marL="0">
              <a:lnSpc>
                <a:spcPct val="100000"/>
              </a:lnSpc>
              <a:buNone/>
            </a:pPr>
            <a:r>
              <a:rPr lang="en-US" sz="2700" b="1" dirty="0">
                <a:solidFill>
                  <a:srgbClr val="F4F1EA"/>
                </a:solidFill>
                <a:latin typeface="Georgia" pitchFamily="34" charset="0"/>
                <a:ea typeface="Georgia" pitchFamily="34" charset="-122"/>
                <a:cs typeface="Georgia" pitchFamily="34" charset="-120"/>
              </a:rPr>
              <a:t>Planifier plus finement</a:t>
            </a:r>
            <a:endParaRPr lang="en-US" sz="2700" dirty="0"/>
          </a:p>
        </p:txBody>
      </p:sp>
      <p:sp>
        <p:nvSpPr>
          <p:cNvPr id="17" name="Text 13-s20"/>
          <p:cNvSpPr txBox="1"/>
          <p:nvPr/>
        </p:nvSpPr>
        <p:spPr>
          <a:xfrm>
            <a:off x="2413000" y="4032250"/>
            <a:ext cx="8890000" cy="317500"/>
          </a:xfrm>
          <a:prstGeom prst="rect">
            <a:avLst/>
          </a:prstGeom>
          <a:noFill/>
          <a:ln/>
        </p:spPr>
        <p:txBody>
          <a:bodyPr wrap="square" lIns="0" tIns="0" rIns="0" bIns="0" rtlCol="0" anchor="t"/>
          <a:lstStyle/>
          <a:p>
            <a:pPr algn="l" indent="0" marL="0">
              <a:lnSpc>
                <a:spcPct val="100000"/>
              </a:lnSpc>
              <a:buNone/>
            </a:pPr>
            <a:r>
              <a:rPr lang="en-US" sz="1600" dirty="0">
                <a:solidFill>
                  <a:srgbClr val="9DB0BF"/>
                </a:solidFill>
                <a:latin typeface="Calibri" pitchFamily="34" charset="0"/>
                <a:ea typeface="Calibri" pitchFamily="34" charset="-122"/>
                <a:cs typeface="Calibri" pitchFamily="34" charset="-120"/>
              </a:rPr>
              <a:t>un planning plus détaillé dès le départ</a:t>
            </a:r>
            <a:endParaRPr lang="en-US" sz="1600" dirty="0"/>
          </a:p>
        </p:txBody>
      </p:sp>
      <p:sp>
        <p:nvSpPr>
          <p:cNvPr id="18" name="Shape 14-s20"/>
          <p:cNvSpPr/>
          <p:nvPr/>
        </p:nvSpPr>
        <p:spPr>
          <a:xfrm>
            <a:off x="2413000" y="4508500"/>
            <a:ext cx="8966200" cy="12700"/>
          </a:xfrm>
          <a:prstGeom prst="rect">
            <a:avLst/>
          </a:prstGeom>
          <a:solidFill>
            <a:srgbClr val="2B4457"/>
          </a:solidFill>
          <a:ln/>
        </p:spPr>
      </p:sp>
      <p:sp>
        <p:nvSpPr>
          <p:cNvPr id="19" name="Text 15-s20"/>
          <p:cNvSpPr txBox="1"/>
          <p:nvPr/>
        </p:nvSpPr>
        <p:spPr>
          <a:xfrm>
            <a:off x="812800" y="4572000"/>
            <a:ext cx="1397000" cy="1270000"/>
          </a:xfrm>
          <a:prstGeom prst="rect">
            <a:avLst/>
          </a:prstGeom>
          <a:noFill/>
          <a:ln/>
        </p:spPr>
        <p:txBody>
          <a:bodyPr wrap="square" lIns="0" tIns="0" rIns="0" bIns="0" rtlCol="0" anchor="t"/>
          <a:lstStyle/>
          <a:p>
            <a:pPr algn="l" indent="0" marL="0">
              <a:lnSpc>
                <a:spcPct val="83333"/>
              </a:lnSpc>
              <a:buNone/>
            </a:pPr>
            <a:r>
              <a:rPr lang="en-US" sz="10000" b="1" dirty="0">
                <a:solidFill>
                  <a:srgbClr val="3CC3B5"/>
                </a:solidFill>
                <a:latin typeface="Georgia" pitchFamily="34" charset="0"/>
                <a:ea typeface="Georgia" pitchFamily="34" charset="-122"/>
                <a:cs typeface="Georgia" pitchFamily="34" charset="-120"/>
              </a:rPr>
              <a:t>3</a:t>
            </a:r>
            <a:endParaRPr lang="en-US" sz="10000" dirty="0"/>
          </a:p>
        </p:txBody>
      </p:sp>
      <p:sp>
        <p:nvSpPr>
          <p:cNvPr id="20" name="Text 16-s20"/>
          <p:cNvSpPr txBox="1"/>
          <p:nvPr/>
        </p:nvSpPr>
        <p:spPr>
          <a:xfrm>
            <a:off x="2413000" y="4889500"/>
            <a:ext cx="8890000" cy="444500"/>
          </a:xfrm>
          <a:prstGeom prst="rect">
            <a:avLst/>
          </a:prstGeom>
          <a:noFill/>
          <a:ln/>
        </p:spPr>
        <p:txBody>
          <a:bodyPr wrap="square" lIns="0" tIns="0" rIns="0" bIns="0" rtlCol="0" anchor="t"/>
          <a:lstStyle/>
          <a:p>
            <a:pPr algn="l" indent="0" marL="0">
              <a:lnSpc>
                <a:spcPct val="100000"/>
              </a:lnSpc>
              <a:buNone/>
            </a:pPr>
            <a:r>
              <a:rPr lang="en-US" sz="2700" b="1" dirty="0">
                <a:solidFill>
                  <a:srgbClr val="F4F1EA"/>
                </a:solidFill>
                <a:latin typeface="Georgia" pitchFamily="34" charset="0"/>
                <a:ea typeface="Georgia" pitchFamily="34" charset="-122"/>
                <a:cs typeface="Georgia" pitchFamily="34" charset="-120"/>
              </a:rPr>
              <a:t>Prévoir la stabilisation</a:t>
            </a:r>
            <a:endParaRPr lang="en-US" sz="2700" dirty="0"/>
          </a:p>
        </p:txBody>
      </p:sp>
      <p:sp>
        <p:nvSpPr>
          <p:cNvPr id="21" name="Text 17-s20"/>
          <p:cNvSpPr txBox="1"/>
          <p:nvPr/>
        </p:nvSpPr>
        <p:spPr>
          <a:xfrm>
            <a:off x="2413000" y="5365750"/>
            <a:ext cx="8890000" cy="317500"/>
          </a:xfrm>
          <a:prstGeom prst="rect">
            <a:avLst/>
          </a:prstGeom>
          <a:noFill/>
          <a:ln/>
        </p:spPr>
        <p:txBody>
          <a:bodyPr wrap="square" lIns="0" tIns="0" rIns="0" bIns="0" rtlCol="0" anchor="t"/>
          <a:lstStyle/>
          <a:p>
            <a:pPr algn="l" indent="0" marL="0">
              <a:lnSpc>
                <a:spcPct val="100000"/>
              </a:lnSpc>
              <a:buNone/>
            </a:pPr>
            <a:r>
              <a:rPr lang="en-US" sz="1600" dirty="0">
                <a:solidFill>
                  <a:srgbClr val="9DB0BF"/>
                </a:solidFill>
                <a:latin typeface="Calibri" pitchFamily="34" charset="0"/>
                <a:ea typeface="Calibri" pitchFamily="34" charset="-122"/>
                <a:cs typeface="Calibri" pitchFamily="34" charset="-120"/>
              </a:rPr>
              <a:t>comme une phase projet, avec ressources et indicateurs</a:t>
            </a:r>
            <a:endParaRPr lang="en-US" sz="1600" dirty="0"/>
          </a:p>
        </p:txBody>
      </p:sp>
      <p:sp>
        <p:nvSpPr>
          <p:cNvPr id="22" name="Shape 18-s20"/>
          <p:cNvSpPr/>
          <p:nvPr/>
        </p:nvSpPr>
        <p:spPr>
          <a:xfrm>
            <a:off x="2413000" y="5842000"/>
            <a:ext cx="8966200" cy="12700"/>
          </a:xfrm>
          <a:prstGeom prst="rect">
            <a:avLst/>
          </a:prstGeom>
          <a:solidFill>
            <a:srgbClr val="2B4457"/>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s21"/>
        <p:cNvGrpSpPr/>
        <p:nvPr/>
      </p:nvGrpSpPr>
      <p:grpSpPr>
        <a:xfrm>
          <a:off x="0" y="0"/>
          <a:ext cx="0" cy="0"/>
          <a:chOff x="0" y="0"/>
          <a:chExt cx="0" cy="0"/>
        </a:xfrm>
      </p:grpSpPr>
      <p:sp>
        <p:nvSpPr>
          <p:cNvPr id="2" name="!!orb"/>
          <p:cNvSpPr/>
          <p:nvPr/>
        </p:nvSpPr>
        <p:spPr>
          <a:xfrm>
            <a:off x="9525000" y="-1905000"/>
            <a:ext cx="5080000" cy="5080000"/>
          </a:xfrm>
          <a:prstGeom prst="ellipse">
            <a:avLst/>
          </a:prstGeom>
          <a:solidFill>
            <a:srgbClr val="0F766E">
              <a:alpha val="10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D9D4C8"/>
          </a:solidFill>
          <a:ln/>
        </p:spPr>
      </p:sp>
      <p:sp>
        <p:nvSpPr>
          <p:cNvPr id="8" name="!!fill"/>
          <p:cNvSpPr/>
          <p:nvPr/>
        </p:nvSpPr>
        <p:spPr>
          <a:xfrm>
            <a:off x="812800" y="6642100"/>
            <a:ext cx="10063238" cy="50800"/>
          </a:xfrm>
          <a:prstGeom prst="roundRect">
            <a:avLst>
              <a:gd name="adj" fmla="val 50000"/>
            </a:avLst>
          </a:prstGeom>
          <a:solidFill>
            <a:srgbClr val="0F766E"/>
          </a:solidFill>
          <a:ln/>
        </p:spPr>
      </p:sp>
      <p:sp>
        <p:nvSpPr>
          <p:cNvPr id="9" name="!!dot"/>
          <p:cNvSpPr/>
          <p:nvPr/>
        </p:nvSpPr>
        <p:spPr>
          <a:xfrm>
            <a:off x="10787138" y="6604000"/>
            <a:ext cx="127000" cy="127000"/>
          </a:xfrm>
          <a:prstGeom prst="ellipse">
            <a:avLst/>
          </a:prstGeom>
          <a:solidFill>
            <a:srgbClr val="0F766E"/>
          </a:solidFill>
          <a:ln/>
        </p:spPr>
      </p:sp>
      <p:sp>
        <p:nvSpPr>
          <p:cNvPr id="10" name="Text 6-s21"/>
          <p:cNvSpPr txBox="1"/>
          <p:nvPr/>
        </p:nvSpPr>
        <p:spPr>
          <a:xfrm>
            <a:off x="812800" y="1270000"/>
            <a:ext cx="10160000" cy="635000"/>
          </a:xfrm>
          <a:prstGeom prst="rect">
            <a:avLst/>
          </a:prstGeom>
          <a:noFill/>
          <a:ln/>
        </p:spPr>
        <p:txBody>
          <a:bodyPr wrap="square" lIns="0" tIns="0" rIns="0" bIns="0" rtlCol="0" anchor="t"/>
          <a:lstStyle/>
          <a:p>
            <a:pPr algn="l" indent="0" marL="0">
              <a:lnSpc>
                <a:spcPct val="100000"/>
              </a:lnSpc>
              <a:buNone/>
            </a:pPr>
            <a:r>
              <a:rPr lang="en-US" sz="3200" b="1" dirty="0">
                <a:solidFill>
                  <a:srgbClr val="12202B"/>
                </a:solidFill>
                <a:latin typeface="Georgia" pitchFamily="34" charset="0"/>
                <a:ea typeface="Georgia" pitchFamily="34" charset="-122"/>
                <a:cs typeface="Georgia" pitchFamily="34" charset="-120"/>
              </a:rPr>
              <a:t>Perspectives : consolider, puis valoriser</a:t>
            </a:r>
            <a:endParaRPr lang="en-US" sz="3200" dirty="0"/>
          </a:p>
        </p:txBody>
      </p:sp>
      <p:sp>
        <p:nvSpPr>
          <p:cNvPr id="11" name="Shape 7-s21"/>
          <p:cNvSpPr/>
          <p:nvPr/>
        </p:nvSpPr>
        <p:spPr>
          <a:xfrm>
            <a:off x="812800" y="2095500"/>
            <a:ext cx="4953000" cy="3556000"/>
          </a:xfrm>
          <a:prstGeom prst="roundRect">
            <a:avLst>
              <a:gd name="adj" fmla="val 5000"/>
            </a:avLst>
          </a:prstGeom>
          <a:solidFill>
            <a:srgbClr val="FFFFFF"/>
          </a:solidFill>
          <a:ln w="12700">
            <a:solidFill>
              <a:srgbClr val="D9D4C8"/>
            </a:solidFill>
            <a:prstDash val="solid"/>
          </a:ln>
        </p:spPr>
      </p:sp>
      <p:sp>
        <p:nvSpPr>
          <p:cNvPr id="12" name="Shape 8-s21"/>
          <p:cNvSpPr/>
          <p:nvPr/>
        </p:nvSpPr>
        <p:spPr>
          <a:xfrm>
            <a:off x="6426200" y="2095500"/>
            <a:ext cx="4953000" cy="3556000"/>
          </a:xfrm>
          <a:prstGeom prst="roundRect">
            <a:avLst>
              <a:gd name="adj" fmla="val 5000"/>
            </a:avLst>
          </a:prstGeom>
          <a:solidFill>
            <a:srgbClr val="0F766E"/>
          </a:solidFill>
          <a:ln/>
        </p:spPr>
      </p:sp>
      <p:sp>
        <p:nvSpPr>
          <p:cNvPr id="13" name="Text 9-s21"/>
          <p:cNvSpPr txBox="1"/>
          <p:nvPr/>
        </p:nvSpPr>
        <p:spPr>
          <a:xfrm>
            <a:off x="1092200" y="2298700"/>
            <a:ext cx="4445000" cy="317500"/>
          </a:xfrm>
          <a:prstGeom prst="rect">
            <a:avLst/>
          </a:prstGeom>
          <a:noFill/>
          <a:ln/>
        </p:spPr>
        <p:txBody>
          <a:bodyPr wrap="square" lIns="0" tIns="0" rIns="0" bIns="0" rtlCol="0" anchor="t"/>
          <a:lstStyle/>
          <a:p>
            <a:pPr algn="l" indent="0" marL="0">
              <a:lnSpc>
                <a:spcPct val="100000"/>
              </a:lnSpc>
              <a:buNone/>
            </a:pPr>
            <a:r>
              <a:rPr lang="en-US" sz="1400" b="1" spc="300" kern="0" dirty="0">
                <a:solidFill>
                  <a:srgbClr val="0F766E"/>
                </a:solidFill>
                <a:latin typeface="Calibri" pitchFamily="34" charset="0"/>
                <a:ea typeface="Calibri" pitchFamily="34" charset="-122"/>
                <a:cs typeface="Calibri" pitchFamily="34" charset="-120"/>
              </a:rPr>
              <a:t>D’ABORD : CONSOLIDER</a:t>
            </a:r>
            <a:endParaRPr lang="en-US" sz="1400" dirty="0"/>
          </a:p>
        </p:txBody>
      </p:sp>
      <p:sp>
        <p:nvSpPr>
          <p:cNvPr id="14" name="Shape 10-s21"/>
          <p:cNvSpPr/>
          <p:nvPr/>
        </p:nvSpPr>
        <p:spPr>
          <a:xfrm>
            <a:off x="1092200" y="2743200"/>
            <a:ext cx="76200" cy="76200"/>
          </a:xfrm>
          <a:prstGeom prst="rect">
            <a:avLst/>
          </a:prstGeom>
          <a:solidFill>
            <a:srgbClr val="0F766E"/>
          </a:solidFill>
          <a:ln/>
        </p:spPr>
      </p:sp>
      <p:sp>
        <p:nvSpPr>
          <p:cNvPr id="15" name="Text 11-s21"/>
          <p:cNvSpPr txBox="1"/>
          <p:nvPr/>
        </p:nvSpPr>
        <p:spPr>
          <a:xfrm>
            <a:off x="1295400" y="2628900"/>
            <a:ext cx="4191000" cy="635000"/>
          </a:xfrm>
          <a:prstGeom prst="rect">
            <a:avLst/>
          </a:prstGeom>
          <a:noFill/>
          <a:ln/>
        </p:spPr>
        <p:txBody>
          <a:bodyPr wrap="square" lIns="0" tIns="0" rIns="0" bIns="0" rtlCol="0" anchor="t"/>
          <a:lstStyle/>
          <a:p>
            <a:pPr algn="l" indent="0" marL="0">
              <a:lnSpc>
                <a:spcPct val="100000"/>
              </a:lnSpc>
              <a:buNone/>
            </a:pPr>
            <a:r>
              <a:rPr lang="en-US" sz="1500" dirty="0">
                <a:solidFill>
                  <a:srgbClr val="12202B"/>
                </a:solidFill>
                <a:latin typeface="Calibri" pitchFamily="34" charset="0"/>
                <a:ea typeface="Calibri" pitchFamily="34" charset="-122"/>
                <a:cs typeface="Calibri" pitchFamily="34" charset="-120"/>
              </a:rPr>
              <a:t>Registre d’anomalies : criticité, responsable, statut</a:t>
            </a:r>
            <a:endParaRPr lang="en-US" sz="1500" dirty="0"/>
          </a:p>
        </p:txBody>
      </p:sp>
      <p:sp>
        <p:nvSpPr>
          <p:cNvPr id="16" name="Shape 12-s21"/>
          <p:cNvSpPr/>
          <p:nvPr/>
        </p:nvSpPr>
        <p:spPr>
          <a:xfrm>
            <a:off x="1092200" y="3441700"/>
            <a:ext cx="76200" cy="76200"/>
          </a:xfrm>
          <a:prstGeom prst="rect">
            <a:avLst/>
          </a:prstGeom>
          <a:solidFill>
            <a:srgbClr val="0F766E"/>
          </a:solidFill>
          <a:ln/>
        </p:spPr>
      </p:sp>
      <p:sp>
        <p:nvSpPr>
          <p:cNvPr id="17" name="Text 13-s21"/>
          <p:cNvSpPr txBox="1"/>
          <p:nvPr/>
        </p:nvSpPr>
        <p:spPr>
          <a:xfrm>
            <a:off x="1295400" y="3327400"/>
            <a:ext cx="4191000" cy="635000"/>
          </a:xfrm>
          <a:prstGeom prst="rect">
            <a:avLst/>
          </a:prstGeom>
          <a:noFill/>
          <a:ln/>
        </p:spPr>
        <p:txBody>
          <a:bodyPr wrap="square" lIns="0" tIns="0" rIns="0" bIns="0" rtlCol="0" anchor="t"/>
          <a:lstStyle/>
          <a:p>
            <a:pPr algn="l" indent="0" marL="0">
              <a:lnSpc>
                <a:spcPct val="100000"/>
              </a:lnSpc>
              <a:buNone/>
            </a:pPr>
            <a:r>
              <a:rPr lang="en-US" sz="1500" dirty="0">
                <a:solidFill>
                  <a:srgbClr val="12202B"/>
                </a:solidFill>
                <a:latin typeface="Calibri" pitchFamily="34" charset="0"/>
                <a:ea typeface="Calibri" pitchFamily="34" charset="-122"/>
                <a:cs typeface="Calibri" pitchFamily="34" charset="-120"/>
              </a:rPr>
              <a:t>Suivi mensuel de l’adoption et des incidents</a:t>
            </a:r>
            <a:endParaRPr lang="en-US" sz="1500" dirty="0"/>
          </a:p>
        </p:txBody>
      </p:sp>
      <p:sp>
        <p:nvSpPr>
          <p:cNvPr id="18" name="Shape 14-s21"/>
          <p:cNvSpPr/>
          <p:nvPr/>
        </p:nvSpPr>
        <p:spPr>
          <a:xfrm>
            <a:off x="1092200" y="4140200"/>
            <a:ext cx="76200" cy="76200"/>
          </a:xfrm>
          <a:prstGeom prst="rect">
            <a:avLst/>
          </a:prstGeom>
          <a:solidFill>
            <a:srgbClr val="0F766E"/>
          </a:solidFill>
          <a:ln/>
        </p:spPr>
      </p:sp>
      <p:sp>
        <p:nvSpPr>
          <p:cNvPr id="19" name="Text 15-s21"/>
          <p:cNvSpPr txBox="1"/>
          <p:nvPr/>
        </p:nvSpPr>
        <p:spPr>
          <a:xfrm>
            <a:off x="1295400" y="4025900"/>
            <a:ext cx="4191000" cy="635000"/>
          </a:xfrm>
          <a:prstGeom prst="rect">
            <a:avLst/>
          </a:prstGeom>
          <a:noFill/>
          <a:ln/>
        </p:spPr>
        <p:txBody>
          <a:bodyPr wrap="square" lIns="0" tIns="0" rIns="0" bIns="0" rtlCol="0" anchor="t"/>
          <a:lstStyle/>
          <a:p>
            <a:pPr algn="l" indent="0" marL="0">
              <a:lnSpc>
                <a:spcPct val="100000"/>
              </a:lnSpc>
              <a:buNone/>
            </a:pPr>
            <a:r>
              <a:rPr lang="en-US" sz="1500" dirty="0">
                <a:solidFill>
                  <a:srgbClr val="12202B"/>
                </a:solidFill>
                <a:latin typeface="Calibri" pitchFamily="34" charset="0"/>
                <a:ea typeface="Calibri" pitchFamily="34" charset="-122"/>
                <a:cs typeface="Calibri" pitchFamily="34" charset="-120"/>
              </a:rPr>
              <a:t>Bonnes pratiques de création des formulaires</a:t>
            </a:r>
            <a:endParaRPr lang="en-US" sz="1500" dirty="0"/>
          </a:p>
        </p:txBody>
      </p:sp>
      <p:sp>
        <p:nvSpPr>
          <p:cNvPr id="20" name="Shape 16-s21"/>
          <p:cNvSpPr/>
          <p:nvPr/>
        </p:nvSpPr>
        <p:spPr>
          <a:xfrm>
            <a:off x="1092200" y="4838700"/>
            <a:ext cx="76200" cy="76200"/>
          </a:xfrm>
          <a:prstGeom prst="rect">
            <a:avLst/>
          </a:prstGeom>
          <a:solidFill>
            <a:srgbClr val="0F766E"/>
          </a:solidFill>
          <a:ln/>
        </p:spPr>
      </p:sp>
      <p:sp>
        <p:nvSpPr>
          <p:cNvPr id="21" name="Text 17-s21"/>
          <p:cNvSpPr txBox="1"/>
          <p:nvPr/>
        </p:nvSpPr>
        <p:spPr>
          <a:xfrm>
            <a:off x="1295400" y="4724400"/>
            <a:ext cx="4191000" cy="635000"/>
          </a:xfrm>
          <a:prstGeom prst="rect">
            <a:avLst/>
          </a:prstGeom>
          <a:noFill/>
          <a:ln/>
        </p:spPr>
        <p:txBody>
          <a:bodyPr wrap="square" lIns="0" tIns="0" rIns="0" bIns="0" rtlCol="0" anchor="t"/>
          <a:lstStyle/>
          <a:p>
            <a:pPr algn="l" indent="0" marL="0">
              <a:lnSpc>
                <a:spcPct val="100000"/>
              </a:lnSpc>
              <a:buNone/>
            </a:pPr>
            <a:r>
              <a:rPr lang="en-US" sz="1500" dirty="0">
                <a:solidFill>
                  <a:srgbClr val="12202B"/>
                </a:solidFill>
                <a:latin typeface="Calibri" pitchFamily="34" charset="0"/>
                <a:ea typeface="Calibri" pitchFamily="34" charset="-122"/>
                <a:cs typeface="Calibri" pitchFamily="34" charset="-120"/>
              </a:rPr>
              <a:t>Retours des autres entités via la communauté inter-agences</a:t>
            </a:r>
            <a:endParaRPr lang="en-US" sz="1500" dirty="0"/>
          </a:p>
        </p:txBody>
      </p:sp>
      <p:sp>
        <p:nvSpPr>
          <p:cNvPr id="22" name="Text 18-s21"/>
          <p:cNvSpPr txBox="1"/>
          <p:nvPr/>
        </p:nvSpPr>
        <p:spPr>
          <a:xfrm>
            <a:off x="6705600" y="2298700"/>
            <a:ext cx="4445000" cy="317500"/>
          </a:xfrm>
          <a:prstGeom prst="rect">
            <a:avLst/>
          </a:prstGeom>
          <a:noFill/>
          <a:ln/>
        </p:spPr>
        <p:txBody>
          <a:bodyPr wrap="square" lIns="0" tIns="0" rIns="0" bIns="0" rtlCol="0" anchor="t"/>
          <a:lstStyle/>
          <a:p>
            <a:pPr algn="l" indent="0" marL="0">
              <a:lnSpc>
                <a:spcPct val="100000"/>
              </a:lnSpc>
              <a:buNone/>
            </a:pPr>
            <a:r>
              <a:rPr lang="en-US" sz="1400" b="1" spc="300" kern="0" dirty="0">
                <a:solidFill>
                  <a:srgbClr val="FFFFFF"/>
                </a:solidFill>
                <a:latin typeface="Calibri" pitchFamily="34" charset="0"/>
                <a:ea typeface="Calibri" pitchFamily="34" charset="-122"/>
                <a:cs typeface="Calibri" pitchFamily="34" charset="-120"/>
              </a:rPr>
              <a:t>ENSUITE : VALORISER LA DONNÉE</a:t>
            </a:r>
            <a:endParaRPr lang="en-US" sz="1400" dirty="0"/>
          </a:p>
        </p:txBody>
      </p:sp>
      <p:sp>
        <p:nvSpPr>
          <p:cNvPr id="23" name="Shape 19-s21"/>
          <p:cNvSpPr/>
          <p:nvPr/>
        </p:nvSpPr>
        <p:spPr>
          <a:xfrm>
            <a:off x="6705600" y="2743200"/>
            <a:ext cx="76200" cy="76200"/>
          </a:xfrm>
          <a:prstGeom prst="rect">
            <a:avLst/>
          </a:prstGeom>
          <a:solidFill>
            <a:srgbClr val="FFFFFF"/>
          </a:solidFill>
          <a:ln/>
        </p:spPr>
      </p:sp>
      <p:sp>
        <p:nvSpPr>
          <p:cNvPr id="24" name="Text 20-s21"/>
          <p:cNvSpPr txBox="1"/>
          <p:nvPr/>
        </p:nvSpPr>
        <p:spPr>
          <a:xfrm>
            <a:off x="6908800" y="2628900"/>
            <a:ext cx="4191000" cy="635000"/>
          </a:xfrm>
          <a:prstGeom prst="rect">
            <a:avLst/>
          </a:prstGeom>
          <a:noFill/>
          <a:ln/>
        </p:spPr>
        <p:txBody>
          <a:bodyPr wrap="square" lIns="0" tIns="0" rIns="0" bIns="0" rtlCol="0" anchor="t"/>
          <a:lstStyle/>
          <a:p>
            <a:pPr algn="l" indent="0" marL="0">
              <a:lnSpc>
                <a:spcPct val="100000"/>
              </a:lnSpc>
              <a:buNone/>
            </a:pPr>
            <a:r>
              <a:rPr lang="en-US" sz="1700" b="1" dirty="0">
                <a:solidFill>
                  <a:srgbClr val="FFFFFF"/>
                </a:solidFill>
                <a:latin typeface="Calibri" pitchFamily="34" charset="0"/>
                <a:ea typeface="Calibri" pitchFamily="34" charset="-122"/>
                <a:cs typeface="Calibri" pitchFamily="34" charset="-120"/>
              </a:rPr>
              <a:t>Tableaux de bord</a:t>
            </a:r>
            <a:endParaRPr lang="en-US" sz="1700" dirty="0"/>
          </a:p>
        </p:txBody>
      </p:sp>
      <p:sp>
        <p:nvSpPr>
          <p:cNvPr id="25" name="Shape 21-s21"/>
          <p:cNvSpPr/>
          <p:nvPr/>
        </p:nvSpPr>
        <p:spPr>
          <a:xfrm>
            <a:off x="6705600" y="3441700"/>
            <a:ext cx="76200" cy="76200"/>
          </a:xfrm>
          <a:prstGeom prst="rect">
            <a:avLst/>
          </a:prstGeom>
          <a:solidFill>
            <a:srgbClr val="FFFFFF"/>
          </a:solidFill>
          <a:ln/>
        </p:spPr>
      </p:sp>
      <p:sp>
        <p:nvSpPr>
          <p:cNvPr id="26" name="Text 22-s21"/>
          <p:cNvSpPr txBox="1"/>
          <p:nvPr/>
        </p:nvSpPr>
        <p:spPr>
          <a:xfrm>
            <a:off x="6908800" y="3327400"/>
            <a:ext cx="4191000" cy="635000"/>
          </a:xfrm>
          <a:prstGeom prst="rect">
            <a:avLst/>
          </a:prstGeom>
          <a:noFill/>
          <a:ln/>
        </p:spPr>
        <p:txBody>
          <a:bodyPr wrap="square" lIns="0" tIns="0" rIns="0" bIns="0" rtlCol="0" anchor="t"/>
          <a:lstStyle/>
          <a:p>
            <a:pPr algn="l" indent="0" marL="0">
              <a:lnSpc>
                <a:spcPct val="100000"/>
              </a:lnSpc>
              <a:buNone/>
            </a:pPr>
            <a:r>
              <a:rPr lang="en-US" sz="1700" b="1" dirty="0">
                <a:solidFill>
                  <a:srgbClr val="FFFFFF"/>
                </a:solidFill>
                <a:latin typeface="Calibri" pitchFamily="34" charset="0"/>
                <a:ea typeface="Calibri" pitchFamily="34" charset="-122"/>
                <a:cs typeface="Calibri" pitchFamily="34" charset="-120"/>
              </a:rPr>
              <a:t>Power BI</a:t>
            </a:r>
            <a:endParaRPr lang="en-US" sz="1700" dirty="0"/>
          </a:p>
        </p:txBody>
      </p:sp>
      <p:sp>
        <p:nvSpPr>
          <p:cNvPr id="27" name="Shape 23-s21"/>
          <p:cNvSpPr/>
          <p:nvPr/>
        </p:nvSpPr>
        <p:spPr>
          <a:xfrm>
            <a:off x="6705600" y="4140200"/>
            <a:ext cx="76200" cy="76200"/>
          </a:xfrm>
          <a:prstGeom prst="rect">
            <a:avLst/>
          </a:prstGeom>
          <a:solidFill>
            <a:srgbClr val="FFFFFF"/>
          </a:solidFill>
          <a:ln/>
        </p:spPr>
      </p:sp>
      <p:sp>
        <p:nvSpPr>
          <p:cNvPr id="28" name="Text 24-s21"/>
          <p:cNvSpPr txBox="1"/>
          <p:nvPr/>
        </p:nvSpPr>
        <p:spPr>
          <a:xfrm>
            <a:off x="6908800" y="4025900"/>
            <a:ext cx="4191000" cy="635000"/>
          </a:xfrm>
          <a:prstGeom prst="rect">
            <a:avLst/>
          </a:prstGeom>
          <a:noFill/>
          <a:ln/>
        </p:spPr>
        <p:txBody>
          <a:bodyPr wrap="square" lIns="0" tIns="0" rIns="0" bIns="0" rtlCol="0" anchor="t"/>
          <a:lstStyle/>
          <a:p>
            <a:pPr algn="l" indent="0" marL="0">
              <a:lnSpc>
                <a:spcPct val="100000"/>
              </a:lnSpc>
              <a:buNone/>
            </a:pPr>
            <a:r>
              <a:rPr lang="en-US" sz="1700" b="1" dirty="0">
                <a:solidFill>
                  <a:srgbClr val="FFFFFF"/>
                </a:solidFill>
                <a:latin typeface="Calibri" pitchFamily="34" charset="0"/>
                <a:ea typeface="Calibri" pitchFamily="34" charset="-122"/>
                <a:cs typeface="Calibri" pitchFamily="34" charset="-120"/>
              </a:rPr>
              <a:t>Automatisation de processus</a:t>
            </a:r>
            <a:endParaRPr lang="en-US" sz="1700" dirty="0"/>
          </a:p>
        </p:txBody>
      </p:sp>
      <p:sp>
        <p:nvSpPr>
          <p:cNvPr id="29" name="Shape 25-s21"/>
          <p:cNvSpPr/>
          <p:nvPr/>
        </p:nvSpPr>
        <p:spPr>
          <a:xfrm>
            <a:off x="6705600" y="4838700"/>
            <a:ext cx="76200" cy="76200"/>
          </a:xfrm>
          <a:prstGeom prst="rect">
            <a:avLst/>
          </a:prstGeom>
          <a:solidFill>
            <a:srgbClr val="FFFFFF"/>
          </a:solidFill>
          <a:ln/>
        </p:spPr>
      </p:sp>
      <p:sp>
        <p:nvSpPr>
          <p:cNvPr id="30" name="Text 26-s21"/>
          <p:cNvSpPr txBox="1"/>
          <p:nvPr/>
        </p:nvSpPr>
        <p:spPr>
          <a:xfrm>
            <a:off x="6908800" y="4724400"/>
            <a:ext cx="4191000" cy="635000"/>
          </a:xfrm>
          <a:prstGeom prst="rect">
            <a:avLst/>
          </a:prstGeom>
          <a:noFill/>
          <a:ln/>
        </p:spPr>
        <p:txBody>
          <a:bodyPr wrap="square" lIns="0" tIns="0" rIns="0" bIns="0" rtlCol="0" anchor="t"/>
          <a:lstStyle/>
          <a:p>
            <a:pPr algn="l" indent="0" marL="0">
              <a:lnSpc>
                <a:spcPct val="100000"/>
              </a:lnSpc>
              <a:buNone/>
            </a:pPr>
            <a:r>
              <a:rPr lang="en-US" sz="1700" b="1" dirty="0">
                <a:solidFill>
                  <a:srgbClr val="FFFFFF"/>
                </a:solidFill>
                <a:latin typeface="Calibri" pitchFamily="34" charset="0"/>
                <a:ea typeface="Calibri" pitchFamily="34" charset="-122"/>
                <a:cs typeface="Calibri" pitchFamily="34" charset="-120"/>
              </a:rPr>
              <a:t>Analyse de performance</a:t>
            </a:r>
            <a:endParaRPr lang="en-US" sz="1700" dirty="0"/>
          </a:p>
        </p:txBody>
      </p:sp>
      <p:sp>
        <p:nvSpPr>
          <p:cNvPr id="31" name="Text 27-s21"/>
          <p:cNvSpPr txBox="1"/>
          <p:nvPr/>
        </p:nvSpPr>
        <p:spPr>
          <a:xfrm>
            <a:off x="5765800" y="3556000"/>
            <a:ext cx="660400" cy="635000"/>
          </a:xfrm>
          <a:prstGeom prst="rect">
            <a:avLst/>
          </a:prstGeom>
          <a:noFill/>
          <a:ln/>
        </p:spPr>
        <p:txBody>
          <a:bodyPr wrap="square" lIns="0" tIns="0" rIns="0" bIns="0" rtlCol="0" anchor="ctr"/>
          <a:lstStyle/>
          <a:p>
            <a:pPr algn="ctr" indent="0" marL="0">
              <a:lnSpc>
                <a:spcPct val="100000"/>
              </a:lnSpc>
              <a:buNone/>
            </a:pPr>
            <a:r>
              <a:rPr lang="en-US" sz="3600" b="1" dirty="0">
                <a:solidFill>
                  <a:srgbClr val="0F766E"/>
                </a:solidFill>
                <a:latin typeface="Calibri" pitchFamily="34" charset="0"/>
                <a:ea typeface="Calibri" pitchFamily="34" charset="-122"/>
                <a:cs typeface="Calibri" pitchFamily="34" charset="-120"/>
              </a:rPr>
              <a:t>→</a:t>
            </a:r>
            <a:endParaRPr lang="en-US" sz="3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B24"/>
        </a:solidFill>
      </p:bgPr>
    </p:bg>
    <p:spTree>
      <p:nvGrpSpPr>
        <p:cNvPr id="1" name="-s22"/>
        <p:cNvGrpSpPr/>
        <p:nvPr/>
      </p:nvGrpSpPr>
      <p:grpSpPr>
        <a:xfrm>
          <a:off x="0" y="0"/>
          <a:ext cx="0" cy="0"/>
          <a:chOff x="0" y="0"/>
          <a:chExt cx="0" cy="0"/>
        </a:xfrm>
      </p:grpSpPr>
      <p:sp>
        <p:nvSpPr>
          <p:cNvPr id="2" name="!!orb"/>
          <p:cNvSpPr/>
          <p:nvPr/>
        </p:nvSpPr>
        <p:spPr>
          <a:xfrm>
            <a:off x="6350000" y="1905000"/>
            <a:ext cx="8255000" cy="8255000"/>
          </a:xfrm>
          <a:prstGeom prst="ellipse">
            <a:avLst/>
          </a:prstGeom>
          <a:solidFill>
            <a:srgbClr val="3CC3B5">
              <a:alpha val="12000"/>
            </a:srgbClr>
          </a:solidFill>
          <a:ln/>
        </p:spPr>
      </p:sp>
      <p:sp>
        <p:nvSpPr>
          <p:cNvPr id="3" name="!!pv"/>
          <p:cNvSpPr/>
          <p:nvPr/>
        </p:nvSpPr>
        <p:spPr>
          <a:xfrm>
            <a:off x="8991600" y="355600"/>
            <a:ext cx="1460500" cy="495300"/>
          </a:xfrm>
          <a:prstGeom prst="roundRect">
            <a:avLst>
              <a:gd name="adj" fmla="val 20000"/>
            </a:avLst>
          </a:prstGeom>
          <a:solidFill>
            <a:srgbClr val="FFFFFF"/>
          </a:solidFill>
          <a:ln/>
        </p:spPr>
      </p:sp>
      <p:pic>
        <p:nvPicPr>
          <p:cNvPr id="4" name="!!lv" descr="Logo VINCI Facilities">    </p:cNvPr>
          <p:cNvPicPr>
            <a:picLocks noChangeAspect="1"/>
          </p:cNvPicPr>
          <p:nvPr/>
        </p:nvPicPr>
        <p:blipFill>
          <a:blip r:embed="rId1"/>
          <a:stretch>
            <a:fillRect/>
          </a:stretch>
        </p:blipFill>
        <p:spPr>
          <a:xfrm>
            <a:off x="9118600" y="403225"/>
            <a:ext cx="1206500" cy="400050"/>
          </a:xfrm>
          <a:prstGeom prst="rect">
            <a:avLst/>
          </a:prstGeom>
        </p:spPr>
      </p:pic>
      <p:sp>
        <p:nvSpPr>
          <p:cNvPr id="5" name="!!pi"/>
          <p:cNvSpPr/>
          <p:nvPr/>
        </p:nvSpPr>
        <p:spPr>
          <a:xfrm>
            <a:off x="10553700" y="355600"/>
            <a:ext cx="825500" cy="495300"/>
          </a:xfrm>
          <a:prstGeom prst="roundRect">
            <a:avLst>
              <a:gd name="adj" fmla="val 20000"/>
            </a:avLst>
          </a:prstGeom>
          <a:solidFill>
            <a:srgbClr val="FFFFFF"/>
          </a:solidFill>
          <a:ln/>
        </p:spPr>
      </p:sp>
      <p:pic>
        <p:nvPicPr>
          <p:cNvPr id="6" name="!!li" descr="Logo Icam">    </p:cNvPr>
          <p:cNvPicPr>
            <a:picLocks noChangeAspect="1"/>
          </p:cNvPicPr>
          <p:nvPr/>
        </p:nvPicPr>
        <p:blipFill>
          <a:blip r:embed="rId2"/>
          <a:stretch>
            <a:fillRect/>
          </a:stretch>
        </p:blipFill>
        <p:spPr>
          <a:xfrm>
            <a:off x="10712450" y="454025"/>
            <a:ext cx="508000" cy="298450"/>
          </a:xfrm>
          <a:prstGeom prst="rect">
            <a:avLst/>
          </a:prstGeom>
        </p:spPr>
      </p:pic>
      <p:sp>
        <p:nvSpPr>
          <p:cNvPr id="7" name="!!track"/>
          <p:cNvSpPr/>
          <p:nvPr/>
        </p:nvSpPr>
        <p:spPr>
          <a:xfrm>
            <a:off x="812800" y="6642100"/>
            <a:ext cx="10566400" cy="50800"/>
          </a:xfrm>
          <a:prstGeom prst="roundRect">
            <a:avLst>
              <a:gd name="adj" fmla="val 50000"/>
            </a:avLst>
          </a:prstGeom>
          <a:solidFill>
            <a:srgbClr val="2B4457"/>
          </a:solidFill>
          <a:ln/>
        </p:spPr>
      </p:sp>
      <p:sp>
        <p:nvSpPr>
          <p:cNvPr id="8" name="!!fill"/>
          <p:cNvSpPr/>
          <p:nvPr/>
        </p:nvSpPr>
        <p:spPr>
          <a:xfrm>
            <a:off x="812800" y="6642100"/>
            <a:ext cx="10566400" cy="50800"/>
          </a:xfrm>
          <a:prstGeom prst="roundRect">
            <a:avLst>
              <a:gd name="adj" fmla="val 50000"/>
            </a:avLst>
          </a:prstGeom>
          <a:solidFill>
            <a:srgbClr val="3CC3B5"/>
          </a:solidFill>
          <a:ln/>
        </p:spPr>
      </p:sp>
      <p:sp>
        <p:nvSpPr>
          <p:cNvPr id="9" name="!!dot"/>
          <p:cNvSpPr/>
          <p:nvPr/>
        </p:nvSpPr>
        <p:spPr>
          <a:xfrm>
            <a:off x="11290300" y="6604000"/>
            <a:ext cx="127000" cy="127000"/>
          </a:xfrm>
          <a:prstGeom prst="ellipse">
            <a:avLst/>
          </a:prstGeom>
          <a:solidFill>
            <a:srgbClr val="3CC3B5"/>
          </a:solidFill>
          <a:ln/>
        </p:spPr>
      </p:sp>
      <p:sp>
        <p:nvSpPr>
          <p:cNvPr id="10" name="Text 6-s22"/>
          <p:cNvSpPr txBox="1"/>
          <p:nvPr/>
        </p:nvSpPr>
        <p:spPr>
          <a:xfrm>
            <a:off x="812800" y="1651000"/>
            <a:ext cx="8255000" cy="254000"/>
          </a:xfrm>
          <a:prstGeom prst="rect">
            <a:avLst/>
          </a:prstGeom>
          <a:noFill/>
          <a:ln/>
        </p:spPr>
        <p:txBody>
          <a:bodyPr wrap="square" lIns="0" tIns="0" rIns="0" bIns="0" rtlCol="0" anchor="t"/>
          <a:lstStyle/>
          <a:p>
            <a:pPr algn="l" indent="0" marL="0">
              <a:lnSpc>
                <a:spcPct val="100000"/>
              </a:lnSpc>
              <a:buNone/>
            </a:pPr>
            <a:r>
              <a:rPr lang="en-US" sz="1400" b="1" spc="300" kern="0" dirty="0">
                <a:solidFill>
                  <a:srgbClr val="3CC3B5"/>
                </a:solidFill>
                <a:latin typeface="Calibri" pitchFamily="34" charset="0"/>
                <a:ea typeface="Calibri" pitchFamily="34" charset="-122"/>
                <a:cs typeface="Calibri" pitchFamily="34" charset="-120"/>
              </a:rPr>
              <a:t>CONCLUSION</a:t>
            </a:r>
            <a:endParaRPr lang="en-US" sz="1400" dirty="0"/>
          </a:p>
        </p:txBody>
      </p:sp>
      <p:sp>
        <p:nvSpPr>
          <p:cNvPr id="11" name="Text 7-s22"/>
          <p:cNvSpPr txBox="1"/>
          <p:nvPr/>
        </p:nvSpPr>
        <p:spPr>
          <a:xfrm>
            <a:off x="812800" y="2095500"/>
            <a:ext cx="9207500" cy="2794000"/>
          </a:xfrm>
          <a:prstGeom prst="rect">
            <a:avLst/>
          </a:prstGeom>
          <a:noFill/>
          <a:ln/>
        </p:spPr>
        <p:txBody>
          <a:bodyPr wrap="square" lIns="0" tIns="0" rIns="0" bIns="0" rtlCol="0" anchor="t"/>
          <a:lstStyle/>
          <a:p>
            <a:pPr algn="l" indent="0" marL="0">
              <a:lnSpc>
                <a:spcPct val="98333"/>
              </a:lnSpc>
              <a:buNone/>
            </a:pPr>
            <a:r>
              <a:rPr lang="en-US" sz="3800" b="1" dirty="0">
                <a:solidFill>
                  <a:srgbClr val="F4F1EA"/>
                </a:solidFill>
                <a:latin typeface="Georgia" pitchFamily="34" charset="0"/>
                <a:ea typeface="Georgia" pitchFamily="34" charset="-122"/>
                <a:cs typeface="Georgia" pitchFamily="34" charset="-120"/>
              </a:rPr>
              <a:t>Un déploiement technique ne devient une appropriation durable que si l’on pilote aussi l’humain.</a:t>
            </a:r>
            <a:endParaRPr lang="en-US" sz="3800" dirty="0"/>
          </a:p>
        </p:txBody>
      </p:sp>
      <p:sp>
        <p:nvSpPr>
          <p:cNvPr id="12" name="Text 8-s22"/>
          <p:cNvSpPr txBox="1"/>
          <p:nvPr/>
        </p:nvSpPr>
        <p:spPr>
          <a:xfrm>
            <a:off x="812800" y="5270500"/>
            <a:ext cx="4445000" cy="698500"/>
          </a:xfrm>
          <a:prstGeom prst="rect">
            <a:avLst/>
          </a:prstGeom>
          <a:noFill/>
          <a:ln/>
        </p:spPr>
        <p:txBody>
          <a:bodyPr wrap="square" lIns="0" tIns="0" rIns="0" bIns="0" rtlCol="0" anchor="t"/>
          <a:lstStyle/>
          <a:p>
            <a:pPr algn="l" indent="0" marL="0">
              <a:lnSpc>
                <a:spcPct val="100000"/>
              </a:lnSpc>
              <a:buNone/>
            </a:pPr>
            <a:r>
              <a:rPr lang="en-US" sz="4800" b="1" dirty="0">
                <a:solidFill>
                  <a:srgbClr val="3CC3B5"/>
                </a:solidFill>
                <a:latin typeface="Georgia" pitchFamily="34" charset="0"/>
                <a:ea typeface="Georgia" pitchFamily="34" charset="-122"/>
                <a:cs typeface="Georgia" pitchFamily="34" charset="-120"/>
              </a:rPr>
              <a:t>Merci.</a:t>
            </a:r>
            <a:endParaRPr lang="en-US" sz="4800" dirty="0"/>
          </a:p>
        </p:txBody>
      </p:sp>
      <p:sp>
        <p:nvSpPr>
          <p:cNvPr id="13" name="Text 9-s22"/>
          <p:cNvSpPr txBox="1"/>
          <p:nvPr/>
        </p:nvSpPr>
        <p:spPr>
          <a:xfrm>
            <a:off x="4445000" y="5448300"/>
            <a:ext cx="5715000" cy="381000"/>
          </a:xfrm>
          <a:prstGeom prst="rect">
            <a:avLst/>
          </a:prstGeom>
          <a:noFill/>
          <a:ln/>
        </p:spPr>
        <p:txBody>
          <a:bodyPr wrap="square" lIns="0" tIns="0" rIns="0" bIns="0" rtlCol="0" anchor="t"/>
          <a:lstStyle/>
          <a:p>
            <a:pPr algn="l" indent="0" marL="0">
              <a:lnSpc>
                <a:spcPct val="100000"/>
              </a:lnSpc>
              <a:buNone/>
            </a:pPr>
            <a:r>
              <a:rPr lang="en-US" sz="1800" dirty="0">
                <a:solidFill>
                  <a:srgbClr val="9DB0BF"/>
                </a:solidFill>
                <a:latin typeface="Calibri" pitchFamily="34" charset="0"/>
                <a:ea typeface="Calibri" pitchFamily="34" charset="-122"/>
                <a:cs typeface="Calibri" pitchFamily="34" charset="-120"/>
              </a:rPr>
              <a:t>Place à vos questions</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Kizeo vers Teepee</dc:title>
  <dc:subject>PptxGenJS Presentation</dc:subject>
  <dc:creator>PptxGenJS</dc:creator>
  <cp:lastModifiedBy>PptxGenJS</cp:lastModifiedBy>
  <cp:revision>1</cp:revision>
  <dcterms:created xsi:type="dcterms:W3CDTF">2026-10-13T14:01:31Z</dcterms:created>
  <dcterms:modified xsi:type="dcterms:W3CDTF">2026-10-13T14:01:31Z</dcterms:modified>
</cp:coreProperties>
</file>