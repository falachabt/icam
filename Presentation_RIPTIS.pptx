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Bonjour. Je présente RIPTIS, l’application web que j’ai conçue, développée et mise en production chez Transactis entre mars et août 2026, en alternance.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Quatre temps : le contexte, la démarche, les résultats, puis le bilan.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Transactis est co-fondé par La Banque Postale et la Société Générale. Avant le projet, une recherche d’IP, de port ou de règle VPN obligeait à chercher dans plus de 2 400 fichiers Excel, sans savoir dans lequel se trouvait l’information.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problématique de la note de cadrage est restée valide a posteriori : centralisation et sécurité ont bien été les deux axes structurants.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pistes comparées avec une matrice multicritère pondérée : garder Excel, acheter un outil IPAM/CMDB, ou développer en interne. L’application sur mesure obtient 29 points sur 33 : elle colle aux formats existants sans migration lourde et reste cohérente avec l’écosystème Transactis. Notes et poids : mon appréciation.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MVP centré sur l’import et la recherche, puis des extensions successives. Seul développeur, j’ai aussi animé la collecte du besoin avec l’équipe réseau et coordonné les accès avec l’IT et l’Infra.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Sept livrables : application web, import Excel, recherche multicritère, recherche DNS, gestion des utilisateurs, export et sauvegarde. Mise en production le 20 août 2026 sur Docker, Jenkins et Kubernetes.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 réel, identifiants masqués : une recherche d’adresse IP sur l’ensemble de la base retourne instantanément les deux fichiers concernés, avec la route correspondante. La recherche DNS enrichit les résultats.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Cadrage, développement et tests sont conformes au prévisionnel. L’écart d’environ un mois vient d’une seule cause : le volume de cas particuliers découverts pendant les tests, qui a ajouté une étape de traitement et décalé la stabilisation.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premier imprévu a été limité par une demande d’accès anticipée. Le second m’a conduit à généraliser le moteur d’import plutôt que traiter les fichiers un par un : c’est ce choix qui explique le mois de retard, validé avec mon maître d’apprentissage.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 chiffres sont des estimations, pas des mesures. Gain relatif = (40 − 0,5) / 40 = 98,8 %. Environ 8 heures économisées par semaine, soit 428 heures par an. Le coût horaire de 50 € est indicatif.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objectifs de sécurité et de centralisation sont atteints. Les objectifs quantitatifs reposent encore sur des estimations : la clôture du projet doit produire les mesures définitives.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Techniquement, la conception du moteur d’import a été la difficulté la plus formatrice. Côté gestion de projet, ma principale limite est de ne pas avoir instrumenté la mesure d’impact dès le début.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 éléments sont à consolider après la fin de l’alternance : la politique de sauvegarde et la mise à jour du moteur d’import.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RIPTIS répond au besoin identifié : centraliser des données réseau dispersées, dans le respect des contraintes d’un environnement bancaire. Mise en production le 20 août 2026. Je suis à votre disposition pour vos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704850" cy="127000"/>
          </a:xfrm>
          <a:prstGeom prst="rect">
            <a:avLst/>
          </a:prstGeom>
          <a:solidFill>
            <a:srgbClr val="0B4F7A"/>
          </a:solidFill>
          <a:ln w="19050">
            <a:solidFill>
              <a:srgbClr val="16181D"/>
            </a:solidFill>
            <a:prstDash val="solid"/>
          </a:ln>
        </p:spPr>
      </p:sp>
      <p:sp>
        <p:nvSpPr>
          <p:cNvPr id="4" name="!!mk-sq"/>
          <p:cNvSpPr/>
          <p:nvPr/>
        </p:nvSpPr>
        <p:spPr>
          <a:xfrm>
            <a:off x="7823200" y="1270000"/>
            <a:ext cx="3048000" cy="30480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01 / 15 — SOUTENANCE</a:t>
            </a:r>
            <a:endParaRPr lang="en-US" sz="1200" dirty="0"/>
          </a:p>
        </p:txBody>
      </p:sp>
      <p:sp>
        <p:nvSpPr>
          <p:cNvPr id="6" name="!!logo-plate"/>
          <p:cNvSpPr/>
          <p:nvPr/>
        </p:nvSpPr>
        <p:spPr>
          <a:xfrm>
            <a:off x="7823200" y="4699000"/>
            <a:ext cx="3556000" cy="5080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255000" y="4768850"/>
            <a:ext cx="673100" cy="361950"/>
          </a:xfrm>
          <a:prstGeom prst="rect">
            <a:avLst/>
          </a:prstGeom>
        </p:spPr>
      </p:pic>
      <p:pic>
        <p:nvPicPr>
          <p:cNvPr id="8" name="!!logo-tx" descr="Logo Transactis">    </p:cNvPr>
          <p:cNvPicPr>
            <a:picLocks noChangeAspect="1"/>
          </p:cNvPicPr>
          <p:nvPr/>
        </p:nvPicPr>
        <p:blipFill>
          <a:blip r:embed="rId2"/>
          <a:stretch>
            <a:fillRect/>
          </a:stretch>
        </p:blipFill>
        <p:spPr>
          <a:xfrm>
            <a:off x="9144000" y="4806950"/>
            <a:ext cx="1803400" cy="292100"/>
          </a:xfrm>
          <a:prstGeom prst="rect">
            <a:avLst/>
          </a:prstGeom>
        </p:spPr>
      </p:pic>
      <p:sp>
        <p:nvSpPr>
          <p:cNvPr id="10" name="Text 5"/>
          <p:cNvSpPr txBox="1"/>
          <p:nvPr/>
        </p:nvSpPr>
        <p:spPr>
          <a:xfrm>
            <a:off x="812800" y="812800"/>
            <a:ext cx="6604000" cy="254000"/>
          </a:xfrm>
          <a:prstGeom prst="rect">
            <a:avLst/>
          </a:prstGeom>
          <a:noFill/>
          <a:ln/>
        </p:spPr>
        <p:txBody>
          <a:bodyPr wrap="square" lIns="0" tIns="0" rIns="0" bIns="0" rtlCol="0" anchor="t"/>
          <a:lstStyle/>
          <a:p>
            <a:pPr indent="0" marL="0">
              <a:buNone/>
            </a:pPr>
            <a:r>
              <a:rPr lang="en-US" sz="1400" b="1" spc="200" kern="0" dirty="0">
                <a:solidFill>
                  <a:srgbClr val="0B4F7A"/>
                </a:solidFill>
                <a:latin typeface="JetBrains Mono" pitchFamily="34" charset="0"/>
                <a:ea typeface="JetBrains Mono" pitchFamily="34" charset="-122"/>
                <a:cs typeface="JetBrains Mono" pitchFamily="34" charset="-120"/>
              </a:rPr>
              <a:t>RAPPORT DE RÉALISATION · ICAM × TRANSACTIS</a:t>
            </a:r>
            <a:endParaRPr lang="en-US" sz="1400" dirty="0"/>
          </a:p>
        </p:txBody>
      </p:sp>
      <p:sp>
        <p:nvSpPr>
          <p:cNvPr id="11" name="Text 6"/>
          <p:cNvSpPr txBox="1"/>
          <p:nvPr/>
        </p:nvSpPr>
        <p:spPr>
          <a:xfrm>
            <a:off x="812800" y="2095500"/>
            <a:ext cx="6604000" cy="1587500"/>
          </a:xfrm>
          <a:prstGeom prst="rect">
            <a:avLst/>
          </a:prstGeom>
          <a:noFill/>
          <a:ln/>
        </p:spPr>
        <p:txBody>
          <a:bodyPr wrap="square" lIns="0" tIns="0" rIns="0" bIns="0" rtlCol="0" anchor="t"/>
          <a:lstStyle/>
          <a:p>
            <a:pPr indent="0" marL="0">
              <a:buNone/>
            </a:pPr>
            <a:r>
              <a:rPr lang="en-US" sz="12000" b="1" dirty="0">
                <a:solidFill>
                  <a:srgbClr val="16181D"/>
                </a:solidFill>
                <a:latin typeface="Space Grotesk" pitchFamily="34" charset="0"/>
                <a:ea typeface="Space Grotesk" pitchFamily="34" charset="-122"/>
                <a:cs typeface="Space Grotesk" pitchFamily="34" charset="-120"/>
              </a:rPr>
              <a:t>RIPTIS</a:t>
            </a:r>
            <a:endParaRPr lang="en-US" sz="12000" dirty="0"/>
          </a:p>
        </p:txBody>
      </p:sp>
      <p:sp>
        <p:nvSpPr>
          <p:cNvPr id="12" name="Text 7"/>
          <p:cNvSpPr txBox="1"/>
          <p:nvPr/>
        </p:nvSpPr>
        <p:spPr>
          <a:xfrm>
            <a:off x="812800" y="3810000"/>
            <a:ext cx="6350000" cy="825500"/>
          </a:xfrm>
          <a:prstGeom prst="rect">
            <a:avLst/>
          </a:prstGeom>
          <a:noFill/>
          <a:ln/>
        </p:spPr>
        <p:txBody>
          <a:bodyPr wrap="square" lIns="0" tIns="0" rIns="0" bIns="0" rtlCol="0" anchor="t"/>
          <a:lstStyle/>
          <a:p>
            <a:pPr indent="0" marL="0">
              <a:lnSpc>
                <a:spcPct val="105000"/>
              </a:lnSpc>
              <a:buNone/>
            </a:pPr>
            <a:r>
              <a:rPr lang="en-US" sz="2400" b="1" dirty="0">
                <a:solidFill>
                  <a:srgbClr val="16181D"/>
                </a:solidFill>
                <a:latin typeface="IBM Plex Sans" pitchFamily="34" charset="0"/>
                <a:ea typeface="IBM Plex Sans" pitchFamily="34" charset="-122"/>
                <a:cs typeface="IBM Plex Sans" pitchFamily="34" charset="-120"/>
              </a:rPr>
              <a:t>Application web de centralisation des flux réseau</a:t>
            </a:r>
            <a:endParaRPr lang="en-US" sz="2400" dirty="0"/>
          </a:p>
        </p:txBody>
      </p:sp>
      <p:sp>
        <p:nvSpPr>
          <p:cNvPr id="13" name="Text 8"/>
          <p:cNvSpPr txBox="1"/>
          <p:nvPr/>
        </p:nvSpPr>
        <p:spPr>
          <a:xfrm>
            <a:off x="812800" y="5016500"/>
            <a:ext cx="6604000" cy="304800"/>
          </a:xfrm>
          <a:prstGeom prst="rect">
            <a:avLst/>
          </a:prstGeom>
          <a:noFill/>
          <a:ln/>
        </p:spPr>
        <p:txBody>
          <a:bodyPr wrap="square" lIns="0" tIns="0" rIns="0" bIns="0" rtlCol="0" anchor="t"/>
          <a:lstStyle/>
          <a:p>
            <a:pPr indent="0" marL="0">
              <a:buNone/>
            </a:pPr>
            <a:r>
              <a:rPr lang="en-US" sz="1800" b="1" dirty="0">
                <a:solidFill>
                  <a:srgbClr val="16181D"/>
                </a:solidFill>
                <a:latin typeface="IBM Plex Sans" pitchFamily="34" charset="0"/>
                <a:ea typeface="IBM Plex Sans" pitchFamily="34" charset="-122"/>
                <a:cs typeface="IBM Plex Sans" pitchFamily="34" charset="-120"/>
              </a:rPr>
              <a:t>TENEZEU VOUFO Benny Dieudonne</a:t>
            </a:r>
            <a:endParaRPr lang="en-US" sz="1800" dirty="0"/>
          </a:p>
        </p:txBody>
      </p:sp>
      <p:sp>
        <p:nvSpPr>
          <p:cNvPr id="14" name="Text 9"/>
          <p:cNvSpPr txBox="1"/>
          <p:nvPr/>
        </p:nvSpPr>
        <p:spPr>
          <a:xfrm>
            <a:off x="812800" y="5334000"/>
            <a:ext cx="6604000" cy="254000"/>
          </a:xfrm>
          <a:prstGeom prst="rect">
            <a:avLst/>
          </a:prstGeom>
          <a:noFill/>
          <a:ln/>
        </p:spPr>
        <p:txBody>
          <a:bodyPr wrap="square" lIns="0" tIns="0" rIns="0" bIns="0" rtlCol="0" anchor="t"/>
          <a:lstStyle/>
          <a:p>
            <a:pPr indent="0" marL="0">
              <a:buNone/>
            </a:pPr>
            <a:r>
              <a:rPr lang="en-US" sz="1400" dirty="0">
                <a:solidFill>
                  <a:srgbClr val="4B5159"/>
                </a:solidFill>
                <a:latin typeface="IBM Plex Sans" pitchFamily="34" charset="0"/>
                <a:ea typeface="IBM Plex Sans" pitchFamily="34" charset="-122"/>
                <a:cs typeface="IBM Plex Sans" pitchFamily="34" charset="-120"/>
              </a:rPr>
              <a:t>SNI4 2027 · Mars – août 2026</a:t>
            </a:r>
            <a:endParaRPr lang="en-US" sz="1400" dirty="0"/>
          </a:p>
        </p:txBody>
      </p:sp>
      <p:sp>
        <p:nvSpPr>
          <p:cNvPr id="15" name="Text 10"/>
          <p:cNvSpPr txBox="1"/>
          <p:nvPr/>
        </p:nvSpPr>
        <p:spPr>
          <a:xfrm>
            <a:off x="812800" y="5575300"/>
            <a:ext cx="6604000" cy="228600"/>
          </a:xfrm>
          <a:prstGeom prst="rect">
            <a:avLst/>
          </a:prstGeom>
          <a:noFill/>
          <a:ln/>
        </p:spPr>
        <p:txBody>
          <a:bodyPr wrap="square" lIns="0" tIns="0" rIns="0" bIns="0" rtlCol="0" anchor="t"/>
          <a:lstStyle/>
          <a:p>
            <a:pPr indent="0" marL="0">
              <a:buNone/>
            </a:pPr>
            <a:r>
              <a:rPr lang="en-US" sz="1400" dirty="0">
                <a:solidFill>
                  <a:srgbClr val="4B5159"/>
                </a:solidFill>
                <a:latin typeface="IBM Plex Sans" pitchFamily="34" charset="0"/>
                <a:ea typeface="IBM Plex Sans" pitchFamily="34" charset="-122"/>
                <a:cs typeface="IBM Plex Sans" pitchFamily="34" charset="-120"/>
              </a:rPr>
              <a:t>Pierre JOCHUM, maître d’apprentissage</a:t>
            </a:r>
            <a:endParaRPr lang="en-US" sz="1400" dirty="0"/>
          </a:p>
        </p:txBody>
      </p:sp>
      <p:sp>
        <p:nvSpPr>
          <p:cNvPr id="16" name="Text 11"/>
          <p:cNvSpPr txBox="1"/>
          <p:nvPr/>
        </p:nvSpPr>
        <p:spPr>
          <a:xfrm>
            <a:off x="812800" y="5803900"/>
            <a:ext cx="6604000" cy="228600"/>
          </a:xfrm>
          <a:prstGeom prst="rect">
            <a:avLst/>
          </a:prstGeom>
          <a:noFill/>
          <a:ln/>
        </p:spPr>
        <p:txBody>
          <a:bodyPr wrap="square" lIns="0" tIns="0" rIns="0" bIns="0" rtlCol="0" anchor="t"/>
          <a:lstStyle/>
          <a:p>
            <a:pPr indent="0" marL="0">
              <a:buNone/>
            </a:pPr>
            <a:r>
              <a:rPr lang="en-US" sz="1400" dirty="0">
                <a:solidFill>
                  <a:srgbClr val="4B5159"/>
                </a:solidFill>
                <a:latin typeface="IBM Plex Sans" pitchFamily="34" charset="0"/>
                <a:ea typeface="IBM Plex Sans" pitchFamily="34" charset="-122"/>
                <a:cs typeface="IBM Plex Sans" pitchFamily="34" charset="-120"/>
              </a:rPr>
              <a:t>Roger GROULT, tuteur académique</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1409700" cy="127000"/>
          </a:xfrm>
          <a:prstGeom prst="rect">
            <a:avLst/>
          </a:prstGeom>
          <a:solidFill>
            <a:srgbClr val="0B4F7A"/>
          </a:solidFill>
          <a:ln w="19050">
            <a:solidFill>
              <a:srgbClr val="16181D"/>
            </a:solidFill>
            <a:prstDash val="solid"/>
          </a:ln>
        </p:spPr>
      </p:sp>
      <p:sp>
        <p:nvSpPr>
          <p:cNvPr id="4" name="!!mk-sq"/>
          <p:cNvSpPr/>
          <p:nvPr/>
        </p:nvSpPr>
        <p:spPr>
          <a:xfrm>
            <a:off x="10922000" y="254000"/>
            <a:ext cx="457200" cy="4572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02 / 15 — PLAN</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10566400" cy="5715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Plan de la présentation</a:t>
            </a:r>
            <a:endParaRPr lang="en-US" sz="3600" dirty="0"/>
          </a:p>
        </p:txBody>
      </p:sp>
      <p:sp>
        <p:nvSpPr>
          <p:cNvPr id="11" name="Shape 6"/>
          <p:cNvSpPr/>
          <p:nvPr/>
        </p:nvSpPr>
        <p:spPr>
          <a:xfrm>
            <a:off x="812800" y="1905000"/>
            <a:ext cx="2489200" cy="21590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2" name="Text 7"/>
          <p:cNvSpPr txBox="1"/>
          <p:nvPr/>
        </p:nvSpPr>
        <p:spPr>
          <a:xfrm>
            <a:off x="1041400" y="2133600"/>
            <a:ext cx="2032000" cy="254000"/>
          </a:xfrm>
          <a:prstGeom prst="rect">
            <a:avLst/>
          </a:prstGeom>
          <a:noFill/>
          <a:ln/>
        </p:spPr>
        <p:txBody>
          <a:bodyPr wrap="square" lIns="0" tIns="0" rIns="0" bIns="0" rtlCol="0" anchor="t"/>
          <a:lstStyle/>
          <a:p>
            <a:pPr indent="0" marL="0">
              <a:buNone/>
            </a:pPr>
            <a:r>
              <a:rPr lang="en-US" sz="1400" b="1" dirty="0">
                <a:solidFill>
                  <a:srgbClr val="0B4F7A"/>
                </a:solidFill>
                <a:latin typeface="JetBrains Mono" pitchFamily="34" charset="0"/>
                <a:ea typeface="JetBrains Mono" pitchFamily="34" charset="-122"/>
                <a:cs typeface="JetBrains Mono" pitchFamily="34" charset="-120"/>
              </a:rPr>
              <a:t>01</a:t>
            </a:r>
            <a:endParaRPr lang="en-US" sz="1400" dirty="0"/>
          </a:p>
        </p:txBody>
      </p:sp>
      <p:sp>
        <p:nvSpPr>
          <p:cNvPr id="13" name="Text 8"/>
          <p:cNvSpPr txBox="1"/>
          <p:nvPr/>
        </p:nvSpPr>
        <p:spPr>
          <a:xfrm>
            <a:off x="1041400" y="2489200"/>
            <a:ext cx="2032000" cy="355600"/>
          </a:xfrm>
          <a:prstGeom prst="rect">
            <a:avLst/>
          </a:prstGeom>
          <a:noFill/>
          <a:ln/>
        </p:spPr>
        <p:txBody>
          <a:bodyPr wrap="square" lIns="0" tIns="0" rIns="0" bIns="0" rtlCol="0" anchor="t"/>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Contexte</a:t>
            </a:r>
            <a:endParaRPr lang="en-US" sz="2000" dirty="0"/>
          </a:p>
        </p:txBody>
      </p:sp>
      <p:sp>
        <p:nvSpPr>
          <p:cNvPr id="14" name="Text 9"/>
          <p:cNvSpPr txBox="1"/>
          <p:nvPr/>
        </p:nvSpPr>
        <p:spPr>
          <a:xfrm>
            <a:off x="1041400" y="2984500"/>
            <a:ext cx="2032000" cy="952500"/>
          </a:xfrm>
          <a:prstGeom prst="rect">
            <a:avLst/>
          </a:prstGeom>
          <a:noFill/>
          <a:ln/>
        </p:spPr>
        <p:txBody>
          <a:bodyPr wrap="square" lIns="0" tIns="0" rIns="0" bIns="0" rtlCol="0" anchor="t"/>
          <a:lstStyle/>
          <a:p>
            <a:pPr indent="0" marL="0">
              <a:lnSpc>
                <a:spcPct val="110000"/>
              </a:lnSpc>
              <a:buNone/>
            </a:pPr>
            <a:r>
              <a:rPr lang="en-US" sz="1400" dirty="0">
                <a:solidFill>
                  <a:srgbClr val="4B5159"/>
                </a:solidFill>
                <a:latin typeface="IBM Plex Sans" pitchFamily="34" charset="0"/>
                <a:ea typeface="IBM Plex Sans" pitchFamily="34" charset="-122"/>
                <a:cs typeface="IBM Plex Sans" pitchFamily="34" charset="-120"/>
              </a:rPr>
              <a:t>Transactis, flux réseau et problématique</a:t>
            </a:r>
            <a:endParaRPr lang="en-US" sz="1400" dirty="0"/>
          </a:p>
        </p:txBody>
      </p:sp>
      <p:sp>
        <p:nvSpPr>
          <p:cNvPr id="15" name="Shape 10"/>
          <p:cNvSpPr/>
          <p:nvPr/>
        </p:nvSpPr>
        <p:spPr>
          <a:xfrm>
            <a:off x="3505200" y="1905000"/>
            <a:ext cx="2489200" cy="21590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6" name="Text 11"/>
          <p:cNvSpPr txBox="1"/>
          <p:nvPr/>
        </p:nvSpPr>
        <p:spPr>
          <a:xfrm>
            <a:off x="3733800" y="2133600"/>
            <a:ext cx="2032000" cy="254000"/>
          </a:xfrm>
          <a:prstGeom prst="rect">
            <a:avLst/>
          </a:prstGeom>
          <a:noFill/>
          <a:ln/>
        </p:spPr>
        <p:txBody>
          <a:bodyPr wrap="square" lIns="0" tIns="0" rIns="0" bIns="0" rtlCol="0" anchor="t"/>
          <a:lstStyle/>
          <a:p>
            <a:pPr indent="0" marL="0">
              <a:buNone/>
            </a:pPr>
            <a:r>
              <a:rPr lang="en-US" sz="1400" b="1" dirty="0">
                <a:solidFill>
                  <a:srgbClr val="0B4F7A"/>
                </a:solidFill>
                <a:latin typeface="JetBrains Mono" pitchFamily="34" charset="0"/>
                <a:ea typeface="JetBrains Mono" pitchFamily="34" charset="-122"/>
                <a:cs typeface="JetBrains Mono" pitchFamily="34" charset="-120"/>
              </a:rPr>
              <a:t>02</a:t>
            </a:r>
            <a:endParaRPr lang="en-US" sz="1400" dirty="0"/>
          </a:p>
        </p:txBody>
      </p:sp>
      <p:sp>
        <p:nvSpPr>
          <p:cNvPr id="17" name="Text 12"/>
          <p:cNvSpPr txBox="1"/>
          <p:nvPr/>
        </p:nvSpPr>
        <p:spPr>
          <a:xfrm>
            <a:off x="3733800" y="2489200"/>
            <a:ext cx="2032000" cy="355600"/>
          </a:xfrm>
          <a:prstGeom prst="rect">
            <a:avLst/>
          </a:prstGeom>
          <a:noFill/>
          <a:ln/>
        </p:spPr>
        <p:txBody>
          <a:bodyPr wrap="square" lIns="0" tIns="0" rIns="0" bIns="0" rtlCol="0" anchor="t"/>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Démarche</a:t>
            </a:r>
            <a:endParaRPr lang="en-US" sz="2000" dirty="0"/>
          </a:p>
        </p:txBody>
      </p:sp>
      <p:sp>
        <p:nvSpPr>
          <p:cNvPr id="18" name="Text 13"/>
          <p:cNvSpPr txBox="1"/>
          <p:nvPr/>
        </p:nvSpPr>
        <p:spPr>
          <a:xfrm>
            <a:off x="3733800" y="2984500"/>
            <a:ext cx="2032000" cy="952500"/>
          </a:xfrm>
          <a:prstGeom prst="rect">
            <a:avLst/>
          </a:prstGeom>
          <a:noFill/>
          <a:ln/>
        </p:spPr>
        <p:txBody>
          <a:bodyPr wrap="square" lIns="0" tIns="0" rIns="0" bIns="0" rtlCol="0" anchor="t"/>
          <a:lstStyle/>
          <a:p>
            <a:pPr indent="0" marL="0">
              <a:lnSpc>
                <a:spcPct val="110000"/>
              </a:lnSpc>
              <a:buNone/>
            </a:pPr>
            <a:r>
              <a:rPr lang="en-US" sz="1400" dirty="0">
                <a:solidFill>
                  <a:srgbClr val="4B5159"/>
                </a:solidFill>
                <a:latin typeface="IBM Plex Sans" pitchFamily="34" charset="0"/>
                <a:ea typeface="IBM Plex Sans" pitchFamily="34" charset="-122"/>
                <a:cs typeface="IBM Plex Sans" pitchFamily="34" charset="-120"/>
              </a:rPr>
              <a:t>Solutions, méthode et planning</a:t>
            </a:r>
            <a:endParaRPr lang="en-US" sz="1400" dirty="0"/>
          </a:p>
        </p:txBody>
      </p:sp>
      <p:sp>
        <p:nvSpPr>
          <p:cNvPr id="19" name="Shape 14"/>
          <p:cNvSpPr/>
          <p:nvPr/>
        </p:nvSpPr>
        <p:spPr>
          <a:xfrm>
            <a:off x="6197600" y="1905000"/>
            <a:ext cx="2489200" cy="21590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20" name="Text 15"/>
          <p:cNvSpPr txBox="1"/>
          <p:nvPr/>
        </p:nvSpPr>
        <p:spPr>
          <a:xfrm>
            <a:off x="6426200" y="2133600"/>
            <a:ext cx="2032000" cy="254000"/>
          </a:xfrm>
          <a:prstGeom prst="rect">
            <a:avLst/>
          </a:prstGeom>
          <a:noFill/>
          <a:ln/>
        </p:spPr>
        <p:txBody>
          <a:bodyPr wrap="square" lIns="0" tIns="0" rIns="0" bIns="0" rtlCol="0" anchor="t"/>
          <a:lstStyle/>
          <a:p>
            <a:pPr indent="0" marL="0">
              <a:buNone/>
            </a:pPr>
            <a:r>
              <a:rPr lang="en-US" sz="1400" b="1" dirty="0">
                <a:solidFill>
                  <a:srgbClr val="0B4F7A"/>
                </a:solidFill>
                <a:latin typeface="JetBrains Mono" pitchFamily="34" charset="0"/>
                <a:ea typeface="JetBrains Mono" pitchFamily="34" charset="-122"/>
                <a:cs typeface="JetBrains Mono" pitchFamily="34" charset="-120"/>
              </a:rPr>
              <a:t>03</a:t>
            </a:r>
            <a:endParaRPr lang="en-US" sz="1400" dirty="0"/>
          </a:p>
        </p:txBody>
      </p:sp>
      <p:sp>
        <p:nvSpPr>
          <p:cNvPr id="21" name="Text 16"/>
          <p:cNvSpPr txBox="1"/>
          <p:nvPr/>
        </p:nvSpPr>
        <p:spPr>
          <a:xfrm>
            <a:off x="6426200" y="2489200"/>
            <a:ext cx="2032000" cy="355600"/>
          </a:xfrm>
          <a:prstGeom prst="rect">
            <a:avLst/>
          </a:prstGeom>
          <a:noFill/>
          <a:ln/>
        </p:spPr>
        <p:txBody>
          <a:bodyPr wrap="square" lIns="0" tIns="0" rIns="0" bIns="0" rtlCol="0" anchor="t"/>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Résultats</a:t>
            </a:r>
            <a:endParaRPr lang="en-US" sz="2000" dirty="0"/>
          </a:p>
        </p:txBody>
      </p:sp>
      <p:sp>
        <p:nvSpPr>
          <p:cNvPr id="22" name="Text 17"/>
          <p:cNvSpPr txBox="1"/>
          <p:nvPr/>
        </p:nvSpPr>
        <p:spPr>
          <a:xfrm>
            <a:off x="6426200" y="2984500"/>
            <a:ext cx="2032000" cy="952500"/>
          </a:xfrm>
          <a:prstGeom prst="rect">
            <a:avLst/>
          </a:prstGeom>
          <a:noFill/>
          <a:ln/>
        </p:spPr>
        <p:txBody>
          <a:bodyPr wrap="square" lIns="0" tIns="0" rIns="0" bIns="0" rtlCol="0" anchor="t"/>
          <a:lstStyle/>
          <a:p>
            <a:pPr indent="0" marL="0">
              <a:lnSpc>
                <a:spcPct val="110000"/>
              </a:lnSpc>
              <a:buNone/>
            </a:pPr>
            <a:r>
              <a:rPr lang="en-US" sz="1400" dirty="0">
                <a:solidFill>
                  <a:srgbClr val="4B5159"/>
                </a:solidFill>
                <a:latin typeface="IBM Plex Sans" pitchFamily="34" charset="0"/>
                <a:ea typeface="IBM Plex Sans" pitchFamily="34" charset="-122"/>
                <a:cs typeface="IBM Plex Sans" pitchFamily="34" charset="-120"/>
              </a:rPr>
              <a:t>Livrables, démonstration et chiffres</a:t>
            </a:r>
            <a:endParaRPr lang="en-US" sz="1400" dirty="0"/>
          </a:p>
        </p:txBody>
      </p:sp>
      <p:sp>
        <p:nvSpPr>
          <p:cNvPr id="23" name="Shape 18"/>
          <p:cNvSpPr/>
          <p:nvPr/>
        </p:nvSpPr>
        <p:spPr>
          <a:xfrm>
            <a:off x="8890000" y="1905000"/>
            <a:ext cx="2489200" cy="21590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24" name="Text 19"/>
          <p:cNvSpPr txBox="1"/>
          <p:nvPr/>
        </p:nvSpPr>
        <p:spPr>
          <a:xfrm>
            <a:off x="9118600" y="2133600"/>
            <a:ext cx="2032000" cy="254000"/>
          </a:xfrm>
          <a:prstGeom prst="rect">
            <a:avLst/>
          </a:prstGeom>
          <a:noFill/>
          <a:ln/>
        </p:spPr>
        <p:txBody>
          <a:bodyPr wrap="square" lIns="0" tIns="0" rIns="0" bIns="0" rtlCol="0" anchor="t"/>
          <a:lstStyle/>
          <a:p>
            <a:pPr indent="0" marL="0">
              <a:buNone/>
            </a:pPr>
            <a:r>
              <a:rPr lang="en-US" sz="1400" b="1" dirty="0">
                <a:solidFill>
                  <a:srgbClr val="0B4F7A"/>
                </a:solidFill>
                <a:latin typeface="JetBrains Mono" pitchFamily="34" charset="0"/>
                <a:ea typeface="JetBrains Mono" pitchFamily="34" charset="-122"/>
                <a:cs typeface="JetBrains Mono" pitchFamily="34" charset="-120"/>
              </a:rPr>
              <a:t>04</a:t>
            </a:r>
            <a:endParaRPr lang="en-US" sz="1400" dirty="0"/>
          </a:p>
        </p:txBody>
      </p:sp>
      <p:sp>
        <p:nvSpPr>
          <p:cNvPr id="25" name="Text 20"/>
          <p:cNvSpPr txBox="1"/>
          <p:nvPr/>
        </p:nvSpPr>
        <p:spPr>
          <a:xfrm>
            <a:off x="9118600" y="2489200"/>
            <a:ext cx="2032000" cy="355600"/>
          </a:xfrm>
          <a:prstGeom prst="rect">
            <a:avLst/>
          </a:prstGeom>
          <a:noFill/>
          <a:ln/>
        </p:spPr>
        <p:txBody>
          <a:bodyPr wrap="square" lIns="0" tIns="0" rIns="0" bIns="0" rtlCol="0" anchor="t"/>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Bilan</a:t>
            </a:r>
            <a:endParaRPr lang="en-US" sz="2000" dirty="0"/>
          </a:p>
        </p:txBody>
      </p:sp>
      <p:sp>
        <p:nvSpPr>
          <p:cNvPr id="26" name="Text 21"/>
          <p:cNvSpPr txBox="1"/>
          <p:nvPr/>
        </p:nvSpPr>
        <p:spPr>
          <a:xfrm>
            <a:off x="9118600" y="2984500"/>
            <a:ext cx="2032000" cy="952500"/>
          </a:xfrm>
          <a:prstGeom prst="rect">
            <a:avLst/>
          </a:prstGeom>
          <a:noFill/>
          <a:ln/>
        </p:spPr>
        <p:txBody>
          <a:bodyPr wrap="square" lIns="0" tIns="0" rIns="0" bIns="0" rtlCol="0" anchor="t"/>
          <a:lstStyle/>
          <a:p>
            <a:pPr indent="0" marL="0">
              <a:lnSpc>
                <a:spcPct val="110000"/>
              </a:lnSpc>
              <a:buNone/>
            </a:pPr>
            <a:r>
              <a:rPr lang="en-US" sz="1400" dirty="0">
                <a:solidFill>
                  <a:srgbClr val="4B5159"/>
                </a:solidFill>
                <a:latin typeface="IBM Plex Sans" pitchFamily="34" charset="0"/>
                <a:ea typeface="IBM Plex Sans" pitchFamily="34" charset="-122"/>
                <a:cs typeface="IBM Plex Sans" pitchFamily="34" charset="-120"/>
              </a:rPr>
              <a:t>Objectifs, compétences et perspectives</a:t>
            </a:r>
            <a:endParaRPr lang="en-US" sz="14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2114550" cy="127000"/>
          </a:xfrm>
          <a:prstGeom prst="rect">
            <a:avLst/>
          </a:prstGeom>
          <a:solidFill>
            <a:srgbClr val="0B4F7A"/>
          </a:solidFill>
          <a:ln w="19050">
            <a:solidFill>
              <a:srgbClr val="16181D"/>
            </a:solidFill>
            <a:prstDash val="solid"/>
          </a:ln>
        </p:spPr>
      </p:sp>
      <p:sp>
        <p:nvSpPr>
          <p:cNvPr id="4" name="!!mk-sq"/>
          <p:cNvSpPr/>
          <p:nvPr/>
        </p:nvSpPr>
        <p:spPr>
          <a:xfrm rot="900000">
            <a:off x="10922000" y="254000"/>
            <a:ext cx="457200" cy="4572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03 / 15 — CONTEXTE</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10566400" cy="10160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Un besoin au cœur d’un opérateur de paiement</a:t>
            </a:r>
            <a:endParaRPr lang="en-US" sz="3600" dirty="0"/>
          </a:p>
        </p:txBody>
      </p:sp>
      <p:sp>
        <p:nvSpPr>
          <p:cNvPr id="11" name="Shape 6"/>
          <p:cNvSpPr/>
          <p:nvPr/>
        </p:nvSpPr>
        <p:spPr>
          <a:xfrm>
            <a:off x="812800" y="2159000"/>
            <a:ext cx="3352800" cy="22225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2" name="Text 7"/>
          <p:cNvSpPr txBox="1"/>
          <p:nvPr/>
        </p:nvSpPr>
        <p:spPr>
          <a:xfrm>
            <a:off x="1041400" y="2324100"/>
            <a:ext cx="2895600" cy="762000"/>
          </a:xfrm>
          <a:prstGeom prst="rect">
            <a:avLst/>
          </a:prstGeom>
          <a:noFill/>
          <a:ln/>
        </p:spPr>
        <p:txBody>
          <a:bodyPr wrap="square" lIns="0" tIns="0" rIns="0" bIns="0" rtlCol="0" anchor="t"/>
          <a:lstStyle/>
          <a:p>
            <a:pPr indent="0" marL="0">
              <a:buNone/>
            </a:pPr>
            <a:r>
              <a:rPr lang="en-US" sz="4800" b="1" dirty="0">
                <a:solidFill>
                  <a:srgbClr val="0B4F7A"/>
                </a:solidFill>
                <a:latin typeface="Space Grotesk" pitchFamily="34" charset="0"/>
                <a:ea typeface="Space Grotesk" pitchFamily="34" charset="-122"/>
                <a:cs typeface="Space Grotesk" pitchFamily="34" charset="-120"/>
              </a:rPr>
              <a:t>35 %</a:t>
            </a:r>
            <a:endParaRPr lang="en-US" sz="4800" dirty="0"/>
          </a:p>
        </p:txBody>
      </p:sp>
      <p:sp>
        <p:nvSpPr>
          <p:cNvPr id="13" name="Text 8"/>
          <p:cNvSpPr txBox="1"/>
          <p:nvPr/>
        </p:nvSpPr>
        <p:spPr>
          <a:xfrm>
            <a:off x="1041400" y="3175000"/>
            <a:ext cx="2895600" cy="1079500"/>
          </a:xfrm>
          <a:prstGeom prst="rect">
            <a:avLst/>
          </a:prstGeom>
          <a:noFill/>
          <a:ln/>
        </p:spPr>
        <p:txBody>
          <a:bodyPr wrap="square" lIns="0" tIns="0" rIns="0" bIns="0" rtlCol="0" anchor="t"/>
          <a:lstStyle/>
          <a:p>
            <a:pPr indent="0" marL="0">
              <a:lnSpc>
                <a:spcPct val="105000"/>
              </a:lnSpc>
              <a:buNone/>
            </a:pPr>
            <a:r>
              <a:rPr lang="en-US" sz="1600" dirty="0">
                <a:solidFill>
                  <a:srgbClr val="16181D"/>
                </a:solidFill>
                <a:latin typeface="IBM Plex Sans" pitchFamily="34" charset="0"/>
                <a:ea typeface="IBM Plex Sans" pitchFamily="34" charset="-122"/>
                <a:cs typeface="IBM Plex Sans" pitchFamily="34" charset="-120"/>
              </a:rPr>
              <a:t>des transactions bancaires françaises traitées chaque mois par Transactis</a:t>
            </a:r>
            <a:endParaRPr lang="en-US" sz="1600" dirty="0"/>
          </a:p>
        </p:txBody>
      </p:sp>
      <p:sp>
        <p:nvSpPr>
          <p:cNvPr id="14" name="Shape 9"/>
          <p:cNvSpPr/>
          <p:nvPr/>
        </p:nvSpPr>
        <p:spPr>
          <a:xfrm>
            <a:off x="4419600" y="2159000"/>
            <a:ext cx="3352800" cy="22225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5" name="Text 10"/>
          <p:cNvSpPr txBox="1"/>
          <p:nvPr/>
        </p:nvSpPr>
        <p:spPr>
          <a:xfrm>
            <a:off x="4648200" y="2324100"/>
            <a:ext cx="2895600" cy="762000"/>
          </a:xfrm>
          <a:prstGeom prst="rect">
            <a:avLst/>
          </a:prstGeom>
          <a:noFill/>
          <a:ln/>
        </p:spPr>
        <p:txBody>
          <a:bodyPr wrap="square" lIns="0" tIns="0" rIns="0" bIns="0" rtlCol="0" anchor="t"/>
          <a:lstStyle/>
          <a:p>
            <a:pPr indent="0" marL="0">
              <a:buNone/>
            </a:pPr>
            <a:r>
              <a:rPr lang="en-US" sz="4800" b="1" dirty="0">
                <a:solidFill>
                  <a:srgbClr val="0B4F7A"/>
                </a:solidFill>
                <a:latin typeface="Space Grotesk" pitchFamily="34" charset="0"/>
                <a:ea typeface="Space Grotesk" pitchFamily="34" charset="-122"/>
                <a:cs typeface="Space Grotesk" pitchFamily="34" charset="-120"/>
              </a:rPr>
              <a:t>2 400+</a:t>
            </a:r>
            <a:endParaRPr lang="en-US" sz="4800" dirty="0"/>
          </a:p>
        </p:txBody>
      </p:sp>
      <p:sp>
        <p:nvSpPr>
          <p:cNvPr id="16" name="Text 11"/>
          <p:cNvSpPr txBox="1"/>
          <p:nvPr/>
        </p:nvSpPr>
        <p:spPr>
          <a:xfrm>
            <a:off x="4648200" y="3175000"/>
            <a:ext cx="2895600" cy="1079500"/>
          </a:xfrm>
          <a:prstGeom prst="rect">
            <a:avLst/>
          </a:prstGeom>
          <a:noFill/>
          <a:ln/>
        </p:spPr>
        <p:txBody>
          <a:bodyPr wrap="square" lIns="0" tIns="0" rIns="0" bIns="0" rtlCol="0" anchor="t"/>
          <a:lstStyle/>
          <a:p>
            <a:pPr indent="0" marL="0">
              <a:lnSpc>
                <a:spcPct val="105000"/>
              </a:lnSpc>
              <a:buNone/>
            </a:pPr>
            <a:r>
              <a:rPr lang="en-US" sz="1600" dirty="0">
                <a:solidFill>
                  <a:srgbClr val="16181D"/>
                </a:solidFill>
                <a:latin typeface="IBM Plex Sans" pitchFamily="34" charset="0"/>
                <a:ea typeface="IBM Plex Sans" pitchFamily="34" charset="-122"/>
                <a:cs typeface="IBM Plex Sans" pitchFamily="34" charset="-120"/>
              </a:rPr>
              <a:t>fichiers Excel : impossible de savoir dans lequel se trouve l’information</a:t>
            </a:r>
            <a:endParaRPr lang="en-US" sz="1600" dirty="0"/>
          </a:p>
        </p:txBody>
      </p:sp>
      <p:sp>
        <p:nvSpPr>
          <p:cNvPr id="17" name="Shape 12"/>
          <p:cNvSpPr/>
          <p:nvPr/>
        </p:nvSpPr>
        <p:spPr>
          <a:xfrm>
            <a:off x="8026400" y="2159000"/>
            <a:ext cx="3352800" cy="22225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8" name="Text 13"/>
          <p:cNvSpPr txBox="1"/>
          <p:nvPr/>
        </p:nvSpPr>
        <p:spPr>
          <a:xfrm>
            <a:off x="8255000" y="2324100"/>
            <a:ext cx="2895600" cy="762000"/>
          </a:xfrm>
          <a:prstGeom prst="rect">
            <a:avLst/>
          </a:prstGeom>
          <a:noFill/>
          <a:ln/>
        </p:spPr>
        <p:txBody>
          <a:bodyPr wrap="square" lIns="0" tIns="0" rIns="0" bIns="0" rtlCol="0" anchor="t"/>
          <a:lstStyle/>
          <a:p>
            <a:pPr indent="0" marL="0">
              <a:buNone/>
            </a:pPr>
            <a:r>
              <a:rPr lang="en-US" sz="4800" b="1" dirty="0">
                <a:solidFill>
                  <a:srgbClr val="0B4F7A"/>
                </a:solidFill>
                <a:latin typeface="Space Grotesk" pitchFamily="34" charset="0"/>
                <a:ea typeface="Space Grotesk" pitchFamily="34" charset="-122"/>
                <a:cs typeface="Space Grotesk" pitchFamily="34" charset="-120"/>
              </a:rPr>
              <a:t>2003</a:t>
            </a:r>
            <a:endParaRPr lang="en-US" sz="4800" dirty="0"/>
          </a:p>
        </p:txBody>
      </p:sp>
      <p:sp>
        <p:nvSpPr>
          <p:cNvPr id="19" name="Text 14"/>
          <p:cNvSpPr txBox="1"/>
          <p:nvPr/>
        </p:nvSpPr>
        <p:spPr>
          <a:xfrm>
            <a:off x="8255000" y="3175000"/>
            <a:ext cx="2895600" cy="1079500"/>
          </a:xfrm>
          <a:prstGeom prst="rect">
            <a:avLst/>
          </a:prstGeom>
          <a:noFill/>
          <a:ln/>
        </p:spPr>
        <p:txBody>
          <a:bodyPr wrap="square" lIns="0" tIns="0" rIns="0" bIns="0" rtlCol="0" anchor="t"/>
          <a:lstStyle/>
          <a:p>
            <a:pPr indent="0" marL="0">
              <a:lnSpc>
                <a:spcPct val="105000"/>
              </a:lnSpc>
              <a:buNone/>
            </a:pPr>
            <a:r>
              <a:rPr lang="en-US" sz="1600" dirty="0">
                <a:solidFill>
                  <a:srgbClr val="16181D"/>
                </a:solidFill>
                <a:latin typeface="IBM Plex Sans" pitchFamily="34" charset="0"/>
                <a:ea typeface="IBM Plex Sans" pitchFamily="34" charset="-122"/>
                <a:cs typeface="IBM Plex Sans" pitchFamily="34" charset="-120"/>
              </a:rPr>
              <a:t>année des plus anciens fichiers encore utilisés</a:t>
            </a:r>
            <a:endParaRPr lang="en-US" sz="1600" dirty="0"/>
          </a:p>
        </p:txBody>
      </p:sp>
      <p:sp>
        <p:nvSpPr>
          <p:cNvPr id="20" name="Text 15"/>
          <p:cNvSpPr txBox="1"/>
          <p:nvPr/>
        </p:nvSpPr>
        <p:spPr>
          <a:xfrm>
            <a:off x="812800" y="4699000"/>
            <a:ext cx="10566400" cy="635000"/>
          </a:xfrm>
          <a:prstGeom prst="rect">
            <a:avLst/>
          </a:prstGeom>
          <a:noFill/>
          <a:ln/>
        </p:spPr>
        <p:txBody>
          <a:bodyPr wrap="square" lIns="0" tIns="0" rIns="0" bIns="0" rtlCol="0" anchor="t"/>
          <a:lstStyle/>
          <a:p>
            <a:pPr indent="0" marL="0">
              <a:buNone/>
            </a:pPr>
            <a:r>
              <a:rPr lang="en-US" sz="1600" dirty="0">
                <a:solidFill>
                  <a:srgbClr val="4B5159"/>
                </a:solidFill>
                <a:latin typeface="IBM Plex Sans" pitchFamily="34" charset="0"/>
                <a:ea typeface="IBM Plex Sans" pitchFamily="34" charset="-122"/>
                <a:cs typeface="IBM Plex Sans" pitchFamily="34" charset="-120"/>
              </a:rPr>
              <a:t>Chaque flux réseau autorisé doit être tracé et justifiable : audits de sécurité, conformité réglementaire.</a:t>
            </a:r>
            <a:endParaRPr lang="en-US" sz="16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4F7A"/>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0B4F7A"/>
          </a:solidFill>
          <a:ln w="19050">
            <a:solidFill>
              <a:srgbClr val="F3F0E8"/>
            </a:solidFill>
            <a:prstDash val="solid"/>
          </a:ln>
        </p:spPr>
      </p:sp>
      <p:sp>
        <p:nvSpPr>
          <p:cNvPr id="3" name="!!mk-bar"/>
          <p:cNvSpPr/>
          <p:nvPr/>
        </p:nvSpPr>
        <p:spPr>
          <a:xfrm>
            <a:off x="812800" y="6299200"/>
            <a:ext cx="2819400" cy="127000"/>
          </a:xfrm>
          <a:prstGeom prst="rect">
            <a:avLst/>
          </a:prstGeom>
          <a:solidFill>
            <a:srgbClr val="F3F0E8"/>
          </a:solidFill>
          <a:ln w="19050">
            <a:solidFill>
              <a:srgbClr val="F3F0E8"/>
            </a:solidFill>
            <a:prstDash val="solid"/>
          </a:ln>
        </p:spPr>
      </p:sp>
      <p:sp>
        <p:nvSpPr>
          <p:cNvPr id="4" name="!!mk-sq"/>
          <p:cNvSpPr/>
          <p:nvPr/>
        </p:nvSpPr>
        <p:spPr>
          <a:xfrm rot="-900000">
            <a:off x="10922000" y="254000"/>
            <a:ext cx="457200" cy="457200"/>
          </a:xfrm>
          <a:prstGeom prst="rect">
            <a:avLst/>
          </a:prstGeom>
          <a:solidFill>
            <a:srgbClr val="F3F0E8"/>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04 / 15 — PROBLÉMATIQUE</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5715000" cy="215900"/>
          </a:xfrm>
          <a:prstGeom prst="rect">
            <a:avLst/>
          </a:prstGeom>
          <a:noFill/>
          <a:ln/>
        </p:spPr>
        <p:txBody>
          <a:bodyPr wrap="square" lIns="0" tIns="0" rIns="0" bIns="0" rtlCol="0" anchor="t"/>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PROBLÉMATIQUE RETENUE</a:t>
            </a:r>
            <a:endParaRPr lang="en-US" sz="1200" dirty="0"/>
          </a:p>
        </p:txBody>
      </p:sp>
      <p:sp>
        <p:nvSpPr>
          <p:cNvPr id="11" name="Text 6"/>
          <p:cNvSpPr txBox="1"/>
          <p:nvPr/>
        </p:nvSpPr>
        <p:spPr>
          <a:xfrm>
            <a:off x="812800" y="1270000"/>
            <a:ext cx="9906000" cy="2540000"/>
          </a:xfrm>
          <a:prstGeom prst="rect">
            <a:avLst/>
          </a:prstGeom>
          <a:noFill/>
          <a:ln/>
        </p:spPr>
        <p:txBody>
          <a:bodyPr wrap="square" lIns="0" tIns="0" rIns="0" bIns="0" rtlCol="0" anchor="t"/>
          <a:lstStyle/>
          <a:p>
            <a:pPr indent="0" marL="0">
              <a:lnSpc>
                <a:spcPct val="100000"/>
              </a:lnSpc>
              <a:buNone/>
            </a:pPr>
            <a:r>
              <a:rPr lang="en-US" sz="2800" b="1" dirty="0">
                <a:solidFill>
                  <a:srgbClr val="F3F0E8"/>
                </a:solidFill>
                <a:latin typeface="Space Grotesk" pitchFamily="34" charset="0"/>
                <a:ea typeface="Space Grotesk" pitchFamily="34" charset="-122"/>
                <a:cs typeface="Space Grotesk" pitchFamily="34" charset="-120"/>
              </a:rPr>
              <a:t>Comment centraliser et rendre rapidement exploitables des données réseaux réparties dans plusieurs dizaines ou centaines de fichiers Excel hétérogènes, tout en respectant les contraintes de sécurité d’un environnement bancaire ?</a:t>
            </a:r>
            <a:endParaRPr lang="en-US" sz="2800" dirty="0"/>
          </a:p>
        </p:txBody>
      </p:sp>
      <p:sp>
        <p:nvSpPr>
          <p:cNvPr id="12" name="Shape 7"/>
          <p:cNvSpPr/>
          <p:nvPr/>
        </p:nvSpPr>
        <p:spPr>
          <a:xfrm>
            <a:off x="812800" y="4572000"/>
            <a:ext cx="5156200" cy="8255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3" name="Text 8"/>
          <p:cNvSpPr txBox="1"/>
          <p:nvPr/>
        </p:nvSpPr>
        <p:spPr>
          <a:xfrm>
            <a:off x="1041400" y="4572000"/>
            <a:ext cx="4699000" cy="825500"/>
          </a:xfrm>
          <a:prstGeom prst="rect">
            <a:avLst/>
          </a:prstGeom>
          <a:noFill/>
          <a:ln/>
        </p:spPr>
        <p:txBody>
          <a:bodyPr wrap="square" lIns="0" tIns="0" rIns="0" bIns="0" rtlCol="0" anchor="ctr"/>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Axe 1 · Centralisation</a:t>
            </a:r>
            <a:endParaRPr lang="en-US" sz="2000" dirty="0"/>
          </a:p>
        </p:txBody>
      </p:sp>
      <p:sp>
        <p:nvSpPr>
          <p:cNvPr id="14" name="Shape 9"/>
          <p:cNvSpPr/>
          <p:nvPr/>
        </p:nvSpPr>
        <p:spPr>
          <a:xfrm>
            <a:off x="6223000" y="4572000"/>
            <a:ext cx="5156200" cy="8255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5" name="Text 10"/>
          <p:cNvSpPr txBox="1"/>
          <p:nvPr/>
        </p:nvSpPr>
        <p:spPr>
          <a:xfrm>
            <a:off x="6451600" y="4572000"/>
            <a:ext cx="4699000" cy="825500"/>
          </a:xfrm>
          <a:prstGeom prst="rect">
            <a:avLst/>
          </a:prstGeom>
          <a:noFill/>
          <a:ln/>
        </p:spPr>
        <p:txBody>
          <a:bodyPr wrap="square" lIns="0" tIns="0" rIns="0" bIns="0" rtlCol="0" anchor="ctr"/>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Axe 2 · Sécurité</a:t>
            </a:r>
            <a:endParaRPr lang="en-US" sz="20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3524250" cy="127000"/>
          </a:xfrm>
          <a:prstGeom prst="rect">
            <a:avLst/>
          </a:prstGeom>
          <a:solidFill>
            <a:srgbClr val="0B4F7A"/>
          </a:solidFill>
          <a:ln w="19050">
            <a:solidFill>
              <a:srgbClr val="16181D"/>
            </a:solidFill>
            <a:prstDash val="solid"/>
          </a:ln>
        </p:spPr>
      </p:sp>
      <p:sp>
        <p:nvSpPr>
          <p:cNvPr id="4" name="!!mk-sq"/>
          <p:cNvSpPr/>
          <p:nvPr/>
        </p:nvSpPr>
        <p:spPr>
          <a:xfrm>
            <a:off x="10922000" y="254000"/>
            <a:ext cx="457200" cy="4572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05 / 15 — DÉMARCHE</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10566400" cy="5715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Trois pistes comparées, une retenue</a:t>
            </a:r>
            <a:endParaRPr lang="en-US" sz="3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812800" y="1587500"/>
          <a:ext cx="10566400" cy="914400"/>
        </p:xfrm>
        <a:graphic>
          <a:graphicData uri="http://schemas.openxmlformats.org/drawingml/2006/table">
            <a:tbl>
              <a:tblPr/>
              <a:tblGrid>
                <a:gridCol w="4064000"/>
                <a:gridCol w="889000"/>
                <a:gridCol w="1873250"/>
                <a:gridCol w="1873250"/>
                <a:gridCol w="1866900"/>
              </a:tblGrid>
              <a:tr h="533400">
                <a:tc>
                  <a:txBody>
                    <a:bodyPr/>
                    <a:lstStyle/>
                    <a:p>
                      <a:pPr algn="l" indent="0" marL="0">
                        <a:buNone/>
                      </a:pPr>
                      <a:r>
                        <a:rPr lang="en-US" sz="1400" b="1" dirty="0">
                          <a:solidFill>
                            <a:srgbClr val="F3F0E8"/>
                          </a:solidFill>
                          <a:latin typeface="Space Grotesk" pitchFamily="34" charset="0"/>
                          <a:ea typeface="Space Grotesk" pitchFamily="34" charset="-122"/>
                          <a:cs typeface="Space Grotesk" pitchFamily="34" charset="-120"/>
                        </a:rPr>
                        <a:t>Critère</a:t>
                      </a:r>
                      <a:endParaRPr lang="en-US" sz="1400" dirty="0">
                        <a:latin typeface="Space Grotesk" charset="0"/>
                        <a:ea typeface="Space Grotesk" charset="0"/>
                        <a:cs typeface="Space Grotesk"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16181D"/>
                    </a:solidFill>
                  </a:tcPr>
                </a:tc>
                <a:tc>
                  <a:txBody>
                    <a:bodyPr/>
                    <a:lstStyle/>
                    <a:p>
                      <a:pPr algn="ctr" indent="0" marL="0">
                        <a:buNone/>
                      </a:pPr>
                      <a:r>
                        <a:rPr lang="en-US" sz="1400" b="1" dirty="0">
                          <a:solidFill>
                            <a:srgbClr val="F3F0E8"/>
                          </a:solidFill>
                          <a:latin typeface="Space Grotesk" pitchFamily="34" charset="0"/>
                          <a:ea typeface="Space Grotesk" pitchFamily="34" charset="-122"/>
                          <a:cs typeface="Space Grotesk" pitchFamily="34" charset="-120"/>
                        </a:rPr>
                        <a:t>Poids</a:t>
                      </a:r>
                      <a:endParaRPr lang="en-US" sz="1400" dirty="0">
                        <a:latin typeface="Space Grotesk" charset="0"/>
                        <a:ea typeface="Space Grotesk" charset="0"/>
                        <a:cs typeface="Space Grotesk"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16181D"/>
                    </a:solidFill>
                  </a:tcPr>
                </a:tc>
                <a:tc>
                  <a:txBody>
                    <a:bodyPr/>
                    <a:lstStyle/>
                    <a:p>
                      <a:pPr algn="ctr" indent="0" marL="0">
                        <a:buNone/>
                      </a:pPr>
                      <a:r>
                        <a:rPr lang="en-US" sz="1400" b="1" dirty="0">
                          <a:solidFill>
                            <a:srgbClr val="F3F0E8"/>
                          </a:solidFill>
                          <a:latin typeface="Space Grotesk" pitchFamily="34" charset="0"/>
                          <a:ea typeface="Space Grotesk" pitchFamily="34" charset="-122"/>
                          <a:cs typeface="Space Grotesk" pitchFamily="34" charset="-120"/>
                        </a:rPr>
                        <a:t>Excel réorganisé</a:t>
                      </a:r>
                      <a:endParaRPr lang="en-US" sz="1400" dirty="0">
                        <a:latin typeface="Space Grotesk" charset="0"/>
                        <a:ea typeface="Space Grotesk" charset="0"/>
                        <a:cs typeface="Space Grotesk"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16181D"/>
                    </a:solidFill>
                  </a:tcPr>
                </a:tc>
                <a:tc>
                  <a:txBody>
                    <a:bodyPr/>
                    <a:lstStyle/>
                    <a:p>
                      <a:pPr algn="ctr" indent="0" marL="0">
                        <a:buNone/>
                      </a:pPr>
                      <a:r>
                        <a:rPr lang="en-US" sz="1400" b="1" dirty="0">
                          <a:solidFill>
                            <a:srgbClr val="F3F0E8"/>
                          </a:solidFill>
                          <a:latin typeface="Space Grotesk" pitchFamily="34" charset="0"/>
                          <a:ea typeface="Space Grotesk" pitchFamily="34" charset="-122"/>
                          <a:cs typeface="Space Grotesk" pitchFamily="34" charset="-120"/>
                        </a:rPr>
                        <a:t>IPAM / CMDB</a:t>
                      </a:r>
                      <a:endParaRPr lang="en-US" sz="1400" dirty="0">
                        <a:latin typeface="Space Grotesk" charset="0"/>
                        <a:ea typeface="Space Grotesk" charset="0"/>
                        <a:cs typeface="Space Grotesk"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16181D"/>
                    </a:solidFill>
                  </a:tcPr>
                </a:tc>
                <a:tc>
                  <a:txBody>
                    <a:bodyPr/>
                    <a:lstStyle/>
                    <a:p>
                      <a:pPr algn="ctr" indent="0" marL="0">
                        <a:buNone/>
                      </a:pPr>
                      <a:r>
                        <a:rPr lang="en-US" sz="1400" b="1" dirty="0">
                          <a:solidFill>
                            <a:srgbClr val="F3F0E8"/>
                          </a:solidFill>
                          <a:latin typeface="Space Grotesk" pitchFamily="34" charset="0"/>
                          <a:ea typeface="Space Grotesk" pitchFamily="34" charset="-122"/>
                          <a:cs typeface="Space Grotesk" pitchFamily="34" charset="-120"/>
                        </a:rPr>
                        <a:t>Application interne</a:t>
                      </a:r>
                      <a:endParaRPr lang="en-US" sz="1400" dirty="0">
                        <a:latin typeface="Space Grotesk" charset="0"/>
                        <a:ea typeface="Space Grotesk" charset="0"/>
                        <a:cs typeface="Space Grotesk"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16181D"/>
                    </a:solidFill>
                  </a:tcPr>
                </a:tc>
              </a:tr>
              <a:tr h="406400">
                <a:tc>
                  <a:txBody>
                    <a:bodyPr/>
                    <a:lstStyle/>
                    <a:p>
                      <a:pPr indent="0" marL="0">
                        <a:buNone/>
                      </a:pPr>
                      <a:r>
                        <a:rPr lang="en-US" sz="1400" dirty="0">
                          <a:solidFill>
                            <a:srgbClr val="16181D"/>
                          </a:solidFill>
                          <a:latin typeface="IBM Plex Sans" pitchFamily="34" charset="0"/>
                          <a:ea typeface="IBM Plex Sans" pitchFamily="34" charset="-122"/>
                          <a:cs typeface="IBM Plex Sans" pitchFamily="34" charset="-120"/>
                        </a:rPr>
                        <a:t>Réponse au besoin de recherche</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×3</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1</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2</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b="1" dirty="0">
                          <a:solidFill>
                            <a:srgbClr val="16181D"/>
                          </a:solidFill>
                          <a:latin typeface="IBM Plex Sans" pitchFamily="34" charset="0"/>
                          <a:ea typeface="IBM Plex Sans" pitchFamily="34" charset="-122"/>
                          <a:cs typeface="IBM Plex Sans" pitchFamily="34" charset="-120"/>
                        </a:rPr>
                        <a:t>3</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DCE6EE"/>
                    </a:solidFill>
                  </a:tcPr>
                </a:tc>
              </a:tr>
              <a:tr h="406400">
                <a:tc>
                  <a:txBody>
                    <a:bodyPr/>
                    <a:lstStyle/>
                    <a:p>
                      <a:pPr indent="0" marL="0">
                        <a:buNone/>
                      </a:pPr>
                      <a:r>
                        <a:rPr lang="en-US" sz="1400" dirty="0">
                          <a:solidFill>
                            <a:srgbClr val="16181D"/>
                          </a:solidFill>
                          <a:latin typeface="IBM Plex Sans" pitchFamily="34" charset="0"/>
                          <a:ea typeface="IBM Plex Sans" pitchFamily="34" charset="-122"/>
                          <a:cs typeface="IBM Plex Sans" pitchFamily="34" charset="-120"/>
                        </a:rPr>
                        <a:t>Adaptation au format des matrices</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×3</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2</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1</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b="1" dirty="0">
                          <a:solidFill>
                            <a:srgbClr val="16181D"/>
                          </a:solidFill>
                          <a:latin typeface="IBM Plex Sans" pitchFamily="34" charset="0"/>
                          <a:ea typeface="IBM Plex Sans" pitchFamily="34" charset="-122"/>
                          <a:cs typeface="IBM Plex Sans" pitchFamily="34" charset="-120"/>
                        </a:rPr>
                        <a:t>3</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DCE6EE"/>
                    </a:solidFill>
                  </a:tcPr>
                </a:tc>
              </a:tr>
              <a:tr h="406400">
                <a:tc>
                  <a:txBody>
                    <a:bodyPr/>
                    <a:lstStyle/>
                    <a:p>
                      <a:pPr indent="0" marL="0">
                        <a:buNone/>
                      </a:pPr>
                      <a:r>
                        <a:rPr lang="en-US" sz="1400" dirty="0">
                          <a:solidFill>
                            <a:srgbClr val="16181D"/>
                          </a:solidFill>
                          <a:latin typeface="IBM Plex Sans" pitchFamily="34" charset="0"/>
                          <a:ea typeface="IBM Plex Sans" pitchFamily="34" charset="-122"/>
                          <a:cs typeface="IBM Plex Sans" pitchFamily="34" charset="-120"/>
                        </a:rPr>
                        <a:t>Délai et coût de mise en œuvre</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×2</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3</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1</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b="1" dirty="0">
                          <a:solidFill>
                            <a:srgbClr val="16181D"/>
                          </a:solidFill>
                          <a:latin typeface="IBM Plex Sans" pitchFamily="34" charset="0"/>
                          <a:ea typeface="IBM Plex Sans" pitchFamily="34" charset="-122"/>
                          <a:cs typeface="IBM Plex Sans" pitchFamily="34" charset="-120"/>
                        </a:rPr>
                        <a:t>2</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DCE6EE"/>
                    </a:solidFill>
                  </a:tcPr>
                </a:tc>
              </a:tr>
              <a:tr h="406400">
                <a:tc>
                  <a:txBody>
                    <a:bodyPr/>
                    <a:lstStyle/>
                    <a:p>
                      <a:pPr indent="0" marL="0">
                        <a:buNone/>
                      </a:pPr>
                      <a:r>
                        <a:rPr lang="en-US" sz="1400" dirty="0">
                          <a:solidFill>
                            <a:srgbClr val="16181D"/>
                          </a:solidFill>
                          <a:latin typeface="IBM Plex Sans" pitchFamily="34" charset="0"/>
                          <a:ea typeface="IBM Plex Sans" pitchFamily="34" charset="-122"/>
                          <a:cs typeface="IBM Plex Sans" pitchFamily="34" charset="-120"/>
                        </a:rPr>
                        <a:t>Intégration à la stack Transactis</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×2</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2</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2</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b="1" dirty="0">
                          <a:solidFill>
                            <a:srgbClr val="16181D"/>
                          </a:solidFill>
                          <a:latin typeface="IBM Plex Sans" pitchFamily="34" charset="0"/>
                          <a:ea typeface="IBM Plex Sans" pitchFamily="34" charset="-122"/>
                          <a:cs typeface="IBM Plex Sans" pitchFamily="34" charset="-120"/>
                        </a:rPr>
                        <a:t>3</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DCE6EE"/>
                    </a:solidFill>
                  </a:tcPr>
                </a:tc>
              </a:tr>
              <a:tr h="406400">
                <a:tc>
                  <a:txBody>
                    <a:bodyPr/>
                    <a:lstStyle/>
                    <a:p>
                      <a:pPr indent="0" marL="0">
                        <a:buNone/>
                      </a:pPr>
                      <a:r>
                        <a:rPr lang="en-US" sz="1400" dirty="0">
                          <a:solidFill>
                            <a:srgbClr val="16181D"/>
                          </a:solidFill>
                          <a:latin typeface="IBM Plex Sans" pitchFamily="34" charset="0"/>
                          <a:ea typeface="IBM Plex Sans" pitchFamily="34" charset="-122"/>
                          <a:cs typeface="IBM Plex Sans" pitchFamily="34" charset="-120"/>
                        </a:rPr>
                        <a:t>Faible charge de maintenance</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×1</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3</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2</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b="1" dirty="0">
                          <a:solidFill>
                            <a:srgbClr val="16181D"/>
                          </a:solidFill>
                          <a:latin typeface="IBM Plex Sans" pitchFamily="34" charset="0"/>
                          <a:ea typeface="IBM Plex Sans" pitchFamily="34" charset="-122"/>
                          <a:cs typeface="IBM Plex Sans" pitchFamily="34" charset="-120"/>
                        </a:rPr>
                        <a:t>1</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DCE6EE"/>
                    </a:solidFill>
                  </a:tcPr>
                </a:tc>
              </a:tr>
              <a:tr h="406400">
                <a:tc>
                  <a:txBody>
                    <a:bodyPr/>
                    <a:lstStyle/>
                    <a:p>
                      <a:pPr indent="0" marL="0">
                        <a:buNone/>
                      </a:pPr>
                      <a:r>
                        <a:rPr lang="en-US" sz="1400" b="1" dirty="0">
                          <a:solidFill>
                            <a:srgbClr val="16181D"/>
                          </a:solidFill>
                          <a:latin typeface="IBM Plex Sans" pitchFamily="34" charset="0"/>
                          <a:ea typeface="IBM Plex Sans" pitchFamily="34" charset="-122"/>
                          <a:cs typeface="IBM Plex Sans" pitchFamily="34" charset="-120"/>
                        </a:rPr>
                        <a:t>Total pondéré (sur 33)</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DCE6EE"/>
                    </a:solidFill>
                  </a:tcPr>
                </a:tc>
                <a:tc>
                  <a:txBody>
                    <a:bodyPr/>
                    <a:lstStyle/>
                    <a:p>
                      <a:pPr indent="0" marL="0">
                        <a:buNone/>
                      </a:pP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DCE6EE"/>
                    </a:solidFill>
                  </a:tcPr>
                </a:tc>
                <a:tc>
                  <a:txBody>
                    <a:bodyPr/>
                    <a:lstStyle/>
                    <a:p>
                      <a:pPr algn="ctr" indent="0" marL="0">
                        <a:buNone/>
                      </a:pPr>
                      <a:r>
                        <a:rPr lang="en-US" sz="1400" b="1" dirty="0">
                          <a:solidFill>
                            <a:srgbClr val="16181D"/>
                          </a:solidFill>
                          <a:latin typeface="IBM Plex Sans" pitchFamily="34" charset="0"/>
                          <a:ea typeface="IBM Plex Sans" pitchFamily="34" charset="-122"/>
                          <a:cs typeface="IBM Plex Sans" pitchFamily="34" charset="-120"/>
                        </a:rPr>
                        <a:t>22</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DCE6EE"/>
                    </a:solidFill>
                  </a:tcPr>
                </a:tc>
                <a:tc>
                  <a:txBody>
                    <a:bodyPr/>
                    <a:lstStyle/>
                    <a:p>
                      <a:pPr algn="ctr" indent="0" marL="0">
                        <a:buNone/>
                      </a:pPr>
                      <a:r>
                        <a:rPr lang="en-US" sz="1400" b="1" dirty="0">
                          <a:solidFill>
                            <a:srgbClr val="16181D"/>
                          </a:solidFill>
                          <a:latin typeface="IBM Plex Sans" pitchFamily="34" charset="0"/>
                          <a:ea typeface="IBM Plex Sans" pitchFamily="34" charset="-122"/>
                          <a:cs typeface="IBM Plex Sans" pitchFamily="34" charset="-120"/>
                        </a:rPr>
                        <a:t>17</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DCE6EE"/>
                    </a:solidFill>
                  </a:tcPr>
                </a:tc>
                <a:tc>
                  <a:txBody>
                    <a:bodyPr/>
                    <a:lstStyle/>
                    <a:p>
                      <a:pPr algn="ctr" indent="0" marL="0">
                        <a:buNone/>
                      </a:pPr>
                      <a:r>
                        <a:rPr lang="en-US" sz="1400" b="1" dirty="0">
                          <a:solidFill>
                            <a:srgbClr val="F3F0E8"/>
                          </a:solidFill>
                          <a:latin typeface="IBM Plex Sans" pitchFamily="34" charset="0"/>
                          <a:ea typeface="IBM Plex Sans" pitchFamily="34" charset="-122"/>
                          <a:cs typeface="IBM Plex Sans" pitchFamily="34" charset="-120"/>
                        </a:rPr>
                        <a:t>29</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0B4F7A"/>
                    </a:solidFill>
                  </a:tcPr>
                </a:tc>
              </a:tr>
            </a:tbl>
          </a:graphicData>
        </a:graphic>
      </p:graphicFrame>
      <p:sp>
        <p:nvSpPr>
          <p:cNvPr id="12" name="Text 6"/>
          <p:cNvSpPr txBox="1"/>
          <p:nvPr/>
        </p:nvSpPr>
        <p:spPr>
          <a:xfrm>
            <a:off x="812800" y="4927600"/>
            <a:ext cx="10566400" cy="317500"/>
          </a:xfrm>
          <a:prstGeom prst="rect">
            <a:avLst/>
          </a:prstGeom>
          <a:noFill/>
          <a:ln/>
        </p:spPr>
        <p:txBody>
          <a:bodyPr wrap="square" lIns="0" tIns="0" rIns="0" bIns="0" rtlCol="0" anchor="t"/>
          <a:lstStyle/>
          <a:p>
            <a:pPr indent="0" marL="0">
              <a:buNone/>
            </a:pPr>
            <a:r>
              <a:rPr lang="en-US" sz="1600" b="1" dirty="0">
                <a:solidFill>
                  <a:srgbClr val="16181D"/>
                </a:solidFill>
                <a:latin typeface="Space Grotesk" pitchFamily="34" charset="0"/>
                <a:ea typeface="Space Grotesk" pitchFamily="34" charset="-122"/>
                <a:cs typeface="Space Grotesk" pitchFamily="34" charset="-120"/>
              </a:rPr>
              <a:t>Application interne : 29 / 33, la meilleure réponse au besoin et aux formats Transactis</a:t>
            </a:r>
            <a:endParaRPr lang="en-US" sz="1600" dirty="0"/>
          </a:p>
        </p:txBody>
      </p:sp>
      <p:sp>
        <p:nvSpPr>
          <p:cNvPr id="13" name="Text 7"/>
          <p:cNvSpPr txBox="1"/>
          <p:nvPr/>
        </p:nvSpPr>
        <p:spPr>
          <a:xfrm>
            <a:off x="812800" y="5308600"/>
            <a:ext cx="10566400" cy="228600"/>
          </a:xfrm>
          <a:prstGeom prst="rect">
            <a:avLst/>
          </a:prstGeom>
          <a:noFill/>
          <a:ln/>
        </p:spPr>
        <p:txBody>
          <a:bodyPr wrap="square" lIns="0" tIns="0" rIns="0" bIns="0" rtlCol="0" anchor="t"/>
          <a:lstStyle/>
          <a:p>
            <a:pPr indent="0" marL="0">
              <a:buNone/>
            </a:pPr>
            <a:r>
              <a:rPr lang="en-US" sz="1200" dirty="0">
                <a:solidFill>
                  <a:srgbClr val="4B5159"/>
                </a:solidFill>
                <a:latin typeface="IBM Plex Sans" pitchFamily="34" charset="0"/>
                <a:ea typeface="IBM Plex Sans" pitchFamily="34" charset="-122"/>
                <a:cs typeface="IBM Plex Sans" pitchFamily="34" charset="-120"/>
              </a:rPr>
              <a:t>Notation de 1 (faible) à 3 (fort), multipliée par le poids du critère.</a:t>
            </a:r>
            <a:endParaRPr lang="en-US" sz="12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4229100" cy="127000"/>
          </a:xfrm>
          <a:prstGeom prst="rect">
            <a:avLst/>
          </a:prstGeom>
          <a:solidFill>
            <a:srgbClr val="0B4F7A"/>
          </a:solidFill>
          <a:ln w="19050">
            <a:solidFill>
              <a:srgbClr val="16181D"/>
            </a:solidFill>
            <a:prstDash val="solid"/>
          </a:ln>
        </p:spPr>
      </p:sp>
      <p:sp>
        <p:nvSpPr>
          <p:cNvPr id="4" name="!!mk-sq"/>
          <p:cNvSpPr/>
          <p:nvPr/>
        </p:nvSpPr>
        <p:spPr>
          <a:xfrm rot="1800000">
            <a:off x="10922000" y="254000"/>
            <a:ext cx="457200" cy="4572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06 / 15 — DÉMARCHE</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10566400" cy="5715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Un MVP itératif en co-pilotage</a:t>
            </a:r>
            <a:endParaRPr lang="en-US" sz="3600" dirty="0"/>
          </a:p>
        </p:txBody>
      </p:sp>
      <p:sp>
        <p:nvSpPr>
          <p:cNvPr id="11" name="Shape 6"/>
          <p:cNvSpPr/>
          <p:nvPr/>
        </p:nvSpPr>
        <p:spPr>
          <a:xfrm>
            <a:off x="812800" y="1587500"/>
            <a:ext cx="5156200" cy="38100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2" name="Text 7"/>
          <p:cNvSpPr txBox="1"/>
          <p:nvPr/>
        </p:nvSpPr>
        <p:spPr>
          <a:xfrm>
            <a:off x="1041400" y="1816100"/>
            <a:ext cx="4699000" cy="355600"/>
          </a:xfrm>
          <a:prstGeom prst="rect">
            <a:avLst/>
          </a:prstGeom>
          <a:noFill/>
          <a:ln/>
        </p:spPr>
        <p:txBody>
          <a:bodyPr wrap="square" lIns="0" tIns="0" rIns="0" bIns="0" rtlCol="0" anchor="t"/>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Méthode</a:t>
            </a:r>
            <a:endParaRPr lang="en-US" sz="2000" dirty="0"/>
          </a:p>
        </p:txBody>
      </p:sp>
      <p:sp>
        <p:nvSpPr>
          <p:cNvPr id="13" name="Text 8"/>
          <p:cNvSpPr txBox="1"/>
          <p:nvPr/>
        </p:nvSpPr>
        <p:spPr>
          <a:xfrm>
            <a:off x="1041400" y="2349500"/>
            <a:ext cx="4699000" cy="2794000"/>
          </a:xfrm>
          <a:prstGeom prst="rect">
            <a:avLst/>
          </a:prstGeom>
          <a:noFill/>
          <a:ln/>
        </p:spPr>
        <p:txBody>
          <a:bodyPr wrap="square" lIns="0" tIns="0" rIns="0" bIns="0" rtlCol="0" anchor="t"/>
          <a:lstStyle/>
          <a:p>
            <a:pPr marL="279400" indent="-279400">
              <a:lnSpc>
                <a:spcPct val="105000"/>
              </a:lnSpc>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Backlog priorisé avec le maître d’apprentissage</a:t>
            </a:r>
            <a:endParaRPr lang="en-US" sz="1600" dirty="0"/>
          </a:p>
          <a:p>
            <a:pPr marL="279400" indent="-279400">
              <a:lnSpc>
                <a:spcPct val="105000"/>
              </a:lnSpc>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Suivi Kanban bimensuel</a:t>
            </a:r>
            <a:endParaRPr lang="en-US" sz="1600" dirty="0"/>
          </a:p>
          <a:p>
            <a:pPr marL="279400" indent="-279400">
              <a:lnSpc>
                <a:spcPct val="105000"/>
              </a:lnSpc>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Cycles courts : import, recherche, permissions, DNS, export, sauvegarde</a:t>
            </a:r>
            <a:endParaRPr lang="en-US" sz="1600" dirty="0"/>
          </a:p>
          <a:p>
            <a:pPr marL="279400" indent="-279400">
              <a:lnSpc>
                <a:spcPct val="105000"/>
              </a:lnSpc>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Phase de test utilisateur avant la production</a:t>
            </a:r>
            <a:endParaRPr lang="en-US" sz="1600" dirty="0"/>
          </a:p>
        </p:txBody>
      </p:sp>
      <p:sp>
        <p:nvSpPr>
          <p:cNvPr id="14" name="Shape 9"/>
          <p:cNvSpPr/>
          <p:nvPr/>
        </p:nvSpPr>
        <p:spPr>
          <a:xfrm>
            <a:off x="6223000" y="1587500"/>
            <a:ext cx="5156200" cy="38100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5" name="Text 10"/>
          <p:cNvSpPr txBox="1"/>
          <p:nvPr/>
        </p:nvSpPr>
        <p:spPr>
          <a:xfrm>
            <a:off x="6451600" y="1816100"/>
            <a:ext cx="4699000" cy="355600"/>
          </a:xfrm>
          <a:prstGeom prst="rect">
            <a:avLst/>
          </a:prstGeom>
          <a:noFill/>
          <a:ln/>
        </p:spPr>
        <p:txBody>
          <a:bodyPr wrap="square" lIns="0" tIns="0" rIns="0" bIns="0" rtlCol="0" anchor="t"/>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Stack Transactis</a:t>
            </a:r>
            <a:endParaRPr lang="en-US" sz="2000" dirty="0"/>
          </a:p>
        </p:txBody>
      </p:sp>
      <p:sp>
        <p:nvSpPr>
          <p:cNvPr id="16" name="Text 11"/>
          <p:cNvSpPr txBox="1"/>
          <p:nvPr/>
        </p:nvSpPr>
        <p:spPr>
          <a:xfrm>
            <a:off x="6451600" y="2527300"/>
            <a:ext cx="1333500" cy="228600"/>
          </a:xfrm>
          <a:prstGeom prst="rect">
            <a:avLst/>
          </a:prstGeom>
          <a:noFill/>
          <a:ln/>
        </p:spPr>
        <p:txBody>
          <a:bodyPr wrap="square" lIns="0" tIns="0" rIns="0" bIns="0" rtlCol="0" anchor="t"/>
          <a:lstStyle/>
          <a:p>
            <a:pPr indent="0" marL="0">
              <a:buNone/>
            </a:pPr>
            <a:r>
              <a:rPr lang="en-US" sz="1200" b="1" dirty="0">
                <a:solidFill>
                  <a:srgbClr val="0B4F7A"/>
                </a:solidFill>
                <a:latin typeface="JetBrains Mono" pitchFamily="34" charset="0"/>
                <a:ea typeface="JetBrains Mono" pitchFamily="34" charset="-122"/>
                <a:cs typeface="JetBrains Mono" pitchFamily="34" charset="-120"/>
              </a:rPr>
              <a:t>FRONT</a:t>
            </a:r>
            <a:endParaRPr lang="en-US" sz="1200" dirty="0"/>
          </a:p>
        </p:txBody>
      </p:sp>
      <p:sp>
        <p:nvSpPr>
          <p:cNvPr id="17" name="Text 12"/>
          <p:cNvSpPr txBox="1"/>
          <p:nvPr/>
        </p:nvSpPr>
        <p:spPr>
          <a:xfrm>
            <a:off x="7874000" y="2476500"/>
            <a:ext cx="3302000" cy="317500"/>
          </a:xfrm>
          <a:prstGeom prst="rect">
            <a:avLst/>
          </a:prstGeom>
          <a:noFill/>
          <a:ln/>
        </p:spPr>
        <p:txBody>
          <a:bodyPr wrap="square" lIns="0" tIns="0" rIns="0" bIns="0" rtlCol="0" anchor="t"/>
          <a:lstStyle/>
          <a:p>
            <a:pPr indent="0" marL="0">
              <a:buNone/>
            </a:pPr>
            <a:r>
              <a:rPr lang="en-US" sz="1600" dirty="0">
                <a:solidFill>
                  <a:srgbClr val="16181D"/>
                </a:solidFill>
                <a:latin typeface="IBM Plex Sans" pitchFamily="34" charset="0"/>
                <a:ea typeface="IBM Plex Sans" pitchFamily="34" charset="-122"/>
                <a:cs typeface="IBM Plex Sans" pitchFamily="34" charset="-120"/>
              </a:rPr>
              <a:t>Next.js, React, TypeScript</a:t>
            </a:r>
            <a:endParaRPr lang="en-US" sz="1600" dirty="0"/>
          </a:p>
        </p:txBody>
      </p:sp>
      <p:sp>
        <p:nvSpPr>
          <p:cNvPr id="18" name="Text 13"/>
          <p:cNvSpPr txBox="1"/>
          <p:nvPr/>
        </p:nvSpPr>
        <p:spPr>
          <a:xfrm>
            <a:off x="6451600" y="3086100"/>
            <a:ext cx="1333500" cy="228600"/>
          </a:xfrm>
          <a:prstGeom prst="rect">
            <a:avLst/>
          </a:prstGeom>
          <a:noFill/>
          <a:ln/>
        </p:spPr>
        <p:txBody>
          <a:bodyPr wrap="square" lIns="0" tIns="0" rIns="0" bIns="0" rtlCol="0" anchor="t"/>
          <a:lstStyle/>
          <a:p>
            <a:pPr indent="0" marL="0">
              <a:buNone/>
            </a:pPr>
            <a:r>
              <a:rPr lang="en-US" sz="1200" b="1" dirty="0">
                <a:solidFill>
                  <a:srgbClr val="0B4F7A"/>
                </a:solidFill>
                <a:latin typeface="JetBrains Mono" pitchFamily="34" charset="0"/>
                <a:ea typeface="JetBrains Mono" pitchFamily="34" charset="-122"/>
                <a:cs typeface="JetBrains Mono" pitchFamily="34" charset="-120"/>
              </a:rPr>
              <a:t>BACK</a:t>
            </a:r>
            <a:endParaRPr lang="en-US" sz="1200" dirty="0"/>
          </a:p>
        </p:txBody>
      </p:sp>
      <p:sp>
        <p:nvSpPr>
          <p:cNvPr id="19" name="Text 14"/>
          <p:cNvSpPr txBox="1"/>
          <p:nvPr/>
        </p:nvSpPr>
        <p:spPr>
          <a:xfrm>
            <a:off x="7874000" y="3035300"/>
            <a:ext cx="3302000" cy="317500"/>
          </a:xfrm>
          <a:prstGeom prst="rect">
            <a:avLst/>
          </a:prstGeom>
          <a:noFill/>
          <a:ln/>
        </p:spPr>
        <p:txBody>
          <a:bodyPr wrap="square" lIns="0" tIns="0" rIns="0" bIns="0" rtlCol="0" anchor="t"/>
          <a:lstStyle/>
          <a:p>
            <a:pPr indent="0" marL="0">
              <a:buNone/>
            </a:pPr>
            <a:r>
              <a:rPr lang="en-US" sz="1600" dirty="0">
                <a:solidFill>
                  <a:srgbClr val="16181D"/>
                </a:solidFill>
                <a:latin typeface="IBM Plex Sans" pitchFamily="34" charset="0"/>
                <a:ea typeface="IBM Plex Sans" pitchFamily="34" charset="-122"/>
                <a:cs typeface="IBM Plex Sans" pitchFamily="34" charset="-120"/>
              </a:rPr>
              <a:t>Node.js, Express</a:t>
            </a:r>
            <a:endParaRPr lang="en-US" sz="1600" dirty="0"/>
          </a:p>
        </p:txBody>
      </p:sp>
      <p:sp>
        <p:nvSpPr>
          <p:cNvPr id="20" name="Text 15"/>
          <p:cNvSpPr txBox="1"/>
          <p:nvPr/>
        </p:nvSpPr>
        <p:spPr>
          <a:xfrm>
            <a:off x="6451600" y="3644900"/>
            <a:ext cx="1333500" cy="228600"/>
          </a:xfrm>
          <a:prstGeom prst="rect">
            <a:avLst/>
          </a:prstGeom>
          <a:noFill/>
          <a:ln/>
        </p:spPr>
        <p:txBody>
          <a:bodyPr wrap="square" lIns="0" tIns="0" rIns="0" bIns="0" rtlCol="0" anchor="t"/>
          <a:lstStyle/>
          <a:p>
            <a:pPr indent="0" marL="0">
              <a:buNone/>
            </a:pPr>
            <a:r>
              <a:rPr lang="en-US" sz="1200" b="1" dirty="0">
                <a:solidFill>
                  <a:srgbClr val="0B4F7A"/>
                </a:solidFill>
                <a:latin typeface="JetBrains Mono" pitchFamily="34" charset="0"/>
                <a:ea typeface="JetBrains Mono" pitchFamily="34" charset="-122"/>
                <a:cs typeface="JetBrains Mono" pitchFamily="34" charset="-120"/>
              </a:rPr>
              <a:t>DONNÉES</a:t>
            </a:r>
            <a:endParaRPr lang="en-US" sz="1200" dirty="0"/>
          </a:p>
        </p:txBody>
      </p:sp>
      <p:sp>
        <p:nvSpPr>
          <p:cNvPr id="21" name="Text 16"/>
          <p:cNvSpPr txBox="1"/>
          <p:nvPr/>
        </p:nvSpPr>
        <p:spPr>
          <a:xfrm>
            <a:off x="7874000" y="3594100"/>
            <a:ext cx="3302000" cy="317500"/>
          </a:xfrm>
          <a:prstGeom prst="rect">
            <a:avLst/>
          </a:prstGeom>
          <a:noFill/>
          <a:ln/>
        </p:spPr>
        <p:txBody>
          <a:bodyPr wrap="square" lIns="0" tIns="0" rIns="0" bIns="0" rtlCol="0" anchor="t"/>
          <a:lstStyle/>
          <a:p>
            <a:pPr indent="0" marL="0">
              <a:buNone/>
            </a:pPr>
            <a:r>
              <a:rPr lang="en-US" sz="1600" dirty="0">
                <a:solidFill>
                  <a:srgbClr val="16181D"/>
                </a:solidFill>
                <a:latin typeface="IBM Plex Sans" pitchFamily="34" charset="0"/>
                <a:ea typeface="IBM Plex Sans" pitchFamily="34" charset="-122"/>
                <a:cs typeface="IBM Plex Sans" pitchFamily="34" charset="-120"/>
              </a:rPr>
              <a:t>PostgreSQL, Sequelize</a:t>
            </a:r>
            <a:endParaRPr lang="en-US" sz="1600" dirty="0"/>
          </a:p>
        </p:txBody>
      </p:sp>
      <p:sp>
        <p:nvSpPr>
          <p:cNvPr id="22" name="Text 17"/>
          <p:cNvSpPr txBox="1"/>
          <p:nvPr/>
        </p:nvSpPr>
        <p:spPr>
          <a:xfrm>
            <a:off x="6451600" y="4203700"/>
            <a:ext cx="1333500" cy="228600"/>
          </a:xfrm>
          <a:prstGeom prst="rect">
            <a:avLst/>
          </a:prstGeom>
          <a:noFill/>
          <a:ln/>
        </p:spPr>
        <p:txBody>
          <a:bodyPr wrap="square" lIns="0" tIns="0" rIns="0" bIns="0" rtlCol="0" anchor="t"/>
          <a:lstStyle/>
          <a:p>
            <a:pPr indent="0" marL="0">
              <a:buNone/>
            </a:pPr>
            <a:r>
              <a:rPr lang="en-US" sz="1200" b="1" dirty="0">
                <a:solidFill>
                  <a:srgbClr val="0B4F7A"/>
                </a:solidFill>
                <a:latin typeface="JetBrains Mono" pitchFamily="34" charset="0"/>
                <a:ea typeface="JetBrains Mono" pitchFamily="34" charset="-122"/>
                <a:cs typeface="JetBrains Mono" pitchFamily="34" charset="-120"/>
              </a:rPr>
              <a:t>AUTH</a:t>
            </a:r>
            <a:endParaRPr lang="en-US" sz="1200" dirty="0"/>
          </a:p>
        </p:txBody>
      </p:sp>
      <p:sp>
        <p:nvSpPr>
          <p:cNvPr id="23" name="Text 18"/>
          <p:cNvSpPr txBox="1"/>
          <p:nvPr/>
        </p:nvSpPr>
        <p:spPr>
          <a:xfrm>
            <a:off x="7874000" y="4152900"/>
            <a:ext cx="3302000" cy="317500"/>
          </a:xfrm>
          <a:prstGeom prst="rect">
            <a:avLst/>
          </a:prstGeom>
          <a:noFill/>
          <a:ln/>
        </p:spPr>
        <p:txBody>
          <a:bodyPr wrap="square" lIns="0" tIns="0" rIns="0" bIns="0" rtlCol="0" anchor="t"/>
          <a:lstStyle/>
          <a:p>
            <a:pPr indent="0" marL="0">
              <a:buNone/>
            </a:pPr>
            <a:r>
              <a:rPr lang="en-US" sz="1600" dirty="0">
                <a:solidFill>
                  <a:srgbClr val="16181D"/>
                </a:solidFill>
                <a:latin typeface="IBM Plex Sans" pitchFamily="34" charset="0"/>
                <a:ea typeface="IBM Plex Sans" pitchFamily="34" charset="-122"/>
                <a:cs typeface="IBM Plex Sans" pitchFamily="34" charset="-120"/>
              </a:rPr>
              <a:t>OIDC</a:t>
            </a:r>
            <a:endParaRPr lang="en-US" sz="1600" dirty="0"/>
          </a:p>
        </p:txBody>
      </p:sp>
      <p:sp>
        <p:nvSpPr>
          <p:cNvPr id="24" name="Text 19"/>
          <p:cNvSpPr txBox="1"/>
          <p:nvPr/>
        </p:nvSpPr>
        <p:spPr>
          <a:xfrm>
            <a:off x="6451600" y="4762500"/>
            <a:ext cx="1333500" cy="228600"/>
          </a:xfrm>
          <a:prstGeom prst="rect">
            <a:avLst/>
          </a:prstGeom>
          <a:noFill/>
          <a:ln/>
        </p:spPr>
        <p:txBody>
          <a:bodyPr wrap="square" lIns="0" tIns="0" rIns="0" bIns="0" rtlCol="0" anchor="t"/>
          <a:lstStyle/>
          <a:p>
            <a:pPr indent="0" marL="0">
              <a:buNone/>
            </a:pPr>
            <a:r>
              <a:rPr lang="en-US" sz="1200" b="1" dirty="0">
                <a:solidFill>
                  <a:srgbClr val="0B4F7A"/>
                </a:solidFill>
                <a:latin typeface="JetBrains Mono" pitchFamily="34" charset="0"/>
                <a:ea typeface="JetBrains Mono" pitchFamily="34" charset="-122"/>
                <a:cs typeface="JetBrains Mono" pitchFamily="34" charset="-120"/>
              </a:rPr>
              <a:t>DÉPLOIEMENT</a:t>
            </a:r>
            <a:endParaRPr lang="en-US" sz="1200" dirty="0"/>
          </a:p>
        </p:txBody>
      </p:sp>
      <p:sp>
        <p:nvSpPr>
          <p:cNvPr id="25" name="Text 20"/>
          <p:cNvSpPr txBox="1"/>
          <p:nvPr/>
        </p:nvSpPr>
        <p:spPr>
          <a:xfrm>
            <a:off x="7874000" y="4711700"/>
            <a:ext cx="3302000" cy="317500"/>
          </a:xfrm>
          <a:prstGeom prst="rect">
            <a:avLst/>
          </a:prstGeom>
          <a:noFill/>
          <a:ln/>
        </p:spPr>
        <p:txBody>
          <a:bodyPr wrap="square" lIns="0" tIns="0" rIns="0" bIns="0" rtlCol="0" anchor="t"/>
          <a:lstStyle/>
          <a:p>
            <a:pPr indent="0" marL="0">
              <a:buNone/>
            </a:pPr>
            <a:r>
              <a:rPr lang="en-US" sz="1600" dirty="0">
                <a:solidFill>
                  <a:srgbClr val="16181D"/>
                </a:solidFill>
                <a:latin typeface="IBM Plex Sans" pitchFamily="34" charset="0"/>
                <a:ea typeface="IBM Plex Sans" pitchFamily="34" charset="-122"/>
                <a:cs typeface="IBM Plex Sans" pitchFamily="34" charset="-120"/>
              </a:rPr>
              <a:t>Docker, Jenkins, Kubernetes</a:t>
            </a:r>
            <a:endParaRPr lang="en-US" sz="16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4933950" cy="127000"/>
          </a:xfrm>
          <a:prstGeom prst="rect">
            <a:avLst/>
          </a:prstGeom>
          <a:solidFill>
            <a:srgbClr val="0B4F7A"/>
          </a:solidFill>
          <a:ln w="19050">
            <a:solidFill>
              <a:srgbClr val="16181D"/>
            </a:solidFill>
            <a:prstDash val="solid"/>
          </a:ln>
        </p:spPr>
      </p:sp>
      <p:sp>
        <p:nvSpPr>
          <p:cNvPr id="4" name="!!mk-sq"/>
          <p:cNvSpPr/>
          <p:nvPr/>
        </p:nvSpPr>
        <p:spPr>
          <a:xfrm>
            <a:off x="10922000" y="254000"/>
            <a:ext cx="457200" cy="4572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07 / 15 — RÉSULTATS</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10566400" cy="5715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RIPTIS en production le 20 août 2026</a:t>
            </a:r>
            <a:endParaRPr lang="en-US" sz="3600" dirty="0"/>
          </a:p>
        </p:txBody>
      </p:sp>
      <p:sp>
        <p:nvSpPr>
          <p:cNvPr id="11" name="Shape 6"/>
          <p:cNvSpPr/>
          <p:nvPr/>
        </p:nvSpPr>
        <p:spPr>
          <a:xfrm>
            <a:off x="812800" y="1587500"/>
            <a:ext cx="6096000" cy="404495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pic>
        <p:nvPicPr>
          <p:cNvPr id="12" name="Image 2" descr="Tableau de bord d’accueil de RIPTIS : 2 432 matrices centralisées">    </p:cNvPr>
          <p:cNvPicPr>
            <a:picLocks noChangeAspect="1"/>
          </p:cNvPicPr>
          <p:nvPr/>
        </p:nvPicPr>
        <p:blipFill>
          <a:blip r:embed="rId3"/>
          <a:stretch>
            <a:fillRect/>
          </a:stretch>
        </p:blipFill>
        <p:spPr>
          <a:xfrm>
            <a:off x="838200" y="1612900"/>
            <a:ext cx="6045200" cy="3994150"/>
          </a:xfrm>
          <a:prstGeom prst="rect">
            <a:avLst/>
          </a:prstGeom>
        </p:spPr>
      </p:pic>
      <p:sp>
        <p:nvSpPr>
          <p:cNvPr id="13" name="Text 7"/>
          <p:cNvSpPr txBox="1"/>
          <p:nvPr/>
        </p:nvSpPr>
        <p:spPr>
          <a:xfrm>
            <a:off x="7213600" y="1587500"/>
            <a:ext cx="4165600" cy="355600"/>
          </a:xfrm>
          <a:prstGeom prst="rect">
            <a:avLst/>
          </a:prstGeom>
          <a:noFill/>
          <a:ln/>
        </p:spPr>
        <p:txBody>
          <a:bodyPr wrap="square" lIns="0" tIns="0" rIns="0" bIns="0" rtlCol="0" anchor="t"/>
          <a:lstStyle/>
          <a:p>
            <a:pPr indent="0" marL="0">
              <a:buNone/>
            </a:pPr>
            <a:r>
              <a:rPr lang="en-US" sz="2000" b="1" dirty="0">
                <a:solidFill>
                  <a:srgbClr val="0B4F7A"/>
                </a:solidFill>
                <a:latin typeface="Space Grotesk" pitchFamily="34" charset="0"/>
                <a:ea typeface="Space Grotesk" pitchFamily="34" charset="-122"/>
                <a:cs typeface="Space Grotesk" pitchFamily="34" charset="-120"/>
              </a:rPr>
              <a:t>2 432 matrices</a:t>
            </a:r>
            <a:endParaRPr lang="en-US" sz="2000" dirty="0"/>
          </a:p>
        </p:txBody>
      </p:sp>
      <p:sp>
        <p:nvSpPr>
          <p:cNvPr id="14" name="Text 8"/>
          <p:cNvSpPr txBox="1"/>
          <p:nvPr/>
        </p:nvSpPr>
        <p:spPr>
          <a:xfrm>
            <a:off x="7213600" y="2159000"/>
            <a:ext cx="4165600" cy="2667000"/>
          </a:xfrm>
          <a:prstGeom prst="rect">
            <a:avLst/>
          </a:prstGeom>
          <a:noFill/>
          <a:ln/>
        </p:spPr>
        <p:txBody>
          <a:bodyPr wrap="square" lIns="0" tIns="0" rIns="0" bIns="0" rtlCol="0" anchor="t"/>
          <a:lstStyle/>
          <a:p>
            <a:pPr marL="279400" indent="-279400">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Import Excel multi-formats</a:t>
            </a:r>
            <a:endParaRPr lang="en-US" sz="1600" dirty="0"/>
          </a:p>
          <a:p>
            <a:pPr marL="279400" indent="-279400">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Recherche multicritère</a:t>
            </a:r>
            <a:endParaRPr lang="en-US" sz="1600" dirty="0"/>
          </a:p>
          <a:p>
            <a:pPr marL="279400" indent="-279400">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Recherche DNS</a:t>
            </a:r>
            <a:endParaRPr lang="en-US" sz="1600" dirty="0"/>
          </a:p>
          <a:p>
            <a:pPr marL="279400" indent="-279400">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Droits par OIDC</a:t>
            </a:r>
            <a:endParaRPr lang="en-US" sz="1600" dirty="0"/>
          </a:p>
          <a:p>
            <a:pPr marL="279400" indent="-279400">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Export Excel</a:t>
            </a:r>
            <a:endParaRPr lang="en-US" sz="1600" dirty="0"/>
          </a:p>
          <a:p>
            <a:pPr marL="279400" indent="-279400">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Sauvegarde PostgreSQL</a:t>
            </a:r>
            <a:endParaRPr lang="en-US" sz="16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5632450" cy="127000"/>
          </a:xfrm>
          <a:prstGeom prst="rect">
            <a:avLst/>
          </a:prstGeom>
          <a:solidFill>
            <a:srgbClr val="0B4F7A"/>
          </a:solidFill>
          <a:ln w="19050">
            <a:solidFill>
              <a:srgbClr val="16181D"/>
            </a:solidFill>
            <a:prstDash val="solid"/>
          </a:ln>
        </p:spPr>
      </p:sp>
      <p:sp>
        <p:nvSpPr>
          <p:cNvPr id="4" name="!!mk-sq"/>
          <p:cNvSpPr/>
          <p:nvPr/>
        </p:nvSpPr>
        <p:spPr>
          <a:xfrm rot="-900000">
            <a:off x="10922000" y="254000"/>
            <a:ext cx="457200" cy="4572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08 / 15 — RÉSULTATS</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10566400" cy="5715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Une recherche IP en quelques secondes</a:t>
            </a:r>
            <a:endParaRPr lang="en-US" sz="3600" dirty="0"/>
          </a:p>
        </p:txBody>
      </p:sp>
      <p:sp>
        <p:nvSpPr>
          <p:cNvPr id="11" name="Shape 6"/>
          <p:cNvSpPr/>
          <p:nvPr/>
        </p:nvSpPr>
        <p:spPr>
          <a:xfrm>
            <a:off x="812800" y="1587500"/>
            <a:ext cx="5130800" cy="337185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pic>
        <p:nvPicPr>
          <p:cNvPr id="12" name="Image 2" descr="Recherche multicritère par IP : 2 fichiers trouvés avec le détail de la route">    </p:cNvPr>
          <p:cNvPicPr>
            <a:picLocks noChangeAspect="1"/>
          </p:cNvPicPr>
          <p:nvPr/>
        </p:nvPicPr>
        <p:blipFill>
          <a:blip r:embed="rId3"/>
          <a:stretch>
            <a:fillRect/>
          </a:stretch>
        </p:blipFill>
        <p:spPr>
          <a:xfrm>
            <a:off x="838200" y="1612900"/>
            <a:ext cx="5080000" cy="3321050"/>
          </a:xfrm>
          <a:prstGeom prst="rect">
            <a:avLst/>
          </a:prstGeom>
        </p:spPr>
      </p:pic>
      <p:sp>
        <p:nvSpPr>
          <p:cNvPr id="13" name="Shape 7"/>
          <p:cNvSpPr/>
          <p:nvPr/>
        </p:nvSpPr>
        <p:spPr>
          <a:xfrm>
            <a:off x="6248400" y="1587500"/>
            <a:ext cx="5130800" cy="337185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pic>
        <p:nvPicPr>
          <p:cNvPr id="14" name="Image 3" descr="Recherche DNS : adresse IPv4 et alias CNAME">    </p:cNvPr>
          <p:cNvPicPr>
            <a:picLocks noChangeAspect="1"/>
          </p:cNvPicPr>
          <p:nvPr/>
        </p:nvPicPr>
        <p:blipFill>
          <a:blip r:embed="rId4"/>
          <a:stretch>
            <a:fillRect/>
          </a:stretch>
        </p:blipFill>
        <p:spPr>
          <a:xfrm>
            <a:off x="6273800" y="1612900"/>
            <a:ext cx="5080000" cy="3321050"/>
          </a:xfrm>
          <a:prstGeom prst="rect">
            <a:avLst/>
          </a:prstGeom>
        </p:spPr>
      </p:pic>
      <p:sp>
        <p:nvSpPr>
          <p:cNvPr id="15" name="Text 8"/>
          <p:cNvSpPr txBox="1"/>
          <p:nvPr/>
        </p:nvSpPr>
        <p:spPr>
          <a:xfrm>
            <a:off x="812800" y="5143500"/>
            <a:ext cx="5130800" cy="571500"/>
          </a:xfrm>
          <a:prstGeom prst="rect">
            <a:avLst/>
          </a:prstGeom>
          <a:noFill/>
          <a:ln/>
        </p:spPr>
        <p:txBody>
          <a:bodyPr wrap="square" lIns="0" tIns="0" rIns="0" bIns="0" rtlCol="0" anchor="t"/>
          <a:lstStyle/>
          <a:p>
            <a:pPr indent="0" marL="0">
              <a:buNone/>
            </a:pPr>
            <a:r>
              <a:rPr lang="en-US" sz="1400" dirty="0">
                <a:solidFill>
                  <a:srgbClr val="16181D"/>
                </a:solidFill>
                <a:latin typeface="IBM Plex Sans" pitchFamily="34" charset="0"/>
                <a:ea typeface="IBM Plex Sans" pitchFamily="34" charset="-122"/>
                <a:cs typeface="IBM Plex Sans" pitchFamily="34" charset="-120"/>
              </a:rPr>
              <a:t>Recherche multicritère : 2 fichiers sur 2 432 matrices, route détaillée</a:t>
            </a:r>
            <a:endParaRPr lang="en-US" sz="1400" dirty="0"/>
          </a:p>
        </p:txBody>
      </p:sp>
      <p:sp>
        <p:nvSpPr>
          <p:cNvPr id="16" name="Text 9"/>
          <p:cNvSpPr txBox="1"/>
          <p:nvPr/>
        </p:nvSpPr>
        <p:spPr>
          <a:xfrm>
            <a:off x="6248400" y="5143500"/>
            <a:ext cx="5130800" cy="571500"/>
          </a:xfrm>
          <a:prstGeom prst="rect">
            <a:avLst/>
          </a:prstGeom>
          <a:noFill/>
          <a:ln/>
        </p:spPr>
        <p:txBody>
          <a:bodyPr wrap="square" lIns="0" tIns="0" rIns="0" bIns="0" rtlCol="0" anchor="t"/>
          <a:lstStyle/>
          <a:p>
            <a:pPr indent="0" marL="0">
              <a:buNone/>
            </a:pPr>
            <a:r>
              <a:rPr lang="en-US" sz="1400" dirty="0">
                <a:solidFill>
                  <a:srgbClr val="16181D"/>
                </a:solidFill>
                <a:latin typeface="IBM Plex Sans" pitchFamily="34" charset="0"/>
                <a:ea typeface="IBM Plex Sans" pitchFamily="34" charset="-122"/>
                <a:cs typeface="IBM Plex Sans" pitchFamily="34" charset="-120"/>
              </a:rPr>
              <a:t>Recherche DNS : enrichissement des résultats</a:t>
            </a:r>
            <a:endParaRPr lang="en-US" sz="14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6337300" cy="127000"/>
          </a:xfrm>
          <a:prstGeom prst="rect">
            <a:avLst/>
          </a:prstGeom>
          <a:solidFill>
            <a:srgbClr val="0B4F7A"/>
          </a:solidFill>
          <a:ln w="19050">
            <a:solidFill>
              <a:srgbClr val="16181D"/>
            </a:solidFill>
            <a:prstDash val="solid"/>
          </a:ln>
        </p:spPr>
      </p:sp>
      <p:sp>
        <p:nvSpPr>
          <p:cNvPr id="4" name="!!mk-sq"/>
          <p:cNvSpPr/>
          <p:nvPr/>
        </p:nvSpPr>
        <p:spPr>
          <a:xfrm rot="900000">
            <a:off x="10922000" y="254000"/>
            <a:ext cx="457200" cy="4572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09 / 15 — DÉMARCHE</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10566400" cy="5715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Un mois de décalage en fin de projet</a:t>
            </a:r>
            <a:endParaRPr lang="en-US" sz="3600" dirty="0"/>
          </a:p>
        </p:txBody>
      </p:sp>
      <p:sp>
        <p:nvSpPr>
          <p:cNvPr id="11" name="Shape 6"/>
          <p:cNvSpPr/>
          <p:nvPr/>
        </p:nvSpPr>
        <p:spPr>
          <a:xfrm>
            <a:off x="812800" y="1587500"/>
            <a:ext cx="6985000" cy="362585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pic>
        <p:nvPicPr>
          <p:cNvPr id="12" name="Image 2" descr="Planning prévisionnel et réalisé sur la même échelle de temps">    </p:cNvPr>
          <p:cNvPicPr>
            <a:picLocks noChangeAspect="1"/>
          </p:cNvPicPr>
          <p:nvPr/>
        </p:nvPicPr>
        <p:blipFill>
          <a:blip r:embed="rId3"/>
          <a:stretch>
            <a:fillRect/>
          </a:stretch>
        </p:blipFill>
        <p:spPr>
          <a:xfrm>
            <a:off x="838200" y="1612900"/>
            <a:ext cx="6934200" cy="3575050"/>
          </a:xfrm>
          <a:prstGeom prst="rect">
            <a:avLst/>
          </a:prstGeom>
        </p:spPr>
      </p:pic>
      <p:sp>
        <p:nvSpPr>
          <p:cNvPr id="13" name="Shape 7"/>
          <p:cNvSpPr/>
          <p:nvPr/>
        </p:nvSpPr>
        <p:spPr>
          <a:xfrm>
            <a:off x="8102600" y="1587500"/>
            <a:ext cx="3276600" cy="13970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4" name="Text 8"/>
          <p:cNvSpPr txBox="1"/>
          <p:nvPr/>
        </p:nvSpPr>
        <p:spPr>
          <a:xfrm>
            <a:off x="8331200" y="1841500"/>
            <a:ext cx="2794000" cy="215900"/>
          </a:xfrm>
          <a:prstGeom prst="rect">
            <a:avLst/>
          </a:prstGeom>
          <a:noFill/>
          <a:ln/>
        </p:spPr>
        <p:txBody>
          <a:bodyPr wrap="square" lIns="0" tIns="0" rIns="0" bIns="0" rtlCol="0" anchor="t"/>
          <a:lstStyle/>
          <a:p>
            <a:pPr indent="0" marL="0">
              <a:buNone/>
            </a:pPr>
            <a:r>
              <a:rPr lang="en-US" sz="1200" b="1" spc="200" kern="0" dirty="0">
                <a:solidFill>
                  <a:srgbClr val="0B4F7A"/>
                </a:solidFill>
                <a:latin typeface="JetBrains Mono" pitchFamily="34" charset="0"/>
                <a:ea typeface="JetBrains Mono" pitchFamily="34" charset="-122"/>
                <a:cs typeface="JetBrains Mono" pitchFamily="34" charset="-120"/>
              </a:rPr>
              <a:t>PRÉVU</a:t>
            </a:r>
            <a:endParaRPr lang="en-US" sz="1200" dirty="0"/>
          </a:p>
        </p:txBody>
      </p:sp>
      <p:sp>
        <p:nvSpPr>
          <p:cNvPr id="15" name="Text 9"/>
          <p:cNvSpPr txBox="1"/>
          <p:nvPr/>
        </p:nvSpPr>
        <p:spPr>
          <a:xfrm>
            <a:off x="8331200" y="2222500"/>
            <a:ext cx="2794000" cy="406400"/>
          </a:xfrm>
          <a:prstGeom prst="rect">
            <a:avLst/>
          </a:prstGeom>
          <a:noFill/>
          <a:ln/>
        </p:spPr>
        <p:txBody>
          <a:bodyPr wrap="square" lIns="0" tIns="0" rIns="0" bIns="0" rtlCol="0" anchor="t"/>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Juillet 2026</a:t>
            </a:r>
            <a:endParaRPr lang="en-US" sz="2000" dirty="0"/>
          </a:p>
        </p:txBody>
      </p:sp>
      <p:sp>
        <p:nvSpPr>
          <p:cNvPr id="16" name="Shape 10"/>
          <p:cNvSpPr/>
          <p:nvPr/>
        </p:nvSpPr>
        <p:spPr>
          <a:xfrm>
            <a:off x="8102600" y="3136900"/>
            <a:ext cx="3276600" cy="13970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7" name="Text 11"/>
          <p:cNvSpPr txBox="1"/>
          <p:nvPr/>
        </p:nvSpPr>
        <p:spPr>
          <a:xfrm>
            <a:off x="8331200" y="3390900"/>
            <a:ext cx="2794000" cy="215900"/>
          </a:xfrm>
          <a:prstGeom prst="rect">
            <a:avLst/>
          </a:prstGeom>
          <a:noFill/>
          <a:ln/>
        </p:spPr>
        <p:txBody>
          <a:bodyPr wrap="square" lIns="0" tIns="0" rIns="0" bIns="0" rtlCol="0" anchor="t"/>
          <a:lstStyle/>
          <a:p>
            <a:pPr indent="0" marL="0">
              <a:buNone/>
            </a:pPr>
            <a:r>
              <a:rPr lang="en-US" sz="1200" b="1" spc="200" kern="0" dirty="0">
                <a:solidFill>
                  <a:srgbClr val="0B4F7A"/>
                </a:solidFill>
                <a:latin typeface="JetBrains Mono" pitchFamily="34" charset="0"/>
                <a:ea typeface="JetBrains Mono" pitchFamily="34" charset="-122"/>
                <a:cs typeface="JetBrains Mono" pitchFamily="34" charset="-120"/>
              </a:rPr>
              <a:t>RÉALISÉ</a:t>
            </a:r>
            <a:endParaRPr lang="en-US" sz="1200" dirty="0"/>
          </a:p>
        </p:txBody>
      </p:sp>
      <p:sp>
        <p:nvSpPr>
          <p:cNvPr id="18" name="Text 12"/>
          <p:cNvSpPr txBox="1"/>
          <p:nvPr/>
        </p:nvSpPr>
        <p:spPr>
          <a:xfrm>
            <a:off x="8331200" y="3771900"/>
            <a:ext cx="2794000" cy="406400"/>
          </a:xfrm>
          <a:prstGeom prst="rect">
            <a:avLst/>
          </a:prstGeom>
          <a:noFill/>
          <a:ln/>
        </p:spPr>
        <p:txBody>
          <a:bodyPr wrap="square" lIns="0" tIns="0" rIns="0" bIns="0" rtlCol="0" anchor="t"/>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20 août 2026</a:t>
            </a:r>
            <a:endParaRPr lang="en-US" sz="20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7042150" cy="127000"/>
          </a:xfrm>
          <a:prstGeom prst="rect">
            <a:avLst/>
          </a:prstGeom>
          <a:solidFill>
            <a:srgbClr val="0B4F7A"/>
          </a:solidFill>
          <a:ln w="19050">
            <a:solidFill>
              <a:srgbClr val="16181D"/>
            </a:solidFill>
            <a:prstDash val="solid"/>
          </a:ln>
        </p:spPr>
      </p:sp>
      <p:sp>
        <p:nvSpPr>
          <p:cNvPr id="4" name="!!mk-sq"/>
          <p:cNvSpPr/>
          <p:nvPr/>
        </p:nvSpPr>
        <p:spPr>
          <a:xfrm>
            <a:off x="10922000" y="254000"/>
            <a:ext cx="457200" cy="4572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10 / 15 — DÉMARCHE</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10566400" cy="5715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Deux imprévus, un arbitrage</a:t>
            </a:r>
            <a:endParaRPr lang="en-US" sz="3600" dirty="0"/>
          </a:p>
        </p:txBody>
      </p:sp>
      <p:sp>
        <p:nvSpPr>
          <p:cNvPr id="11" name="Shape 6"/>
          <p:cNvSpPr/>
          <p:nvPr/>
        </p:nvSpPr>
        <p:spPr>
          <a:xfrm>
            <a:off x="812800" y="1587500"/>
            <a:ext cx="5156200" cy="25400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2" name="Text 7"/>
          <p:cNvSpPr txBox="1"/>
          <p:nvPr/>
        </p:nvSpPr>
        <p:spPr>
          <a:xfrm>
            <a:off x="1041400" y="1816100"/>
            <a:ext cx="3810000" cy="215900"/>
          </a:xfrm>
          <a:prstGeom prst="rect">
            <a:avLst/>
          </a:prstGeom>
          <a:noFill/>
          <a:ln/>
        </p:spPr>
        <p:txBody>
          <a:bodyPr wrap="square" lIns="0" tIns="0" rIns="0" bIns="0" rtlCol="0" anchor="t"/>
          <a:lstStyle/>
          <a:p>
            <a:pPr indent="0" marL="0">
              <a:buNone/>
            </a:pPr>
            <a:r>
              <a:rPr lang="en-US" sz="1200" b="1" spc="200" kern="0" dirty="0">
                <a:solidFill>
                  <a:srgbClr val="0B4F7A"/>
                </a:solidFill>
                <a:latin typeface="JetBrains Mono" pitchFamily="34" charset="0"/>
                <a:ea typeface="JetBrains Mono" pitchFamily="34" charset="-122"/>
                <a:cs typeface="JetBrains Mono" pitchFamily="34" charset="-120"/>
              </a:rPr>
              <a:t>IMPRÉVU 01</a:t>
            </a:r>
            <a:endParaRPr lang="en-US" sz="1200" dirty="0"/>
          </a:p>
        </p:txBody>
      </p:sp>
      <p:sp>
        <p:nvSpPr>
          <p:cNvPr id="13" name="Text 8"/>
          <p:cNvSpPr txBox="1"/>
          <p:nvPr/>
        </p:nvSpPr>
        <p:spPr>
          <a:xfrm>
            <a:off x="1041400" y="2133600"/>
            <a:ext cx="4699000" cy="355600"/>
          </a:xfrm>
          <a:prstGeom prst="rect">
            <a:avLst/>
          </a:prstGeom>
          <a:noFill/>
          <a:ln/>
        </p:spPr>
        <p:txBody>
          <a:bodyPr wrap="square" lIns="0" tIns="0" rIns="0" bIns="0" rtlCol="0" anchor="t"/>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Accès et droits</a:t>
            </a:r>
            <a:endParaRPr lang="en-US" sz="2000" dirty="0"/>
          </a:p>
        </p:txBody>
      </p:sp>
      <p:sp>
        <p:nvSpPr>
          <p:cNvPr id="14" name="Text 9"/>
          <p:cNvSpPr txBox="1"/>
          <p:nvPr/>
        </p:nvSpPr>
        <p:spPr>
          <a:xfrm>
            <a:off x="1041400" y="2667000"/>
            <a:ext cx="4699000" cy="1270000"/>
          </a:xfrm>
          <a:prstGeom prst="rect">
            <a:avLst/>
          </a:prstGeom>
          <a:noFill/>
          <a:ln/>
        </p:spPr>
        <p:txBody>
          <a:bodyPr wrap="square" lIns="0" tIns="0" rIns="0" bIns="0" rtlCol="0" anchor="t"/>
          <a:lstStyle/>
          <a:p>
            <a:pPr indent="0" marL="0">
              <a:lnSpc>
                <a:spcPct val="105000"/>
              </a:lnSpc>
              <a:buNone/>
            </a:pPr>
            <a:r>
              <a:rPr lang="en-US" sz="1600" dirty="0">
                <a:solidFill>
                  <a:srgbClr val="16181D"/>
                </a:solidFill>
                <a:latin typeface="IBM Plex Sans" pitchFamily="34" charset="0"/>
                <a:ea typeface="IBM Plex Sans" pitchFamily="34" charset="-122"/>
                <a:cs typeface="IBM Plex Sans" pitchFamily="34" charset="-120"/>
              </a:rPr>
              <a:t>Autorisations nécessaires avant de pouvoir développer et tester. Demande anticipée dès mars 2026.</a:t>
            </a:r>
            <a:endParaRPr lang="en-US" sz="1600" dirty="0"/>
          </a:p>
        </p:txBody>
      </p:sp>
      <p:sp>
        <p:nvSpPr>
          <p:cNvPr id="15" name="Shape 10"/>
          <p:cNvSpPr/>
          <p:nvPr/>
        </p:nvSpPr>
        <p:spPr>
          <a:xfrm>
            <a:off x="6223000" y="1587500"/>
            <a:ext cx="5156200" cy="25400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6" name="Text 11"/>
          <p:cNvSpPr txBox="1"/>
          <p:nvPr/>
        </p:nvSpPr>
        <p:spPr>
          <a:xfrm>
            <a:off x="6451600" y="1816100"/>
            <a:ext cx="3810000" cy="215900"/>
          </a:xfrm>
          <a:prstGeom prst="rect">
            <a:avLst/>
          </a:prstGeom>
          <a:noFill/>
          <a:ln/>
        </p:spPr>
        <p:txBody>
          <a:bodyPr wrap="square" lIns="0" tIns="0" rIns="0" bIns="0" rtlCol="0" anchor="t"/>
          <a:lstStyle/>
          <a:p>
            <a:pPr indent="0" marL="0">
              <a:buNone/>
            </a:pPr>
            <a:r>
              <a:rPr lang="en-US" sz="1200" b="1" spc="200" kern="0" dirty="0">
                <a:solidFill>
                  <a:srgbClr val="0B4F7A"/>
                </a:solidFill>
                <a:latin typeface="JetBrains Mono" pitchFamily="34" charset="0"/>
                <a:ea typeface="JetBrains Mono" pitchFamily="34" charset="-122"/>
                <a:cs typeface="JetBrains Mono" pitchFamily="34" charset="-120"/>
              </a:rPr>
              <a:t>IMPRÉVU 02</a:t>
            </a:r>
            <a:endParaRPr lang="en-US" sz="1200" dirty="0"/>
          </a:p>
        </p:txBody>
      </p:sp>
      <p:sp>
        <p:nvSpPr>
          <p:cNvPr id="17" name="Text 12"/>
          <p:cNvSpPr txBox="1"/>
          <p:nvPr/>
        </p:nvSpPr>
        <p:spPr>
          <a:xfrm>
            <a:off x="6451600" y="2133600"/>
            <a:ext cx="4699000" cy="355600"/>
          </a:xfrm>
          <a:prstGeom prst="rect">
            <a:avLst/>
          </a:prstGeom>
          <a:noFill/>
          <a:ln/>
        </p:spPr>
        <p:txBody>
          <a:bodyPr wrap="square" lIns="0" tIns="0" rIns="0" bIns="0" rtlCol="0" anchor="t"/>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Fichiers hétérogènes</a:t>
            </a:r>
            <a:endParaRPr lang="en-US" sz="2000" dirty="0"/>
          </a:p>
        </p:txBody>
      </p:sp>
      <p:sp>
        <p:nvSpPr>
          <p:cNvPr id="18" name="Text 13"/>
          <p:cNvSpPr txBox="1"/>
          <p:nvPr/>
        </p:nvSpPr>
        <p:spPr>
          <a:xfrm>
            <a:off x="6451600" y="2667000"/>
            <a:ext cx="4699000" cy="1270000"/>
          </a:xfrm>
          <a:prstGeom prst="rect">
            <a:avLst/>
          </a:prstGeom>
          <a:noFill/>
          <a:ln/>
        </p:spPr>
        <p:txBody>
          <a:bodyPr wrap="square" lIns="0" tIns="0" rIns="0" bIns="0" rtlCol="0" anchor="t"/>
          <a:lstStyle/>
          <a:p>
            <a:pPr indent="0" marL="0">
              <a:lnSpc>
                <a:spcPct val="105000"/>
              </a:lnSpc>
              <a:buNone/>
            </a:pPr>
            <a:r>
              <a:rPr lang="en-US" sz="1600" dirty="0">
                <a:solidFill>
                  <a:srgbClr val="16181D"/>
                </a:solidFill>
                <a:latin typeface="IBM Plex Sans" pitchFamily="34" charset="0"/>
                <a:ea typeface="IBM Plex Sans" pitchFamily="34" charset="-122"/>
                <a:cs typeface="IBM Plex Sans" pitchFamily="34" charset="-120"/>
              </a:rPr>
              <a:t>Structures variées, jusqu’à 2003. Une vingtaine de fichiers particuliers identifiés en test.</a:t>
            </a:r>
            <a:endParaRPr lang="en-US" sz="1600" dirty="0"/>
          </a:p>
        </p:txBody>
      </p:sp>
      <p:sp>
        <p:nvSpPr>
          <p:cNvPr id="19" name="Shape 14"/>
          <p:cNvSpPr/>
          <p:nvPr/>
        </p:nvSpPr>
        <p:spPr>
          <a:xfrm>
            <a:off x="812800" y="4572000"/>
            <a:ext cx="10566400" cy="1016000"/>
          </a:xfrm>
          <a:prstGeom prst="rect">
            <a:avLst/>
          </a:prstGeom>
          <a:solidFill>
            <a:srgbClr val="16181D"/>
          </a:solidFill>
          <a:ln/>
        </p:spPr>
      </p:sp>
      <p:sp>
        <p:nvSpPr>
          <p:cNvPr id="20" name="Text 15"/>
          <p:cNvSpPr txBox="1"/>
          <p:nvPr/>
        </p:nvSpPr>
        <p:spPr>
          <a:xfrm>
            <a:off x="1066800" y="4572000"/>
            <a:ext cx="10058400" cy="1016000"/>
          </a:xfrm>
          <a:prstGeom prst="rect">
            <a:avLst/>
          </a:prstGeom>
          <a:noFill/>
          <a:ln/>
        </p:spPr>
        <p:txBody>
          <a:bodyPr wrap="square" lIns="0" tIns="0" rIns="0" bIns="0" rtlCol="0" anchor="ctr"/>
          <a:lstStyle/>
          <a:p>
            <a:pPr indent="0" marL="0">
              <a:buNone/>
            </a:pPr>
            <a:r>
              <a:rPr lang="en-US" sz="2000" b="1" dirty="0">
                <a:solidFill>
                  <a:srgbClr val="F3F0E8"/>
                </a:solidFill>
                <a:latin typeface="Space Grotesk" pitchFamily="34" charset="0"/>
                <a:ea typeface="Space Grotesk" pitchFamily="34" charset="-122"/>
                <a:cs typeface="Space Grotesk" pitchFamily="34" charset="-120"/>
              </a:rPr>
              <a:t>Arbitrage : privilégier la robustesse du moteur d’import plutôt que le calendrier initial.</a:t>
            </a:r>
            <a:endParaRPr lang="en-US" sz="20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7747000" cy="127000"/>
          </a:xfrm>
          <a:prstGeom prst="rect">
            <a:avLst/>
          </a:prstGeom>
          <a:solidFill>
            <a:srgbClr val="0B4F7A"/>
          </a:solidFill>
          <a:ln w="19050">
            <a:solidFill>
              <a:srgbClr val="16181D"/>
            </a:solidFill>
            <a:prstDash val="solid"/>
          </a:ln>
        </p:spPr>
      </p:sp>
      <p:sp>
        <p:nvSpPr>
          <p:cNvPr id="4" name="!!mk-sq"/>
          <p:cNvSpPr/>
          <p:nvPr/>
        </p:nvSpPr>
        <p:spPr>
          <a:xfrm rot="-900000">
            <a:off x="10922000" y="254000"/>
            <a:ext cx="457200" cy="4572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11 / 15 — RÉSULTATS</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10566400" cy="5715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Des gains estimés à confirmer</a:t>
            </a:r>
            <a:endParaRPr lang="en-US" sz="3600" dirty="0"/>
          </a:p>
        </p:txBody>
      </p:sp>
      <p:sp>
        <p:nvSpPr>
          <p:cNvPr id="11" name="Shape 6"/>
          <p:cNvSpPr/>
          <p:nvPr/>
        </p:nvSpPr>
        <p:spPr>
          <a:xfrm>
            <a:off x="812800" y="1587500"/>
            <a:ext cx="5181600" cy="16256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2" name="Text 7"/>
          <p:cNvSpPr txBox="1"/>
          <p:nvPr/>
        </p:nvSpPr>
        <p:spPr>
          <a:xfrm>
            <a:off x="1041400" y="1714500"/>
            <a:ext cx="4724400" cy="698500"/>
          </a:xfrm>
          <a:prstGeom prst="rect">
            <a:avLst/>
          </a:prstGeom>
          <a:noFill/>
          <a:ln/>
        </p:spPr>
        <p:txBody>
          <a:bodyPr wrap="square" lIns="0" tIns="0" rIns="0" bIns="0" rtlCol="0" anchor="t"/>
          <a:lstStyle/>
          <a:p>
            <a:pPr indent="0" marL="0">
              <a:buNone/>
            </a:pPr>
            <a:r>
              <a:rPr lang="en-US" sz="4800" b="1" dirty="0">
                <a:solidFill>
                  <a:srgbClr val="0B4F7A"/>
                </a:solidFill>
                <a:latin typeface="Space Grotesk" pitchFamily="34" charset="0"/>
                <a:ea typeface="Space Grotesk" pitchFamily="34" charset="-122"/>
                <a:cs typeface="Space Grotesk" pitchFamily="34" charset="-120"/>
              </a:rPr>
              <a:t>30 s</a:t>
            </a:r>
            <a:endParaRPr lang="en-US" sz="4800" dirty="0"/>
          </a:p>
        </p:txBody>
      </p:sp>
      <p:sp>
        <p:nvSpPr>
          <p:cNvPr id="13" name="Text 8"/>
          <p:cNvSpPr txBox="1"/>
          <p:nvPr/>
        </p:nvSpPr>
        <p:spPr>
          <a:xfrm>
            <a:off x="1041400" y="2476500"/>
            <a:ext cx="4724400" cy="609600"/>
          </a:xfrm>
          <a:prstGeom prst="rect">
            <a:avLst/>
          </a:prstGeom>
          <a:noFill/>
          <a:ln/>
        </p:spPr>
        <p:txBody>
          <a:bodyPr wrap="square" lIns="0" tIns="0" rIns="0" bIns="0" rtlCol="0" anchor="t"/>
          <a:lstStyle/>
          <a:p>
            <a:pPr indent="0" marL="0">
              <a:lnSpc>
                <a:spcPct val="105000"/>
              </a:lnSpc>
              <a:buNone/>
            </a:pPr>
            <a:r>
              <a:rPr lang="en-US" sz="1600" dirty="0">
                <a:solidFill>
                  <a:srgbClr val="16181D"/>
                </a:solidFill>
                <a:latin typeface="IBM Plex Sans" pitchFamily="34" charset="0"/>
                <a:ea typeface="IBM Plex Sans" pitchFamily="34" charset="-122"/>
                <a:cs typeface="IBM Plex Sans" pitchFamily="34" charset="-120"/>
              </a:rPr>
              <a:t>au lieu de 30–50 min pour retrouver une information</a:t>
            </a:r>
            <a:endParaRPr lang="en-US" sz="1600" dirty="0"/>
          </a:p>
        </p:txBody>
      </p:sp>
      <p:sp>
        <p:nvSpPr>
          <p:cNvPr id="14" name="Shape 9"/>
          <p:cNvSpPr/>
          <p:nvPr/>
        </p:nvSpPr>
        <p:spPr>
          <a:xfrm>
            <a:off x="6197600" y="1587500"/>
            <a:ext cx="5181600" cy="16256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5" name="Text 10"/>
          <p:cNvSpPr txBox="1"/>
          <p:nvPr/>
        </p:nvSpPr>
        <p:spPr>
          <a:xfrm>
            <a:off x="6426200" y="1714500"/>
            <a:ext cx="4724400" cy="698500"/>
          </a:xfrm>
          <a:prstGeom prst="rect">
            <a:avLst/>
          </a:prstGeom>
          <a:noFill/>
          <a:ln/>
        </p:spPr>
        <p:txBody>
          <a:bodyPr wrap="square" lIns="0" tIns="0" rIns="0" bIns="0" rtlCol="0" anchor="t"/>
          <a:lstStyle/>
          <a:p>
            <a:pPr indent="0" marL="0">
              <a:buNone/>
            </a:pPr>
            <a:r>
              <a:rPr lang="en-US" sz="4800" b="1" dirty="0">
                <a:solidFill>
                  <a:srgbClr val="0B4F7A"/>
                </a:solidFill>
                <a:latin typeface="Space Grotesk" pitchFamily="34" charset="0"/>
                <a:ea typeface="Space Grotesk" pitchFamily="34" charset="-122"/>
                <a:cs typeface="Space Grotesk" pitchFamily="34" charset="-120"/>
              </a:rPr>
              <a:t>−98,8 %</a:t>
            </a:r>
            <a:endParaRPr lang="en-US" sz="4800" dirty="0"/>
          </a:p>
        </p:txBody>
      </p:sp>
      <p:sp>
        <p:nvSpPr>
          <p:cNvPr id="16" name="Text 11"/>
          <p:cNvSpPr txBox="1"/>
          <p:nvPr/>
        </p:nvSpPr>
        <p:spPr>
          <a:xfrm>
            <a:off x="6426200" y="2476500"/>
            <a:ext cx="4724400" cy="609600"/>
          </a:xfrm>
          <a:prstGeom prst="rect">
            <a:avLst/>
          </a:prstGeom>
          <a:noFill/>
          <a:ln/>
        </p:spPr>
        <p:txBody>
          <a:bodyPr wrap="square" lIns="0" tIns="0" rIns="0" bIns="0" rtlCol="0" anchor="t"/>
          <a:lstStyle/>
          <a:p>
            <a:pPr indent="0" marL="0">
              <a:lnSpc>
                <a:spcPct val="105000"/>
              </a:lnSpc>
              <a:buNone/>
            </a:pPr>
            <a:r>
              <a:rPr lang="en-US" sz="1600" dirty="0">
                <a:solidFill>
                  <a:srgbClr val="16181D"/>
                </a:solidFill>
                <a:latin typeface="IBM Plex Sans" pitchFamily="34" charset="0"/>
                <a:ea typeface="IBM Plex Sans" pitchFamily="34" charset="-122"/>
                <a:cs typeface="IBM Plex Sans" pitchFamily="34" charset="-120"/>
              </a:rPr>
              <a:t>de temps de recherche (estimation)</a:t>
            </a:r>
            <a:endParaRPr lang="en-US" sz="1600" dirty="0"/>
          </a:p>
        </p:txBody>
      </p:sp>
      <p:sp>
        <p:nvSpPr>
          <p:cNvPr id="17" name="Shape 12"/>
          <p:cNvSpPr/>
          <p:nvPr/>
        </p:nvSpPr>
        <p:spPr>
          <a:xfrm>
            <a:off x="812800" y="3390900"/>
            <a:ext cx="5181600" cy="16256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8" name="Text 13"/>
          <p:cNvSpPr txBox="1"/>
          <p:nvPr/>
        </p:nvSpPr>
        <p:spPr>
          <a:xfrm>
            <a:off x="1041400" y="3517900"/>
            <a:ext cx="4724400" cy="698500"/>
          </a:xfrm>
          <a:prstGeom prst="rect">
            <a:avLst/>
          </a:prstGeom>
          <a:noFill/>
          <a:ln/>
        </p:spPr>
        <p:txBody>
          <a:bodyPr wrap="square" lIns="0" tIns="0" rIns="0" bIns="0" rtlCol="0" anchor="t"/>
          <a:lstStyle/>
          <a:p>
            <a:pPr indent="0" marL="0">
              <a:buNone/>
            </a:pPr>
            <a:r>
              <a:rPr lang="en-US" sz="4800" b="1" dirty="0">
                <a:solidFill>
                  <a:srgbClr val="0B4F7A"/>
                </a:solidFill>
                <a:latin typeface="Space Grotesk" pitchFamily="34" charset="0"/>
                <a:ea typeface="Space Grotesk" pitchFamily="34" charset="-122"/>
                <a:cs typeface="Space Grotesk" pitchFamily="34" charset="-120"/>
              </a:rPr>
              <a:t>× 30</a:t>
            </a:r>
            <a:endParaRPr lang="en-US" sz="4800" dirty="0"/>
          </a:p>
        </p:txBody>
      </p:sp>
      <p:sp>
        <p:nvSpPr>
          <p:cNvPr id="19" name="Text 14"/>
          <p:cNvSpPr txBox="1"/>
          <p:nvPr/>
        </p:nvSpPr>
        <p:spPr>
          <a:xfrm>
            <a:off x="1041400" y="4279900"/>
            <a:ext cx="4724400" cy="609600"/>
          </a:xfrm>
          <a:prstGeom prst="rect">
            <a:avLst/>
          </a:prstGeom>
          <a:noFill/>
          <a:ln/>
        </p:spPr>
        <p:txBody>
          <a:bodyPr wrap="square" lIns="0" tIns="0" rIns="0" bIns="0" rtlCol="0" anchor="t"/>
          <a:lstStyle/>
          <a:p>
            <a:pPr indent="0" marL="0">
              <a:lnSpc>
                <a:spcPct val="105000"/>
              </a:lnSpc>
              <a:buNone/>
            </a:pPr>
            <a:r>
              <a:rPr lang="en-US" sz="1600" dirty="0">
                <a:solidFill>
                  <a:srgbClr val="16181D"/>
                </a:solidFill>
                <a:latin typeface="IBM Plex Sans" pitchFamily="34" charset="0"/>
                <a:ea typeface="IBM Plex Sans" pitchFamily="34" charset="-122"/>
                <a:cs typeface="IBM Plex Sans" pitchFamily="34" charset="-120"/>
              </a:rPr>
              <a:t>recherches par heure : 1,5 → 120</a:t>
            </a:r>
            <a:endParaRPr lang="en-US" sz="1600" dirty="0"/>
          </a:p>
        </p:txBody>
      </p:sp>
      <p:sp>
        <p:nvSpPr>
          <p:cNvPr id="20" name="Shape 15"/>
          <p:cNvSpPr/>
          <p:nvPr/>
        </p:nvSpPr>
        <p:spPr>
          <a:xfrm>
            <a:off x="6197600" y="3390900"/>
            <a:ext cx="5181600" cy="16256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21" name="Text 16"/>
          <p:cNvSpPr txBox="1"/>
          <p:nvPr/>
        </p:nvSpPr>
        <p:spPr>
          <a:xfrm>
            <a:off x="6426200" y="3517900"/>
            <a:ext cx="4724400" cy="698500"/>
          </a:xfrm>
          <a:prstGeom prst="rect">
            <a:avLst/>
          </a:prstGeom>
          <a:noFill/>
          <a:ln/>
        </p:spPr>
        <p:txBody>
          <a:bodyPr wrap="square" lIns="0" tIns="0" rIns="0" bIns="0" rtlCol="0" anchor="t"/>
          <a:lstStyle/>
          <a:p>
            <a:pPr indent="0" marL="0">
              <a:buNone/>
            </a:pPr>
            <a:r>
              <a:rPr lang="en-US" sz="4800" b="1" dirty="0">
                <a:solidFill>
                  <a:srgbClr val="0B4F7A"/>
                </a:solidFill>
                <a:latin typeface="Space Grotesk" pitchFamily="34" charset="0"/>
                <a:ea typeface="Space Grotesk" pitchFamily="34" charset="-122"/>
                <a:cs typeface="Space Grotesk" pitchFamily="34" charset="-120"/>
              </a:rPr>
              <a:t>≈ 21 400 €</a:t>
            </a:r>
            <a:endParaRPr lang="en-US" sz="4800" dirty="0"/>
          </a:p>
        </p:txBody>
      </p:sp>
      <p:sp>
        <p:nvSpPr>
          <p:cNvPr id="22" name="Text 17"/>
          <p:cNvSpPr txBox="1"/>
          <p:nvPr/>
        </p:nvSpPr>
        <p:spPr>
          <a:xfrm>
            <a:off x="6426200" y="4279900"/>
            <a:ext cx="4724400" cy="609600"/>
          </a:xfrm>
          <a:prstGeom prst="rect">
            <a:avLst/>
          </a:prstGeom>
          <a:noFill/>
          <a:ln/>
        </p:spPr>
        <p:txBody>
          <a:bodyPr wrap="square" lIns="0" tIns="0" rIns="0" bIns="0" rtlCol="0" anchor="t"/>
          <a:lstStyle/>
          <a:p>
            <a:pPr indent="0" marL="0">
              <a:lnSpc>
                <a:spcPct val="105000"/>
              </a:lnSpc>
              <a:buNone/>
            </a:pPr>
            <a:r>
              <a:rPr lang="en-US" sz="1600" dirty="0">
                <a:solidFill>
                  <a:srgbClr val="16181D"/>
                </a:solidFill>
                <a:latin typeface="IBM Plex Sans" pitchFamily="34" charset="0"/>
                <a:ea typeface="IBM Plex Sans" pitchFamily="34" charset="-122"/>
                <a:cs typeface="IBM Plex Sans" pitchFamily="34" charset="-120"/>
              </a:rPr>
              <a:t>de temps libéré par an et par utilisateur (50 €/h)</a:t>
            </a:r>
            <a:endParaRPr lang="en-US" sz="1600" dirty="0"/>
          </a:p>
        </p:txBody>
      </p:sp>
      <p:sp>
        <p:nvSpPr>
          <p:cNvPr id="23" name="Text 18"/>
          <p:cNvSpPr txBox="1"/>
          <p:nvPr/>
        </p:nvSpPr>
        <p:spPr>
          <a:xfrm>
            <a:off x="812800" y="5334000"/>
            <a:ext cx="10566400" cy="444500"/>
          </a:xfrm>
          <a:prstGeom prst="rect">
            <a:avLst/>
          </a:prstGeom>
          <a:noFill/>
          <a:ln/>
        </p:spPr>
        <p:txBody>
          <a:bodyPr wrap="square" lIns="0" tIns="0" rIns="0" bIns="0" rtlCol="0" anchor="t"/>
          <a:lstStyle/>
          <a:p>
            <a:pPr indent="0" marL="0">
              <a:buNone/>
            </a:pPr>
            <a:r>
              <a:rPr lang="en-US" sz="1200" dirty="0">
                <a:solidFill>
                  <a:srgbClr val="4B5159"/>
                </a:solidFill>
                <a:latin typeface="IBM Plex Sans" pitchFamily="34" charset="0"/>
                <a:ea typeface="IBM Plex Sans" pitchFamily="34" charset="-122"/>
                <a:cs typeface="IBM Plex Sans" pitchFamily="34" charset="-120"/>
              </a:rPr>
              <a:t>Estimation de travail (moyenne de 40 minutes avant RIPTIS, environ 12 recherches par semaine) : aucun chronométrage n’a été réalisé avant le projet.</a:t>
            </a:r>
            <a:endParaRPr lang="en-US" sz="12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8451850" cy="127000"/>
          </a:xfrm>
          <a:prstGeom prst="rect">
            <a:avLst/>
          </a:prstGeom>
          <a:solidFill>
            <a:srgbClr val="0B4F7A"/>
          </a:solidFill>
          <a:ln w="19050">
            <a:solidFill>
              <a:srgbClr val="16181D"/>
            </a:solidFill>
            <a:prstDash val="solid"/>
          </a:ln>
        </p:spPr>
      </p:sp>
      <p:sp>
        <p:nvSpPr>
          <p:cNvPr id="4" name="!!mk-sq"/>
          <p:cNvSpPr/>
          <p:nvPr/>
        </p:nvSpPr>
        <p:spPr>
          <a:xfrm>
            <a:off x="10922000" y="254000"/>
            <a:ext cx="457200" cy="4572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12 / 15 — BILAN</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10566400" cy="5715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Bilan des objectifs initiaux</a:t>
            </a:r>
            <a:endParaRPr lang="en-US" sz="36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12800" y="1587500"/>
          <a:ext cx="10566400" cy="914400"/>
        </p:xfrm>
        <a:graphic>
          <a:graphicData uri="http://schemas.openxmlformats.org/drawingml/2006/table">
            <a:tbl>
              <a:tblPr/>
              <a:tblGrid>
                <a:gridCol w="3594100"/>
                <a:gridCol w="5073650"/>
                <a:gridCol w="1898650"/>
              </a:tblGrid>
              <a:tr h="431800">
                <a:tc>
                  <a:txBody>
                    <a:bodyPr/>
                    <a:lstStyle/>
                    <a:p>
                      <a:pPr indent="0" marL="0">
                        <a:buNone/>
                      </a:pPr>
                      <a:r>
                        <a:rPr lang="en-US" sz="1500" b="1" dirty="0">
                          <a:solidFill>
                            <a:srgbClr val="F3F0E8"/>
                          </a:solidFill>
                          <a:latin typeface="Space Grotesk" pitchFamily="34" charset="0"/>
                          <a:ea typeface="Space Grotesk" pitchFamily="34" charset="-122"/>
                          <a:cs typeface="Space Grotesk" pitchFamily="34" charset="-120"/>
                        </a:rPr>
                        <a:t>Objectif</a:t>
                      </a:r>
                      <a:endParaRPr lang="en-US" sz="1500" dirty="0">
                        <a:latin typeface="Space Grotesk" charset="0"/>
                        <a:ea typeface="Space Grotesk" charset="0"/>
                        <a:cs typeface="Space Grotesk"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16181D"/>
                    </a:solidFill>
                  </a:tcPr>
                </a:tc>
                <a:tc>
                  <a:txBody>
                    <a:bodyPr/>
                    <a:lstStyle/>
                    <a:p>
                      <a:pPr indent="0" marL="0">
                        <a:buNone/>
                      </a:pPr>
                      <a:r>
                        <a:rPr lang="en-US" sz="1500" b="1" dirty="0">
                          <a:solidFill>
                            <a:srgbClr val="F3F0E8"/>
                          </a:solidFill>
                          <a:latin typeface="Space Grotesk" pitchFamily="34" charset="0"/>
                          <a:ea typeface="Space Grotesk" pitchFamily="34" charset="-122"/>
                          <a:cs typeface="Space Grotesk" pitchFamily="34" charset="-120"/>
                        </a:rPr>
                        <a:t>Résultat</a:t>
                      </a:r>
                      <a:endParaRPr lang="en-US" sz="1500" dirty="0">
                        <a:latin typeface="Space Grotesk" charset="0"/>
                        <a:ea typeface="Space Grotesk" charset="0"/>
                        <a:cs typeface="Space Grotesk"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16181D"/>
                    </a:solidFill>
                  </a:tcPr>
                </a:tc>
                <a:tc>
                  <a:txBody>
                    <a:bodyPr/>
                    <a:lstStyle/>
                    <a:p>
                      <a:pPr indent="0" marL="0">
                        <a:buNone/>
                      </a:pPr>
                      <a:r>
                        <a:rPr lang="en-US" sz="1500" b="1" dirty="0">
                          <a:solidFill>
                            <a:srgbClr val="F3F0E8"/>
                          </a:solidFill>
                          <a:latin typeface="Space Grotesk" pitchFamily="34" charset="0"/>
                          <a:ea typeface="Space Grotesk" pitchFamily="34" charset="-122"/>
                          <a:cs typeface="Space Grotesk" pitchFamily="34" charset="-120"/>
                        </a:rPr>
                        <a:t>Statut</a:t>
                      </a:r>
                      <a:endParaRPr lang="en-US" sz="1500" dirty="0">
                        <a:latin typeface="Space Grotesk" charset="0"/>
                        <a:ea typeface="Space Grotesk" charset="0"/>
                        <a:cs typeface="Space Grotesk"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16181D"/>
                    </a:solidFill>
                  </a:tcPr>
                </a:tc>
              </a:tr>
              <a:tr h="431800">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Centraliser les matrices</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Import validé sur les fichiers testés</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b="1" dirty="0">
                          <a:solidFill>
                            <a:srgbClr val="16181D"/>
                          </a:solidFill>
                          <a:latin typeface="IBM Plex Sans" pitchFamily="34" charset="0"/>
                          <a:ea typeface="IBM Plex Sans" pitchFamily="34" charset="-122"/>
                          <a:cs typeface="IBM Plex Sans" pitchFamily="34" charset="-120"/>
                        </a:rPr>
                        <a:t>Atteint</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r>
              <a:tr h="431800">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Gérer les formats historiques</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~20 fichiers particuliers traités</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b="1" dirty="0">
                          <a:solidFill>
                            <a:srgbClr val="16181D"/>
                          </a:solidFill>
                          <a:latin typeface="IBM Plex Sans" pitchFamily="34" charset="0"/>
                          <a:ea typeface="IBM Plex Sans" pitchFamily="34" charset="-122"/>
                          <a:cs typeface="IBM Plex Sans" pitchFamily="34" charset="-120"/>
                        </a:rPr>
                        <a:t>Atteint</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r>
              <a:tr h="431800">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Sécuriser l’accès</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OIDC, rôles et permissions actifs</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b="1" dirty="0">
                          <a:solidFill>
                            <a:srgbClr val="16181D"/>
                          </a:solidFill>
                          <a:latin typeface="IBM Plex Sans" pitchFamily="34" charset="0"/>
                          <a:ea typeface="IBM Plex Sans" pitchFamily="34" charset="-122"/>
                          <a:cs typeface="IBM Plex Sans" pitchFamily="34" charset="-120"/>
                        </a:rPr>
                        <a:t>Atteint</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r>
              <a:tr h="431800">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Préserver les données</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Sauvegarde en place, procédure à écrire</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b="1" dirty="0">
                          <a:solidFill>
                            <a:srgbClr val="16181D"/>
                          </a:solidFill>
                          <a:latin typeface="IBM Plex Sans" pitchFamily="34" charset="0"/>
                          <a:ea typeface="IBM Plex Sans" pitchFamily="34" charset="-122"/>
                          <a:cs typeface="IBM Plex Sans" pitchFamily="34" charset="-120"/>
                        </a:rPr>
                        <a:t>Partiel</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r>
              <a:tr h="431800">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Recherche −70 %</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−98,8 % estimé, à chronométrer</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b="1" dirty="0">
                          <a:solidFill>
                            <a:srgbClr val="16181D"/>
                          </a:solidFill>
                          <a:latin typeface="IBM Plex Sans" pitchFamily="34" charset="0"/>
                          <a:ea typeface="IBM Plex Sans" pitchFamily="34" charset="-122"/>
                          <a:cs typeface="IBM Plex Sans" pitchFamily="34" charset="-120"/>
                        </a:rPr>
                        <a:t>À mesurer</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r>
              <a:tr h="431800">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Satisfaction ≥ 80 %</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Retours positifs, sans mesure formelle</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b="1" dirty="0">
                          <a:solidFill>
                            <a:srgbClr val="16181D"/>
                          </a:solidFill>
                          <a:latin typeface="IBM Plex Sans" pitchFamily="34" charset="0"/>
                          <a:ea typeface="IBM Plex Sans" pitchFamily="34" charset="-122"/>
                          <a:cs typeface="IBM Plex Sans" pitchFamily="34" charset="-120"/>
                        </a:rPr>
                        <a:t>À mesurer</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r>
              <a:tr h="431800">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Réponse &lt; 2 secondes</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Indexation PostgreSQL, à mesurer</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b="1" dirty="0">
                          <a:solidFill>
                            <a:srgbClr val="16181D"/>
                          </a:solidFill>
                          <a:latin typeface="IBM Plex Sans" pitchFamily="34" charset="0"/>
                          <a:ea typeface="IBM Plex Sans" pitchFamily="34" charset="-122"/>
                          <a:cs typeface="IBM Plex Sans" pitchFamily="34" charset="-120"/>
                        </a:rPr>
                        <a:t>À mesurer</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r>
            </a:tbl>
          </a:graphicData>
        </a:graphic>
      </p:graphicFrame>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9156700" cy="127000"/>
          </a:xfrm>
          <a:prstGeom prst="rect">
            <a:avLst/>
          </a:prstGeom>
          <a:solidFill>
            <a:srgbClr val="0B4F7A"/>
          </a:solidFill>
          <a:ln w="19050">
            <a:solidFill>
              <a:srgbClr val="16181D"/>
            </a:solidFill>
            <a:prstDash val="solid"/>
          </a:ln>
        </p:spPr>
      </p:sp>
      <p:sp>
        <p:nvSpPr>
          <p:cNvPr id="4" name="!!mk-sq"/>
          <p:cNvSpPr/>
          <p:nvPr/>
        </p:nvSpPr>
        <p:spPr>
          <a:xfrm rot="900000">
            <a:off x="10922000" y="254000"/>
            <a:ext cx="457200" cy="4572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13 / 15 — BILAN</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10566400" cy="5715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Compétences et retour critique</a:t>
            </a:r>
            <a:endParaRPr lang="en-US" sz="3600" dirty="0"/>
          </a:p>
        </p:txBody>
      </p:sp>
      <p:sp>
        <p:nvSpPr>
          <p:cNvPr id="11" name="Shape 6"/>
          <p:cNvSpPr/>
          <p:nvPr/>
        </p:nvSpPr>
        <p:spPr>
          <a:xfrm>
            <a:off x="812800" y="1587500"/>
            <a:ext cx="5156200" cy="33020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2" name="Text 7"/>
          <p:cNvSpPr txBox="1"/>
          <p:nvPr/>
        </p:nvSpPr>
        <p:spPr>
          <a:xfrm>
            <a:off x="1041400" y="1816100"/>
            <a:ext cx="4699000" cy="355600"/>
          </a:xfrm>
          <a:prstGeom prst="rect">
            <a:avLst/>
          </a:prstGeom>
          <a:noFill/>
          <a:ln/>
        </p:spPr>
        <p:txBody>
          <a:bodyPr wrap="square" lIns="0" tIns="0" rIns="0" bIns="0" rtlCol="0" anchor="t"/>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Compétences</a:t>
            </a:r>
            <a:endParaRPr lang="en-US" sz="2000" dirty="0"/>
          </a:p>
        </p:txBody>
      </p:sp>
      <p:sp>
        <p:nvSpPr>
          <p:cNvPr id="13" name="Text 8"/>
          <p:cNvSpPr txBox="1"/>
          <p:nvPr/>
        </p:nvSpPr>
        <p:spPr>
          <a:xfrm>
            <a:off x="1041400" y="2349500"/>
            <a:ext cx="4699000" cy="2413000"/>
          </a:xfrm>
          <a:prstGeom prst="rect">
            <a:avLst/>
          </a:prstGeom>
          <a:noFill/>
          <a:ln/>
        </p:spPr>
        <p:txBody>
          <a:bodyPr wrap="square" lIns="0" tIns="0" rIns="0" bIns="0" rtlCol="0" anchor="t"/>
          <a:lstStyle/>
          <a:p>
            <a:pPr marL="279400" indent="-279400">
              <a:lnSpc>
                <a:spcPct val="105000"/>
              </a:lnSpc>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Conception complète d’une application web</a:t>
            </a:r>
            <a:endParaRPr lang="en-US" sz="1600" dirty="0"/>
          </a:p>
          <a:p>
            <a:pPr marL="279400" indent="-279400">
              <a:lnSpc>
                <a:spcPct val="105000"/>
              </a:lnSpc>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Authentification OIDC et déploiement Kubernetes</a:t>
            </a:r>
            <a:endParaRPr lang="en-US" sz="1600" dirty="0"/>
          </a:p>
          <a:p>
            <a:pPr marL="279400" indent="-279400">
              <a:lnSpc>
                <a:spcPct val="105000"/>
              </a:lnSpc>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Moteur d’import générique sur données hétérogènes</a:t>
            </a:r>
            <a:endParaRPr lang="en-US" sz="1600" dirty="0"/>
          </a:p>
          <a:p>
            <a:pPr marL="279400" indent="-279400">
              <a:lnSpc>
                <a:spcPct val="105000"/>
              </a:lnSpc>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Co-pilotage : backlog, arbitrages, coordination</a:t>
            </a:r>
            <a:endParaRPr lang="en-US" sz="1600" dirty="0"/>
          </a:p>
        </p:txBody>
      </p:sp>
      <p:sp>
        <p:nvSpPr>
          <p:cNvPr id="14" name="Shape 9"/>
          <p:cNvSpPr/>
          <p:nvPr/>
        </p:nvSpPr>
        <p:spPr>
          <a:xfrm>
            <a:off x="6223000" y="1587500"/>
            <a:ext cx="5156200" cy="3302000"/>
          </a:xfrm>
          <a:prstGeom prst="rect">
            <a:avLst/>
          </a:prstGeom>
          <a:solidFill>
            <a:srgbClr val="16181D"/>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5" name="Text 10"/>
          <p:cNvSpPr txBox="1"/>
          <p:nvPr/>
        </p:nvSpPr>
        <p:spPr>
          <a:xfrm>
            <a:off x="6451600" y="1816100"/>
            <a:ext cx="4699000" cy="355600"/>
          </a:xfrm>
          <a:prstGeom prst="rect">
            <a:avLst/>
          </a:prstGeom>
          <a:noFill/>
          <a:ln/>
        </p:spPr>
        <p:txBody>
          <a:bodyPr wrap="square" lIns="0" tIns="0" rIns="0" bIns="0" rtlCol="0" anchor="t"/>
          <a:lstStyle/>
          <a:p>
            <a:pPr indent="0" marL="0">
              <a:buNone/>
            </a:pPr>
            <a:r>
              <a:rPr lang="en-US" sz="2000" b="1" dirty="0">
                <a:solidFill>
                  <a:srgbClr val="F3F0E8"/>
                </a:solidFill>
                <a:latin typeface="Space Grotesk" pitchFamily="34" charset="0"/>
                <a:ea typeface="Space Grotesk" pitchFamily="34" charset="-122"/>
                <a:cs typeface="Space Grotesk" pitchFamily="34" charset="-120"/>
              </a:rPr>
              <a:t>Retour critique</a:t>
            </a:r>
            <a:endParaRPr lang="en-US" sz="2000" dirty="0"/>
          </a:p>
        </p:txBody>
      </p:sp>
      <p:sp>
        <p:nvSpPr>
          <p:cNvPr id="16" name="Text 11"/>
          <p:cNvSpPr txBox="1"/>
          <p:nvPr/>
        </p:nvSpPr>
        <p:spPr>
          <a:xfrm>
            <a:off x="6451600" y="2349500"/>
            <a:ext cx="4699000" cy="1079500"/>
          </a:xfrm>
          <a:prstGeom prst="rect">
            <a:avLst/>
          </a:prstGeom>
          <a:noFill/>
          <a:ln/>
        </p:spPr>
        <p:txBody>
          <a:bodyPr wrap="square" lIns="0" tIns="0" rIns="0" bIns="0" rtlCol="0" anchor="t"/>
          <a:lstStyle/>
          <a:p>
            <a:pPr indent="0" marL="0">
              <a:lnSpc>
                <a:spcPct val="105000"/>
              </a:lnSpc>
              <a:buNone/>
            </a:pPr>
            <a:r>
              <a:rPr lang="en-US" sz="1600" dirty="0">
                <a:solidFill>
                  <a:srgbClr val="F3F0E8"/>
                </a:solidFill>
                <a:latin typeface="IBM Plex Sans" pitchFamily="34" charset="0"/>
                <a:ea typeface="IBM Plex Sans" pitchFamily="34" charset="-122"/>
                <a:cs typeface="IBM Plex Sans" pitchFamily="34" charset="-120"/>
              </a:rPr>
              <a:t>Pas de chronométrage avant/après dès le cadrage : les gains reposent sur une estimation.</a:t>
            </a:r>
            <a:endParaRPr lang="en-US" sz="1600" dirty="0"/>
          </a:p>
        </p:txBody>
      </p:sp>
      <p:sp>
        <p:nvSpPr>
          <p:cNvPr id="17" name="Text 12"/>
          <p:cNvSpPr txBox="1"/>
          <p:nvPr/>
        </p:nvSpPr>
        <p:spPr>
          <a:xfrm>
            <a:off x="6451600" y="3556000"/>
            <a:ext cx="4699000" cy="1079500"/>
          </a:xfrm>
          <a:prstGeom prst="rect">
            <a:avLst/>
          </a:prstGeom>
          <a:noFill/>
          <a:ln/>
        </p:spPr>
        <p:txBody>
          <a:bodyPr wrap="square" lIns="0" tIns="0" rIns="0" bIns="0" rtlCol="0" anchor="t"/>
          <a:lstStyle/>
          <a:p>
            <a:pPr indent="0" marL="0">
              <a:lnSpc>
                <a:spcPct val="105000"/>
              </a:lnSpc>
              <a:buNone/>
            </a:pPr>
            <a:r>
              <a:rPr lang="en-US" sz="1600" b="1" dirty="0">
                <a:solidFill>
                  <a:srgbClr val="F3F0E8"/>
                </a:solidFill>
                <a:latin typeface="IBM Plex Sans" pitchFamily="34" charset="0"/>
                <a:ea typeface="IBM Plex Sans" pitchFamily="34" charset="-122"/>
                <a:cs typeface="IBM Plex Sans" pitchFamily="34" charset="-120"/>
              </a:rPr>
              <a:t>La mesure d’impact aurait dû être instrumentée dès la note de cadrage.</a:t>
            </a:r>
            <a:endParaRPr lang="en-US" sz="16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9861550" cy="127000"/>
          </a:xfrm>
          <a:prstGeom prst="rect">
            <a:avLst/>
          </a:prstGeom>
          <a:solidFill>
            <a:srgbClr val="0B4F7A"/>
          </a:solidFill>
          <a:ln w="19050">
            <a:solidFill>
              <a:srgbClr val="16181D"/>
            </a:solidFill>
            <a:prstDash val="solid"/>
          </a:ln>
        </p:spPr>
      </p:sp>
      <p:sp>
        <p:nvSpPr>
          <p:cNvPr id="4" name="!!mk-sq"/>
          <p:cNvSpPr/>
          <p:nvPr/>
        </p:nvSpPr>
        <p:spPr>
          <a:xfrm rot="-900000">
            <a:off x="10922000" y="254000"/>
            <a:ext cx="457200" cy="4572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14 / 15 — BILAN</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10566400" cy="5715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Perspectives d’évolution</a:t>
            </a:r>
            <a:endParaRPr lang="en-US" sz="3600" dirty="0"/>
          </a:p>
        </p:txBody>
      </p:sp>
      <p:sp>
        <p:nvSpPr>
          <p:cNvPr id="11" name="Shape 6"/>
          <p:cNvSpPr/>
          <p:nvPr/>
        </p:nvSpPr>
        <p:spPr>
          <a:xfrm>
            <a:off x="812800" y="1587500"/>
            <a:ext cx="609600" cy="609600"/>
          </a:xfrm>
          <a:prstGeom prst="rect">
            <a:avLst/>
          </a:prstGeom>
          <a:solidFill>
            <a:srgbClr val="16181D"/>
          </a:solidFill>
          <a:ln/>
        </p:spPr>
      </p:sp>
      <p:sp>
        <p:nvSpPr>
          <p:cNvPr id="12" name="Text 7"/>
          <p:cNvSpPr txBox="1"/>
          <p:nvPr/>
        </p:nvSpPr>
        <p:spPr>
          <a:xfrm>
            <a:off x="812800" y="1587500"/>
            <a:ext cx="609600" cy="609600"/>
          </a:xfrm>
          <a:prstGeom prst="rect">
            <a:avLst/>
          </a:prstGeom>
          <a:noFill/>
          <a:ln/>
        </p:spPr>
        <p:txBody>
          <a:bodyPr wrap="square" lIns="0" tIns="0" rIns="0" bIns="0" rtlCol="0" anchor="ctr"/>
          <a:lstStyle/>
          <a:p>
            <a:pPr algn="ctr" indent="0" marL="0">
              <a:buNone/>
            </a:pPr>
            <a:r>
              <a:rPr lang="en-US" sz="2000" b="1" dirty="0">
                <a:solidFill>
                  <a:srgbClr val="F3F0E8"/>
                </a:solidFill>
                <a:latin typeface="Space Grotesk" pitchFamily="34" charset="0"/>
                <a:ea typeface="Space Grotesk" pitchFamily="34" charset="-122"/>
                <a:cs typeface="Space Grotesk" pitchFamily="34" charset="-120"/>
              </a:rPr>
              <a:t>01</a:t>
            </a:r>
            <a:endParaRPr lang="en-US" sz="2000" dirty="0"/>
          </a:p>
        </p:txBody>
      </p:sp>
      <p:sp>
        <p:nvSpPr>
          <p:cNvPr id="13" name="Shape 8"/>
          <p:cNvSpPr/>
          <p:nvPr/>
        </p:nvSpPr>
        <p:spPr>
          <a:xfrm>
            <a:off x="1422400" y="1587500"/>
            <a:ext cx="9956800" cy="609600"/>
          </a:xfrm>
          <a:prstGeom prst="rect">
            <a:avLst/>
          </a:prstGeom>
          <a:solidFill>
            <a:srgbClr val="FBF9F3"/>
          </a:solidFill>
          <a:ln w="25400">
            <a:solidFill>
              <a:srgbClr val="16181D"/>
            </a:solidFill>
            <a:prstDash val="solid"/>
          </a:ln>
        </p:spPr>
      </p:sp>
      <p:sp>
        <p:nvSpPr>
          <p:cNvPr id="14" name="Text 9"/>
          <p:cNvSpPr txBox="1"/>
          <p:nvPr/>
        </p:nvSpPr>
        <p:spPr>
          <a:xfrm>
            <a:off x="1625600" y="1587500"/>
            <a:ext cx="9588500" cy="609600"/>
          </a:xfrm>
          <a:prstGeom prst="rect">
            <a:avLst/>
          </a:prstGeom>
          <a:noFill/>
          <a:ln/>
        </p:spPr>
        <p:txBody>
          <a:bodyPr wrap="square" lIns="0" tIns="0" rIns="0" bIns="0" rtlCol="0" anchor="ctr"/>
          <a:lstStyle/>
          <a:p>
            <a:pPr indent="0" marL="0">
              <a:buNone/>
            </a:pPr>
            <a:r>
              <a:rPr lang="en-US" sz="1600" dirty="0">
                <a:solidFill>
                  <a:srgbClr val="16181D"/>
                </a:solidFill>
                <a:latin typeface="IBM Plex Sans" pitchFamily="34" charset="0"/>
                <a:ea typeface="IBM Plex Sans" pitchFamily="34" charset="-122"/>
                <a:cs typeface="IBM Plex Sans" pitchFamily="34" charset="-120"/>
              </a:rPr>
              <a:t>Formaliser la politique de sauvegarde (fréquence, conservation, tests de restauration)</a:t>
            </a:r>
            <a:endParaRPr lang="en-US" sz="1600" dirty="0"/>
          </a:p>
        </p:txBody>
      </p:sp>
      <p:sp>
        <p:nvSpPr>
          <p:cNvPr id="15" name="Shape 10"/>
          <p:cNvSpPr/>
          <p:nvPr/>
        </p:nvSpPr>
        <p:spPr>
          <a:xfrm>
            <a:off x="812800" y="2324100"/>
            <a:ext cx="609600" cy="609600"/>
          </a:xfrm>
          <a:prstGeom prst="rect">
            <a:avLst/>
          </a:prstGeom>
          <a:solidFill>
            <a:srgbClr val="16181D"/>
          </a:solidFill>
          <a:ln/>
        </p:spPr>
      </p:sp>
      <p:sp>
        <p:nvSpPr>
          <p:cNvPr id="16" name="Text 11"/>
          <p:cNvSpPr txBox="1"/>
          <p:nvPr/>
        </p:nvSpPr>
        <p:spPr>
          <a:xfrm>
            <a:off x="812800" y="2324100"/>
            <a:ext cx="609600" cy="609600"/>
          </a:xfrm>
          <a:prstGeom prst="rect">
            <a:avLst/>
          </a:prstGeom>
          <a:noFill/>
          <a:ln/>
        </p:spPr>
        <p:txBody>
          <a:bodyPr wrap="square" lIns="0" tIns="0" rIns="0" bIns="0" rtlCol="0" anchor="ctr"/>
          <a:lstStyle/>
          <a:p>
            <a:pPr algn="ctr" indent="0" marL="0">
              <a:buNone/>
            </a:pPr>
            <a:r>
              <a:rPr lang="en-US" sz="2000" b="1" dirty="0">
                <a:solidFill>
                  <a:srgbClr val="F3F0E8"/>
                </a:solidFill>
                <a:latin typeface="Space Grotesk" pitchFamily="34" charset="0"/>
                <a:ea typeface="Space Grotesk" pitchFamily="34" charset="-122"/>
                <a:cs typeface="Space Grotesk" pitchFamily="34" charset="-120"/>
              </a:rPr>
              <a:t>02</a:t>
            </a:r>
            <a:endParaRPr lang="en-US" sz="2000" dirty="0"/>
          </a:p>
        </p:txBody>
      </p:sp>
      <p:sp>
        <p:nvSpPr>
          <p:cNvPr id="17" name="Shape 12"/>
          <p:cNvSpPr/>
          <p:nvPr/>
        </p:nvSpPr>
        <p:spPr>
          <a:xfrm>
            <a:off x="1422400" y="2324100"/>
            <a:ext cx="9956800" cy="609600"/>
          </a:xfrm>
          <a:prstGeom prst="rect">
            <a:avLst/>
          </a:prstGeom>
          <a:solidFill>
            <a:srgbClr val="FBF9F3"/>
          </a:solidFill>
          <a:ln w="25400">
            <a:solidFill>
              <a:srgbClr val="16181D"/>
            </a:solidFill>
            <a:prstDash val="solid"/>
          </a:ln>
        </p:spPr>
      </p:sp>
      <p:sp>
        <p:nvSpPr>
          <p:cNvPr id="18" name="Text 13"/>
          <p:cNvSpPr txBox="1"/>
          <p:nvPr/>
        </p:nvSpPr>
        <p:spPr>
          <a:xfrm>
            <a:off x="1625600" y="2324100"/>
            <a:ext cx="9588500" cy="609600"/>
          </a:xfrm>
          <a:prstGeom prst="rect">
            <a:avLst/>
          </a:prstGeom>
          <a:noFill/>
          <a:ln/>
        </p:spPr>
        <p:txBody>
          <a:bodyPr wrap="square" lIns="0" tIns="0" rIns="0" bIns="0" rtlCol="0" anchor="ctr"/>
          <a:lstStyle/>
          <a:p>
            <a:pPr indent="0" marL="0">
              <a:buNone/>
            </a:pPr>
            <a:r>
              <a:rPr lang="en-US" sz="1600" dirty="0">
                <a:solidFill>
                  <a:srgbClr val="16181D"/>
                </a:solidFill>
                <a:latin typeface="IBM Plex Sans" pitchFamily="34" charset="0"/>
                <a:ea typeface="IBM Plex Sans" pitchFamily="34" charset="-122"/>
                <a:cs typeface="IBM Plex Sans" pitchFamily="34" charset="-120"/>
              </a:rPr>
              <a:t>Mesurer sur le terrain le temps de recherche et la satisfaction</a:t>
            </a:r>
            <a:endParaRPr lang="en-US" sz="1600" dirty="0"/>
          </a:p>
        </p:txBody>
      </p:sp>
      <p:sp>
        <p:nvSpPr>
          <p:cNvPr id="19" name="Shape 14"/>
          <p:cNvSpPr/>
          <p:nvPr/>
        </p:nvSpPr>
        <p:spPr>
          <a:xfrm>
            <a:off x="812800" y="3060700"/>
            <a:ext cx="609600" cy="609600"/>
          </a:xfrm>
          <a:prstGeom prst="rect">
            <a:avLst/>
          </a:prstGeom>
          <a:solidFill>
            <a:srgbClr val="16181D"/>
          </a:solidFill>
          <a:ln/>
        </p:spPr>
      </p:sp>
      <p:sp>
        <p:nvSpPr>
          <p:cNvPr id="20" name="Text 15"/>
          <p:cNvSpPr txBox="1"/>
          <p:nvPr/>
        </p:nvSpPr>
        <p:spPr>
          <a:xfrm>
            <a:off x="812800" y="3060700"/>
            <a:ext cx="609600" cy="609600"/>
          </a:xfrm>
          <a:prstGeom prst="rect">
            <a:avLst/>
          </a:prstGeom>
          <a:noFill/>
          <a:ln/>
        </p:spPr>
        <p:txBody>
          <a:bodyPr wrap="square" lIns="0" tIns="0" rIns="0" bIns="0" rtlCol="0" anchor="ctr"/>
          <a:lstStyle/>
          <a:p>
            <a:pPr algn="ctr" indent="0" marL="0">
              <a:buNone/>
            </a:pPr>
            <a:r>
              <a:rPr lang="en-US" sz="2000" b="1" dirty="0">
                <a:solidFill>
                  <a:srgbClr val="F3F0E8"/>
                </a:solidFill>
                <a:latin typeface="Space Grotesk" pitchFamily="34" charset="0"/>
                <a:ea typeface="Space Grotesk" pitchFamily="34" charset="-122"/>
                <a:cs typeface="Space Grotesk" pitchFamily="34" charset="-120"/>
              </a:rPr>
              <a:t>03</a:t>
            </a:r>
            <a:endParaRPr lang="en-US" sz="2000" dirty="0"/>
          </a:p>
        </p:txBody>
      </p:sp>
      <p:sp>
        <p:nvSpPr>
          <p:cNvPr id="21" name="Shape 16"/>
          <p:cNvSpPr/>
          <p:nvPr/>
        </p:nvSpPr>
        <p:spPr>
          <a:xfrm>
            <a:off x="1422400" y="3060700"/>
            <a:ext cx="9956800" cy="609600"/>
          </a:xfrm>
          <a:prstGeom prst="rect">
            <a:avLst/>
          </a:prstGeom>
          <a:solidFill>
            <a:srgbClr val="FBF9F3"/>
          </a:solidFill>
          <a:ln w="25400">
            <a:solidFill>
              <a:srgbClr val="16181D"/>
            </a:solidFill>
            <a:prstDash val="solid"/>
          </a:ln>
        </p:spPr>
      </p:sp>
      <p:sp>
        <p:nvSpPr>
          <p:cNvPr id="22" name="Text 17"/>
          <p:cNvSpPr txBox="1"/>
          <p:nvPr/>
        </p:nvSpPr>
        <p:spPr>
          <a:xfrm>
            <a:off x="1625600" y="3060700"/>
            <a:ext cx="9588500" cy="609600"/>
          </a:xfrm>
          <a:prstGeom prst="rect">
            <a:avLst/>
          </a:prstGeom>
          <a:noFill/>
          <a:ln/>
        </p:spPr>
        <p:txBody>
          <a:bodyPr wrap="square" lIns="0" tIns="0" rIns="0" bIns="0" rtlCol="0" anchor="ctr"/>
          <a:lstStyle/>
          <a:p>
            <a:pPr indent="0" marL="0">
              <a:buNone/>
            </a:pPr>
            <a:r>
              <a:rPr lang="en-US" sz="1600" dirty="0">
                <a:solidFill>
                  <a:srgbClr val="16181D"/>
                </a:solidFill>
                <a:latin typeface="IBM Plex Sans" pitchFamily="34" charset="0"/>
                <a:ea typeface="IBM Plex Sans" pitchFamily="34" charset="-122"/>
                <a:cs typeface="IBM Plex Sans" pitchFamily="34" charset="-120"/>
              </a:rPr>
              <a:t>Étendre le moteur d’import aux nouveaux formats de fichiers</a:t>
            </a:r>
            <a:endParaRPr lang="en-US" sz="1600" dirty="0"/>
          </a:p>
        </p:txBody>
      </p:sp>
      <p:sp>
        <p:nvSpPr>
          <p:cNvPr id="23" name="Shape 18"/>
          <p:cNvSpPr/>
          <p:nvPr/>
        </p:nvSpPr>
        <p:spPr>
          <a:xfrm>
            <a:off x="812800" y="3797300"/>
            <a:ext cx="609600" cy="609600"/>
          </a:xfrm>
          <a:prstGeom prst="rect">
            <a:avLst/>
          </a:prstGeom>
          <a:solidFill>
            <a:srgbClr val="16181D"/>
          </a:solidFill>
          <a:ln/>
        </p:spPr>
      </p:sp>
      <p:sp>
        <p:nvSpPr>
          <p:cNvPr id="24" name="Text 19"/>
          <p:cNvSpPr txBox="1"/>
          <p:nvPr/>
        </p:nvSpPr>
        <p:spPr>
          <a:xfrm>
            <a:off x="812800" y="3797300"/>
            <a:ext cx="609600" cy="609600"/>
          </a:xfrm>
          <a:prstGeom prst="rect">
            <a:avLst/>
          </a:prstGeom>
          <a:noFill/>
          <a:ln/>
        </p:spPr>
        <p:txBody>
          <a:bodyPr wrap="square" lIns="0" tIns="0" rIns="0" bIns="0" rtlCol="0" anchor="ctr"/>
          <a:lstStyle/>
          <a:p>
            <a:pPr algn="ctr" indent="0" marL="0">
              <a:buNone/>
            </a:pPr>
            <a:r>
              <a:rPr lang="en-US" sz="2000" b="1" dirty="0">
                <a:solidFill>
                  <a:srgbClr val="F3F0E8"/>
                </a:solidFill>
                <a:latin typeface="Space Grotesk" pitchFamily="34" charset="0"/>
                <a:ea typeface="Space Grotesk" pitchFamily="34" charset="-122"/>
                <a:cs typeface="Space Grotesk" pitchFamily="34" charset="-120"/>
              </a:rPr>
              <a:t>04</a:t>
            </a:r>
            <a:endParaRPr lang="en-US" sz="2000" dirty="0"/>
          </a:p>
        </p:txBody>
      </p:sp>
      <p:sp>
        <p:nvSpPr>
          <p:cNvPr id="25" name="Shape 20"/>
          <p:cNvSpPr/>
          <p:nvPr/>
        </p:nvSpPr>
        <p:spPr>
          <a:xfrm>
            <a:off x="1422400" y="3797300"/>
            <a:ext cx="9956800" cy="609600"/>
          </a:xfrm>
          <a:prstGeom prst="rect">
            <a:avLst/>
          </a:prstGeom>
          <a:solidFill>
            <a:srgbClr val="FBF9F3"/>
          </a:solidFill>
          <a:ln w="25400">
            <a:solidFill>
              <a:srgbClr val="16181D"/>
            </a:solidFill>
            <a:prstDash val="solid"/>
          </a:ln>
        </p:spPr>
      </p:sp>
      <p:sp>
        <p:nvSpPr>
          <p:cNvPr id="26" name="Text 21"/>
          <p:cNvSpPr txBox="1"/>
          <p:nvPr/>
        </p:nvSpPr>
        <p:spPr>
          <a:xfrm>
            <a:off x="1625600" y="3797300"/>
            <a:ext cx="9588500" cy="609600"/>
          </a:xfrm>
          <a:prstGeom prst="rect">
            <a:avLst/>
          </a:prstGeom>
          <a:noFill/>
          <a:ln/>
        </p:spPr>
        <p:txBody>
          <a:bodyPr wrap="square" lIns="0" tIns="0" rIns="0" bIns="0" rtlCol="0" anchor="ctr"/>
          <a:lstStyle/>
          <a:p>
            <a:pPr indent="0" marL="0">
              <a:buNone/>
            </a:pPr>
            <a:r>
              <a:rPr lang="en-US" sz="1600" dirty="0">
                <a:solidFill>
                  <a:srgbClr val="16181D"/>
                </a:solidFill>
                <a:latin typeface="IBM Plex Sans" pitchFamily="34" charset="0"/>
                <a:ea typeface="IBM Plex Sans" pitchFamily="34" charset="-122"/>
                <a:cs typeface="IBM Plex Sans" pitchFamily="34" charset="-120"/>
              </a:rPr>
              <a:t>Enrichir la recherche avec d’autres sources réseau, au-delà du DNS</a:t>
            </a:r>
            <a:endParaRPr lang="en-US" sz="1600" dirty="0"/>
          </a:p>
        </p:txBody>
      </p:sp>
      <p:sp>
        <p:nvSpPr>
          <p:cNvPr id="27" name="Shape 22"/>
          <p:cNvSpPr/>
          <p:nvPr/>
        </p:nvSpPr>
        <p:spPr>
          <a:xfrm>
            <a:off x="812800" y="4533900"/>
            <a:ext cx="609600" cy="609600"/>
          </a:xfrm>
          <a:prstGeom prst="rect">
            <a:avLst/>
          </a:prstGeom>
          <a:solidFill>
            <a:srgbClr val="16181D"/>
          </a:solidFill>
          <a:ln/>
        </p:spPr>
      </p:sp>
      <p:sp>
        <p:nvSpPr>
          <p:cNvPr id="28" name="Text 23"/>
          <p:cNvSpPr txBox="1"/>
          <p:nvPr/>
        </p:nvSpPr>
        <p:spPr>
          <a:xfrm>
            <a:off x="812800" y="4533900"/>
            <a:ext cx="609600" cy="609600"/>
          </a:xfrm>
          <a:prstGeom prst="rect">
            <a:avLst/>
          </a:prstGeom>
          <a:noFill/>
          <a:ln/>
        </p:spPr>
        <p:txBody>
          <a:bodyPr wrap="square" lIns="0" tIns="0" rIns="0" bIns="0" rtlCol="0" anchor="ctr"/>
          <a:lstStyle/>
          <a:p>
            <a:pPr algn="ctr" indent="0" marL="0">
              <a:buNone/>
            </a:pPr>
            <a:r>
              <a:rPr lang="en-US" sz="2000" b="1" dirty="0">
                <a:solidFill>
                  <a:srgbClr val="F3F0E8"/>
                </a:solidFill>
                <a:latin typeface="Space Grotesk" pitchFamily="34" charset="0"/>
                <a:ea typeface="Space Grotesk" pitchFamily="34" charset="-122"/>
                <a:cs typeface="Space Grotesk" pitchFamily="34" charset="-120"/>
              </a:rPr>
              <a:t>05</a:t>
            </a:r>
            <a:endParaRPr lang="en-US" sz="2000" dirty="0"/>
          </a:p>
        </p:txBody>
      </p:sp>
      <p:sp>
        <p:nvSpPr>
          <p:cNvPr id="29" name="Shape 24"/>
          <p:cNvSpPr/>
          <p:nvPr/>
        </p:nvSpPr>
        <p:spPr>
          <a:xfrm>
            <a:off x="1422400" y="4533900"/>
            <a:ext cx="9956800" cy="609600"/>
          </a:xfrm>
          <a:prstGeom prst="rect">
            <a:avLst/>
          </a:prstGeom>
          <a:solidFill>
            <a:srgbClr val="FBF9F3"/>
          </a:solidFill>
          <a:ln w="25400">
            <a:solidFill>
              <a:srgbClr val="16181D"/>
            </a:solidFill>
            <a:prstDash val="solid"/>
          </a:ln>
        </p:spPr>
      </p:sp>
      <p:sp>
        <p:nvSpPr>
          <p:cNvPr id="30" name="Text 25"/>
          <p:cNvSpPr txBox="1"/>
          <p:nvPr/>
        </p:nvSpPr>
        <p:spPr>
          <a:xfrm>
            <a:off x="1625600" y="4533900"/>
            <a:ext cx="9588500" cy="609600"/>
          </a:xfrm>
          <a:prstGeom prst="rect">
            <a:avLst/>
          </a:prstGeom>
          <a:noFill/>
          <a:ln/>
        </p:spPr>
        <p:txBody>
          <a:bodyPr wrap="square" lIns="0" tIns="0" rIns="0" bIns="0" rtlCol="0" anchor="ctr"/>
          <a:lstStyle/>
          <a:p>
            <a:pPr indent="0" marL="0">
              <a:buNone/>
            </a:pPr>
            <a:r>
              <a:rPr lang="en-US" sz="1600" dirty="0">
                <a:solidFill>
                  <a:srgbClr val="16181D"/>
                </a:solidFill>
                <a:latin typeface="IBM Plex Sans" pitchFamily="34" charset="0"/>
                <a:ea typeface="IBM Plex Sans" pitchFamily="34" charset="-122"/>
                <a:cs typeface="IBM Plex Sans" pitchFamily="34" charset="-120"/>
              </a:rPr>
              <a:t>Développer des tableaux de bord de type Grafana</a:t>
            </a:r>
            <a:endParaRPr lang="en-US" sz="16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10566400" cy="127000"/>
          </a:xfrm>
          <a:prstGeom prst="rect">
            <a:avLst/>
          </a:prstGeom>
          <a:solidFill>
            <a:srgbClr val="0B4F7A"/>
          </a:solidFill>
          <a:ln w="19050">
            <a:solidFill>
              <a:srgbClr val="16181D"/>
            </a:solidFill>
            <a:prstDash val="solid"/>
          </a:ln>
        </p:spPr>
      </p:sp>
      <p:sp>
        <p:nvSpPr>
          <p:cNvPr id="4" name="!!mk-sq"/>
          <p:cNvSpPr/>
          <p:nvPr/>
        </p:nvSpPr>
        <p:spPr>
          <a:xfrm>
            <a:off x="7823200" y="1270000"/>
            <a:ext cx="3048000" cy="30480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15 / 15 — CONCLUSION</a:t>
            </a:r>
            <a:endParaRPr lang="en-US" sz="1200" dirty="0"/>
          </a:p>
        </p:txBody>
      </p:sp>
      <p:sp>
        <p:nvSpPr>
          <p:cNvPr id="6" name="!!logo-plate"/>
          <p:cNvSpPr/>
          <p:nvPr/>
        </p:nvSpPr>
        <p:spPr>
          <a:xfrm>
            <a:off x="7823200" y="4699000"/>
            <a:ext cx="3556000" cy="5080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255000" y="4768850"/>
            <a:ext cx="673100" cy="361950"/>
          </a:xfrm>
          <a:prstGeom prst="rect">
            <a:avLst/>
          </a:prstGeom>
        </p:spPr>
      </p:pic>
      <p:pic>
        <p:nvPicPr>
          <p:cNvPr id="8" name="!!logo-tx" descr="Logo Transactis">    </p:cNvPr>
          <p:cNvPicPr>
            <a:picLocks noChangeAspect="1"/>
          </p:cNvPicPr>
          <p:nvPr/>
        </p:nvPicPr>
        <p:blipFill>
          <a:blip r:embed="rId2"/>
          <a:stretch>
            <a:fillRect/>
          </a:stretch>
        </p:blipFill>
        <p:spPr>
          <a:xfrm>
            <a:off x="9144000" y="4806950"/>
            <a:ext cx="1803400" cy="292100"/>
          </a:xfrm>
          <a:prstGeom prst="rect">
            <a:avLst/>
          </a:prstGeom>
        </p:spPr>
      </p:pic>
      <p:sp>
        <p:nvSpPr>
          <p:cNvPr id="10" name="Text 5"/>
          <p:cNvSpPr txBox="1"/>
          <p:nvPr/>
        </p:nvSpPr>
        <p:spPr>
          <a:xfrm>
            <a:off x="812800" y="812800"/>
            <a:ext cx="10566400" cy="5715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Conclusion</a:t>
            </a:r>
            <a:endParaRPr lang="en-US" sz="3600" dirty="0"/>
          </a:p>
        </p:txBody>
      </p:sp>
      <p:sp>
        <p:nvSpPr>
          <p:cNvPr id="11" name="Text 6"/>
          <p:cNvSpPr txBox="1"/>
          <p:nvPr/>
        </p:nvSpPr>
        <p:spPr>
          <a:xfrm>
            <a:off x="812800" y="2095500"/>
            <a:ext cx="5715000" cy="215900"/>
          </a:xfrm>
          <a:prstGeom prst="rect">
            <a:avLst/>
          </a:prstGeom>
          <a:noFill/>
          <a:ln/>
        </p:spPr>
        <p:txBody>
          <a:bodyPr wrap="square" lIns="0" tIns="0" rIns="0" bIns="0" rtlCol="0" anchor="t"/>
          <a:lstStyle/>
          <a:p>
            <a:pPr indent="0" marL="0">
              <a:buNone/>
            </a:pPr>
            <a:r>
              <a:rPr lang="en-US" sz="1200" b="1" spc="200" kern="0" dirty="0">
                <a:solidFill>
                  <a:srgbClr val="0B4F7A"/>
                </a:solidFill>
                <a:latin typeface="JetBrains Mono" pitchFamily="34" charset="0"/>
                <a:ea typeface="JetBrains Mono" pitchFamily="34" charset="-122"/>
                <a:cs typeface="JetBrains Mono" pitchFamily="34" charset="-120"/>
              </a:rPr>
              <a:t>TROIS PRÉCONISATIONS</a:t>
            </a:r>
            <a:endParaRPr lang="en-US" sz="1200" dirty="0"/>
          </a:p>
        </p:txBody>
      </p:sp>
      <p:sp>
        <p:nvSpPr>
          <p:cNvPr id="12" name="Text 7"/>
          <p:cNvSpPr txBox="1"/>
          <p:nvPr/>
        </p:nvSpPr>
        <p:spPr>
          <a:xfrm>
            <a:off x="812800" y="2565400"/>
            <a:ext cx="381000" cy="254000"/>
          </a:xfrm>
          <a:prstGeom prst="rect">
            <a:avLst/>
          </a:prstGeom>
          <a:noFill/>
          <a:ln/>
        </p:spPr>
        <p:txBody>
          <a:bodyPr wrap="square" lIns="0" tIns="0" rIns="0" bIns="0" rtlCol="0" anchor="t"/>
          <a:lstStyle/>
          <a:p>
            <a:pPr indent="0" marL="0">
              <a:buNone/>
            </a:pPr>
            <a:r>
              <a:rPr lang="en-US" sz="1400" b="1" dirty="0">
                <a:solidFill>
                  <a:srgbClr val="0B4F7A"/>
                </a:solidFill>
                <a:latin typeface="JetBrains Mono" pitchFamily="34" charset="0"/>
                <a:ea typeface="JetBrains Mono" pitchFamily="34" charset="-122"/>
                <a:cs typeface="JetBrains Mono" pitchFamily="34" charset="-120"/>
              </a:rPr>
              <a:t>01</a:t>
            </a:r>
            <a:endParaRPr lang="en-US" sz="1400" dirty="0"/>
          </a:p>
        </p:txBody>
      </p:sp>
      <p:sp>
        <p:nvSpPr>
          <p:cNvPr id="13" name="Text 8"/>
          <p:cNvSpPr txBox="1"/>
          <p:nvPr/>
        </p:nvSpPr>
        <p:spPr>
          <a:xfrm>
            <a:off x="1270000" y="2540000"/>
            <a:ext cx="6146800" cy="635000"/>
          </a:xfrm>
          <a:prstGeom prst="rect">
            <a:avLst/>
          </a:prstGeom>
          <a:noFill/>
          <a:ln/>
        </p:spPr>
        <p:txBody>
          <a:bodyPr wrap="square" lIns="0" tIns="0" rIns="0" bIns="0" rtlCol="0" anchor="t"/>
          <a:lstStyle/>
          <a:p>
            <a:pPr indent="0" marL="0">
              <a:buNone/>
            </a:pPr>
            <a:r>
              <a:rPr lang="en-US" sz="1600" dirty="0">
                <a:solidFill>
                  <a:srgbClr val="16181D"/>
                </a:solidFill>
                <a:latin typeface="IBM Plex Sans" pitchFamily="34" charset="0"/>
                <a:ea typeface="IBM Plex Sans" pitchFamily="34" charset="-122"/>
                <a:cs typeface="IBM Plex Sans" pitchFamily="34" charset="-120"/>
              </a:rPr>
              <a:t>Instrumenter la mesure d’impact dès le lancement du projet</a:t>
            </a:r>
            <a:endParaRPr lang="en-US" sz="1600" dirty="0"/>
          </a:p>
        </p:txBody>
      </p:sp>
      <p:sp>
        <p:nvSpPr>
          <p:cNvPr id="14" name="Text 9"/>
          <p:cNvSpPr txBox="1"/>
          <p:nvPr/>
        </p:nvSpPr>
        <p:spPr>
          <a:xfrm>
            <a:off x="812800" y="3263900"/>
            <a:ext cx="381000" cy="254000"/>
          </a:xfrm>
          <a:prstGeom prst="rect">
            <a:avLst/>
          </a:prstGeom>
          <a:noFill/>
          <a:ln/>
        </p:spPr>
        <p:txBody>
          <a:bodyPr wrap="square" lIns="0" tIns="0" rIns="0" bIns="0" rtlCol="0" anchor="t"/>
          <a:lstStyle/>
          <a:p>
            <a:pPr indent="0" marL="0">
              <a:buNone/>
            </a:pPr>
            <a:r>
              <a:rPr lang="en-US" sz="1400" b="1" dirty="0">
                <a:solidFill>
                  <a:srgbClr val="0B4F7A"/>
                </a:solidFill>
                <a:latin typeface="JetBrains Mono" pitchFamily="34" charset="0"/>
                <a:ea typeface="JetBrains Mono" pitchFamily="34" charset="-122"/>
                <a:cs typeface="JetBrains Mono" pitchFamily="34" charset="-120"/>
              </a:rPr>
              <a:t>02</a:t>
            </a:r>
            <a:endParaRPr lang="en-US" sz="1400" dirty="0"/>
          </a:p>
        </p:txBody>
      </p:sp>
      <p:sp>
        <p:nvSpPr>
          <p:cNvPr id="15" name="Text 10"/>
          <p:cNvSpPr txBox="1"/>
          <p:nvPr/>
        </p:nvSpPr>
        <p:spPr>
          <a:xfrm>
            <a:off x="1270000" y="3238500"/>
            <a:ext cx="6146800" cy="635000"/>
          </a:xfrm>
          <a:prstGeom prst="rect">
            <a:avLst/>
          </a:prstGeom>
          <a:noFill/>
          <a:ln/>
        </p:spPr>
        <p:txBody>
          <a:bodyPr wrap="square" lIns="0" tIns="0" rIns="0" bIns="0" rtlCol="0" anchor="t"/>
          <a:lstStyle/>
          <a:p>
            <a:pPr indent="0" marL="0">
              <a:buNone/>
            </a:pPr>
            <a:r>
              <a:rPr lang="en-US" sz="1600" dirty="0">
                <a:solidFill>
                  <a:srgbClr val="16181D"/>
                </a:solidFill>
                <a:latin typeface="IBM Plex Sans" pitchFamily="34" charset="0"/>
                <a:ea typeface="IBM Plex Sans" pitchFamily="34" charset="-122"/>
                <a:cs typeface="IBM Plex Sans" pitchFamily="34" charset="-120"/>
              </a:rPr>
              <a:t>Prévoir une marge pour l’hétérogénéité des données historiques</a:t>
            </a:r>
            <a:endParaRPr lang="en-US" sz="1600" dirty="0"/>
          </a:p>
        </p:txBody>
      </p:sp>
      <p:sp>
        <p:nvSpPr>
          <p:cNvPr id="16" name="Text 11"/>
          <p:cNvSpPr txBox="1"/>
          <p:nvPr/>
        </p:nvSpPr>
        <p:spPr>
          <a:xfrm>
            <a:off x="812800" y="3962400"/>
            <a:ext cx="381000" cy="254000"/>
          </a:xfrm>
          <a:prstGeom prst="rect">
            <a:avLst/>
          </a:prstGeom>
          <a:noFill/>
          <a:ln/>
        </p:spPr>
        <p:txBody>
          <a:bodyPr wrap="square" lIns="0" tIns="0" rIns="0" bIns="0" rtlCol="0" anchor="t"/>
          <a:lstStyle/>
          <a:p>
            <a:pPr indent="0" marL="0">
              <a:buNone/>
            </a:pPr>
            <a:r>
              <a:rPr lang="en-US" sz="1400" b="1" dirty="0">
                <a:solidFill>
                  <a:srgbClr val="0B4F7A"/>
                </a:solidFill>
                <a:latin typeface="JetBrains Mono" pitchFamily="34" charset="0"/>
                <a:ea typeface="JetBrains Mono" pitchFamily="34" charset="-122"/>
                <a:cs typeface="JetBrains Mono" pitchFamily="34" charset="-120"/>
              </a:rPr>
              <a:t>03</a:t>
            </a:r>
            <a:endParaRPr lang="en-US" sz="1400" dirty="0"/>
          </a:p>
        </p:txBody>
      </p:sp>
      <p:sp>
        <p:nvSpPr>
          <p:cNvPr id="17" name="Text 12"/>
          <p:cNvSpPr txBox="1"/>
          <p:nvPr/>
        </p:nvSpPr>
        <p:spPr>
          <a:xfrm>
            <a:off x="1270000" y="3937000"/>
            <a:ext cx="6146800" cy="635000"/>
          </a:xfrm>
          <a:prstGeom prst="rect">
            <a:avLst/>
          </a:prstGeom>
          <a:noFill/>
          <a:ln/>
        </p:spPr>
        <p:txBody>
          <a:bodyPr wrap="square" lIns="0" tIns="0" rIns="0" bIns="0" rtlCol="0" anchor="t"/>
          <a:lstStyle/>
          <a:p>
            <a:pPr indent="0" marL="0">
              <a:buNone/>
            </a:pPr>
            <a:r>
              <a:rPr lang="en-US" sz="1600" dirty="0">
                <a:solidFill>
                  <a:srgbClr val="16181D"/>
                </a:solidFill>
                <a:latin typeface="IBM Plex Sans" pitchFamily="34" charset="0"/>
                <a:ea typeface="IBM Plex Sans" pitchFamily="34" charset="-122"/>
                <a:cs typeface="IBM Plex Sans" pitchFamily="34" charset="-120"/>
              </a:rPr>
              <a:t>Ouvrir RIPTIS à d’autres outils réseau</a:t>
            </a:r>
            <a:endParaRPr lang="en-US" sz="1600" dirty="0"/>
          </a:p>
        </p:txBody>
      </p:sp>
      <p:sp>
        <p:nvSpPr>
          <p:cNvPr id="18" name="Text 13"/>
          <p:cNvSpPr txBox="1"/>
          <p:nvPr/>
        </p:nvSpPr>
        <p:spPr>
          <a:xfrm>
            <a:off x="812800" y="5080000"/>
            <a:ext cx="6604000" cy="825500"/>
          </a:xfrm>
          <a:prstGeom prst="rect">
            <a:avLst/>
          </a:prstGeom>
          <a:noFill/>
          <a:ln/>
        </p:spPr>
        <p:txBody>
          <a:bodyPr wrap="square" lIns="0" tIns="0" rIns="0" bIns="0" rtlCol="0" anchor="t"/>
          <a:lstStyle/>
          <a:p>
            <a:pPr indent="0" marL="0">
              <a:buNone/>
            </a:pPr>
            <a:r>
              <a:rPr lang="en-US" sz="4800" b="1" dirty="0">
                <a:solidFill>
                  <a:srgbClr val="16181D"/>
                </a:solidFill>
                <a:latin typeface="Space Grotesk" pitchFamily="34" charset="0"/>
                <a:ea typeface="Space Grotesk" pitchFamily="34" charset="-122"/>
                <a:cs typeface="Space Grotesk" pitchFamily="34" charset="-120"/>
              </a:rPr>
              <a:t>Merci.</a:t>
            </a:r>
            <a:endParaRPr lang="en-US" sz="48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Soutenance RIPTIS</dc:title>
  <dc:subject>PptxGenJS Presentation</dc:subject>
  <dc:creator>PptxGenJS</dc:creator>
  <cp:lastModifiedBy>PptxGenJS</cp:lastModifiedBy>
  <cp:revision>1</cp:revision>
  <dcterms:created xsi:type="dcterms:W3CDTF">2026-09-30T22:02:40Z</dcterms:created>
  <dcterms:modified xsi:type="dcterms:W3CDTF">2026-09-30T22:02:40Z</dcterms:modified>
</cp:coreProperties>
</file>