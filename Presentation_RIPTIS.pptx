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pic>
        <p:nvPicPr>
          <p:cNvPr id="15" name="Image 2" descr="../img/ic_globe_b.png">    </p:cNvPr>
          <p:cNvPicPr>
            <a:picLocks noChangeAspect="1"/>
          </p:cNvPicPr>
          <p:nvPr/>
        </p:nvPicPr>
        <p:blipFill>
          <a:blip r:embed="rId3"/>
          <a:stretch>
            <a:fillRect/>
          </a:stretch>
        </p:blipFill>
        <p:spPr>
          <a:xfrm>
            <a:off x="2768600" y="2095500"/>
            <a:ext cx="304800" cy="304800"/>
          </a:xfrm>
          <a:prstGeom prst="rect">
            <a:avLst/>
          </a:prstGeom>
        </p:spPr>
      </p:pic>
      <p:sp>
        <p:nvSpPr>
          <p:cNvPr id="16"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8"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9"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pic>
        <p:nvPicPr>
          <p:cNvPr id="20" name="Image 3" descr="../img/ic_settings_b.png">    </p:cNvPr>
          <p:cNvPicPr>
            <a:picLocks noChangeAspect="1"/>
          </p:cNvPicPr>
          <p:nvPr/>
        </p:nvPicPr>
        <p:blipFill>
          <a:blip r:embed="rId4"/>
          <a:stretch>
            <a:fillRect/>
          </a:stretch>
        </p:blipFill>
        <p:spPr>
          <a:xfrm>
            <a:off x="5461000" y="2095500"/>
            <a:ext cx="304800" cy="304800"/>
          </a:xfrm>
          <a:prstGeom prst="rect">
            <a:avLst/>
          </a:prstGeom>
        </p:spPr>
      </p:pic>
      <p:sp>
        <p:nvSpPr>
          <p:cNvPr id="21"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2"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3"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4"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pic>
        <p:nvPicPr>
          <p:cNvPr id="25" name="Image 4" descr="../img/ic_chart_b.png">    </p:cNvPr>
          <p:cNvPicPr>
            <a:picLocks noChangeAspect="1"/>
          </p:cNvPicPr>
          <p:nvPr/>
        </p:nvPicPr>
        <p:blipFill>
          <a:blip r:embed="rId5"/>
          <a:stretch>
            <a:fillRect/>
          </a:stretch>
        </p:blipFill>
        <p:spPr>
          <a:xfrm>
            <a:off x="8153400" y="2095500"/>
            <a:ext cx="304800" cy="304800"/>
          </a:xfrm>
          <a:prstGeom prst="rect">
            <a:avLst/>
          </a:prstGeom>
        </p:spPr>
      </p:pic>
      <p:sp>
        <p:nvSpPr>
          <p:cNvPr id="26"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7"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8"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9"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pic>
        <p:nvPicPr>
          <p:cNvPr id="30" name="Image 5" descr="../img/ic_check_b.png">    </p:cNvPr>
          <p:cNvPicPr>
            <a:picLocks noChangeAspect="1"/>
          </p:cNvPicPr>
          <p:nvPr/>
        </p:nvPicPr>
        <p:blipFill>
          <a:blip r:embed="rId6"/>
          <a:stretch>
            <a:fillRect/>
          </a:stretch>
        </p:blipFill>
        <p:spPr>
          <a:xfrm>
            <a:off x="10845800" y="2095500"/>
            <a:ext cx="304800" cy="30480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pic>
        <p:nvPicPr>
          <p:cNvPr id="14" name="Image 2" descr="../img/ic_trust_b.png">    </p:cNvPr>
          <p:cNvPicPr>
            <a:picLocks noChangeAspect="1"/>
          </p:cNvPicPr>
          <p:nvPr/>
        </p:nvPicPr>
        <p:blipFill>
          <a:blip r:embed="rId3"/>
          <a:stretch>
            <a:fillRect/>
          </a:stretch>
        </p:blipFill>
        <p:spPr>
          <a:xfrm>
            <a:off x="3581400" y="2324100"/>
            <a:ext cx="355600" cy="355600"/>
          </a:xfrm>
          <a:prstGeom prst="rect">
            <a:avLst/>
          </a:prstGeom>
        </p:spPr>
      </p:pic>
      <p:sp>
        <p:nvSpPr>
          <p:cNvPr id="15"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7"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pic>
        <p:nvPicPr>
          <p:cNvPr id="18" name="Image 3" descr="../img/ic_database_b.png">    </p:cNvPr>
          <p:cNvPicPr>
            <a:picLocks noChangeAspect="1"/>
          </p:cNvPicPr>
          <p:nvPr/>
        </p:nvPicPr>
        <p:blipFill>
          <a:blip r:embed="rId4"/>
          <a:stretch>
            <a:fillRect/>
          </a:stretch>
        </p:blipFill>
        <p:spPr>
          <a:xfrm>
            <a:off x="7188200" y="2324100"/>
            <a:ext cx="355600" cy="355600"/>
          </a:xfrm>
          <a:prstGeom prst="rect">
            <a:avLst/>
          </a:prstGeom>
        </p:spPr>
      </p:pic>
      <p:sp>
        <p:nvSpPr>
          <p:cNvPr id="19"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21"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pic>
        <p:nvPicPr>
          <p:cNvPr id="22" name="Image 4" descr="../img/ic_clock_b.png">    </p:cNvPr>
          <p:cNvPicPr>
            <a:picLocks noChangeAspect="1"/>
          </p:cNvPicPr>
          <p:nvPr/>
        </p:nvPicPr>
        <p:blipFill>
          <a:blip r:embed="rId5"/>
          <a:stretch>
            <a:fillRect/>
          </a:stretch>
        </p:blipFill>
        <p:spPr>
          <a:xfrm>
            <a:off x="10795000" y="2324100"/>
            <a:ext cx="355600" cy="355600"/>
          </a:xfrm>
          <a:prstGeom prst="rect">
            <a:avLst/>
          </a:prstGeom>
        </p:spPr>
      </p:pic>
      <p:sp>
        <p:nvSpPr>
          <p:cNvPr id="23"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273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sp>
        <p:nvSpPr>
          <p:cNvPr id="17" name="Text 12"/>
          <p:cNvSpPr txBox="1"/>
          <p:nvPr/>
        </p:nvSpPr>
        <p:spPr>
          <a:xfrm>
            <a:off x="7874000" y="24765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Next.js, React, TypeScript</a:t>
            </a:r>
            <a:endParaRPr lang="en-US" sz="1600" dirty="0"/>
          </a:p>
        </p:txBody>
      </p:sp>
      <p:sp>
        <p:nvSpPr>
          <p:cNvPr id="18" name="Text 13"/>
          <p:cNvSpPr txBox="1"/>
          <p:nvPr/>
        </p:nvSpPr>
        <p:spPr>
          <a:xfrm>
            <a:off x="6451600" y="30861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sp>
        <p:nvSpPr>
          <p:cNvPr id="19" name="Text 14"/>
          <p:cNvSpPr txBox="1"/>
          <p:nvPr/>
        </p:nvSpPr>
        <p:spPr>
          <a:xfrm>
            <a:off x="7874000" y="30353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Node.js, Express</a:t>
            </a:r>
            <a:endParaRPr lang="en-US" sz="1600" dirty="0"/>
          </a:p>
        </p:txBody>
      </p:sp>
      <p:sp>
        <p:nvSpPr>
          <p:cNvPr id="20" name="Text 15"/>
          <p:cNvSpPr txBox="1"/>
          <p:nvPr/>
        </p:nvSpPr>
        <p:spPr>
          <a:xfrm>
            <a:off x="6451600" y="36449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sp>
        <p:nvSpPr>
          <p:cNvPr id="21" name="Text 16"/>
          <p:cNvSpPr txBox="1"/>
          <p:nvPr/>
        </p:nvSpPr>
        <p:spPr>
          <a:xfrm>
            <a:off x="7874000" y="35941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PostgreSQL, Sequelize</a:t>
            </a:r>
            <a:endParaRPr lang="en-US" sz="1600" dirty="0"/>
          </a:p>
        </p:txBody>
      </p:sp>
      <p:sp>
        <p:nvSpPr>
          <p:cNvPr id="22" name="Text 17"/>
          <p:cNvSpPr txBox="1"/>
          <p:nvPr/>
        </p:nvSpPr>
        <p:spPr>
          <a:xfrm>
            <a:off x="6451600" y="42037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sp>
        <p:nvSpPr>
          <p:cNvPr id="23" name="Text 18"/>
          <p:cNvSpPr txBox="1"/>
          <p:nvPr/>
        </p:nvSpPr>
        <p:spPr>
          <a:xfrm>
            <a:off x="7874000" y="41529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OIDC</a:t>
            </a:r>
            <a:endParaRPr lang="en-US" sz="1600" dirty="0"/>
          </a:p>
        </p:txBody>
      </p:sp>
      <p:sp>
        <p:nvSpPr>
          <p:cNvPr id="24" name="Text 19"/>
          <p:cNvSpPr txBox="1"/>
          <p:nvPr/>
        </p:nvSpPr>
        <p:spPr>
          <a:xfrm>
            <a:off x="6451600" y="47625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sp>
        <p:nvSpPr>
          <p:cNvPr id="25" name="Text 20"/>
          <p:cNvSpPr txBox="1"/>
          <p:nvPr/>
        </p:nvSpPr>
        <p:spPr>
          <a:xfrm>
            <a:off x="7874000" y="4711700"/>
            <a:ext cx="3302000" cy="3175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Docker, Jenkins, Kubernetes</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pic>
        <p:nvPicPr>
          <p:cNvPr id="15" name="Image 2" descr="../img/ic_lock_b.png">    </p:cNvPr>
          <p:cNvPicPr>
            <a:picLocks noChangeAspect="1"/>
          </p:cNvPicPr>
          <p:nvPr/>
        </p:nvPicPr>
        <p:blipFill>
          <a:blip r:embed="rId3"/>
          <a:stretch>
            <a:fillRect/>
          </a:stretch>
        </p:blipFill>
        <p:spPr>
          <a:xfrm>
            <a:off x="5435600" y="1778000"/>
            <a:ext cx="304800" cy="304800"/>
          </a:xfrm>
          <a:prstGeom prst="rect">
            <a:avLst/>
          </a:prstGeom>
        </p:spPr>
      </p:pic>
      <p:sp>
        <p:nvSpPr>
          <p:cNvPr id="16"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8"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9"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pic>
        <p:nvPicPr>
          <p:cNvPr id="20" name="Image 3" descr="../img/ic_database_b.png">    </p:cNvPr>
          <p:cNvPicPr>
            <a:picLocks noChangeAspect="1"/>
          </p:cNvPicPr>
          <p:nvPr/>
        </p:nvPicPr>
        <p:blipFill>
          <a:blip r:embed="rId4"/>
          <a:stretch>
            <a:fillRect/>
          </a:stretch>
        </p:blipFill>
        <p:spPr>
          <a:xfrm>
            <a:off x="10845800" y="1778000"/>
            <a:ext cx="304800" cy="304800"/>
          </a:xfrm>
          <a:prstGeom prst="rect">
            <a:avLst/>
          </a:prstGeom>
        </p:spPr>
      </p:pic>
      <p:sp>
        <p:nvSpPr>
          <p:cNvPr id="21" name="Shape 14"/>
          <p:cNvSpPr/>
          <p:nvPr/>
        </p:nvSpPr>
        <p:spPr>
          <a:xfrm>
            <a:off x="812800" y="4572000"/>
            <a:ext cx="10566400" cy="1016000"/>
          </a:xfrm>
          <a:prstGeom prst="rect">
            <a:avLst/>
          </a:prstGeom>
          <a:solidFill>
            <a:srgbClr val="16181D"/>
          </a:solidFill>
          <a:ln/>
        </p:spPr>
      </p:sp>
      <p:sp>
        <p:nvSpPr>
          <p:cNvPr id="22"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302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p:txBody>
      </p:sp>
      <p:pic>
        <p:nvPicPr>
          <p:cNvPr id="14" name="Image 2" descr="../img/ic_code_b.png">    </p:cNvPr>
          <p:cNvPicPr>
            <a:picLocks noChangeAspect="1"/>
          </p:cNvPicPr>
          <p:nvPr/>
        </p:nvPicPr>
        <p:blipFill>
          <a:blip r:embed="rId3"/>
          <a:stretch>
            <a:fillRect/>
          </a:stretch>
        </p:blipFill>
        <p:spPr>
          <a:xfrm>
            <a:off x="5435600" y="1790700"/>
            <a:ext cx="304800" cy="304800"/>
          </a:xfrm>
          <a:prstGeom prst="rect">
            <a:avLst/>
          </a:prstGeom>
        </p:spPr>
      </p:pic>
      <p:sp>
        <p:nvSpPr>
          <p:cNvPr id="15" name="Shape 9"/>
          <p:cNvSpPr/>
          <p:nvPr/>
        </p:nvSpPr>
        <p:spPr>
          <a:xfrm>
            <a:off x="6223000" y="1587500"/>
            <a:ext cx="5156200" cy="3302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6" name="Image 3" descr="../img/ic_bulb_p.png">    </p:cNvPr>
          <p:cNvPicPr>
            <a:picLocks noChangeAspect="1"/>
          </p:cNvPicPr>
          <p:nvPr/>
        </p:nvPicPr>
        <p:blipFill>
          <a:blip r:embed="rId4"/>
          <a:stretch>
            <a:fillRect/>
          </a:stretch>
        </p:blipFill>
        <p:spPr>
          <a:xfrm>
            <a:off x="10845800" y="1790700"/>
            <a:ext cx="304800" cy="304800"/>
          </a:xfrm>
          <a:prstGeom prst="rect">
            <a:avLst/>
          </a:prstGeom>
        </p:spPr>
      </p:pic>
      <p:sp>
        <p:nvSpPr>
          <p:cNvPr id="17"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8"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9"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politique de sauvegarde (fréquence, conservation, tests de restauration)</a:t>
            </a:r>
            <a:endParaRPr lang="en-US" sz="1600" dirty="0"/>
          </a:p>
        </p:txBody>
      </p:sp>
      <p:sp>
        <p:nvSpPr>
          <p:cNvPr id="15" name="Shape 10"/>
          <p:cNvSpPr/>
          <p:nvPr/>
        </p:nvSpPr>
        <p:spPr>
          <a:xfrm>
            <a:off x="812800" y="2324100"/>
            <a:ext cx="609600" cy="609600"/>
          </a:xfrm>
          <a:prstGeom prst="rect">
            <a:avLst/>
          </a:prstGeom>
          <a:solidFill>
            <a:srgbClr val="16181D"/>
          </a:solidFill>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9" name="Shape 14"/>
          <p:cNvSpPr/>
          <p:nvPr/>
        </p:nvSpPr>
        <p:spPr>
          <a:xfrm>
            <a:off x="812800" y="3060700"/>
            <a:ext cx="609600" cy="609600"/>
          </a:xfrm>
          <a:prstGeom prst="rect">
            <a:avLst/>
          </a:prstGeom>
          <a:solidFill>
            <a:srgbClr val="16181D"/>
          </a:solidFill>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23" name="Shape 18"/>
          <p:cNvSpPr/>
          <p:nvPr/>
        </p:nvSpPr>
        <p:spPr>
          <a:xfrm>
            <a:off x="812800" y="3797300"/>
            <a:ext cx="609600" cy="609600"/>
          </a:xfrm>
          <a:prstGeom prst="rect">
            <a:avLst/>
          </a:prstGeom>
          <a:solidFill>
            <a:srgbClr val="16181D"/>
          </a:solidFill>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FBF9F3"/>
          </a:solidFill>
          <a:ln w="25400">
            <a:solidFill>
              <a:srgbClr val="16181D"/>
            </a:solidFill>
            <a:prstDash val="solid"/>
          </a:ln>
        </p:spPr>
      </p:sp>
      <p:sp>
        <p:nvSpPr>
          <p:cNvPr id="26" name="Text 21"/>
          <p:cNvSpPr txBox="1"/>
          <p:nvPr/>
        </p:nvSpPr>
        <p:spPr>
          <a:xfrm>
            <a:off x="1625600" y="37973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7" name="Shape 22"/>
          <p:cNvSpPr/>
          <p:nvPr/>
        </p:nvSpPr>
        <p:spPr>
          <a:xfrm>
            <a:off x="812800" y="4533900"/>
            <a:ext cx="609600" cy="609600"/>
          </a:xfrm>
          <a:prstGeom prst="rect">
            <a:avLst/>
          </a:prstGeom>
          <a:solidFill>
            <a:srgbClr val="16181D"/>
          </a:solidFill>
          <a:ln/>
        </p:spPr>
      </p:sp>
      <p:sp>
        <p:nvSpPr>
          <p:cNvPr id="28" name="Text 23"/>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29" name="Shape 24"/>
          <p:cNvSpPr/>
          <p:nvPr/>
        </p:nvSpPr>
        <p:spPr>
          <a:xfrm>
            <a:off x="1422400" y="4533900"/>
            <a:ext cx="9956800" cy="609600"/>
          </a:xfrm>
          <a:prstGeom prst="rect">
            <a:avLst/>
          </a:prstGeom>
          <a:solidFill>
            <a:srgbClr val="FBF9F3"/>
          </a:solidFill>
          <a:ln w="25400">
            <a:solidFill>
              <a:srgbClr val="16181D"/>
            </a:solidFill>
            <a:prstDash val="solid"/>
          </a:ln>
        </p:spPr>
      </p:sp>
      <p:sp>
        <p:nvSpPr>
          <p:cNvPr id="30" name="Text 25"/>
          <p:cNvSpPr txBox="1"/>
          <p:nvPr/>
        </p:nvSpPr>
        <p:spPr>
          <a:xfrm>
            <a:off x="1625600" y="45339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TROIS PRÉCONISATIONS</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Instrumenter la mesure d’impact dès le lancement du projet</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Prévoir une marge pour l’hétérogénéité des données historiques</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Ouvrir RIPTIS à d’autres outils réseau</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2026-09-30T22:04:35Z</dcterms:created>
  <dcterms:modified xsi:type="dcterms:W3CDTF">2026-09-30T22:04:35Z</dcterms:modified>
</cp:coreProperties>
</file>