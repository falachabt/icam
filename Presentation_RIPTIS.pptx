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RIPTIS, l’application web que j’ai conçue, développée et mise en production chez Transactis entre mars et août 2026, en alternance.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temps : le contexte, la démarche, les résultats, puis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Transactis est co-fondé par La Banque Postale et la Société Générale. Avant le projet, une recherche d’IP, de port ou de règle VPN obligeait à chercher dans plus de 2 400 fichiers Excel, sans savoir dans lequel se trouvait l’information.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de la note de cadrage est restée valide a posteriori : centralisation et sécurité ont bien été les deux axes structurants.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pistes comparées avec une matrice multicritère pondérée : garder Excel, acheter un outil IPAM/CMDB, ou développer en interne. L’application sur mesure obtient 29 points sur 33 : elle colle aux formats existants sans migration lourde et reste cohérente avec l’écosystème Transactis. Notes et poids : mon appréciation.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MVP centré sur l’import et la recherche, puis des extensions successives. Seul développeur, j’ai aussi animé la collecte du besoin avec l’équipe réseau et coordonné les accès avec l’IT et l’Infra.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Cadrage, développement et tests sont conformes au prévisionnel. L’écart d’environ un mois vient d’une seule cause : le volume de cas particuliers découverts pendant les tests, qui a ajouté une étape de traitement et décalé la stabilisation.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imprévu a été limité par une demande d’accès anticipée. Le second m’a conduit à généraliser le moteur d’import plutôt que traiter les fichiers un par un : c’est ce choix qui explique le mois de retard, validé avec mon maître d’apprentissage.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livrables : application web, import Excel, recherche multicritère, recherche DNS, gestion des utilisateurs, export et sauvegarde. Mise en production le 20 août 2026 sur Docker, Jenkins et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réel, identifiants masqués : une recherche d’adresse IP sur l’ensemble de la base retourne instantanément les deux fichiers concernés, avec la route correspondante. La recherche DNS enrichit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chiffres sont des estimations, pas des mesures. Gain relatif = (40 − 0,5) / 40 = 98,8 %. Environ 8 heures économisées par semaine, soit 428 heures par an. Le coût horaire de 50 € est indicatif.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objectifs de sécurité et de centralisation sont atteints. Les objectifs quantitatifs reposent encore sur des estimations : la clôture du projet doit produire les mesures définitives.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Techniquement, la conception du moteur d’import a été la difficulté la plus formatrice. Côté gestion de projet, ma principale limite est de ne pas avoir instrumenté la mesure d’impact dès le début.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éléments sont à consolider après la fin de l’alternance : la politique de sauvegarde et la mise à jour du moteur d’import. Les deux dernières perspectives (sauvegarde, tableaux de bord) sont déjà validées avec le manager pour les prochaines mises à jour de l’outil.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RIPTIS répond au besoin identifié : centraliser des données réseau dispersées, dans le respect des contraintes d’un environnement bancaire. Mise en production le 20 août 2026.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04850" cy="127000"/>
          </a:xfrm>
          <a:prstGeom prst="rect">
            <a:avLst/>
          </a:prstGeom>
          <a:solidFill>
            <a:srgbClr val="0B4F7A"/>
          </a:solidFill>
          <a:ln w="19050">
            <a:solidFill>
              <a:srgbClr val="16181D"/>
            </a:solidFill>
            <a:prstDash val="solid"/>
          </a:ln>
        </p:spPr>
      </p:sp>
      <p:sp>
        <p:nvSpPr>
          <p:cNvPr id="4" name="!!mk-sq"/>
          <p:cNvSpPr/>
          <p:nvPr/>
        </p:nvSpPr>
        <p:spPr>
          <a:xfrm>
            <a:off x="7823200" y="1270000"/>
            <a:ext cx="3048000" cy="30480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01 / 15 — SOUTENANCE</a:t>
            </a:r>
            <a:endParaRPr lang="en-US" sz="1200" dirty="0"/>
          </a:p>
        </p:txBody>
      </p:sp>
      <p:sp>
        <p:nvSpPr>
          <p:cNvPr id="6" name="!!logo-plate"/>
          <p:cNvSpPr/>
          <p:nvPr/>
        </p:nvSpPr>
        <p:spPr>
          <a:xfrm>
            <a:off x="7823200" y="4699000"/>
            <a:ext cx="3556000" cy="5080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255000" y="4768850"/>
            <a:ext cx="673100" cy="361950"/>
          </a:xfrm>
          <a:prstGeom prst="rect">
            <a:avLst/>
          </a:prstGeom>
        </p:spPr>
      </p:pic>
      <p:pic>
        <p:nvPicPr>
          <p:cNvPr id="8" name="!!logo-tx" descr="Logo Transactis">    </p:cNvPr>
          <p:cNvPicPr>
            <a:picLocks noChangeAspect="1"/>
          </p:cNvPicPr>
          <p:nvPr/>
        </p:nvPicPr>
        <p:blipFill>
          <a:blip r:embed="rId2"/>
          <a:stretch>
            <a:fillRect/>
          </a:stretch>
        </p:blipFill>
        <p:spPr>
          <a:xfrm>
            <a:off x="9144000" y="4806950"/>
            <a:ext cx="1803400" cy="292100"/>
          </a:xfrm>
          <a:prstGeom prst="rect">
            <a:avLst/>
          </a:prstGeom>
        </p:spPr>
      </p:pic>
      <p:sp>
        <p:nvSpPr>
          <p:cNvPr id="10" name="Text 5"/>
          <p:cNvSpPr txBox="1"/>
          <p:nvPr/>
        </p:nvSpPr>
        <p:spPr>
          <a:xfrm>
            <a:off x="812800" y="812800"/>
            <a:ext cx="6604000" cy="254000"/>
          </a:xfrm>
          <a:prstGeom prst="rect">
            <a:avLst/>
          </a:prstGeom>
          <a:noFill/>
          <a:ln/>
        </p:spPr>
        <p:txBody>
          <a:bodyPr wrap="square" lIns="0" tIns="0" rIns="0" bIns="0" rtlCol="0" anchor="t"/>
          <a:lstStyle/>
          <a:p>
            <a:pPr indent="0" marL="0">
              <a:buNone/>
            </a:pPr>
            <a:r>
              <a:rPr lang="en-US" sz="1400" b="1" spc="200" kern="0" dirty="0">
                <a:solidFill>
                  <a:srgbClr val="0B4F7A"/>
                </a:solidFill>
                <a:latin typeface="JetBrains Mono" pitchFamily="34" charset="0"/>
                <a:ea typeface="JetBrains Mono" pitchFamily="34" charset="-122"/>
                <a:cs typeface="JetBrains Mono" pitchFamily="34" charset="-120"/>
              </a:rPr>
              <a:t>RAPPORT DE RÉALISATION · ICAM × TRANSACTIS</a:t>
            </a:r>
            <a:endParaRPr lang="en-US" sz="1400" dirty="0"/>
          </a:p>
        </p:txBody>
      </p:sp>
      <p:sp>
        <p:nvSpPr>
          <p:cNvPr id="11" name="Text 6"/>
          <p:cNvSpPr txBox="1"/>
          <p:nvPr/>
        </p:nvSpPr>
        <p:spPr>
          <a:xfrm>
            <a:off x="812800" y="2095500"/>
            <a:ext cx="6604000" cy="1587500"/>
          </a:xfrm>
          <a:prstGeom prst="rect">
            <a:avLst/>
          </a:prstGeom>
          <a:noFill/>
          <a:ln/>
        </p:spPr>
        <p:txBody>
          <a:bodyPr wrap="square" lIns="0" tIns="0" rIns="0" bIns="0" rtlCol="0" anchor="t"/>
          <a:lstStyle/>
          <a:p>
            <a:pPr indent="0" marL="0">
              <a:buNone/>
            </a:pPr>
            <a:r>
              <a:rPr lang="en-US" sz="12000" b="1" dirty="0">
                <a:solidFill>
                  <a:srgbClr val="16181D"/>
                </a:solidFill>
                <a:latin typeface="Space Grotesk" pitchFamily="34" charset="0"/>
                <a:ea typeface="Space Grotesk" pitchFamily="34" charset="-122"/>
                <a:cs typeface="Space Grotesk" pitchFamily="34" charset="-120"/>
              </a:rPr>
              <a:t>RIPTIS</a:t>
            </a:r>
            <a:endParaRPr lang="en-US" sz="12000" dirty="0"/>
          </a:p>
        </p:txBody>
      </p:sp>
      <p:sp>
        <p:nvSpPr>
          <p:cNvPr id="12" name="Text 7"/>
          <p:cNvSpPr txBox="1"/>
          <p:nvPr/>
        </p:nvSpPr>
        <p:spPr>
          <a:xfrm>
            <a:off x="812800" y="3810000"/>
            <a:ext cx="6350000" cy="825500"/>
          </a:xfrm>
          <a:prstGeom prst="rect">
            <a:avLst/>
          </a:prstGeom>
          <a:noFill/>
          <a:ln/>
        </p:spPr>
        <p:txBody>
          <a:bodyPr wrap="square" lIns="0" tIns="0" rIns="0" bIns="0" rtlCol="0" anchor="t"/>
          <a:lstStyle/>
          <a:p>
            <a:pPr indent="0" marL="0">
              <a:lnSpc>
                <a:spcPct val="105000"/>
              </a:lnSpc>
              <a:buNone/>
            </a:pPr>
            <a:r>
              <a:rPr lang="en-US" sz="2400" b="1" dirty="0">
                <a:solidFill>
                  <a:srgbClr val="16181D"/>
                </a:solidFill>
                <a:latin typeface="IBM Plex Sans" pitchFamily="34" charset="0"/>
                <a:ea typeface="IBM Plex Sans" pitchFamily="34" charset="-122"/>
                <a:cs typeface="IBM Plex Sans" pitchFamily="34" charset="-120"/>
              </a:rPr>
              <a:t>Application web de centralisation des flux réseau</a:t>
            </a:r>
            <a:endParaRPr lang="en-US" sz="2400" dirty="0"/>
          </a:p>
        </p:txBody>
      </p:sp>
      <p:sp>
        <p:nvSpPr>
          <p:cNvPr id="13" name="Text 8"/>
          <p:cNvSpPr txBox="1"/>
          <p:nvPr/>
        </p:nvSpPr>
        <p:spPr>
          <a:xfrm>
            <a:off x="812800" y="5016500"/>
            <a:ext cx="6604000" cy="304800"/>
          </a:xfrm>
          <a:prstGeom prst="rect">
            <a:avLst/>
          </a:prstGeom>
          <a:noFill/>
          <a:ln/>
        </p:spPr>
        <p:txBody>
          <a:bodyPr wrap="square" lIns="0" tIns="0" rIns="0" bIns="0" rtlCol="0" anchor="t"/>
          <a:lstStyle/>
          <a:p>
            <a:pPr indent="0" marL="0">
              <a:buNone/>
            </a:pPr>
            <a:r>
              <a:rPr lang="en-US" sz="1800" b="1" dirty="0">
                <a:solidFill>
                  <a:srgbClr val="16181D"/>
                </a:solidFill>
                <a:latin typeface="IBM Plex Sans" pitchFamily="34" charset="0"/>
                <a:ea typeface="IBM Plex Sans" pitchFamily="34" charset="-122"/>
                <a:cs typeface="IBM Plex Sans" pitchFamily="34" charset="-120"/>
              </a:rPr>
              <a:t>TENEZEU VOUFO Benny Dieudonne</a:t>
            </a:r>
            <a:endParaRPr lang="en-US" sz="1800" dirty="0"/>
          </a:p>
        </p:txBody>
      </p:sp>
      <p:sp>
        <p:nvSpPr>
          <p:cNvPr id="14" name="Text 9"/>
          <p:cNvSpPr txBox="1"/>
          <p:nvPr/>
        </p:nvSpPr>
        <p:spPr>
          <a:xfrm>
            <a:off x="812800" y="5334000"/>
            <a:ext cx="6604000" cy="2540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SNI4 2027 · Mars – août 2026</a:t>
            </a:r>
            <a:endParaRPr lang="en-US" sz="1400" dirty="0"/>
          </a:p>
        </p:txBody>
      </p:sp>
      <p:sp>
        <p:nvSpPr>
          <p:cNvPr id="15" name="Text 10"/>
          <p:cNvSpPr txBox="1"/>
          <p:nvPr/>
        </p:nvSpPr>
        <p:spPr>
          <a:xfrm>
            <a:off x="812800" y="5575300"/>
            <a:ext cx="6604000" cy="2286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Pierre JOCHUM, maître d’apprentissage</a:t>
            </a:r>
            <a:endParaRPr lang="en-US" sz="1400" dirty="0"/>
          </a:p>
        </p:txBody>
      </p:sp>
      <p:sp>
        <p:nvSpPr>
          <p:cNvPr id="16" name="Text 11"/>
          <p:cNvSpPr txBox="1"/>
          <p:nvPr/>
        </p:nvSpPr>
        <p:spPr>
          <a:xfrm>
            <a:off x="812800" y="5803900"/>
            <a:ext cx="6604000" cy="2286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Roger GROULT, tuteur académique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140970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02 / 15 — PLAN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Plan de la présentation</a:t>
            </a:r>
            <a:endParaRPr lang="en-US" sz="3600" dirty="0"/>
          </a:p>
        </p:txBody>
      </p:sp>
      <p:sp>
        <p:nvSpPr>
          <p:cNvPr id="11" name="Shape 6"/>
          <p:cNvSpPr/>
          <p:nvPr/>
        </p:nvSpPr>
        <p:spPr>
          <a:xfrm>
            <a:off x="8128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01</a:t>
            </a:r>
            <a:endParaRPr lang="en-US" sz="1400" dirty="0"/>
          </a:p>
        </p:txBody>
      </p:sp>
      <p:sp>
        <p:nvSpPr>
          <p:cNvPr id="13" name="Text 8"/>
          <p:cNvSpPr txBox="1"/>
          <p:nvPr/>
        </p:nvSpPr>
        <p:spPr>
          <a:xfrm>
            <a:off x="10414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Contexte</a:t>
            </a:r>
            <a:endParaRPr lang="en-US" sz="2000" dirty="0"/>
          </a:p>
        </p:txBody>
      </p:sp>
      <p:sp>
        <p:nvSpPr>
          <p:cNvPr id="14" name="Text 9"/>
          <p:cNvSpPr txBox="1"/>
          <p:nvPr/>
        </p:nvSpPr>
        <p:spPr>
          <a:xfrm>
            <a:off x="10414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Transactis, flux réseau et problématique</a:t>
            </a:r>
            <a:endParaRPr lang="en-US" sz="1400" dirty="0"/>
          </a:p>
        </p:txBody>
      </p:sp>
      <p:sp>
        <p:nvSpPr>
          <p:cNvPr id="15" name="Shape 10"/>
          <p:cNvSpPr/>
          <p:nvPr/>
        </p:nvSpPr>
        <p:spPr>
          <a:xfrm>
            <a:off x="35052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6" name="Text 11"/>
          <p:cNvSpPr txBox="1"/>
          <p:nvPr/>
        </p:nvSpPr>
        <p:spPr>
          <a:xfrm>
            <a:off x="37338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02</a:t>
            </a:r>
            <a:endParaRPr lang="en-US" sz="1400" dirty="0"/>
          </a:p>
        </p:txBody>
      </p:sp>
      <p:sp>
        <p:nvSpPr>
          <p:cNvPr id="17" name="Text 12"/>
          <p:cNvSpPr txBox="1"/>
          <p:nvPr/>
        </p:nvSpPr>
        <p:spPr>
          <a:xfrm>
            <a:off x="37338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Démarche</a:t>
            </a:r>
            <a:endParaRPr lang="en-US" sz="2000" dirty="0"/>
          </a:p>
        </p:txBody>
      </p:sp>
      <p:sp>
        <p:nvSpPr>
          <p:cNvPr id="18" name="Text 13"/>
          <p:cNvSpPr txBox="1"/>
          <p:nvPr/>
        </p:nvSpPr>
        <p:spPr>
          <a:xfrm>
            <a:off x="37338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Solutions, méthode et planning</a:t>
            </a:r>
            <a:endParaRPr lang="en-US" sz="1400" dirty="0"/>
          </a:p>
        </p:txBody>
      </p:sp>
      <p:sp>
        <p:nvSpPr>
          <p:cNvPr id="19" name="Shape 14"/>
          <p:cNvSpPr/>
          <p:nvPr/>
        </p:nvSpPr>
        <p:spPr>
          <a:xfrm>
            <a:off x="61976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0" name="Text 15"/>
          <p:cNvSpPr txBox="1"/>
          <p:nvPr/>
        </p:nvSpPr>
        <p:spPr>
          <a:xfrm>
            <a:off x="64262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03</a:t>
            </a:r>
            <a:endParaRPr lang="en-US" sz="1400" dirty="0"/>
          </a:p>
        </p:txBody>
      </p:sp>
      <p:sp>
        <p:nvSpPr>
          <p:cNvPr id="21" name="Text 16"/>
          <p:cNvSpPr txBox="1"/>
          <p:nvPr/>
        </p:nvSpPr>
        <p:spPr>
          <a:xfrm>
            <a:off x="64262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Résultats</a:t>
            </a:r>
            <a:endParaRPr lang="en-US" sz="2000" dirty="0"/>
          </a:p>
        </p:txBody>
      </p:sp>
      <p:sp>
        <p:nvSpPr>
          <p:cNvPr id="22" name="Text 17"/>
          <p:cNvSpPr txBox="1"/>
          <p:nvPr/>
        </p:nvSpPr>
        <p:spPr>
          <a:xfrm>
            <a:off x="64262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Livrables, démonstration et chiffres</a:t>
            </a:r>
            <a:endParaRPr lang="en-US" sz="1400" dirty="0"/>
          </a:p>
        </p:txBody>
      </p:sp>
      <p:sp>
        <p:nvSpPr>
          <p:cNvPr id="23" name="Shape 18"/>
          <p:cNvSpPr/>
          <p:nvPr/>
        </p:nvSpPr>
        <p:spPr>
          <a:xfrm>
            <a:off x="88900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4" name="Text 19"/>
          <p:cNvSpPr txBox="1"/>
          <p:nvPr/>
        </p:nvSpPr>
        <p:spPr>
          <a:xfrm>
            <a:off x="91186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04</a:t>
            </a:r>
            <a:endParaRPr lang="en-US" sz="1400" dirty="0"/>
          </a:p>
        </p:txBody>
      </p:sp>
      <p:sp>
        <p:nvSpPr>
          <p:cNvPr id="25" name="Text 20"/>
          <p:cNvSpPr txBox="1"/>
          <p:nvPr/>
        </p:nvSpPr>
        <p:spPr>
          <a:xfrm>
            <a:off x="91186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Bilan</a:t>
            </a:r>
            <a:endParaRPr lang="en-US" sz="2000" dirty="0"/>
          </a:p>
        </p:txBody>
      </p:sp>
      <p:sp>
        <p:nvSpPr>
          <p:cNvPr id="26" name="Text 21"/>
          <p:cNvSpPr txBox="1"/>
          <p:nvPr/>
        </p:nvSpPr>
        <p:spPr>
          <a:xfrm>
            <a:off x="91186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Objectifs, compétences et perspectives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21145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03 / 15 — CONTEXTE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10160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besoin au cœur d’un opérateur de paiement</a:t>
            </a:r>
            <a:endParaRPr lang="en-US" sz="3600" dirty="0"/>
          </a:p>
        </p:txBody>
      </p:sp>
      <p:sp>
        <p:nvSpPr>
          <p:cNvPr id="11" name="Shape 6"/>
          <p:cNvSpPr/>
          <p:nvPr/>
        </p:nvSpPr>
        <p:spPr>
          <a:xfrm>
            <a:off x="8128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35 %</a:t>
            </a:r>
            <a:endParaRPr lang="en-US" sz="4800" dirty="0"/>
          </a:p>
        </p:txBody>
      </p:sp>
      <p:sp>
        <p:nvSpPr>
          <p:cNvPr id="13" name="Text 8"/>
          <p:cNvSpPr txBox="1"/>
          <p:nvPr/>
        </p:nvSpPr>
        <p:spPr>
          <a:xfrm>
            <a:off x="10414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des transactions bancaires françaises traitées chaque mois par Transactis</a:t>
            </a:r>
            <a:endParaRPr lang="en-US" sz="1600" dirty="0"/>
          </a:p>
        </p:txBody>
      </p:sp>
      <p:sp>
        <p:nvSpPr>
          <p:cNvPr id="14" name="Shape 9"/>
          <p:cNvSpPr/>
          <p:nvPr/>
        </p:nvSpPr>
        <p:spPr>
          <a:xfrm>
            <a:off x="44196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46482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2 400+</a:t>
            </a:r>
            <a:endParaRPr lang="en-US" sz="4800" dirty="0"/>
          </a:p>
        </p:txBody>
      </p:sp>
      <p:sp>
        <p:nvSpPr>
          <p:cNvPr id="16" name="Text 11"/>
          <p:cNvSpPr txBox="1"/>
          <p:nvPr/>
        </p:nvSpPr>
        <p:spPr>
          <a:xfrm>
            <a:off x="46482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fichiers Excel : impossible de savoir dans lequel se trouve l’information</a:t>
            </a:r>
            <a:endParaRPr lang="en-US" sz="1600" dirty="0"/>
          </a:p>
        </p:txBody>
      </p:sp>
      <p:sp>
        <p:nvSpPr>
          <p:cNvPr id="17" name="Shape 12"/>
          <p:cNvSpPr/>
          <p:nvPr/>
        </p:nvSpPr>
        <p:spPr>
          <a:xfrm>
            <a:off x="80264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8" name="Text 13"/>
          <p:cNvSpPr txBox="1"/>
          <p:nvPr/>
        </p:nvSpPr>
        <p:spPr>
          <a:xfrm>
            <a:off x="82550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2003</a:t>
            </a:r>
            <a:endParaRPr lang="en-US" sz="4800" dirty="0"/>
          </a:p>
        </p:txBody>
      </p:sp>
      <p:sp>
        <p:nvSpPr>
          <p:cNvPr id="19" name="Text 14"/>
          <p:cNvSpPr txBox="1"/>
          <p:nvPr/>
        </p:nvSpPr>
        <p:spPr>
          <a:xfrm>
            <a:off x="82550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année des plus anciens fichiers encore utilisés</a:t>
            </a:r>
            <a:endParaRPr lang="en-US" sz="1600" dirty="0"/>
          </a:p>
        </p:txBody>
      </p:sp>
      <p:sp>
        <p:nvSpPr>
          <p:cNvPr id="20" name="Text 15"/>
          <p:cNvSpPr txBox="1"/>
          <p:nvPr/>
        </p:nvSpPr>
        <p:spPr>
          <a:xfrm>
            <a:off x="812800" y="4699000"/>
            <a:ext cx="10566400" cy="635000"/>
          </a:xfrm>
          <a:prstGeom prst="rect">
            <a:avLst/>
          </a:prstGeom>
          <a:noFill/>
          <a:ln/>
        </p:spPr>
        <p:txBody>
          <a:bodyPr wrap="square" lIns="0" tIns="0" rIns="0" bIns="0" rtlCol="0" anchor="t"/>
          <a:lstStyle/>
          <a:p>
            <a:pPr indent="0" marL="0">
              <a:buNone/>
            </a:pPr>
            <a:r>
              <a:rPr lang="en-US" sz="1600" dirty="0">
                <a:solidFill>
                  <a:srgbClr val="4B5159"/>
                </a:solidFill>
                <a:latin typeface="IBM Plex Sans" pitchFamily="34" charset="0"/>
                <a:ea typeface="IBM Plex Sans" pitchFamily="34" charset="-122"/>
                <a:cs typeface="IBM Plex Sans" pitchFamily="34" charset="-120"/>
              </a:rPr>
              <a:t>Chaque flux réseau autorisé doit être tracé et justifiable : audits de sécurité, conformité réglementaire.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4F7A"/>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0B4F7A"/>
          </a:solidFill>
          <a:ln w="19050">
            <a:solidFill>
              <a:srgbClr val="F3F0E8"/>
            </a:solidFill>
            <a:prstDash val="solid"/>
          </a:ln>
        </p:spPr>
      </p:sp>
      <p:sp>
        <p:nvSpPr>
          <p:cNvPr id="3" name="!!mk-bar"/>
          <p:cNvSpPr/>
          <p:nvPr/>
        </p:nvSpPr>
        <p:spPr>
          <a:xfrm>
            <a:off x="812800" y="6299200"/>
            <a:ext cx="2819400" cy="127000"/>
          </a:xfrm>
          <a:prstGeom prst="rect">
            <a:avLst/>
          </a:prstGeom>
          <a:solidFill>
            <a:srgbClr val="F3F0E8"/>
          </a:solidFill>
          <a:ln w="19050">
            <a:solidFill>
              <a:srgbClr val="F3F0E8"/>
            </a:solidFill>
            <a:prstDash val="solid"/>
          </a:ln>
        </p:spPr>
      </p:sp>
      <p:sp>
        <p:nvSpPr>
          <p:cNvPr id="4" name="!!mk-sq"/>
          <p:cNvSpPr/>
          <p:nvPr/>
        </p:nvSpPr>
        <p:spPr>
          <a:xfrm rot="-900000">
            <a:off x="10922000" y="254000"/>
            <a:ext cx="457200" cy="457200"/>
          </a:xfrm>
          <a:prstGeom prst="rect">
            <a:avLst/>
          </a:prstGeom>
          <a:solidFill>
            <a:srgbClr val="F3F0E8"/>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04 / 15 — PROBLÉMATIQUE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5715000" cy="215900"/>
          </a:xfrm>
          <a:prstGeom prst="rect">
            <a:avLst/>
          </a:prstGeom>
          <a:noFill/>
          <a:ln/>
        </p:spPr>
        <p:txBody>
          <a:bodyPr wrap="square" lIns="0" tIns="0" rIns="0" bIns="0" rtlCol="0" anchor="t"/>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PROBLÉMATIQUE RETENUE</a:t>
            </a:r>
            <a:endParaRPr lang="en-US" sz="1200" dirty="0"/>
          </a:p>
        </p:txBody>
      </p:sp>
      <p:sp>
        <p:nvSpPr>
          <p:cNvPr id="11" name="Text 6"/>
          <p:cNvSpPr txBox="1"/>
          <p:nvPr/>
        </p:nvSpPr>
        <p:spPr>
          <a:xfrm>
            <a:off x="812800" y="1270000"/>
            <a:ext cx="9906000" cy="2540000"/>
          </a:xfrm>
          <a:prstGeom prst="rect">
            <a:avLst/>
          </a:prstGeom>
          <a:noFill/>
          <a:ln/>
        </p:spPr>
        <p:txBody>
          <a:bodyPr wrap="square" lIns="0" tIns="0" rIns="0" bIns="0" rtlCol="0" anchor="t"/>
          <a:lstStyle/>
          <a:p>
            <a:pPr indent="0" marL="0">
              <a:lnSpc>
                <a:spcPct val="100000"/>
              </a:lnSpc>
              <a:buNone/>
            </a:pPr>
            <a:r>
              <a:rPr lang="en-US" sz="2800" b="1" dirty="0">
                <a:solidFill>
                  <a:srgbClr val="F3F0E8"/>
                </a:solidFill>
                <a:latin typeface="Space Grotesk" pitchFamily="34" charset="0"/>
                <a:ea typeface="Space Grotesk" pitchFamily="34" charset="-122"/>
                <a:cs typeface="Space Grotesk" pitchFamily="34" charset="-120"/>
              </a:rPr>
              <a:t>Comment centraliser et rendre rapidement exploitables des données réseaux réparties dans plusieurs dizaines ou centaines de fichiers Excel hétérogènes, tout en respectant les contraintes de sécurité d’un environnement bancaire ?</a:t>
            </a:r>
            <a:endParaRPr lang="en-US" sz="2800" dirty="0"/>
          </a:p>
        </p:txBody>
      </p:sp>
      <p:sp>
        <p:nvSpPr>
          <p:cNvPr id="12" name="Shape 7"/>
          <p:cNvSpPr/>
          <p:nvPr/>
        </p:nvSpPr>
        <p:spPr>
          <a:xfrm>
            <a:off x="812800" y="4572000"/>
            <a:ext cx="5156200" cy="825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3" name="Text 8"/>
          <p:cNvSpPr txBox="1"/>
          <p:nvPr/>
        </p:nvSpPr>
        <p:spPr>
          <a:xfrm>
            <a:off x="1041400" y="4572000"/>
            <a:ext cx="4699000" cy="825500"/>
          </a:xfrm>
          <a:prstGeom prst="rect">
            <a:avLst/>
          </a:prstGeom>
          <a:noFill/>
          <a:ln/>
        </p:spPr>
        <p:txBody>
          <a:bodyPr wrap="square" lIns="0" tIns="0" rIns="0" bIns="0" rtlCol="0" anchor="ctr"/>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Axe 1 · Centralisation</a:t>
            </a:r>
            <a:endParaRPr lang="en-US" sz="2000" dirty="0"/>
          </a:p>
        </p:txBody>
      </p:sp>
      <p:sp>
        <p:nvSpPr>
          <p:cNvPr id="14" name="Shape 9"/>
          <p:cNvSpPr/>
          <p:nvPr/>
        </p:nvSpPr>
        <p:spPr>
          <a:xfrm>
            <a:off x="6223000" y="4572000"/>
            <a:ext cx="5156200" cy="825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4572000"/>
            <a:ext cx="4699000" cy="825500"/>
          </a:xfrm>
          <a:prstGeom prst="rect">
            <a:avLst/>
          </a:prstGeom>
          <a:noFill/>
          <a:ln/>
        </p:spPr>
        <p:txBody>
          <a:bodyPr wrap="square" lIns="0" tIns="0" rIns="0" bIns="0" rtlCol="0" anchor="ctr"/>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Axe 2 · Sécurité</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35242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05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Trois pistes comparées, une retenue</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4064000"/>
                <a:gridCol w="889000"/>
                <a:gridCol w="1873250"/>
                <a:gridCol w="1873250"/>
                <a:gridCol w="1866900"/>
              </a:tblGrid>
              <a:tr h="533400">
                <a:tc>
                  <a:txBody>
                    <a:bodyPr/>
                    <a:lstStyle/>
                    <a:p>
                      <a:pPr algn="l" indent="0" marL="0">
                        <a:buNone/>
                      </a:pPr>
                      <a:r>
                        <a:rPr lang="en-US" sz="1400" b="1" dirty="0">
                          <a:solidFill>
                            <a:srgbClr val="F3F0E8"/>
                          </a:solidFill>
                          <a:latin typeface="Space Grotesk" pitchFamily="34" charset="0"/>
                          <a:ea typeface="Space Grotesk" pitchFamily="34" charset="-122"/>
                          <a:cs typeface="Space Grotesk" pitchFamily="34" charset="-120"/>
                        </a:rPr>
                        <a:t>Critère</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Poids</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Excel réorganisé</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IPAM / CMDB</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Application interne</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Réponse au besoin de recherche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Adaptation au format des matrices</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Délai et coût de mise en œuvre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Intégration à la stack Transactis</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Faible charge de maintenance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b="1" dirty="0">
                          <a:solidFill>
                            <a:srgbClr val="16181D"/>
                          </a:solidFill>
                          <a:latin typeface="IBM Plex Sans" pitchFamily="34" charset="0"/>
                          <a:ea typeface="IBM Plex Sans" pitchFamily="34" charset="-122"/>
                          <a:cs typeface="IBM Plex Sans" pitchFamily="34" charset="-120"/>
                        </a:rPr>
                        <a:t>Total pondéré (sur 33)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indent="0" marL="0">
                        <a:buNone/>
                      </a:pP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17</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F3F0E8"/>
                          </a:solidFill>
                          <a:latin typeface="IBM Plex Sans" pitchFamily="34" charset="0"/>
                          <a:ea typeface="IBM Plex Sans" pitchFamily="34" charset="-122"/>
                          <a:cs typeface="IBM Plex Sans" pitchFamily="34" charset="-120"/>
                        </a:rPr>
                        <a:t>29</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0B4F7A"/>
                    </a:solidFill>
                  </a:tcPr>
                </a:tc>
              </a:tr>
            </a:tbl>
          </a:graphicData>
        </a:graphic>
      </p:graphicFrame>
      <p:sp>
        <p:nvSpPr>
          <p:cNvPr id="12" name="Text 6"/>
          <p:cNvSpPr txBox="1"/>
          <p:nvPr/>
        </p:nvSpPr>
        <p:spPr>
          <a:xfrm>
            <a:off x="812800" y="4927600"/>
            <a:ext cx="10566400" cy="317500"/>
          </a:xfrm>
          <a:prstGeom prst="rect">
            <a:avLst/>
          </a:prstGeom>
          <a:noFill/>
          <a:ln/>
        </p:spPr>
        <p:txBody>
          <a:bodyPr wrap="square" lIns="0" tIns="0" rIns="0" bIns="0" rtlCol="0" anchor="t"/>
          <a:lstStyle/>
          <a:p>
            <a:pPr indent="0" marL="0">
              <a:buNone/>
            </a:pPr>
            <a:r>
              <a:rPr lang="en-US" sz="1600" b="1" dirty="0">
                <a:solidFill>
                  <a:srgbClr val="16181D"/>
                </a:solidFill>
                <a:latin typeface="Space Grotesk" pitchFamily="34" charset="0"/>
                <a:ea typeface="Space Grotesk" pitchFamily="34" charset="-122"/>
                <a:cs typeface="Space Grotesk" pitchFamily="34" charset="-120"/>
              </a:rPr>
              <a:t>Application interne : 29 / 33, la meilleure réponse au besoin et aux formats Transactis</a:t>
            </a:r>
            <a:endParaRPr lang="en-US" sz="1600" dirty="0"/>
          </a:p>
        </p:txBody>
      </p:sp>
      <p:sp>
        <p:nvSpPr>
          <p:cNvPr id="13" name="Text 7"/>
          <p:cNvSpPr txBox="1"/>
          <p:nvPr/>
        </p:nvSpPr>
        <p:spPr>
          <a:xfrm>
            <a:off x="812800" y="5308600"/>
            <a:ext cx="10566400" cy="228600"/>
          </a:xfrm>
          <a:prstGeom prst="rect">
            <a:avLst/>
          </a:prstGeom>
          <a:noFill/>
          <a:ln/>
        </p:spPr>
        <p:txBody>
          <a:bodyPr wrap="square" lIns="0" tIns="0" rIns="0" bIns="0" rtlCol="0" anchor="t"/>
          <a:lstStyle/>
          <a:p>
            <a:pPr indent="0" marL="0">
              <a:buNone/>
            </a:pPr>
            <a:r>
              <a:rPr lang="en-US" sz="1200" dirty="0">
                <a:solidFill>
                  <a:srgbClr val="4B5159"/>
                </a:solidFill>
                <a:latin typeface="IBM Plex Sans" pitchFamily="34" charset="0"/>
                <a:ea typeface="IBM Plex Sans" pitchFamily="34" charset="-122"/>
                <a:cs typeface="IBM Plex Sans" pitchFamily="34" charset="-120"/>
              </a:rPr>
              <a:t>Notation de 1 (faible) à 3 (fort), multipliée par le poids du critère.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4229100" cy="127000"/>
          </a:xfrm>
          <a:prstGeom prst="rect">
            <a:avLst/>
          </a:prstGeom>
          <a:solidFill>
            <a:srgbClr val="0B4F7A"/>
          </a:solidFill>
          <a:ln w="19050">
            <a:solidFill>
              <a:srgbClr val="16181D"/>
            </a:solidFill>
            <a:prstDash val="solid"/>
          </a:ln>
        </p:spPr>
      </p:sp>
      <p:sp>
        <p:nvSpPr>
          <p:cNvPr id="4" name="!!mk-sq"/>
          <p:cNvSpPr/>
          <p:nvPr/>
        </p:nvSpPr>
        <p:spPr>
          <a:xfrm rot="18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06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MVP itératif en co-pilotage</a:t>
            </a:r>
            <a:endParaRPr lang="en-US" sz="3600" dirty="0"/>
          </a:p>
        </p:txBody>
      </p:sp>
      <p:sp>
        <p:nvSpPr>
          <p:cNvPr id="11" name="Shape 6"/>
          <p:cNvSpPr/>
          <p:nvPr/>
        </p:nvSpPr>
        <p:spPr>
          <a:xfrm>
            <a:off x="812800" y="1587500"/>
            <a:ext cx="5156200" cy="381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Méthode</a:t>
            </a:r>
            <a:endParaRPr lang="en-US" sz="2000" dirty="0"/>
          </a:p>
        </p:txBody>
      </p:sp>
      <p:sp>
        <p:nvSpPr>
          <p:cNvPr id="13" name="Text 8"/>
          <p:cNvSpPr txBox="1"/>
          <p:nvPr/>
        </p:nvSpPr>
        <p:spPr>
          <a:xfrm>
            <a:off x="1041400" y="2349500"/>
            <a:ext cx="4699000" cy="2794000"/>
          </a:xfrm>
          <a:prstGeom prst="rect">
            <a:avLst/>
          </a:prstGeom>
          <a:noFill/>
          <a:ln/>
        </p:spPr>
        <p:txBody>
          <a:bodyPr wrap="square" lIns="0" tIns="0" rIns="0" bIns="0" rtlCol="0" anchor="t"/>
          <a:lstStyle/>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Backlog priorisé avec le maître d’apprentissage</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Suivi Kanban bimensuel</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Cycles courts : import, recherche, permissions, DNS, export, sauvegarde</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Phase de test utilisateur avant la production</a:t>
            </a:r>
            <a:endParaRPr lang="en-US" sz="1600" dirty="0"/>
          </a:p>
        </p:txBody>
      </p:sp>
      <p:sp>
        <p:nvSpPr>
          <p:cNvPr id="14" name="Shape 9"/>
          <p:cNvSpPr/>
          <p:nvPr/>
        </p:nvSpPr>
        <p:spPr>
          <a:xfrm>
            <a:off x="6223000" y="1587500"/>
            <a:ext cx="5156200" cy="381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Stack Transactis</a:t>
            </a:r>
            <a:endParaRPr lang="en-US" sz="2000" dirty="0"/>
          </a:p>
        </p:txBody>
      </p:sp>
      <p:sp>
        <p:nvSpPr>
          <p:cNvPr id="16" name="Text 11"/>
          <p:cNvSpPr txBox="1"/>
          <p:nvPr/>
        </p:nvSpPr>
        <p:spPr>
          <a:xfrm>
            <a:off x="6451600" y="25400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FRONT</a:t>
            </a:r>
            <a:endParaRPr lang="en-US" sz="1200" dirty="0"/>
          </a:p>
        </p:txBody>
      </p:sp>
      <p:pic>
        <p:nvPicPr>
          <p:cNvPr id="17" name="Image 2" descr="Logo Next.js">    </p:cNvPr>
          <p:cNvPicPr>
            <a:picLocks noChangeAspect="1"/>
          </p:cNvPicPr>
          <p:nvPr/>
        </p:nvPicPr>
        <p:blipFill>
          <a:blip r:embed="rId3"/>
          <a:stretch>
            <a:fillRect/>
          </a:stretch>
        </p:blipFill>
        <p:spPr>
          <a:xfrm>
            <a:off x="7848600" y="2476500"/>
            <a:ext cx="304800" cy="304800"/>
          </a:xfrm>
          <a:prstGeom prst="rect">
            <a:avLst/>
          </a:prstGeom>
        </p:spPr>
      </p:pic>
      <p:sp>
        <p:nvSpPr>
          <p:cNvPr id="18" name="Text 12"/>
          <p:cNvSpPr txBox="1"/>
          <p:nvPr/>
        </p:nvSpPr>
        <p:spPr>
          <a:xfrm>
            <a:off x="8216900" y="25273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Next.js</a:t>
            </a:r>
            <a:endParaRPr lang="en-US" sz="1300" dirty="0"/>
          </a:p>
        </p:txBody>
      </p:sp>
      <p:pic>
        <p:nvPicPr>
          <p:cNvPr id="19" name="Image 3" descr="Logo React">    </p:cNvPr>
          <p:cNvPicPr>
            <a:picLocks noChangeAspect="1"/>
          </p:cNvPicPr>
          <p:nvPr/>
        </p:nvPicPr>
        <p:blipFill>
          <a:blip r:embed="rId4"/>
          <a:stretch>
            <a:fillRect/>
          </a:stretch>
        </p:blipFill>
        <p:spPr>
          <a:xfrm>
            <a:off x="9061450" y="2476500"/>
            <a:ext cx="304800" cy="304800"/>
          </a:xfrm>
          <a:prstGeom prst="rect">
            <a:avLst/>
          </a:prstGeom>
        </p:spPr>
      </p:pic>
      <p:sp>
        <p:nvSpPr>
          <p:cNvPr id="20" name="Text 13"/>
          <p:cNvSpPr txBox="1"/>
          <p:nvPr/>
        </p:nvSpPr>
        <p:spPr>
          <a:xfrm>
            <a:off x="9429750" y="2527300"/>
            <a:ext cx="5143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React</a:t>
            </a:r>
            <a:endParaRPr lang="en-US" sz="1300" dirty="0"/>
          </a:p>
        </p:txBody>
      </p:sp>
      <p:pic>
        <p:nvPicPr>
          <p:cNvPr id="21" name="Image 4" descr="Logo TypeScript">    </p:cNvPr>
          <p:cNvPicPr>
            <a:picLocks noChangeAspect="1"/>
          </p:cNvPicPr>
          <p:nvPr/>
        </p:nvPicPr>
        <p:blipFill>
          <a:blip r:embed="rId5"/>
          <a:stretch>
            <a:fillRect/>
          </a:stretch>
        </p:blipFill>
        <p:spPr>
          <a:xfrm>
            <a:off x="10083800" y="2476500"/>
            <a:ext cx="304800" cy="304800"/>
          </a:xfrm>
          <a:prstGeom prst="rect">
            <a:avLst/>
          </a:prstGeom>
        </p:spPr>
      </p:pic>
      <p:sp>
        <p:nvSpPr>
          <p:cNvPr id="22" name="Text 14"/>
          <p:cNvSpPr txBox="1"/>
          <p:nvPr/>
        </p:nvSpPr>
        <p:spPr>
          <a:xfrm>
            <a:off x="10452100" y="2527300"/>
            <a:ext cx="990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TypeScript</a:t>
            </a:r>
            <a:endParaRPr lang="en-US" sz="1300" dirty="0"/>
          </a:p>
        </p:txBody>
      </p:sp>
      <p:sp>
        <p:nvSpPr>
          <p:cNvPr id="23" name="Text 15"/>
          <p:cNvSpPr txBox="1"/>
          <p:nvPr/>
        </p:nvSpPr>
        <p:spPr>
          <a:xfrm>
            <a:off x="6451600" y="30988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BACK</a:t>
            </a:r>
            <a:endParaRPr lang="en-US" sz="1200" dirty="0"/>
          </a:p>
        </p:txBody>
      </p:sp>
      <p:pic>
        <p:nvPicPr>
          <p:cNvPr id="24" name="Image 5" descr="Logo Node.js">    </p:cNvPr>
          <p:cNvPicPr>
            <a:picLocks noChangeAspect="1"/>
          </p:cNvPicPr>
          <p:nvPr/>
        </p:nvPicPr>
        <p:blipFill>
          <a:blip r:embed="rId6"/>
          <a:stretch>
            <a:fillRect/>
          </a:stretch>
        </p:blipFill>
        <p:spPr>
          <a:xfrm>
            <a:off x="7848600" y="3035300"/>
            <a:ext cx="304800" cy="304800"/>
          </a:xfrm>
          <a:prstGeom prst="rect">
            <a:avLst/>
          </a:prstGeom>
        </p:spPr>
      </p:pic>
      <p:sp>
        <p:nvSpPr>
          <p:cNvPr id="25" name="Text 16"/>
          <p:cNvSpPr txBox="1"/>
          <p:nvPr/>
        </p:nvSpPr>
        <p:spPr>
          <a:xfrm>
            <a:off x="8216900" y="30861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Node.js</a:t>
            </a:r>
            <a:endParaRPr lang="en-US" sz="1300" dirty="0"/>
          </a:p>
        </p:txBody>
      </p:sp>
      <p:pic>
        <p:nvPicPr>
          <p:cNvPr id="26" name="Image 6" descr="Logo Express">    </p:cNvPr>
          <p:cNvPicPr>
            <a:picLocks noChangeAspect="1"/>
          </p:cNvPicPr>
          <p:nvPr/>
        </p:nvPicPr>
        <p:blipFill>
          <a:blip r:embed="rId7"/>
          <a:stretch>
            <a:fillRect/>
          </a:stretch>
        </p:blipFill>
        <p:spPr>
          <a:xfrm>
            <a:off x="9061450" y="3035300"/>
            <a:ext cx="304800" cy="304800"/>
          </a:xfrm>
          <a:prstGeom prst="rect">
            <a:avLst/>
          </a:prstGeom>
        </p:spPr>
      </p:pic>
      <p:sp>
        <p:nvSpPr>
          <p:cNvPr id="27" name="Text 17"/>
          <p:cNvSpPr txBox="1"/>
          <p:nvPr/>
        </p:nvSpPr>
        <p:spPr>
          <a:xfrm>
            <a:off x="9429750" y="30861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Express</a:t>
            </a:r>
            <a:endParaRPr lang="en-US" sz="1300" dirty="0"/>
          </a:p>
        </p:txBody>
      </p:sp>
      <p:sp>
        <p:nvSpPr>
          <p:cNvPr id="28" name="Text 18"/>
          <p:cNvSpPr txBox="1"/>
          <p:nvPr/>
        </p:nvSpPr>
        <p:spPr>
          <a:xfrm>
            <a:off x="6451600" y="36576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DONNÉES</a:t>
            </a:r>
            <a:endParaRPr lang="en-US" sz="1200" dirty="0"/>
          </a:p>
        </p:txBody>
      </p:sp>
      <p:pic>
        <p:nvPicPr>
          <p:cNvPr id="29" name="Image 7" descr="Logo PostgreSQL">    </p:cNvPr>
          <p:cNvPicPr>
            <a:picLocks noChangeAspect="1"/>
          </p:cNvPicPr>
          <p:nvPr/>
        </p:nvPicPr>
        <p:blipFill>
          <a:blip r:embed="rId8"/>
          <a:stretch>
            <a:fillRect/>
          </a:stretch>
        </p:blipFill>
        <p:spPr>
          <a:xfrm>
            <a:off x="7848600" y="3594100"/>
            <a:ext cx="304800" cy="304800"/>
          </a:xfrm>
          <a:prstGeom prst="rect">
            <a:avLst/>
          </a:prstGeom>
        </p:spPr>
      </p:pic>
      <p:sp>
        <p:nvSpPr>
          <p:cNvPr id="30" name="Text 19"/>
          <p:cNvSpPr txBox="1"/>
          <p:nvPr/>
        </p:nvSpPr>
        <p:spPr>
          <a:xfrm>
            <a:off x="8216900" y="3644900"/>
            <a:ext cx="990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PostgreSQL</a:t>
            </a:r>
            <a:endParaRPr lang="en-US" sz="1300" dirty="0"/>
          </a:p>
        </p:txBody>
      </p:sp>
      <p:pic>
        <p:nvPicPr>
          <p:cNvPr id="31" name="Image 8" descr="Logo Sequelize">    </p:cNvPr>
          <p:cNvPicPr>
            <a:picLocks noChangeAspect="1"/>
          </p:cNvPicPr>
          <p:nvPr/>
        </p:nvPicPr>
        <p:blipFill>
          <a:blip r:embed="rId9"/>
          <a:stretch>
            <a:fillRect/>
          </a:stretch>
        </p:blipFill>
        <p:spPr>
          <a:xfrm>
            <a:off x="9347200" y="3594100"/>
            <a:ext cx="304800" cy="304800"/>
          </a:xfrm>
          <a:prstGeom prst="rect">
            <a:avLst/>
          </a:prstGeom>
        </p:spPr>
      </p:pic>
      <p:sp>
        <p:nvSpPr>
          <p:cNvPr id="32" name="Text 20"/>
          <p:cNvSpPr txBox="1"/>
          <p:nvPr/>
        </p:nvSpPr>
        <p:spPr>
          <a:xfrm>
            <a:off x="9715500" y="3644900"/>
            <a:ext cx="8953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Sequelize</a:t>
            </a:r>
            <a:endParaRPr lang="en-US" sz="1300" dirty="0"/>
          </a:p>
        </p:txBody>
      </p:sp>
      <p:sp>
        <p:nvSpPr>
          <p:cNvPr id="33" name="Text 21"/>
          <p:cNvSpPr txBox="1"/>
          <p:nvPr/>
        </p:nvSpPr>
        <p:spPr>
          <a:xfrm>
            <a:off x="6451600" y="42164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AUTH</a:t>
            </a:r>
            <a:endParaRPr lang="en-US" sz="1200" dirty="0"/>
          </a:p>
        </p:txBody>
      </p:sp>
      <p:pic>
        <p:nvPicPr>
          <p:cNvPr id="34" name="Image 9" descr="Logo OIDC">    </p:cNvPr>
          <p:cNvPicPr>
            <a:picLocks noChangeAspect="1"/>
          </p:cNvPicPr>
          <p:nvPr/>
        </p:nvPicPr>
        <p:blipFill>
          <a:blip r:embed="rId10"/>
          <a:stretch>
            <a:fillRect/>
          </a:stretch>
        </p:blipFill>
        <p:spPr>
          <a:xfrm>
            <a:off x="7848600" y="4152900"/>
            <a:ext cx="304800" cy="304800"/>
          </a:xfrm>
          <a:prstGeom prst="rect">
            <a:avLst/>
          </a:prstGeom>
        </p:spPr>
      </p:pic>
      <p:sp>
        <p:nvSpPr>
          <p:cNvPr id="35" name="Text 22"/>
          <p:cNvSpPr txBox="1"/>
          <p:nvPr/>
        </p:nvSpPr>
        <p:spPr>
          <a:xfrm>
            <a:off x="8216900" y="4203700"/>
            <a:ext cx="4191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OIDC</a:t>
            </a:r>
            <a:endParaRPr lang="en-US" sz="1300" dirty="0"/>
          </a:p>
        </p:txBody>
      </p:sp>
      <p:sp>
        <p:nvSpPr>
          <p:cNvPr id="36" name="Text 23"/>
          <p:cNvSpPr txBox="1"/>
          <p:nvPr/>
        </p:nvSpPr>
        <p:spPr>
          <a:xfrm>
            <a:off x="6451600" y="47752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DÉPLOIEMENT</a:t>
            </a:r>
            <a:endParaRPr lang="en-US" sz="1200" dirty="0"/>
          </a:p>
        </p:txBody>
      </p:sp>
      <p:pic>
        <p:nvPicPr>
          <p:cNvPr id="37" name="Image 10" descr="Logo Docker">    </p:cNvPr>
          <p:cNvPicPr>
            <a:picLocks noChangeAspect="1"/>
          </p:cNvPicPr>
          <p:nvPr/>
        </p:nvPicPr>
        <p:blipFill>
          <a:blip r:embed="rId11"/>
          <a:stretch>
            <a:fillRect/>
          </a:stretch>
        </p:blipFill>
        <p:spPr>
          <a:xfrm>
            <a:off x="7848600" y="4711700"/>
            <a:ext cx="304800" cy="304800"/>
          </a:xfrm>
          <a:prstGeom prst="rect">
            <a:avLst/>
          </a:prstGeom>
        </p:spPr>
      </p:pic>
      <p:sp>
        <p:nvSpPr>
          <p:cNvPr id="38" name="Text 24"/>
          <p:cNvSpPr txBox="1"/>
          <p:nvPr/>
        </p:nvSpPr>
        <p:spPr>
          <a:xfrm>
            <a:off x="8216900" y="4762500"/>
            <a:ext cx="609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Docker</a:t>
            </a:r>
            <a:endParaRPr lang="en-US" sz="1300" dirty="0"/>
          </a:p>
        </p:txBody>
      </p:sp>
      <p:pic>
        <p:nvPicPr>
          <p:cNvPr id="39" name="Image 11" descr="Logo Jenkins">    </p:cNvPr>
          <p:cNvPicPr>
            <a:picLocks noChangeAspect="1"/>
          </p:cNvPicPr>
          <p:nvPr/>
        </p:nvPicPr>
        <p:blipFill>
          <a:blip r:embed="rId12"/>
          <a:stretch>
            <a:fillRect/>
          </a:stretch>
        </p:blipFill>
        <p:spPr>
          <a:xfrm>
            <a:off x="8966200" y="4711700"/>
            <a:ext cx="304800" cy="304800"/>
          </a:xfrm>
          <a:prstGeom prst="rect">
            <a:avLst/>
          </a:prstGeom>
        </p:spPr>
      </p:pic>
      <p:sp>
        <p:nvSpPr>
          <p:cNvPr id="40" name="Text 25"/>
          <p:cNvSpPr txBox="1"/>
          <p:nvPr/>
        </p:nvSpPr>
        <p:spPr>
          <a:xfrm>
            <a:off x="9334500" y="47625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Jenkins</a:t>
            </a:r>
            <a:endParaRPr lang="en-US" sz="1300" dirty="0"/>
          </a:p>
        </p:txBody>
      </p:sp>
      <p:pic>
        <p:nvPicPr>
          <p:cNvPr id="41" name="Image 12" descr="Logo Kubernetes">    </p:cNvPr>
          <p:cNvPicPr>
            <a:picLocks noChangeAspect="1"/>
          </p:cNvPicPr>
          <p:nvPr/>
        </p:nvPicPr>
        <p:blipFill>
          <a:blip r:embed="rId13"/>
          <a:stretch>
            <a:fillRect/>
          </a:stretch>
        </p:blipFill>
        <p:spPr>
          <a:xfrm>
            <a:off x="10179050" y="4711700"/>
            <a:ext cx="304800" cy="304800"/>
          </a:xfrm>
          <a:prstGeom prst="rect">
            <a:avLst/>
          </a:prstGeom>
        </p:spPr>
      </p:pic>
      <p:sp>
        <p:nvSpPr>
          <p:cNvPr id="42" name="Text 26"/>
          <p:cNvSpPr txBox="1"/>
          <p:nvPr/>
        </p:nvSpPr>
        <p:spPr>
          <a:xfrm>
            <a:off x="10547350" y="4762500"/>
            <a:ext cx="990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Kubernetes</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49339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07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mois de décalage en fin de projet</a:t>
            </a:r>
            <a:endParaRPr lang="en-US" sz="3600" dirty="0"/>
          </a:p>
        </p:txBody>
      </p:sp>
      <p:sp>
        <p:nvSpPr>
          <p:cNvPr id="11" name="Shape 6"/>
          <p:cNvSpPr/>
          <p:nvPr/>
        </p:nvSpPr>
        <p:spPr>
          <a:xfrm>
            <a:off x="812800" y="1587500"/>
            <a:ext cx="6985000" cy="3625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Planning prévisionnel et réalisé sur la même échelle de temps">    </p:cNvPr>
          <p:cNvPicPr>
            <a:picLocks noChangeAspect="1"/>
          </p:cNvPicPr>
          <p:nvPr/>
        </p:nvPicPr>
        <p:blipFill>
          <a:blip r:embed="rId3"/>
          <a:stretch>
            <a:fillRect/>
          </a:stretch>
        </p:blipFill>
        <p:spPr>
          <a:xfrm>
            <a:off x="838200" y="1612900"/>
            <a:ext cx="6934200" cy="3575050"/>
          </a:xfrm>
          <a:prstGeom prst="rect">
            <a:avLst/>
          </a:prstGeom>
        </p:spPr>
      </p:pic>
      <p:sp>
        <p:nvSpPr>
          <p:cNvPr id="13" name="Shape 7"/>
          <p:cNvSpPr/>
          <p:nvPr/>
        </p:nvSpPr>
        <p:spPr>
          <a:xfrm>
            <a:off x="8102600" y="1587500"/>
            <a:ext cx="3276600" cy="1397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4" name="Text 8"/>
          <p:cNvSpPr txBox="1"/>
          <p:nvPr/>
        </p:nvSpPr>
        <p:spPr>
          <a:xfrm>
            <a:off x="8331200" y="1841500"/>
            <a:ext cx="2794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PRÉVU</a:t>
            </a:r>
            <a:endParaRPr lang="en-US" sz="1200" dirty="0"/>
          </a:p>
        </p:txBody>
      </p:sp>
      <p:sp>
        <p:nvSpPr>
          <p:cNvPr id="15" name="Text 9"/>
          <p:cNvSpPr txBox="1"/>
          <p:nvPr/>
        </p:nvSpPr>
        <p:spPr>
          <a:xfrm>
            <a:off x="8331200" y="2222500"/>
            <a:ext cx="2794000" cy="4064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Juillet 2026</a:t>
            </a:r>
            <a:endParaRPr lang="en-US" sz="2000" dirty="0"/>
          </a:p>
        </p:txBody>
      </p:sp>
      <p:sp>
        <p:nvSpPr>
          <p:cNvPr id="16" name="Shape 10"/>
          <p:cNvSpPr/>
          <p:nvPr/>
        </p:nvSpPr>
        <p:spPr>
          <a:xfrm>
            <a:off x="8102600" y="3136900"/>
            <a:ext cx="3276600" cy="1397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7" name="Text 11"/>
          <p:cNvSpPr txBox="1"/>
          <p:nvPr/>
        </p:nvSpPr>
        <p:spPr>
          <a:xfrm>
            <a:off x="8331200" y="3390900"/>
            <a:ext cx="2794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RÉALISÉ</a:t>
            </a:r>
            <a:endParaRPr lang="en-US" sz="1200" dirty="0"/>
          </a:p>
        </p:txBody>
      </p:sp>
      <p:sp>
        <p:nvSpPr>
          <p:cNvPr id="18" name="Text 12"/>
          <p:cNvSpPr txBox="1"/>
          <p:nvPr/>
        </p:nvSpPr>
        <p:spPr>
          <a:xfrm>
            <a:off x="8331200" y="3771900"/>
            <a:ext cx="2794000" cy="4064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20 août 2026</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56324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08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Deux imprévus, un arbitrage</a:t>
            </a:r>
            <a:endParaRPr lang="en-US" sz="3600" dirty="0"/>
          </a:p>
        </p:txBody>
      </p:sp>
      <p:sp>
        <p:nvSpPr>
          <p:cNvPr id="11" name="Shape 6"/>
          <p:cNvSpPr/>
          <p:nvPr/>
        </p:nvSpPr>
        <p:spPr>
          <a:xfrm>
            <a:off x="812800" y="1587500"/>
            <a:ext cx="5156200" cy="254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3810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IMPRÉVU 01</a:t>
            </a:r>
            <a:endParaRPr lang="en-US" sz="1200" dirty="0"/>
          </a:p>
        </p:txBody>
      </p:sp>
      <p:sp>
        <p:nvSpPr>
          <p:cNvPr id="13" name="Text 8"/>
          <p:cNvSpPr txBox="1"/>
          <p:nvPr/>
        </p:nvSpPr>
        <p:spPr>
          <a:xfrm>
            <a:off x="1041400" y="21336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Accès et droits</a:t>
            </a:r>
            <a:endParaRPr lang="en-US" sz="2000" dirty="0"/>
          </a:p>
        </p:txBody>
      </p:sp>
      <p:sp>
        <p:nvSpPr>
          <p:cNvPr id="14" name="Text 9"/>
          <p:cNvSpPr txBox="1"/>
          <p:nvPr/>
        </p:nvSpPr>
        <p:spPr>
          <a:xfrm>
            <a:off x="1041400" y="2667000"/>
            <a:ext cx="4699000" cy="12700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Autorisations nécessaires avant de pouvoir développer et tester. Demande anticipée dès mars 2026.</a:t>
            </a:r>
            <a:endParaRPr lang="en-US" sz="1600" dirty="0"/>
          </a:p>
        </p:txBody>
      </p:sp>
      <p:sp>
        <p:nvSpPr>
          <p:cNvPr id="15" name="Shape 10"/>
          <p:cNvSpPr/>
          <p:nvPr/>
        </p:nvSpPr>
        <p:spPr>
          <a:xfrm>
            <a:off x="6223000" y="1587500"/>
            <a:ext cx="5156200" cy="254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6" name="Text 11"/>
          <p:cNvSpPr txBox="1"/>
          <p:nvPr/>
        </p:nvSpPr>
        <p:spPr>
          <a:xfrm>
            <a:off x="6451600" y="1816100"/>
            <a:ext cx="3810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IMPRÉVU 02</a:t>
            </a:r>
            <a:endParaRPr lang="en-US" sz="1200" dirty="0"/>
          </a:p>
        </p:txBody>
      </p:sp>
      <p:sp>
        <p:nvSpPr>
          <p:cNvPr id="17" name="Text 12"/>
          <p:cNvSpPr txBox="1"/>
          <p:nvPr/>
        </p:nvSpPr>
        <p:spPr>
          <a:xfrm>
            <a:off x="6451600" y="21336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Fichiers hétérogènes</a:t>
            </a:r>
            <a:endParaRPr lang="en-US" sz="2000" dirty="0"/>
          </a:p>
        </p:txBody>
      </p:sp>
      <p:sp>
        <p:nvSpPr>
          <p:cNvPr id="18" name="Text 13"/>
          <p:cNvSpPr txBox="1"/>
          <p:nvPr/>
        </p:nvSpPr>
        <p:spPr>
          <a:xfrm>
            <a:off x="6451600" y="2667000"/>
            <a:ext cx="4699000" cy="12700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Structures variées, jusqu’à 2003. Une vingtaine de fichiers particuliers identifiés en test.</a:t>
            </a:r>
            <a:endParaRPr lang="en-US" sz="1600" dirty="0"/>
          </a:p>
        </p:txBody>
      </p:sp>
      <p:sp>
        <p:nvSpPr>
          <p:cNvPr id="19" name="Shape 14"/>
          <p:cNvSpPr/>
          <p:nvPr/>
        </p:nvSpPr>
        <p:spPr>
          <a:xfrm>
            <a:off x="812800" y="4572000"/>
            <a:ext cx="10566400" cy="1016000"/>
          </a:xfrm>
          <a:prstGeom prst="rect">
            <a:avLst/>
          </a:prstGeom>
          <a:solidFill>
            <a:srgbClr val="16181D"/>
          </a:solidFill>
          <a:ln/>
        </p:spPr>
      </p:sp>
      <p:sp>
        <p:nvSpPr>
          <p:cNvPr id="20" name="Text 15"/>
          <p:cNvSpPr txBox="1"/>
          <p:nvPr/>
        </p:nvSpPr>
        <p:spPr>
          <a:xfrm>
            <a:off x="1066800" y="4572000"/>
            <a:ext cx="10058400" cy="1016000"/>
          </a:xfrm>
          <a:prstGeom prst="rect">
            <a:avLst/>
          </a:prstGeom>
          <a:noFill/>
          <a:ln/>
        </p:spPr>
        <p:txBody>
          <a:bodyPr wrap="square" lIns="0" tIns="0" rIns="0" bIns="0" rtlCol="0" anchor="ctr"/>
          <a:lstStyle/>
          <a:p>
            <a:pPr indent="0" marL="0">
              <a:buNone/>
            </a:pPr>
            <a:r>
              <a:rPr lang="en-US" sz="2000" b="1" dirty="0">
                <a:solidFill>
                  <a:srgbClr val="F3F0E8"/>
                </a:solidFill>
                <a:latin typeface="Space Grotesk" pitchFamily="34" charset="0"/>
                <a:ea typeface="Space Grotesk" pitchFamily="34" charset="-122"/>
                <a:cs typeface="Space Grotesk" pitchFamily="34" charset="-120"/>
              </a:rPr>
              <a:t>Arbitrage : privilégier la robustesse du moteur d’import plutôt que le calendrier initial.</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633730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09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RIPTIS en production le 20 août 2026</a:t>
            </a:r>
            <a:endParaRPr lang="en-US" sz="3600" dirty="0"/>
          </a:p>
        </p:txBody>
      </p:sp>
      <p:sp>
        <p:nvSpPr>
          <p:cNvPr id="11" name="Shape 6"/>
          <p:cNvSpPr/>
          <p:nvPr/>
        </p:nvSpPr>
        <p:spPr>
          <a:xfrm>
            <a:off x="812800" y="1587500"/>
            <a:ext cx="6096000" cy="40449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Tableau de bord d’accueil de RIPTIS : 2 432 matrices centralisées">    </p:cNvPr>
          <p:cNvPicPr>
            <a:picLocks noChangeAspect="1"/>
          </p:cNvPicPr>
          <p:nvPr/>
        </p:nvPicPr>
        <p:blipFill>
          <a:blip r:embed="rId3"/>
          <a:stretch>
            <a:fillRect/>
          </a:stretch>
        </p:blipFill>
        <p:spPr>
          <a:xfrm>
            <a:off x="838200" y="1612900"/>
            <a:ext cx="6045200" cy="3994150"/>
          </a:xfrm>
          <a:prstGeom prst="rect">
            <a:avLst/>
          </a:prstGeom>
        </p:spPr>
      </p:pic>
      <p:sp>
        <p:nvSpPr>
          <p:cNvPr id="13" name="Text 7"/>
          <p:cNvSpPr txBox="1"/>
          <p:nvPr/>
        </p:nvSpPr>
        <p:spPr>
          <a:xfrm>
            <a:off x="7213600" y="1587500"/>
            <a:ext cx="4165600" cy="355600"/>
          </a:xfrm>
          <a:prstGeom prst="rect">
            <a:avLst/>
          </a:prstGeom>
          <a:noFill/>
          <a:ln/>
        </p:spPr>
        <p:txBody>
          <a:bodyPr wrap="square" lIns="0" tIns="0" rIns="0" bIns="0" rtlCol="0" anchor="t"/>
          <a:lstStyle/>
          <a:p>
            <a:pPr indent="0" marL="0">
              <a:buNone/>
            </a:pPr>
            <a:r>
              <a:rPr lang="en-US" sz="2000" b="1" dirty="0">
                <a:solidFill>
                  <a:srgbClr val="0B4F7A"/>
                </a:solidFill>
                <a:latin typeface="Space Grotesk" pitchFamily="34" charset="0"/>
                <a:ea typeface="Space Grotesk" pitchFamily="34" charset="-122"/>
                <a:cs typeface="Space Grotesk" pitchFamily="34" charset="-120"/>
              </a:rPr>
              <a:t>2 432 matrices</a:t>
            </a:r>
            <a:endParaRPr lang="en-US" sz="2000" dirty="0"/>
          </a:p>
        </p:txBody>
      </p:sp>
      <p:sp>
        <p:nvSpPr>
          <p:cNvPr id="14" name="Text 8"/>
          <p:cNvSpPr txBox="1"/>
          <p:nvPr/>
        </p:nvSpPr>
        <p:spPr>
          <a:xfrm>
            <a:off x="7213600" y="2159000"/>
            <a:ext cx="4165600" cy="266700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Import Excel multi-formats</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Recherche multicritère</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Recherche DNS</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Droits par OIDC</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Export Excel</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Sauvegarde PostgreSQL</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0421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10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Une recherche IP en quelques secondes</a:t>
            </a:r>
            <a:endParaRPr lang="en-US" sz="3600" dirty="0"/>
          </a:p>
        </p:txBody>
      </p:sp>
      <p:sp>
        <p:nvSpPr>
          <p:cNvPr id="11" name="Shape 6"/>
          <p:cNvSpPr/>
          <p:nvPr/>
        </p:nvSpPr>
        <p:spPr>
          <a:xfrm>
            <a:off x="812800" y="1587500"/>
            <a:ext cx="5130800" cy="3371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Recherche multicritère par IP : 2 fichiers trouvés avec le détail de la route">    </p:cNvPr>
          <p:cNvPicPr>
            <a:picLocks noChangeAspect="1"/>
          </p:cNvPicPr>
          <p:nvPr/>
        </p:nvPicPr>
        <p:blipFill>
          <a:blip r:embed="rId3"/>
          <a:stretch>
            <a:fillRect/>
          </a:stretch>
        </p:blipFill>
        <p:spPr>
          <a:xfrm>
            <a:off x="838200" y="1612900"/>
            <a:ext cx="5080000" cy="3321050"/>
          </a:xfrm>
          <a:prstGeom prst="rect">
            <a:avLst/>
          </a:prstGeom>
        </p:spPr>
      </p:pic>
      <p:sp>
        <p:nvSpPr>
          <p:cNvPr id="13" name="Shape 7"/>
          <p:cNvSpPr/>
          <p:nvPr/>
        </p:nvSpPr>
        <p:spPr>
          <a:xfrm>
            <a:off x="6248400" y="1587500"/>
            <a:ext cx="5130800" cy="3371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4" name="Image 3" descr="Recherche DNS : adresse IPv4 et alias CNAME">    </p:cNvPr>
          <p:cNvPicPr>
            <a:picLocks noChangeAspect="1"/>
          </p:cNvPicPr>
          <p:nvPr/>
        </p:nvPicPr>
        <p:blipFill>
          <a:blip r:embed="rId4"/>
          <a:stretch>
            <a:fillRect/>
          </a:stretch>
        </p:blipFill>
        <p:spPr>
          <a:xfrm>
            <a:off x="6273800" y="1612900"/>
            <a:ext cx="5080000" cy="3321050"/>
          </a:xfrm>
          <a:prstGeom prst="rect">
            <a:avLst/>
          </a:prstGeom>
        </p:spPr>
      </p:pic>
      <p:sp>
        <p:nvSpPr>
          <p:cNvPr id="15" name="Text 8"/>
          <p:cNvSpPr txBox="1"/>
          <p:nvPr/>
        </p:nvSpPr>
        <p:spPr>
          <a:xfrm>
            <a:off x="812800" y="5143500"/>
            <a:ext cx="5130800" cy="571500"/>
          </a:xfrm>
          <a:prstGeom prst="rect">
            <a:avLst/>
          </a:prstGeom>
          <a:noFill/>
          <a:ln/>
        </p:spPr>
        <p:txBody>
          <a:bodyPr wrap="square" lIns="0" tIns="0" rIns="0" bIns="0" rtlCol="0" anchor="t"/>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Recherche multicritère : 2 fichiers sur 2 432 matrices, route détaillée</a:t>
            </a:r>
            <a:endParaRPr lang="en-US" sz="1400" dirty="0"/>
          </a:p>
        </p:txBody>
      </p:sp>
      <p:sp>
        <p:nvSpPr>
          <p:cNvPr id="16" name="Text 9"/>
          <p:cNvSpPr txBox="1"/>
          <p:nvPr/>
        </p:nvSpPr>
        <p:spPr>
          <a:xfrm>
            <a:off x="6248400" y="5143500"/>
            <a:ext cx="5130800" cy="571500"/>
          </a:xfrm>
          <a:prstGeom prst="rect">
            <a:avLst/>
          </a:prstGeom>
          <a:noFill/>
          <a:ln/>
        </p:spPr>
        <p:txBody>
          <a:bodyPr wrap="square" lIns="0" tIns="0" rIns="0" bIns="0" rtlCol="0" anchor="t"/>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Recherche DNS : enrichissement des résultats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7470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11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Des gains estimés à confirmer</a:t>
            </a:r>
            <a:endParaRPr lang="en-US" sz="3600" dirty="0"/>
          </a:p>
        </p:txBody>
      </p:sp>
      <p:sp>
        <p:nvSpPr>
          <p:cNvPr id="11" name="Shape 6"/>
          <p:cNvSpPr/>
          <p:nvPr/>
        </p:nvSpPr>
        <p:spPr>
          <a:xfrm>
            <a:off x="812800" y="15875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7145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30 s</a:t>
            </a:r>
            <a:endParaRPr lang="en-US" sz="4800" dirty="0"/>
          </a:p>
        </p:txBody>
      </p:sp>
      <p:sp>
        <p:nvSpPr>
          <p:cNvPr id="13" name="Text 8"/>
          <p:cNvSpPr txBox="1"/>
          <p:nvPr/>
        </p:nvSpPr>
        <p:spPr>
          <a:xfrm>
            <a:off x="1041400" y="24765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au lieu de 30–50 min pour retrouver une information</a:t>
            </a:r>
            <a:endParaRPr lang="en-US" sz="1600" dirty="0"/>
          </a:p>
        </p:txBody>
      </p:sp>
      <p:sp>
        <p:nvSpPr>
          <p:cNvPr id="14" name="Shape 9"/>
          <p:cNvSpPr/>
          <p:nvPr/>
        </p:nvSpPr>
        <p:spPr>
          <a:xfrm>
            <a:off x="6197600" y="15875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26200" y="17145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−98,8 %</a:t>
            </a:r>
            <a:endParaRPr lang="en-US" sz="4800" dirty="0"/>
          </a:p>
        </p:txBody>
      </p:sp>
      <p:sp>
        <p:nvSpPr>
          <p:cNvPr id="16" name="Text 11"/>
          <p:cNvSpPr txBox="1"/>
          <p:nvPr/>
        </p:nvSpPr>
        <p:spPr>
          <a:xfrm>
            <a:off x="6426200" y="24765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 temps de recherche (estimation)</a:t>
            </a:r>
            <a:endParaRPr lang="en-US" sz="1600" dirty="0"/>
          </a:p>
        </p:txBody>
      </p:sp>
      <p:sp>
        <p:nvSpPr>
          <p:cNvPr id="17" name="Shape 12"/>
          <p:cNvSpPr/>
          <p:nvPr/>
        </p:nvSpPr>
        <p:spPr>
          <a:xfrm>
            <a:off x="812800" y="33909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8" name="Text 13"/>
          <p:cNvSpPr txBox="1"/>
          <p:nvPr/>
        </p:nvSpPr>
        <p:spPr>
          <a:xfrm>
            <a:off x="1041400" y="35179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 30</a:t>
            </a:r>
            <a:endParaRPr lang="en-US" sz="4800" dirty="0"/>
          </a:p>
        </p:txBody>
      </p:sp>
      <p:sp>
        <p:nvSpPr>
          <p:cNvPr id="19" name="Text 14"/>
          <p:cNvSpPr txBox="1"/>
          <p:nvPr/>
        </p:nvSpPr>
        <p:spPr>
          <a:xfrm>
            <a:off x="1041400" y="42799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recherches par heure : 1,5 → 120</a:t>
            </a:r>
            <a:endParaRPr lang="en-US" sz="1600" dirty="0"/>
          </a:p>
        </p:txBody>
      </p:sp>
      <p:sp>
        <p:nvSpPr>
          <p:cNvPr id="20" name="Shape 15"/>
          <p:cNvSpPr/>
          <p:nvPr/>
        </p:nvSpPr>
        <p:spPr>
          <a:xfrm>
            <a:off x="6197600" y="33909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1" name="Text 16"/>
          <p:cNvSpPr txBox="1"/>
          <p:nvPr/>
        </p:nvSpPr>
        <p:spPr>
          <a:xfrm>
            <a:off x="6426200" y="35179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 21 400 €</a:t>
            </a:r>
            <a:endParaRPr lang="en-US" sz="4800" dirty="0"/>
          </a:p>
        </p:txBody>
      </p:sp>
      <p:sp>
        <p:nvSpPr>
          <p:cNvPr id="22" name="Text 17"/>
          <p:cNvSpPr txBox="1"/>
          <p:nvPr/>
        </p:nvSpPr>
        <p:spPr>
          <a:xfrm>
            <a:off x="6426200" y="42799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 temps libéré par an et par utilisateur (50 €/h)</a:t>
            </a:r>
            <a:endParaRPr lang="en-US" sz="1600" dirty="0"/>
          </a:p>
        </p:txBody>
      </p:sp>
      <p:sp>
        <p:nvSpPr>
          <p:cNvPr id="23" name="Text 18"/>
          <p:cNvSpPr txBox="1"/>
          <p:nvPr/>
        </p:nvSpPr>
        <p:spPr>
          <a:xfrm>
            <a:off x="812800" y="5334000"/>
            <a:ext cx="10566400" cy="444500"/>
          </a:xfrm>
          <a:prstGeom prst="rect">
            <a:avLst/>
          </a:prstGeom>
          <a:noFill/>
          <a:ln/>
        </p:spPr>
        <p:txBody>
          <a:bodyPr wrap="square" lIns="0" tIns="0" rIns="0" bIns="0" rtlCol="0" anchor="t"/>
          <a:lstStyle/>
          <a:p>
            <a:pPr indent="0" marL="0">
              <a:buNone/>
            </a:pPr>
            <a:r>
              <a:rPr lang="en-US" sz="1200" dirty="0">
                <a:solidFill>
                  <a:srgbClr val="4B5159"/>
                </a:solidFill>
                <a:latin typeface="IBM Plex Sans" pitchFamily="34" charset="0"/>
                <a:ea typeface="IBM Plex Sans" pitchFamily="34" charset="-122"/>
                <a:cs typeface="IBM Plex Sans" pitchFamily="34" charset="-120"/>
              </a:rPr>
              <a:t>Estimation de travail (moyenne de 40 minutes avant RIPTIS, environ 12 recherches par semaine) : aucun chronométrage n’a été réalisé avant le projet.</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84518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12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Bilan des objectifs initiaux</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3594100"/>
                <a:gridCol w="5073650"/>
                <a:gridCol w="1898650"/>
              </a:tblGrid>
              <a:tr h="431800">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Objectif</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Résultat</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Statut</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Centraliser les matrices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Import validé sur les fichiers testés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Gérer les formats historiques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~20 fichiers particuliers traités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Sécuriser l’accès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OIDC, rôles et permissions actifs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Préserver les données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Sauvegarde en place, procédure à écrire</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Partiel</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Recherche −70 %</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−98,8 % estimé, à chronométrer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Satisfaction ≥ 80 %</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Retours positifs, sans mesure formelle</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Réponse &lt; 2 secondes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Indexation PostgreSQL, 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91567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13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Compétences et retour critique</a:t>
            </a:r>
            <a:endParaRPr lang="en-US" sz="3600" dirty="0"/>
          </a:p>
        </p:txBody>
      </p:sp>
      <p:sp>
        <p:nvSpPr>
          <p:cNvPr id="11" name="Shape 6"/>
          <p:cNvSpPr/>
          <p:nvPr/>
        </p:nvSpPr>
        <p:spPr>
          <a:xfrm>
            <a:off x="812800" y="1587500"/>
            <a:ext cx="5156200" cy="3302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Compétences</a:t>
            </a:r>
            <a:endParaRPr lang="en-US" sz="2000" dirty="0"/>
          </a:p>
        </p:txBody>
      </p:sp>
      <p:sp>
        <p:nvSpPr>
          <p:cNvPr id="13" name="Text 8"/>
          <p:cNvSpPr txBox="1"/>
          <p:nvPr/>
        </p:nvSpPr>
        <p:spPr>
          <a:xfrm>
            <a:off x="1041400" y="2349500"/>
            <a:ext cx="4699000" cy="2413000"/>
          </a:xfrm>
          <a:prstGeom prst="rect">
            <a:avLst/>
          </a:prstGeom>
          <a:noFill/>
          <a:ln/>
        </p:spPr>
        <p:txBody>
          <a:bodyPr wrap="square" lIns="0" tIns="0" rIns="0" bIns="0" rtlCol="0" anchor="t"/>
          <a:lstStyle/>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Conception complète d’une application web</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Authentification OIDC et déploiement Kubernetes</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Moteur d’import générique sur données hétérogènes</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Co-pilotage : backlog, arbitrages, coordination</a:t>
            </a:r>
            <a:endParaRPr lang="en-US" sz="1600" dirty="0"/>
          </a:p>
        </p:txBody>
      </p:sp>
      <p:sp>
        <p:nvSpPr>
          <p:cNvPr id="14" name="Shape 9"/>
          <p:cNvSpPr/>
          <p:nvPr/>
        </p:nvSpPr>
        <p:spPr>
          <a:xfrm>
            <a:off x="6223000" y="1587500"/>
            <a:ext cx="5156200" cy="3302000"/>
          </a:xfrm>
          <a:prstGeom prst="rect">
            <a:avLst/>
          </a:prstGeom>
          <a:solidFill>
            <a:srgbClr val="16181D"/>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1816100"/>
            <a:ext cx="4699000" cy="355600"/>
          </a:xfrm>
          <a:prstGeom prst="rect">
            <a:avLst/>
          </a:prstGeom>
          <a:noFill/>
          <a:ln/>
        </p:spPr>
        <p:txBody>
          <a:bodyPr wrap="square" lIns="0" tIns="0" rIns="0" bIns="0" rtlCol="0" anchor="t"/>
          <a:lstStyle/>
          <a:p>
            <a:pPr indent="0" marL="0">
              <a:buNone/>
            </a:pPr>
            <a:r>
              <a:rPr lang="en-US" sz="2000" b="1" dirty="0">
                <a:solidFill>
                  <a:srgbClr val="F3F0E8"/>
                </a:solidFill>
                <a:latin typeface="Space Grotesk" pitchFamily="34" charset="0"/>
                <a:ea typeface="Space Grotesk" pitchFamily="34" charset="-122"/>
                <a:cs typeface="Space Grotesk" pitchFamily="34" charset="-120"/>
              </a:rPr>
              <a:t>Retour critique</a:t>
            </a:r>
            <a:endParaRPr lang="en-US" sz="2000" dirty="0"/>
          </a:p>
        </p:txBody>
      </p:sp>
      <p:sp>
        <p:nvSpPr>
          <p:cNvPr id="16" name="Text 11"/>
          <p:cNvSpPr txBox="1"/>
          <p:nvPr/>
        </p:nvSpPr>
        <p:spPr>
          <a:xfrm>
            <a:off x="6451600" y="2349500"/>
            <a:ext cx="4699000" cy="1079500"/>
          </a:xfrm>
          <a:prstGeom prst="rect">
            <a:avLst/>
          </a:prstGeom>
          <a:noFill/>
          <a:ln/>
        </p:spPr>
        <p:txBody>
          <a:bodyPr wrap="square" lIns="0" tIns="0" rIns="0" bIns="0" rtlCol="0" anchor="t"/>
          <a:lstStyle/>
          <a:p>
            <a:pPr indent="0" marL="0">
              <a:lnSpc>
                <a:spcPct val="105000"/>
              </a:lnSpc>
              <a:buNone/>
            </a:pPr>
            <a:r>
              <a:rPr lang="en-US" sz="1600" dirty="0">
                <a:solidFill>
                  <a:srgbClr val="F3F0E8"/>
                </a:solidFill>
                <a:latin typeface="IBM Plex Sans" pitchFamily="34" charset="0"/>
                <a:ea typeface="IBM Plex Sans" pitchFamily="34" charset="-122"/>
                <a:cs typeface="IBM Plex Sans" pitchFamily="34" charset="-120"/>
              </a:rPr>
              <a:t>Pas de chronométrage avant/après dès le cadrage : les gains reposent sur une estimation.</a:t>
            </a:r>
            <a:endParaRPr lang="en-US" sz="1600" dirty="0"/>
          </a:p>
        </p:txBody>
      </p:sp>
      <p:sp>
        <p:nvSpPr>
          <p:cNvPr id="17" name="Text 12"/>
          <p:cNvSpPr txBox="1"/>
          <p:nvPr/>
        </p:nvSpPr>
        <p:spPr>
          <a:xfrm>
            <a:off x="6451600" y="3556000"/>
            <a:ext cx="4699000" cy="1079500"/>
          </a:xfrm>
          <a:prstGeom prst="rect">
            <a:avLst/>
          </a:prstGeom>
          <a:noFill/>
          <a:ln/>
        </p:spPr>
        <p:txBody>
          <a:bodyPr wrap="square" lIns="0" tIns="0" rIns="0" bIns="0" rtlCol="0" anchor="t"/>
          <a:lstStyle/>
          <a:p>
            <a:pPr indent="0" marL="0">
              <a:lnSpc>
                <a:spcPct val="105000"/>
              </a:lnSpc>
              <a:buNone/>
            </a:pPr>
            <a:r>
              <a:rPr lang="en-US" sz="1600" b="1" dirty="0">
                <a:solidFill>
                  <a:srgbClr val="F3F0E8"/>
                </a:solidFill>
                <a:latin typeface="IBM Plex Sans" pitchFamily="34" charset="0"/>
                <a:ea typeface="IBM Plex Sans" pitchFamily="34" charset="-122"/>
                <a:cs typeface="IBM Plex Sans" pitchFamily="34" charset="-120"/>
              </a:rPr>
              <a:t>La mesure d’impact aurait dû être instrumentée dès la note de cadrage.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98615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14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Perspectives d’évolution</a:t>
            </a:r>
            <a:endParaRPr lang="en-US" sz="3600" dirty="0"/>
          </a:p>
        </p:txBody>
      </p:sp>
      <p:sp>
        <p:nvSpPr>
          <p:cNvPr id="11" name="Shape 6"/>
          <p:cNvSpPr/>
          <p:nvPr/>
        </p:nvSpPr>
        <p:spPr>
          <a:xfrm>
            <a:off x="812800" y="1587500"/>
            <a:ext cx="609600" cy="609600"/>
          </a:xfrm>
          <a:prstGeom prst="rect">
            <a:avLst/>
          </a:prstGeom>
          <a:solidFill>
            <a:srgbClr val="16181D"/>
          </a:solidFill>
          <a:ln w="25400">
            <a:solidFill>
              <a:srgbClr val="16181D"/>
            </a:solidFill>
            <a:prstDash val="solid"/>
          </a:ln>
        </p:spPr>
      </p:sp>
      <p:sp>
        <p:nvSpPr>
          <p:cNvPr id="12" name="Text 7"/>
          <p:cNvSpPr txBox="1"/>
          <p:nvPr/>
        </p:nvSpPr>
        <p:spPr>
          <a:xfrm>
            <a:off x="812800" y="15875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01</a:t>
            </a:r>
            <a:endParaRPr lang="en-US" sz="2000" dirty="0"/>
          </a:p>
        </p:txBody>
      </p:sp>
      <p:sp>
        <p:nvSpPr>
          <p:cNvPr id="13" name="Shape 8"/>
          <p:cNvSpPr/>
          <p:nvPr/>
        </p:nvSpPr>
        <p:spPr>
          <a:xfrm>
            <a:off x="1422400" y="1587500"/>
            <a:ext cx="9956800" cy="609600"/>
          </a:xfrm>
          <a:prstGeom prst="rect">
            <a:avLst/>
          </a:prstGeom>
          <a:solidFill>
            <a:srgbClr val="FBF9F3"/>
          </a:solidFill>
          <a:ln w="25400">
            <a:solidFill>
              <a:srgbClr val="16181D"/>
            </a:solidFill>
            <a:prstDash val="solid"/>
          </a:ln>
        </p:spPr>
      </p:sp>
      <p:sp>
        <p:nvSpPr>
          <p:cNvPr id="14" name="Text 9"/>
          <p:cNvSpPr txBox="1"/>
          <p:nvPr/>
        </p:nvSpPr>
        <p:spPr>
          <a:xfrm>
            <a:off x="1625600" y="15875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Mesurer sur le terrain le temps de recherche et la satisfaction</a:t>
            </a:r>
            <a:endParaRPr lang="en-US" sz="1600" dirty="0"/>
          </a:p>
        </p:txBody>
      </p:sp>
      <p:sp>
        <p:nvSpPr>
          <p:cNvPr id="15" name="Shape 10"/>
          <p:cNvSpPr/>
          <p:nvPr/>
        </p:nvSpPr>
        <p:spPr>
          <a:xfrm>
            <a:off x="812800" y="2324100"/>
            <a:ext cx="609600" cy="609600"/>
          </a:xfrm>
          <a:prstGeom prst="rect">
            <a:avLst/>
          </a:prstGeom>
          <a:solidFill>
            <a:srgbClr val="16181D"/>
          </a:solidFill>
          <a:ln w="25400">
            <a:solidFill>
              <a:srgbClr val="16181D"/>
            </a:solidFill>
            <a:prstDash val="solid"/>
          </a:ln>
        </p:spPr>
      </p:sp>
      <p:sp>
        <p:nvSpPr>
          <p:cNvPr id="16" name="Text 11"/>
          <p:cNvSpPr txBox="1"/>
          <p:nvPr/>
        </p:nvSpPr>
        <p:spPr>
          <a:xfrm>
            <a:off x="812800" y="23241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02</a:t>
            </a:r>
            <a:endParaRPr lang="en-US" sz="2000" dirty="0"/>
          </a:p>
        </p:txBody>
      </p:sp>
      <p:sp>
        <p:nvSpPr>
          <p:cNvPr id="17" name="Shape 12"/>
          <p:cNvSpPr/>
          <p:nvPr/>
        </p:nvSpPr>
        <p:spPr>
          <a:xfrm>
            <a:off x="1422400" y="2324100"/>
            <a:ext cx="9956800" cy="609600"/>
          </a:xfrm>
          <a:prstGeom prst="rect">
            <a:avLst/>
          </a:prstGeom>
          <a:solidFill>
            <a:srgbClr val="FBF9F3"/>
          </a:solidFill>
          <a:ln w="25400">
            <a:solidFill>
              <a:srgbClr val="16181D"/>
            </a:solidFill>
            <a:prstDash val="solid"/>
          </a:ln>
        </p:spPr>
      </p:sp>
      <p:sp>
        <p:nvSpPr>
          <p:cNvPr id="18" name="Text 13"/>
          <p:cNvSpPr txBox="1"/>
          <p:nvPr/>
        </p:nvSpPr>
        <p:spPr>
          <a:xfrm>
            <a:off x="1625600" y="23241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Étendre le moteur d’import aux nouveaux formats de fichiers</a:t>
            </a:r>
            <a:endParaRPr lang="en-US" sz="1600" dirty="0"/>
          </a:p>
        </p:txBody>
      </p:sp>
      <p:sp>
        <p:nvSpPr>
          <p:cNvPr id="19" name="Shape 14"/>
          <p:cNvSpPr/>
          <p:nvPr/>
        </p:nvSpPr>
        <p:spPr>
          <a:xfrm>
            <a:off x="812800" y="3060700"/>
            <a:ext cx="609600" cy="609600"/>
          </a:xfrm>
          <a:prstGeom prst="rect">
            <a:avLst/>
          </a:prstGeom>
          <a:solidFill>
            <a:srgbClr val="16181D"/>
          </a:solidFill>
          <a:ln w="25400">
            <a:solidFill>
              <a:srgbClr val="16181D"/>
            </a:solidFill>
            <a:prstDash val="solid"/>
          </a:ln>
        </p:spPr>
      </p:sp>
      <p:sp>
        <p:nvSpPr>
          <p:cNvPr id="20" name="Text 15"/>
          <p:cNvSpPr txBox="1"/>
          <p:nvPr/>
        </p:nvSpPr>
        <p:spPr>
          <a:xfrm>
            <a:off x="812800" y="30607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03</a:t>
            </a:r>
            <a:endParaRPr lang="en-US" sz="2000" dirty="0"/>
          </a:p>
        </p:txBody>
      </p:sp>
      <p:sp>
        <p:nvSpPr>
          <p:cNvPr id="21" name="Shape 16"/>
          <p:cNvSpPr/>
          <p:nvPr/>
        </p:nvSpPr>
        <p:spPr>
          <a:xfrm>
            <a:off x="1422400" y="3060700"/>
            <a:ext cx="9956800" cy="609600"/>
          </a:xfrm>
          <a:prstGeom prst="rect">
            <a:avLst/>
          </a:prstGeom>
          <a:solidFill>
            <a:srgbClr val="FBF9F3"/>
          </a:solidFill>
          <a:ln w="25400">
            <a:solidFill>
              <a:srgbClr val="16181D"/>
            </a:solidFill>
            <a:prstDash val="solid"/>
          </a:ln>
        </p:spPr>
      </p:sp>
      <p:sp>
        <p:nvSpPr>
          <p:cNvPr id="22" name="Text 17"/>
          <p:cNvSpPr txBox="1"/>
          <p:nvPr/>
        </p:nvSpPr>
        <p:spPr>
          <a:xfrm>
            <a:off x="1625600" y="30607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Enrichir la recherche avec d’autres sources réseau, au-delà du DNS</a:t>
            </a:r>
            <a:endParaRPr lang="en-US" sz="1600" dirty="0"/>
          </a:p>
        </p:txBody>
      </p:sp>
      <p:sp>
        <p:nvSpPr>
          <p:cNvPr id="23" name="Shape 18"/>
          <p:cNvSpPr/>
          <p:nvPr/>
        </p:nvSpPr>
        <p:spPr>
          <a:xfrm>
            <a:off x="812800" y="3797300"/>
            <a:ext cx="609600" cy="609600"/>
          </a:xfrm>
          <a:prstGeom prst="rect">
            <a:avLst/>
          </a:prstGeom>
          <a:solidFill>
            <a:srgbClr val="16181D"/>
          </a:solidFill>
          <a:ln w="25400">
            <a:solidFill>
              <a:srgbClr val="16181D"/>
            </a:solidFill>
            <a:prstDash val="solid"/>
          </a:ln>
        </p:spPr>
      </p:sp>
      <p:sp>
        <p:nvSpPr>
          <p:cNvPr id="24" name="Text 19"/>
          <p:cNvSpPr txBox="1"/>
          <p:nvPr/>
        </p:nvSpPr>
        <p:spPr>
          <a:xfrm>
            <a:off x="812800" y="37973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04</a:t>
            </a:r>
            <a:endParaRPr lang="en-US" sz="2000" dirty="0"/>
          </a:p>
        </p:txBody>
      </p:sp>
      <p:sp>
        <p:nvSpPr>
          <p:cNvPr id="25" name="Shape 20"/>
          <p:cNvSpPr/>
          <p:nvPr/>
        </p:nvSpPr>
        <p:spPr>
          <a:xfrm>
            <a:off x="1422400" y="3797300"/>
            <a:ext cx="9956800" cy="609600"/>
          </a:xfrm>
          <a:prstGeom prst="rect">
            <a:avLst/>
          </a:prstGeom>
          <a:solidFill>
            <a:srgbClr val="DCE6EE"/>
          </a:solidFill>
          <a:ln w="25400">
            <a:solidFill>
              <a:srgbClr val="16181D"/>
            </a:solidFill>
            <a:prstDash val="solid"/>
          </a:ln>
        </p:spPr>
      </p:sp>
      <p:sp>
        <p:nvSpPr>
          <p:cNvPr id="26" name="Text 21"/>
          <p:cNvSpPr txBox="1"/>
          <p:nvPr/>
        </p:nvSpPr>
        <p:spPr>
          <a:xfrm>
            <a:off x="1625600" y="3797300"/>
            <a:ext cx="80010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Formaliser la sauvegarde : fréquence, conservation, restauration</a:t>
            </a:r>
            <a:endParaRPr lang="en-US" sz="1600" dirty="0"/>
          </a:p>
        </p:txBody>
      </p:sp>
      <p:sp>
        <p:nvSpPr>
          <p:cNvPr id="27" name="Shape 22"/>
          <p:cNvSpPr/>
          <p:nvPr/>
        </p:nvSpPr>
        <p:spPr>
          <a:xfrm>
            <a:off x="10185400" y="3949700"/>
            <a:ext cx="1016000" cy="304800"/>
          </a:xfrm>
          <a:prstGeom prst="rect">
            <a:avLst/>
          </a:prstGeom>
          <a:solidFill>
            <a:srgbClr val="0B4F7A"/>
          </a:solidFill>
          <a:ln/>
        </p:spPr>
      </p:sp>
      <p:sp>
        <p:nvSpPr>
          <p:cNvPr id="28" name="Text 23"/>
          <p:cNvSpPr txBox="1"/>
          <p:nvPr/>
        </p:nvSpPr>
        <p:spPr>
          <a:xfrm>
            <a:off x="10185400" y="3949700"/>
            <a:ext cx="1016000" cy="304800"/>
          </a:xfrm>
          <a:prstGeom prst="rect">
            <a:avLst/>
          </a:prstGeom>
          <a:noFill/>
          <a:ln/>
        </p:spPr>
        <p:txBody>
          <a:bodyPr wrap="square" lIns="0" tIns="0" rIns="0" bIns="0" rtlCol="0" anchor="ctr"/>
          <a:lstStyle/>
          <a:p>
            <a:pPr algn="ct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VALIDÉ</a:t>
            </a:r>
            <a:endParaRPr lang="en-US" sz="1200" dirty="0"/>
          </a:p>
        </p:txBody>
      </p:sp>
      <p:sp>
        <p:nvSpPr>
          <p:cNvPr id="29" name="Shape 24"/>
          <p:cNvSpPr/>
          <p:nvPr/>
        </p:nvSpPr>
        <p:spPr>
          <a:xfrm>
            <a:off x="812800" y="4533900"/>
            <a:ext cx="609600" cy="609600"/>
          </a:xfrm>
          <a:prstGeom prst="rect">
            <a:avLst/>
          </a:prstGeom>
          <a:solidFill>
            <a:srgbClr val="16181D"/>
          </a:solidFill>
          <a:ln w="25400">
            <a:solidFill>
              <a:srgbClr val="16181D"/>
            </a:solidFill>
            <a:prstDash val="solid"/>
          </a:ln>
        </p:spPr>
      </p:sp>
      <p:sp>
        <p:nvSpPr>
          <p:cNvPr id="30" name="Text 25"/>
          <p:cNvSpPr txBox="1"/>
          <p:nvPr/>
        </p:nvSpPr>
        <p:spPr>
          <a:xfrm>
            <a:off x="812800" y="45339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05</a:t>
            </a:r>
            <a:endParaRPr lang="en-US" sz="2000" dirty="0"/>
          </a:p>
        </p:txBody>
      </p:sp>
      <p:sp>
        <p:nvSpPr>
          <p:cNvPr id="31" name="Shape 26"/>
          <p:cNvSpPr/>
          <p:nvPr/>
        </p:nvSpPr>
        <p:spPr>
          <a:xfrm>
            <a:off x="1422400" y="4533900"/>
            <a:ext cx="9956800" cy="609600"/>
          </a:xfrm>
          <a:prstGeom prst="rect">
            <a:avLst/>
          </a:prstGeom>
          <a:solidFill>
            <a:srgbClr val="DCE6EE"/>
          </a:solidFill>
          <a:ln w="25400">
            <a:solidFill>
              <a:srgbClr val="16181D"/>
            </a:solidFill>
            <a:prstDash val="solid"/>
          </a:ln>
        </p:spPr>
      </p:sp>
      <p:sp>
        <p:nvSpPr>
          <p:cNvPr id="32" name="Text 27"/>
          <p:cNvSpPr txBox="1"/>
          <p:nvPr/>
        </p:nvSpPr>
        <p:spPr>
          <a:xfrm>
            <a:off x="1625600" y="4533900"/>
            <a:ext cx="80010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Développer des tableaux de bord de type Grafana</a:t>
            </a:r>
            <a:endParaRPr lang="en-US" sz="1600" dirty="0"/>
          </a:p>
        </p:txBody>
      </p:sp>
      <p:sp>
        <p:nvSpPr>
          <p:cNvPr id="33" name="Shape 28"/>
          <p:cNvSpPr/>
          <p:nvPr/>
        </p:nvSpPr>
        <p:spPr>
          <a:xfrm>
            <a:off x="10185400" y="4686300"/>
            <a:ext cx="1016000" cy="304800"/>
          </a:xfrm>
          <a:prstGeom prst="rect">
            <a:avLst/>
          </a:prstGeom>
          <a:solidFill>
            <a:srgbClr val="0B4F7A"/>
          </a:solidFill>
          <a:ln/>
        </p:spPr>
      </p:sp>
      <p:sp>
        <p:nvSpPr>
          <p:cNvPr id="34" name="Text 29"/>
          <p:cNvSpPr txBox="1"/>
          <p:nvPr/>
        </p:nvSpPr>
        <p:spPr>
          <a:xfrm>
            <a:off x="10185400" y="4686300"/>
            <a:ext cx="1016000" cy="304800"/>
          </a:xfrm>
          <a:prstGeom prst="rect">
            <a:avLst/>
          </a:prstGeom>
          <a:noFill/>
          <a:ln/>
        </p:spPr>
        <p:txBody>
          <a:bodyPr wrap="square" lIns="0" tIns="0" rIns="0" bIns="0" rtlCol="0" anchor="ctr"/>
          <a:lstStyle/>
          <a:p>
            <a:pPr algn="ct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VALIDÉ</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10566400" cy="127000"/>
          </a:xfrm>
          <a:prstGeom prst="rect">
            <a:avLst/>
          </a:prstGeom>
          <a:solidFill>
            <a:srgbClr val="0B4F7A"/>
          </a:solidFill>
          <a:ln w="19050">
            <a:solidFill>
              <a:srgbClr val="16181D"/>
            </a:solidFill>
            <a:prstDash val="solid"/>
          </a:ln>
        </p:spPr>
      </p:sp>
      <p:sp>
        <p:nvSpPr>
          <p:cNvPr id="4" name="!!mk-sq"/>
          <p:cNvSpPr/>
          <p:nvPr/>
        </p:nvSpPr>
        <p:spPr>
          <a:xfrm>
            <a:off x="7823200" y="1270000"/>
            <a:ext cx="3048000" cy="30480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15 / 15 — CONCLUSION</a:t>
            </a:r>
            <a:endParaRPr lang="en-US" sz="1200" dirty="0"/>
          </a:p>
        </p:txBody>
      </p:sp>
      <p:sp>
        <p:nvSpPr>
          <p:cNvPr id="6" name="!!logo-plate"/>
          <p:cNvSpPr/>
          <p:nvPr/>
        </p:nvSpPr>
        <p:spPr>
          <a:xfrm>
            <a:off x="7823200" y="4699000"/>
            <a:ext cx="3556000" cy="5080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255000" y="4768850"/>
            <a:ext cx="673100" cy="361950"/>
          </a:xfrm>
          <a:prstGeom prst="rect">
            <a:avLst/>
          </a:prstGeom>
        </p:spPr>
      </p:pic>
      <p:pic>
        <p:nvPicPr>
          <p:cNvPr id="8" name="!!logo-tx" descr="Logo Transactis">    </p:cNvPr>
          <p:cNvPicPr>
            <a:picLocks noChangeAspect="1"/>
          </p:cNvPicPr>
          <p:nvPr/>
        </p:nvPicPr>
        <p:blipFill>
          <a:blip r:embed="rId2"/>
          <a:stretch>
            <a:fillRect/>
          </a:stretch>
        </p:blipFill>
        <p:spPr>
          <a:xfrm>
            <a:off x="9144000" y="4806950"/>
            <a:ext cx="1803400" cy="2921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Conclusion</a:t>
            </a:r>
            <a:endParaRPr lang="en-US" sz="3600" dirty="0"/>
          </a:p>
        </p:txBody>
      </p:sp>
      <p:sp>
        <p:nvSpPr>
          <p:cNvPr id="11" name="Text 6"/>
          <p:cNvSpPr txBox="1"/>
          <p:nvPr/>
        </p:nvSpPr>
        <p:spPr>
          <a:xfrm>
            <a:off x="812800" y="2095500"/>
            <a:ext cx="5715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TROIS PRÉCONISATIONS</a:t>
            </a:r>
            <a:endParaRPr lang="en-US" sz="1200" dirty="0"/>
          </a:p>
        </p:txBody>
      </p:sp>
      <p:sp>
        <p:nvSpPr>
          <p:cNvPr id="12" name="Text 7"/>
          <p:cNvSpPr txBox="1"/>
          <p:nvPr/>
        </p:nvSpPr>
        <p:spPr>
          <a:xfrm>
            <a:off x="812800" y="25654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01</a:t>
            </a:r>
            <a:endParaRPr lang="en-US" sz="1400" dirty="0"/>
          </a:p>
        </p:txBody>
      </p:sp>
      <p:sp>
        <p:nvSpPr>
          <p:cNvPr id="13" name="Text 8"/>
          <p:cNvSpPr txBox="1"/>
          <p:nvPr/>
        </p:nvSpPr>
        <p:spPr>
          <a:xfrm>
            <a:off x="1270000" y="25400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Instrumenter la mesure d’impact dès le lancement du projet</a:t>
            </a:r>
            <a:endParaRPr lang="en-US" sz="1600" dirty="0"/>
          </a:p>
        </p:txBody>
      </p:sp>
      <p:sp>
        <p:nvSpPr>
          <p:cNvPr id="14" name="Text 9"/>
          <p:cNvSpPr txBox="1"/>
          <p:nvPr/>
        </p:nvSpPr>
        <p:spPr>
          <a:xfrm>
            <a:off x="812800" y="32639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02</a:t>
            </a:r>
            <a:endParaRPr lang="en-US" sz="1400" dirty="0"/>
          </a:p>
        </p:txBody>
      </p:sp>
      <p:sp>
        <p:nvSpPr>
          <p:cNvPr id="15" name="Text 10"/>
          <p:cNvSpPr txBox="1"/>
          <p:nvPr/>
        </p:nvSpPr>
        <p:spPr>
          <a:xfrm>
            <a:off x="1270000" y="32385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Prévoir une marge pour l’hétérogénéité des données historiques</a:t>
            </a:r>
            <a:endParaRPr lang="en-US" sz="1600" dirty="0"/>
          </a:p>
        </p:txBody>
      </p:sp>
      <p:sp>
        <p:nvSpPr>
          <p:cNvPr id="16" name="Text 11"/>
          <p:cNvSpPr txBox="1"/>
          <p:nvPr/>
        </p:nvSpPr>
        <p:spPr>
          <a:xfrm>
            <a:off x="812800" y="39624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03</a:t>
            </a:r>
            <a:endParaRPr lang="en-US" sz="1400" dirty="0"/>
          </a:p>
        </p:txBody>
      </p:sp>
      <p:sp>
        <p:nvSpPr>
          <p:cNvPr id="17" name="Text 12"/>
          <p:cNvSpPr txBox="1"/>
          <p:nvPr/>
        </p:nvSpPr>
        <p:spPr>
          <a:xfrm>
            <a:off x="1270000" y="39370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Ouvrir RIPTIS à d’autres outils réseau</a:t>
            </a:r>
            <a:endParaRPr lang="en-US" sz="1600" dirty="0"/>
          </a:p>
        </p:txBody>
      </p:sp>
      <p:sp>
        <p:nvSpPr>
          <p:cNvPr id="18" name="Text 13"/>
          <p:cNvSpPr txBox="1"/>
          <p:nvPr/>
        </p:nvSpPr>
        <p:spPr>
          <a:xfrm>
            <a:off x="812800" y="5080000"/>
            <a:ext cx="6604000" cy="825500"/>
          </a:xfrm>
          <a:prstGeom prst="rect">
            <a:avLst/>
          </a:prstGeom>
          <a:noFill/>
          <a:ln/>
        </p:spPr>
        <p:txBody>
          <a:bodyPr wrap="square" lIns="0" tIns="0" rIns="0" bIns="0" rtlCol="0" anchor="t"/>
          <a:lstStyle/>
          <a:p>
            <a:pPr indent="0" marL="0">
              <a:buNone/>
            </a:pPr>
            <a:r>
              <a:rPr lang="en-US" sz="4800" b="1" dirty="0">
                <a:solidFill>
                  <a:srgbClr val="16181D"/>
                </a:solidFill>
                <a:latin typeface="Space Grotesk" pitchFamily="34" charset="0"/>
                <a:ea typeface="Space Grotesk" pitchFamily="34" charset="-122"/>
                <a:cs typeface="Space Grotesk" pitchFamily="34" charset="-120"/>
              </a:rPr>
              <a:t>Merci.</a:t>
            </a:r>
            <a:endParaRPr lang="en-US" sz="4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RIPTIS</dc:title>
  <dc:subject>PptxGenJS Presentation</dc:subject>
  <dc:creator>PptxGenJS</dc:creator>
  <cp:lastModifiedBy>PptxGenJS</cp:lastModifiedBy>
  <cp:revision>1</cp:revision>
  <dcterms:created xsi:type="dcterms:W3CDTF">2026-09-30T22:29:31Z</dcterms:created>
  <dcterms:modified xsi:type="dcterms:W3CDTF">2026-09-30T22:29:31Z</dcterms:modified>
</cp:coreProperties>
</file>