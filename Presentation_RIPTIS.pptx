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présente RIPTIS, l’application web que j’ai conçue, développée et mise en production chez Transactis entre mars et août 2026, en alternance.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Quatre temps : le contexte, la démarche, les résultats, puis le bilan.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Transactis est co-fondé par La Banque Postale et la Société Générale. Avant le projet, une recherche d’IP, de port ou de règle VPN obligeait à chercher dans plus de 2 400 fichiers Excel, sans savoir dans lequel se trouvait l’information.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problématique de la note de cadrage est restée valide a posteriori : centralisation et sécurité ont bien été les deux axes structurants.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pistes comparées avec une matrice multicritère pondérée : garder Excel, acheter un outil IPAM/CMDB, ou développer en interne. L’application sur mesure obtient 29 points sur 33 : elle colle aux formats existants sans migration lourde et reste cohérente avec l’écosystème Transactis. Notes et poids : mon appréciation.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MVP centré sur l’import et la recherche, puis des extensions successives. Seul développeur, j’ai aussi animé la collecte du besoin avec l’équipe réseau et coordonné les accès avec l’IT et l’Infra.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Cadrage, développement et tests sont conformes au prévisionnel. L’écart d’environ un mois vient d’une seule cause : le volume de cas particuliers découverts pendant les tests, qui a ajouté une étape de traitement et décalé la stabilisation.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premier imprévu a été limité par une demande d’accès anticipée. Le second m’a conduit à généraliser le moteur d’import plutôt que traiter les fichiers un par un : c’est ce choix qui explique le mois de retard, validé avec mon maître d’apprentissage.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Sept livrables : application web, import Excel, recherche multicritère, recherche DNS, gestion des utilisateurs, export et sauvegarde. Mise en production le 20 août 2026 sur Docker, Jenkins et Kubernetes.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 réel, identifiants masqués : une recherche d’adresse IP sur l’ensemble de la base retourne instantanément les deux fichiers concernés, avec la route correspondante. La recherche DNS enrichit les résultats.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 chiffres sont des estimations, pas des mesures. Gain relatif = (40 − 0,5) / 40 = 98,8 %. Environ 8 heures économisées par semaine, soit 428 heures par an. Le coût horaire de 50 € est indicatif.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objectifs de sécurité et de centralisation sont atteints. Les objectifs quantitatifs reposent encore sur des estimations : la clôture du projet doit produire les mesures définitives.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Techniquement, la conception du moteur d’import a été la difficulté la plus formatrice. Côté gestion de projet, ma principale limite est de ne pas avoir instrumenté la mesure d’impact dès le début.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éléments sont à consolider après la fin de l’alternance : la politique de sauvegarde et la mise à jour du moteur d’import. Les deux dernières perspectives (sauvegarde, tableaux de bord) sont déjà validées avec le manager pour les prochaines mises à jour de l’outil.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RIPTIS répond au besoin identifié : centraliser des données réseau dispersées, dans le respect des contraintes d’un environnement bancaire. Mise en production le 20 août 2026. Je suis à votre disposition pour vos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1.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704850" cy="127000"/>
          </a:xfrm>
          <a:prstGeom prst="rect">
            <a:avLst/>
          </a:prstGeom>
          <a:solidFill>
            <a:srgbClr val="0B4F7A"/>
          </a:solidFill>
          <a:ln w="19050">
            <a:solidFill>
              <a:srgbClr val="16181D"/>
            </a:solidFill>
            <a:prstDash val="solid"/>
          </a:ln>
        </p:spPr>
      </p:sp>
      <p:sp>
        <p:nvSpPr>
          <p:cNvPr id="4" name="!!mk-sq"/>
          <p:cNvSpPr/>
          <p:nvPr/>
        </p:nvSpPr>
        <p:spPr>
          <a:xfrm>
            <a:off x="7823200" y="1270000"/>
            <a:ext cx="3048000" cy="30480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01 / 15 — SOUTENANCE</a:t>
            </a:r>
            <a:endParaRPr lang="en-US" sz="1200" dirty="0"/>
          </a:p>
        </p:txBody>
      </p:sp>
      <p:sp>
        <p:nvSpPr>
          <p:cNvPr id="6" name="!!logo-plate"/>
          <p:cNvSpPr/>
          <p:nvPr/>
        </p:nvSpPr>
        <p:spPr>
          <a:xfrm>
            <a:off x="7823200" y="4699000"/>
            <a:ext cx="3556000" cy="5080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255000" y="4768850"/>
            <a:ext cx="673100" cy="361950"/>
          </a:xfrm>
          <a:prstGeom prst="rect">
            <a:avLst/>
          </a:prstGeom>
        </p:spPr>
      </p:pic>
      <p:pic>
        <p:nvPicPr>
          <p:cNvPr id="8" name="!!logo-tx" descr="Logo Transactis">    </p:cNvPr>
          <p:cNvPicPr>
            <a:picLocks noChangeAspect="1"/>
          </p:cNvPicPr>
          <p:nvPr/>
        </p:nvPicPr>
        <p:blipFill>
          <a:blip r:embed="rId2"/>
          <a:stretch>
            <a:fillRect/>
          </a:stretch>
        </p:blipFill>
        <p:spPr>
          <a:xfrm>
            <a:off x="9144000" y="4806950"/>
            <a:ext cx="1803400" cy="292100"/>
          </a:xfrm>
          <a:prstGeom prst="rect">
            <a:avLst/>
          </a:prstGeom>
        </p:spPr>
      </p:pic>
      <p:sp>
        <p:nvSpPr>
          <p:cNvPr id="10" name="Text 5"/>
          <p:cNvSpPr txBox="1"/>
          <p:nvPr/>
        </p:nvSpPr>
        <p:spPr>
          <a:xfrm>
            <a:off x="812800" y="812800"/>
            <a:ext cx="6604000" cy="254000"/>
          </a:xfrm>
          <a:prstGeom prst="rect">
            <a:avLst/>
          </a:prstGeom>
          <a:noFill/>
          <a:ln/>
        </p:spPr>
        <p:txBody>
          <a:bodyPr wrap="square" lIns="0" tIns="0" rIns="0" bIns="0" rtlCol="0" anchor="t"/>
          <a:lstStyle/>
          <a:p>
            <a:pPr indent="0" marL="0">
              <a:buNone/>
            </a:pPr>
            <a:r>
              <a:rPr lang="en-US" sz="1400" b="1" spc="200" kern="0" dirty="0">
                <a:solidFill>
                  <a:srgbClr val="0B4F7A"/>
                </a:solidFill>
                <a:latin typeface="JetBrains Mono" pitchFamily="34" charset="0"/>
                <a:ea typeface="JetBrains Mono" pitchFamily="34" charset="-122"/>
                <a:cs typeface="JetBrains Mono" pitchFamily="34" charset="-120"/>
              </a:rPr>
              <a:t>RAPPORT DE RÉALISATION · ICAM × TRANSACTIS</a:t>
            </a:r>
            <a:endParaRPr lang="en-US" sz="1400" dirty="0"/>
          </a:p>
        </p:txBody>
      </p:sp>
      <p:sp>
        <p:nvSpPr>
          <p:cNvPr id="11" name="Text 6"/>
          <p:cNvSpPr txBox="1"/>
          <p:nvPr/>
        </p:nvSpPr>
        <p:spPr>
          <a:xfrm>
            <a:off x="812800" y="2095500"/>
            <a:ext cx="6604000" cy="1587500"/>
          </a:xfrm>
          <a:prstGeom prst="rect">
            <a:avLst/>
          </a:prstGeom>
          <a:noFill/>
          <a:ln/>
        </p:spPr>
        <p:txBody>
          <a:bodyPr wrap="square" lIns="0" tIns="0" rIns="0" bIns="0" rtlCol="0" anchor="t"/>
          <a:lstStyle/>
          <a:p>
            <a:pPr indent="0" marL="0">
              <a:buNone/>
            </a:pPr>
            <a:r>
              <a:rPr lang="en-US" sz="12000" b="1" dirty="0">
                <a:solidFill>
                  <a:srgbClr val="16181D"/>
                </a:solidFill>
                <a:latin typeface="Space Grotesk" pitchFamily="34" charset="0"/>
                <a:ea typeface="Space Grotesk" pitchFamily="34" charset="-122"/>
                <a:cs typeface="Space Grotesk" pitchFamily="34" charset="-120"/>
              </a:rPr>
              <a:t>RIPTIS</a:t>
            </a:r>
            <a:endParaRPr lang="en-US" sz="12000" dirty="0"/>
          </a:p>
        </p:txBody>
      </p:sp>
      <p:sp>
        <p:nvSpPr>
          <p:cNvPr id="12" name="Text 7"/>
          <p:cNvSpPr txBox="1"/>
          <p:nvPr/>
        </p:nvSpPr>
        <p:spPr>
          <a:xfrm>
            <a:off x="812800" y="3810000"/>
            <a:ext cx="6350000" cy="825500"/>
          </a:xfrm>
          <a:prstGeom prst="rect">
            <a:avLst/>
          </a:prstGeom>
          <a:noFill/>
          <a:ln/>
        </p:spPr>
        <p:txBody>
          <a:bodyPr wrap="square" lIns="0" tIns="0" rIns="0" bIns="0" rtlCol="0" anchor="t"/>
          <a:lstStyle/>
          <a:p>
            <a:pPr indent="0" marL="0">
              <a:lnSpc>
                <a:spcPct val="105000"/>
              </a:lnSpc>
              <a:buNone/>
            </a:pPr>
            <a:r>
              <a:rPr lang="en-US" sz="2400" b="1" dirty="0">
                <a:solidFill>
                  <a:srgbClr val="16181D"/>
                </a:solidFill>
                <a:latin typeface="IBM Plex Sans" pitchFamily="34" charset="0"/>
                <a:ea typeface="IBM Plex Sans" pitchFamily="34" charset="-122"/>
                <a:cs typeface="IBM Plex Sans" pitchFamily="34" charset="-120"/>
              </a:rPr>
              <a:t>Application web de centralisation des flux réseau</a:t>
            </a:r>
            <a:endParaRPr lang="en-US" sz="2400" dirty="0"/>
          </a:p>
        </p:txBody>
      </p:sp>
      <p:sp>
        <p:nvSpPr>
          <p:cNvPr id="13" name="Text 8"/>
          <p:cNvSpPr txBox="1"/>
          <p:nvPr/>
        </p:nvSpPr>
        <p:spPr>
          <a:xfrm>
            <a:off x="812800" y="5016500"/>
            <a:ext cx="6604000" cy="304800"/>
          </a:xfrm>
          <a:prstGeom prst="rect">
            <a:avLst/>
          </a:prstGeom>
          <a:noFill/>
          <a:ln/>
        </p:spPr>
        <p:txBody>
          <a:bodyPr wrap="square" lIns="0" tIns="0" rIns="0" bIns="0" rtlCol="0" anchor="t"/>
          <a:lstStyle/>
          <a:p>
            <a:pPr indent="0" marL="0">
              <a:buNone/>
            </a:pPr>
            <a:r>
              <a:rPr lang="en-US" sz="1800" b="1" dirty="0">
                <a:solidFill>
                  <a:srgbClr val="16181D"/>
                </a:solidFill>
                <a:latin typeface="IBM Plex Sans" pitchFamily="34" charset="0"/>
                <a:ea typeface="IBM Plex Sans" pitchFamily="34" charset="-122"/>
                <a:cs typeface="IBM Plex Sans" pitchFamily="34" charset="-120"/>
              </a:rPr>
              <a:t>TENEZEU VOUFO Benny Dieudonne</a:t>
            </a:r>
            <a:endParaRPr lang="en-US" sz="1800" dirty="0"/>
          </a:p>
        </p:txBody>
      </p:sp>
      <p:sp>
        <p:nvSpPr>
          <p:cNvPr id="14" name="Text 9"/>
          <p:cNvSpPr txBox="1"/>
          <p:nvPr/>
        </p:nvSpPr>
        <p:spPr>
          <a:xfrm>
            <a:off x="812800" y="5334000"/>
            <a:ext cx="6604000" cy="254000"/>
          </a:xfrm>
          <a:prstGeom prst="rect">
            <a:avLst/>
          </a:prstGeom>
          <a:noFill/>
          <a:ln/>
        </p:spPr>
        <p:txBody>
          <a:bodyPr wrap="square" lIns="0" tIns="0" rIns="0" bIns="0" rtlCol="0" anchor="t"/>
          <a:lstStyle/>
          <a:p>
            <a:pPr indent="0" marL="0">
              <a:buNone/>
            </a:pPr>
            <a:r>
              <a:rPr lang="en-US" sz="1400" dirty="0">
                <a:solidFill>
                  <a:srgbClr val="4B5159"/>
                </a:solidFill>
                <a:latin typeface="IBM Plex Sans" pitchFamily="34" charset="0"/>
                <a:ea typeface="IBM Plex Sans" pitchFamily="34" charset="-122"/>
                <a:cs typeface="IBM Plex Sans" pitchFamily="34" charset="-120"/>
              </a:rPr>
              <a:t>SNI4 2027 · Mars – août 2026</a:t>
            </a:r>
            <a:endParaRPr lang="en-US" sz="1400" dirty="0"/>
          </a:p>
        </p:txBody>
      </p:sp>
      <p:sp>
        <p:nvSpPr>
          <p:cNvPr id="15" name="Text 10"/>
          <p:cNvSpPr txBox="1"/>
          <p:nvPr/>
        </p:nvSpPr>
        <p:spPr>
          <a:xfrm>
            <a:off x="812800" y="5575300"/>
            <a:ext cx="6604000" cy="228600"/>
          </a:xfrm>
          <a:prstGeom prst="rect">
            <a:avLst/>
          </a:prstGeom>
          <a:noFill/>
          <a:ln/>
        </p:spPr>
        <p:txBody>
          <a:bodyPr wrap="square" lIns="0" tIns="0" rIns="0" bIns="0" rtlCol="0" anchor="t"/>
          <a:lstStyle/>
          <a:p>
            <a:pPr indent="0" marL="0">
              <a:buNone/>
            </a:pPr>
            <a:r>
              <a:rPr lang="en-US" sz="1400" dirty="0">
                <a:solidFill>
                  <a:srgbClr val="4B5159"/>
                </a:solidFill>
                <a:latin typeface="IBM Plex Sans" pitchFamily="34" charset="0"/>
                <a:ea typeface="IBM Plex Sans" pitchFamily="34" charset="-122"/>
                <a:cs typeface="IBM Plex Sans" pitchFamily="34" charset="-120"/>
              </a:rPr>
              <a:t>Pierre JOCHUM, maître d’apprentissage</a:t>
            </a:r>
            <a:endParaRPr lang="en-US" sz="1400" dirty="0"/>
          </a:p>
        </p:txBody>
      </p:sp>
      <p:sp>
        <p:nvSpPr>
          <p:cNvPr id="16" name="Text 11"/>
          <p:cNvSpPr txBox="1"/>
          <p:nvPr/>
        </p:nvSpPr>
        <p:spPr>
          <a:xfrm>
            <a:off x="812800" y="5803900"/>
            <a:ext cx="6604000" cy="228600"/>
          </a:xfrm>
          <a:prstGeom prst="rect">
            <a:avLst/>
          </a:prstGeom>
          <a:noFill/>
          <a:ln/>
        </p:spPr>
        <p:txBody>
          <a:bodyPr wrap="square" lIns="0" tIns="0" rIns="0" bIns="0" rtlCol="0" anchor="t"/>
          <a:lstStyle/>
          <a:p>
            <a:pPr indent="0" marL="0">
              <a:buNone/>
            </a:pPr>
            <a:r>
              <a:rPr lang="en-US" sz="1400" dirty="0">
                <a:solidFill>
                  <a:srgbClr val="4B5159"/>
                </a:solidFill>
                <a:latin typeface="IBM Plex Sans" pitchFamily="34" charset="0"/>
                <a:ea typeface="IBM Plex Sans" pitchFamily="34" charset="-122"/>
                <a:cs typeface="IBM Plex Sans" pitchFamily="34" charset="-120"/>
              </a:rPr>
              <a:t>Roger GROULT, tuteur académique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1409700" cy="127000"/>
          </a:xfrm>
          <a:prstGeom prst="rect">
            <a:avLst/>
          </a:prstGeom>
          <a:solidFill>
            <a:srgbClr val="0B4F7A"/>
          </a:solidFill>
          <a:ln w="19050">
            <a:solidFill>
              <a:srgbClr val="16181D"/>
            </a:solidFill>
            <a:prstDash val="solid"/>
          </a:ln>
        </p:spPr>
      </p:sp>
      <p:sp>
        <p:nvSpPr>
          <p:cNvPr id="4" name="!!mk-sq"/>
          <p:cNvSpPr/>
          <p:nvPr/>
        </p:nvSpPr>
        <p:spPr>
          <a:xfrm>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02 / 15 — PLAN</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Plan de la présentation</a:t>
            </a:r>
            <a:endParaRPr lang="en-US" sz="3600" dirty="0"/>
          </a:p>
        </p:txBody>
      </p:sp>
      <p:sp>
        <p:nvSpPr>
          <p:cNvPr id="11" name="Shape 6"/>
          <p:cNvSpPr/>
          <p:nvPr/>
        </p:nvSpPr>
        <p:spPr>
          <a:xfrm>
            <a:off x="812800" y="1905000"/>
            <a:ext cx="2489200" cy="2159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2133600"/>
            <a:ext cx="2032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01</a:t>
            </a:r>
            <a:endParaRPr lang="en-US" sz="1400" dirty="0"/>
          </a:p>
        </p:txBody>
      </p:sp>
      <p:sp>
        <p:nvSpPr>
          <p:cNvPr id="13" name="Text 8"/>
          <p:cNvSpPr txBox="1"/>
          <p:nvPr/>
        </p:nvSpPr>
        <p:spPr>
          <a:xfrm>
            <a:off x="1041400" y="2489200"/>
            <a:ext cx="2032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Contexte</a:t>
            </a:r>
            <a:endParaRPr lang="en-US" sz="2000" dirty="0"/>
          </a:p>
        </p:txBody>
      </p:sp>
      <p:sp>
        <p:nvSpPr>
          <p:cNvPr id="14" name="Text 9"/>
          <p:cNvSpPr txBox="1"/>
          <p:nvPr/>
        </p:nvSpPr>
        <p:spPr>
          <a:xfrm>
            <a:off x="1041400" y="2984500"/>
            <a:ext cx="2032000" cy="952500"/>
          </a:xfrm>
          <a:prstGeom prst="rect">
            <a:avLst/>
          </a:prstGeom>
          <a:noFill/>
          <a:ln/>
        </p:spPr>
        <p:txBody>
          <a:bodyPr wrap="square" lIns="0" tIns="0" rIns="0" bIns="0" rtlCol="0" anchor="t"/>
          <a:lstStyle/>
          <a:p>
            <a:pPr indent="0" marL="0">
              <a:lnSpc>
                <a:spcPct val="110000"/>
              </a:lnSpc>
              <a:buNone/>
            </a:pPr>
            <a:r>
              <a:rPr lang="en-US" sz="1400" dirty="0">
                <a:solidFill>
                  <a:srgbClr val="4B5159"/>
                </a:solidFill>
                <a:latin typeface="IBM Plex Sans" pitchFamily="34" charset="0"/>
                <a:ea typeface="IBM Plex Sans" pitchFamily="34" charset="-122"/>
                <a:cs typeface="IBM Plex Sans" pitchFamily="34" charset="-120"/>
              </a:rPr>
              <a:t>Transactis, flux réseau et problématique</a:t>
            </a:r>
            <a:endParaRPr lang="en-US" sz="1400" dirty="0"/>
          </a:p>
        </p:txBody>
      </p:sp>
      <p:sp>
        <p:nvSpPr>
          <p:cNvPr id="15" name="Shape 10"/>
          <p:cNvSpPr/>
          <p:nvPr/>
        </p:nvSpPr>
        <p:spPr>
          <a:xfrm>
            <a:off x="3505200" y="1905000"/>
            <a:ext cx="2489200" cy="2159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6" name="Text 11"/>
          <p:cNvSpPr txBox="1"/>
          <p:nvPr/>
        </p:nvSpPr>
        <p:spPr>
          <a:xfrm>
            <a:off x="3733800" y="2133600"/>
            <a:ext cx="2032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02</a:t>
            </a:r>
            <a:endParaRPr lang="en-US" sz="1400" dirty="0"/>
          </a:p>
        </p:txBody>
      </p:sp>
      <p:sp>
        <p:nvSpPr>
          <p:cNvPr id="17" name="Text 12"/>
          <p:cNvSpPr txBox="1"/>
          <p:nvPr/>
        </p:nvSpPr>
        <p:spPr>
          <a:xfrm>
            <a:off x="3733800" y="2489200"/>
            <a:ext cx="2032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Démarche</a:t>
            </a:r>
            <a:endParaRPr lang="en-US" sz="2000" dirty="0"/>
          </a:p>
        </p:txBody>
      </p:sp>
      <p:sp>
        <p:nvSpPr>
          <p:cNvPr id="18" name="Text 13"/>
          <p:cNvSpPr txBox="1"/>
          <p:nvPr/>
        </p:nvSpPr>
        <p:spPr>
          <a:xfrm>
            <a:off x="3733800" y="2984500"/>
            <a:ext cx="2032000" cy="952500"/>
          </a:xfrm>
          <a:prstGeom prst="rect">
            <a:avLst/>
          </a:prstGeom>
          <a:noFill/>
          <a:ln/>
        </p:spPr>
        <p:txBody>
          <a:bodyPr wrap="square" lIns="0" tIns="0" rIns="0" bIns="0" rtlCol="0" anchor="t"/>
          <a:lstStyle/>
          <a:p>
            <a:pPr indent="0" marL="0">
              <a:lnSpc>
                <a:spcPct val="110000"/>
              </a:lnSpc>
              <a:buNone/>
            </a:pPr>
            <a:r>
              <a:rPr lang="en-US" sz="1400" dirty="0">
                <a:solidFill>
                  <a:srgbClr val="4B5159"/>
                </a:solidFill>
                <a:latin typeface="IBM Plex Sans" pitchFamily="34" charset="0"/>
                <a:ea typeface="IBM Plex Sans" pitchFamily="34" charset="-122"/>
                <a:cs typeface="IBM Plex Sans" pitchFamily="34" charset="-120"/>
              </a:rPr>
              <a:t>Solutions, méthode et planning</a:t>
            </a:r>
            <a:endParaRPr lang="en-US" sz="1400" dirty="0"/>
          </a:p>
        </p:txBody>
      </p:sp>
      <p:sp>
        <p:nvSpPr>
          <p:cNvPr id="19" name="Shape 14"/>
          <p:cNvSpPr/>
          <p:nvPr/>
        </p:nvSpPr>
        <p:spPr>
          <a:xfrm>
            <a:off x="6197600" y="1905000"/>
            <a:ext cx="2489200" cy="2159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20" name="Text 15"/>
          <p:cNvSpPr txBox="1"/>
          <p:nvPr/>
        </p:nvSpPr>
        <p:spPr>
          <a:xfrm>
            <a:off x="6426200" y="2133600"/>
            <a:ext cx="2032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03</a:t>
            </a:r>
            <a:endParaRPr lang="en-US" sz="1400" dirty="0"/>
          </a:p>
        </p:txBody>
      </p:sp>
      <p:sp>
        <p:nvSpPr>
          <p:cNvPr id="21" name="Text 16"/>
          <p:cNvSpPr txBox="1"/>
          <p:nvPr/>
        </p:nvSpPr>
        <p:spPr>
          <a:xfrm>
            <a:off x="6426200" y="2489200"/>
            <a:ext cx="2032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Résultats</a:t>
            </a:r>
            <a:endParaRPr lang="en-US" sz="2000" dirty="0"/>
          </a:p>
        </p:txBody>
      </p:sp>
      <p:sp>
        <p:nvSpPr>
          <p:cNvPr id="22" name="Text 17"/>
          <p:cNvSpPr txBox="1"/>
          <p:nvPr/>
        </p:nvSpPr>
        <p:spPr>
          <a:xfrm>
            <a:off x="6426200" y="2984500"/>
            <a:ext cx="2032000" cy="952500"/>
          </a:xfrm>
          <a:prstGeom prst="rect">
            <a:avLst/>
          </a:prstGeom>
          <a:noFill/>
          <a:ln/>
        </p:spPr>
        <p:txBody>
          <a:bodyPr wrap="square" lIns="0" tIns="0" rIns="0" bIns="0" rtlCol="0" anchor="t"/>
          <a:lstStyle/>
          <a:p>
            <a:pPr indent="0" marL="0">
              <a:lnSpc>
                <a:spcPct val="110000"/>
              </a:lnSpc>
              <a:buNone/>
            </a:pPr>
            <a:r>
              <a:rPr lang="en-US" sz="1400" dirty="0">
                <a:solidFill>
                  <a:srgbClr val="4B5159"/>
                </a:solidFill>
                <a:latin typeface="IBM Plex Sans" pitchFamily="34" charset="0"/>
                <a:ea typeface="IBM Plex Sans" pitchFamily="34" charset="-122"/>
                <a:cs typeface="IBM Plex Sans" pitchFamily="34" charset="-120"/>
              </a:rPr>
              <a:t>Livrables, démonstration et chiffres</a:t>
            </a:r>
            <a:endParaRPr lang="en-US" sz="1400" dirty="0"/>
          </a:p>
        </p:txBody>
      </p:sp>
      <p:sp>
        <p:nvSpPr>
          <p:cNvPr id="23" name="Shape 18"/>
          <p:cNvSpPr/>
          <p:nvPr/>
        </p:nvSpPr>
        <p:spPr>
          <a:xfrm>
            <a:off x="8890000" y="1905000"/>
            <a:ext cx="2489200" cy="2159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24" name="Text 19"/>
          <p:cNvSpPr txBox="1"/>
          <p:nvPr/>
        </p:nvSpPr>
        <p:spPr>
          <a:xfrm>
            <a:off x="9118600" y="2133600"/>
            <a:ext cx="2032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04</a:t>
            </a:r>
            <a:endParaRPr lang="en-US" sz="1400" dirty="0"/>
          </a:p>
        </p:txBody>
      </p:sp>
      <p:sp>
        <p:nvSpPr>
          <p:cNvPr id="25" name="Text 20"/>
          <p:cNvSpPr txBox="1"/>
          <p:nvPr/>
        </p:nvSpPr>
        <p:spPr>
          <a:xfrm>
            <a:off x="9118600" y="2489200"/>
            <a:ext cx="2032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Bilan</a:t>
            </a:r>
            <a:endParaRPr lang="en-US" sz="2000" dirty="0"/>
          </a:p>
        </p:txBody>
      </p:sp>
      <p:sp>
        <p:nvSpPr>
          <p:cNvPr id="26" name="Text 21"/>
          <p:cNvSpPr txBox="1"/>
          <p:nvPr/>
        </p:nvSpPr>
        <p:spPr>
          <a:xfrm>
            <a:off x="9118600" y="2984500"/>
            <a:ext cx="2032000" cy="952500"/>
          </a:xfrm>
          <a:prstGeom prst="rect">
            <a:avLst/>
          </a:prstGeom>
          <a:noFill/>
          <a:ln/>
        </p:spPr>
        <p:txBody>
          <a:bodyPr wrap="square" lIns="0" tIns="0" rIns="0" bIns="0" rtlCol="0" anchor="t"/>
          <a:lstStyle/>
          <a:p>
            <a:pPr indent="0" marL="0">
              <a:lnSpc>
                <a:spcPct val="110000"/>
              </a:lnSpc>
              <a:buNone/>
            </a:pPr>
            <a:r>
              <a:rPr lang="en-US" sz="1400" dirty="0">
                <a:solidFill>
                  <a:srgbClr val="4B5159"/>
                </a:solidFill>
                <a:latin typeface="IBM Plex Sans" pitchFamily="34" charset="0"/>
                <a:ea typeface="IBM Plex Sans" pitchFamily="34" charset="-122"/>
                <a:cs typeface="IBM Plex Sans" pitchFamily="34" charset="-120"/>
              </a:rPr>
              <a:t>Objectifs, compétences et perspectives</a:t>
            </a:r>
            <a:endParaRPr lang="en-US" sz="14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211455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03 / 15 — CONTEXTE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10160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Un besoin au cœur d’un opérateur de paiement</a:t>
            </a:r>
            <a:endParaRPr lang="en-US" sz="3600" dirty="0"/>
          </a:p>
        </p:txBody>
      </p:sp>
      <p:sp>
        <p:nvSpPr>
          <p:cNvPr id="11" name="Shape 6"/>
          <p:cNvSpPr/>
          <p:nvPr/>
        </p:nvSpPr>
        <p:spPr>
          <a:xfrm>
            <a:off x="812800" y="2159000"/>
            <a:ext cx="3352800" cy="22225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2324100"/>
            <a:ext cx="2895600" cy="7620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35 %</a:t>
            </a:r>
            <a:endParaRPr lang="en-US" sz="4800" dirty="0"/>
          </a:p>
        </p:txBody>
      </p:sp>
      <p:sp>
        <p:nvSpPr>
          <p:cNvPr id="13" name="Text 8"/>
          <p:cNvSpPr txBox="1"/>
          <p:nvPr/>
        </p:nvSpPr>
        <p:spPr>
          <a:xfrm>
            <a:off x="1041400" y="3175000"/>
            <a:ext cx="2895600" cy="10795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des transactions bancaires françaises traitées chaque mois par Transactis</a:t>
            </a:r>
            <a:endParaRPr lang="en-US" sz="1600" dirty="0"/>
          </a:p>
        </p:txBody>
      </p:sp>
      <p:sp>
        <p:nvSpPr>
          <p:cNvPr id="14" name="Shape 9"/>
          <p:cNvSpPr/>
          <p:nvPr/>
        </p:nvSpPr>
        <p:spPr>
          <a:xfrm>
            <a:off x="4419600" y="2159000"/>
            <a:ext cx="3352800" cy="22225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5" name="Text 10"/>
          <p:cNvSpPr txBox="1"/>
          <p:nvPr/>
        </p:nvSpPr>
        <p:spPr>
          <a:xfrm>
            <a:off x="4648200" y="2324100"/>
            <a:ext cx="2895600" cy="7620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2 400+</a:t>
            </a:r>
            <a:endParaRPr lang="en-US" sz="4800" dirty="0"/>
          </a:p>
        </p:txBody>
      </p:sp>
      <p:sp>
        <p:nvSpPr>
          <p:cNvPr id="16" name="Text 11"/>
          <p:cNvSpPr txBox="1"/>
          <p:nvPr/>
        </p:nvSpPr>
        <p:spPr>
          <a:xfrm>
            <a:off x="4648200" y="3175000"/>
            <a:ext cx="2895600" cy="10795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fichiers Excel : impossible de savoir dans lequel se trouve l’information</a:t>
            </a:r>
            <a:endParaRPr lang="en-US" sz="1600" dirty="0"/>
          </a:p>
        </p:txBody>
      </p:sp>
      <p:sp>
        <p:nvSpPr>
          <p:cNvPr id="17" name="Shape 12"/>
          <p:cNvSpPr/>
          <p:nvPr/>
        </p:nvSpPr>
        <p:spPr>
          <a:xfrm>
            <a:off x="8026400" y="2159000"/>
            <a:ext cx="3352800" cy="22225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8" name="Text 13"/>
          <p:cNvSpPr txBox="1"/>
          <p:nvPr/>
        </p:nvSpPr>
        <p:spPr>
          <a:xfrm>
            <a:off x="8255000" y="2324100"/>
            <a:ext cx="2895600" cy="7620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2003</a:t>
            </a:r>
            <a:endParaRPr lang="en-US" sz="4800" dirty="0"/>
          </a:p>
        </p:txBody>
      </p:sp>
      <p:sp>
        <p:nvSpPr>
          <p:cNvPr id="19" name="Text 14"/>
          <p:cNvSpPr txBox="1"/>
          <p:nvPr/>
        </p:nvSpPr>
        <p:spPr>
          <a:xfrm>
            <a:off x="8255000" y="3175000"/>
            <a:ext cx="2895600" cy="10795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année des plus anciens fichiers encore utilisés</a:t>
            </a:r>
            <a:endParaRPr lang="en-US" sz="1600" dirty="0"/>
          </a:p>
        </p:txBody>
      </p:sp>
      <p:sp>
        <p:nvSpPr>
          <p:cNvPr id="20" name="Text 15"/>
          <p:cNvSpPr txBox="1"/>
          <p:nvPr/>
        </p:nvSpPr>
        <p:spPr>
          <a:xfrm>
            <a:off x="812800" y="4699000"/>
            <a:ext cx="10566400" cy="635000"/>
          </a:xfrm>
          <a:prstGeom prst="rect">
            <a:avLst/>
          </a:prstGeom>
          <a:noFill/>
          <a:ln/>
        </p:spPr>
        <p:txBody>
          <a:bodyPr wrap="square" lIns="0" tIns="0" rIns="0" bIns="0" rtlCol="0" anchor="t"/>
          <a:lstStyle/>
          <a:p>
            <a:pPr indent="0" marL="0">
              <a:buNone/>
            </a:pPr>
            <a:r>
              <a:rPr lang="en-US" sz="1600" dirty="0">
                <a:solidFill>
                  <a:srgbClr val="4B5159"/>
                </a:solidFill>
                <a:latin typeface="IBM Plex Sans" pitchFamily="34" charset="0"/>
                <a:ea typeface="IBM Plex Sans" pitchFamily="34" charset="-122"/>
                <a:cs typeface="IBM Plex Sans" pitchFamily="34" charset="-120"/>
              </a:rPr>
              <a:t>Chaque flux réseau autorisé doit être tracé et justifiable : audits de sécurité, conformité réglementaire.</a:t>
            </a:r>
            <a:endParaRPr lang="en-US" sz="16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4F7A"/>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0B4F7A"/>
          </a:solidFill>
          <a:ln w="19050">
            <a:solidFill>
              <a:srgbClr val="F3F0E8"/>
            </a:solidFill>
            <a:prstDash val="solid"/>
          </a:ln>
        </p:spPr>
      </p:sp>
      <p:sp>
        <p:nvSpPr>
          <p:cNvPr id="3" name="!!mk-bar"/>
          <p:cNvSpPr/>
          <p:nvPr/>
        </p:nvSpPr>
        <p:spPr>
          <a:xfrm>
            <a:off x="812800" y="6299200"/>
            <a:ext cx="2819400" cy="127000"/>
          </a:xfrm>
          <a:prstGeom prst="rect">
            <a:avLst/>
          </a:prstGeom>
          <a:solidFill>
            <a:srgbClr val="F3F0E8"/>
          </a:solidFill>
          <a:ln w="19050">
            <a:solidFill>
              <a:srgbClr val="F3F0E8"/>
            </a:solidFill>
            <a:prstDash val="solid"/>
          </a:ln>
        </p:spPr>
      </p:sp>
      <p:sp>
        <p:nvSpPr>
          <p:cNvPr id="4" name="!!mk-sq"/>
          <p:cNvSpPr/>
          <p:nvPr/>
        </p:nvSpPr>
        <p:spPr>
          <a:xfrm rot="-900000">
            <a:off x="10922000" y="254000"/>
            <a:ext cx="457200" cy="457200"/>
          </a:xfrm>
          <a:prstGeom prst="rect">
            <a:avLst/>
          </a:prstGeom>
          <a:solidFill>
            <a:srgbClr val="F3F0E8"/>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04 / 15 — PROBLÉMATIQUE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5715000" cy="215900"/>
          </a:xfrm>
          <a:prstGeom prst="rect">
            <a:avLst/>
          </a:prstGeom>
          <a:noFill/>
          <a:ln/>
        </p:spPr>
        <p:txBody>
          <a:bodyPr wrap="square" lIns="0" tIns="0" rIns="0" bIns="0" rtlCol="0" anchor="t"/>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PROBLÉMATIQUE RETENUE</a:t>
            </a:r>
            <a:endParaRPr lang="en-US" sz="1200" dirty="0"/>
          </a:p>
        </p:txBody>
      </p:sp>
      <p:sp>
        <p:nvSpPr>
          <p:cNvPr id="11" name="Text 6"/>
          <p:cNvSpPr txBox="1"/>
          <p:nvPr/>
        </p:nvSpPr>
        <p:spPr>
          <a:xfrm>
            <a:off x="812800" y="1270000"/>
            <a:ext cx="9906000" cy="2540000"/>
          </a:xfrm>
          <a:prstGeom prst="rect">
            <a:avLst/>
          </a:prstGeom>
          <a:noFill/>
          <a:ln/>
        </p:spPr>
        <p:txBody>
          <a:bodyPr wrap="square" lIns="0" tIns="0" rIns="0" bIns="0" rtlCol="0" anchor="t"/>
          <a:lstStyle/>
          <a:p>
            <a:pPr indent="0" marL="0">
              <a:lnSpc>
                <a:spcPct val="100000"/>
              </a:lnSpc>
              <a:buNone/>
            </a:pPr>
            <a:r>
              <a:rPr lang="en-US" sz="2800" b="1" dirty="0">
                <a:solidFill>
                  <a:srgbClr val="F3F0E8"/>
                </a:solidFill>
                <a:latin typeface="Space Grotesk" pitchFamily="34" charset="0"/>
                <a:ea typeface="Space Grotesk" pitchFamily="34" charset="-122"/>
                <a:cs typeface="Space Grotesk" pitchFamily="34" charset="-120"/>
              </a:rPr>
              <a:t>Comment centraliser et rendre rapidement exploitables des données réseaux réparties dans plusieurs dizaines ou centaines de fichiers Excel hétérogènes, tout en respectant les contraintes de sécurité d’un environnement bancaire ?</a:t>
            </a:r>
            <a:endParaRPr lang="en-US" sz="2800" dirty="0"/>
          </a:p>
        </p:txBody>
      </p:sp>
      <p:sp>
        <p:nvSpPr>
          <p:cNvPr id="12" name="Shape 7"/>
          <p:cNvSpPr/>
          <p:nvPr/>
        </p:nvSpPr>
        <p:spPr>
          <a:xfrm>
            <a:off x="812800" y="4572000"/>
            <a:ext cx="5156200" cy="8255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3" name="Text 8"/>
          <p:cNvSpPr txBox="1"/>
          <p:nvPr/>
        </p:nvSpPr>
        <p:spPr>
          <a:xfrm>
            <a:off x="1041400" y="4572000"/>
            <a:ext cx="4699000" cy="825500"/>
          </a:xfrm>
          <a:prstGeom prst="rect">
            <a:avLst/>
          </a:prstGeom>
          <a:noFill/>
          <a:ln/>
        </p:spPr>
        <p:txBody>
          <a:bodyPr wrap="square" lIns="0" tIns="0" rIns="0" bIns="0" rtlCol="0" anchor="ctr"/>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Axe 1 · Centralisation</a:t>
            </a:r>
            <a:endParaRPr lang="en-US" sz="2000" dirty="0"/>
          </a:p>
        </p:txBody>
      </p:sp>
      <p:sp>
        <p:nvSpPr>
          <p:cNvPr id="14" name="Shape 9"/>
          <p:cNvSpPr/>
          <p:nvPr/>
        </p:nvSpPr>
        <p:spPr>
          <a:xfrm>
            <a:off x="6223000" y="4572000"/>
            <a:ext cx="5156200" cy="8255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5" name="Text 10"/>
          <p:cNvSpPr txBox="1"/>
          <p:nvPr/>
        </p:nvSpPr>
        <p:spPr>
          <a:xfrm>
            <a:off x="6451600" y="4572000"/>
            <a:ext cx="4699000" cy="825500"/>
          </a:xfrm>
          <a:prstGeom prst="rect">
            <a:avLst/>
          </a:prstGeom>
          <a:noFill/>
          <a:ln/>
        </p:spPr>
        <p:txBody>
          <a:bodyPr wrap="square" lIns="0" tIns="0" rIns="0" bIns="0" rtlCol="0" anchor="ctr"/>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Axe 2 · Sécurité</a:t>
            </a:r>
            <a:endParaRPr lang="en-US" sz="2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3524250" cy="127000"/>
          </a:xfrm>
          <a:prstGeom prst="rect">
            <a:avLst/>
          </a:prstGeom>
          <a:solidFill>
            <a:srgbClr val="0B4F7A"/>
          </a:solidFill>
          <a:ln w="19050">
            <a:solidFill>
              <a:srgbClr val="16181D"/>
            </a:solidFill>
            <a:prstDash val="solid"/>
          </a:ln>
        </p:spPr>
      </p:sp>
      <p:sp>
        <p:nvSpPr>
          <p:cNvPr id="4" name="!!mk-sq"/>
          <p:cNvSpPr/>
          <p:nvPr/>
        </p:nvSpPr>
        <p:spPr>
          <a:xfrm>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05 / 15 — DÉMARCHE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Trois pistes comparées, une retenue</a:t>
            </a:r>
            <a:endParaRPr lang="en-US" sz="3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12800" y="1587500"/>
          <a:ext cx="10566400" cy="914400"/>
        </p:xfrm>
        <a:graphic>
          <a:graphicData uri="http://schemas.openxmlformats.org/drawingml/2006/table">
            <a:tbl>
              <a:tblPr/>
              <a:tblGrid>
                <a:gridCol w="4064000"/>
                <a:gridCol w="889000"/>
                <a:gridCol w="1873250"/>
                <a:gridCol w="1873250"/>
                <a:gridCol w="1866900"/>
              </a:tblGrid>
              <a:tr h="533400">
                <a:tc>
                  <a:txBody>
                    <a:bodyPr/>
                    <a:lstStyle/>
                    <a:p>
                      <a:pPr algn="l" indent="0" marL="0">
                        <a:buNone/>
                      </a:pPr>
                      <a:r>
                        <a:rPr lang="en-US" sz="1400" b="1" dirty="0">
                          <a:solidFill>
                            <a:srgbClr val="F3F0E8"/>
                          </a:solidFill>
                          <a:latin typeface="Space Grotesk" pitchFamily="34" charset="0"/>
                          <a:ea typeface="Space Grotesk" pitchFamily="34" charset="-122"/>
                          <a:cs typeface="Space Grotesk" pitchFamily="34" charset="-120"/>
                        </a:rPr>
                        <a:t>Critère</a:t>
                      </a:r>
                      <a:endParaRPr lang="en-US" sz="14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algn="ctr" indent="0" marL="0">
                        <a:buNone/>
                      </a:pPr>
                      <a:r>
                        <a:rPr lang="en-US" sz="1400" b="1" dirty="0">
                          <a:solidFill>
                            <a:srgbClr val="F3F0E8"/>
                          </a:solidFill>
                          <a:latin typeface="Space Grotesk" pitchFamily="34" charset="0"/>
                          <a:ea typeface="Space Grotesk" pitchFamily="34" charset="-122"/>
                          <a:cs typeface="Space Grotesk" pitchFamily="34" charset="-120"/>
                        </a:rPr>
                        <a:t>Poids</a:t>
                      </a:r>
                      <a:endParaRPr lang="en-US" sz="14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algn="ctr" indent="0" marL="0">
                        <a:buNone/>
                      </a:pPr>
                      <a:r>
                        <a:rPr lang="en-US" sz="1400" b="1" dirty="0">
                          <a:solidFill>
                            <a:srgbClr val="F3F0E8"/>
                          </a:solidFill>
                          <a:latin typeface="Space Grotesk" pitchFamily="34" charset="0"/>
                          <a:ea typeface="Space Grotesk" pitchFamily="34" charset="-122"/>
                          <a:cs typeface="Space Grotesk" pitchFamily="34" charset="-120"/>
                        </a:rPr>
                        <a:t>Excel réorganisé</a:t>
                      </a:r>
                      <a:endParaRPr lang="en-US" sz="14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algn="ctr" indent="0" marL="0">
                        <a:buNone/>
                      </a:pPr>
                      <a:r>
                        <a:rPr lang="en-US" sz="1400" b="1" dirty="0">
                          <a:solidFill>
                            <a:srgbClr val="F3F0E8"/>
                          </a:solidFill>
                          <a:latin typeface="Space Grotesk" pitchFamily="34" charset="0"/>
                          <a:ea typeface="Space Grotesk" pitchFamily="34" charset="-122"/>
                          <a:cs typeface="Space Grotesk" pitchFamily="34" charset="-120"/>
                        </a:rPr>
                        <a:t>IPAM / CMDB</a:t>
                      </a:r>
                      <a:endParaRPr lang="en-US" sz="14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algn="ctr" indent="0" marL="0">
                        <a:buNone/>
                      </a:pPr>
                      <a:r>
                        <a:rPr lang="en-US" sz="1400" b="1" dirty="0">
                          <a:solidFill>
                            <a:srgbClr val="F3F0E8"/>
                          </a:solidFill>
                          <a:latin typeface="Space Grotesk" pitchFamily="34" charset="0"/>
                          <a:ea typeface="Space Grotesk" pitchFamily="34" charset="-122"/>
                          <a:cs typeface="Space Grotesk" pitchFamily="34" charset="-120"/>
                        </a:rPr>
                        <a:t>Application interne</a:t>
                      </a:r>
                      <a:endParaRPr lang="en-US" sz="14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r>
              <a:tr h="406400">
                <a:tc>
                  <a:txBody>
                    <a:bodyPr/>
                    <a:lstStyle/>
                    <a:p>
                      <a:pPr indent="0" marL="0">
                        <a:buNone/>
                      </a:pPr>
                      <a:r>
                        <a:rPr lang="en-US" sz="1400" dirty="0">
                          <a:solidFill>
                            <a:srgbClr val="16181D"/>
                          </a:solidFill>
                          <a:latin typeface="IBM Plex Sans" pitchFamily="34" charset="0"/>
                          <a:ea typeface="IBM Plex Sans" pitchFamily="34" charset="-122"/>
                          <a:cs typeface="IBM Plex Sans" pitchFamily="34" charset="-120"/>
                        </a:rPr>
                        <a:t>Réponse au besoin de recherche</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1</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r>
              <a:tr h="406400">
                <a:tc>
                  <a:txBody>
                    <a:bodyPr/>
                    <a:lstStyle/>
                    <a:p>
                      <a:pPr indent="0" marL="0">
                        <a:buNone/>
                      </a:pPr>
                      <a:r>
                        <a:rPr lang="en-US" sz="1400" dirty="0">
                          <a:solidFill>
                            <a:srgbClr val="16181D"/>
                          </a:solidFill>
                          <a:latin typeface="IBM Plex Sans" pitchFamily="34" charset="0"/>
                          <a:ea typeface="IBM Plex Sans" pitchFamily="34" charset="-122"/>
                          <a:cs typeface="IBM Plex Sans" pitchFamily="34" charset="-120"/>
                        </a:rPr>
                        <a:t>Adaptation au format des matrices</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1</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r>
              <a:tr h="406400">
                <a:tc>
                  <a:txBody>
                    <a:bodyPr/>
                    <a:lstStyle/>
                    <a:p>
                      <a:pPr indent="0" marL="0">
                        <a:buNone/>
                      </a:pPr>
                      <a:r>
                        <a:rPr lang="en-US" sz="1400" dirty="0">
                          <a:solidFill>
                            <a:srgbClr val="16181D"/>
                          </a:solidFill>
                          <a:latin typeface="IBM Plex Sans" pitchFamily="34" charset="0"/>
                          <a:ea typeface="IBM Plex Sans" pitchFamily="34" charset="-122"/>
                          <a:cs typeface="IBM Plex Sans" pitchFamily="34" charset="-120"/>
                        </a:rPr>
                        <a:t>Délai et coût de mise en œuvre</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1</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r>
              <a:tr h="406400">
                <a:tc>
                  <a:txBody>
                    <a:bodyPr/>
                    <a:lstStyle/>
                    <a:p>
                      <a:pPr indent="0" marL="0">
                        <a:buNone/>
                      </a:pPr>
                      <a:r>
                        <a:rPr lang="en-US" sz="1400" dirty="0">
                          <a:solidFill>
                            <a:srgbClr val="16181D"/>
                          </a:solidFill>
                          <a:latin typeface="IBM Plex Sans" pitchFamily="34" charset="0"/>
                          <a:ea typeface="IBM Plex Sans" pitchFamily="34" charset="-122"/>
                          <a:cs typeface="IBM Plex Sans" pitchFamily="34" charset="-120"/>
                        </a:rPr>
                        <a:t>Intégration à la stack Transactis</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r>
              <a:tr h="406400">
                <a:tc>
                  <a:txBody>
                    <a:bodyPr/>
                    <a:lstStyle/>
                    <a:p>
                      <a:pPr indent="0" marL="0">
                        <a:buNone/>
                      </a:pPr>
                      <a:r>
                        <a:rPr lang="en-US" sz="1400" dirty="0">
                          <a:solidFill>
                            <a:srgbClr val="16181D"/>
                          </a:solidFill>
                          <a:latin typeface="IBM Plex Sans" pitchFamily="34" charset="0"/>
                          <a:ea typeface="IBM Plex Sans" pitchFamily="34" charset="-122"/>
                          <a:cs typeface="IBM Plex Sans" pitchFamily="34" charset="-120"/>
                        </a:rPr>
                        <a:t>Faible charge de maintenance</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×1</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1</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r>
              <a:tr h="406400">
                <a:tc>
                  <a:txBody>
                    <a:bodyPr/>
                    <a:lstStyle/>
                    <a:p>
                      <a:pPr indent="0" marL="0">
                        <a:buNone/>
                      </a:pPr>
                      <a:r>
                        <a:rPr lang="en-US" sz="1400" b="1" dirty="0">
                          <a:solidFill>
                            <a:srgbClr val="16181D"/>
                          </a:solidFill>
                          <a:latin typeface="IBM Plex Sans" pitchFamily="34" charset="0"/>
                          <a:ea typeface="IBM Plex Sans" pitchFamily="34" charset="-122"/>
                          <a:cs typeface="IBM Plex Sans" pitchFamily="34" charset="-120"/>
                        </a:rPr>
                        <a:t>Total pondéré (sur 33)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c>
                  <a:txBody>
                    <a:bodyPr/>
                    <a:lstStyle/>
                    <a:p>
                      <a:pPr indent="0" marL="0">
                        <a:buNone/>
                      </a:pP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22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17</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c>
                  <a:txBody>
                    <a:bodyPr/>
                    <a:lstStyle/>
                    <a:p>
                      <a:pPr algn="ctr" indent="0" marL="0">
                        <a:buNone/>
                      </a:pPr>
                      <a:r>
                        <a:rPr lang="en-US" sz="1400" b="1" dirty="0">
                          <a:solidFill>
                            <a:srgbClr val="F3F0E8"/>
                          </a:solidFill>
                          <a:latin typeface="IBM Plex Sans" pitchFamily="34" charset="0"/>
                          <a:ea typeface="IBM Plex Sans" pitchFamily="34" charset="-122"/>
                          <a:cs typeface="IBM Plex Sans" pitchFamily="34" charset="-120"/>
                        </a:rPr>
                        <a:t>29</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0B4F7A"/>
                    </a:solidFill>
                  </a:tcPr>
                </a:tc>
              </a:tr>
            </a:tbl>
          </a:graphicData>
        </a:graphic>
      </p:graphicFrame>
      <p:sp>
        <p:nvSpPr>
          <p:cNvPr id="12" name="Text 6"/>
          <p:cNvSpPr txBox="1"/>
          <p:nvPr/>
        </p:nvSpPr>
        <p:spPr>
          <a:xfrm>
            <a:off x="812800" y="4927600"/>
            <a:ext cx="10566400" cy="317500"/>
          </a:xfrm>
          <a:prstGeom prst="rect">
            <a:avLst/>
          </a:prstGeom>
          <a:noFill/>
          <a:ln/>
        </p:spPr>
        <p:txBody>
          <a:bodyPr wrap="square" lIns="0" tIns="0" rIns="0" bIns="0" rtlCol="0" anchor="t"/>
          <a:lstStyle/>
          <a:p>
            <a:pPr indent="0" marL="0">
              <a:buNone/>
            </a:pPr>
            <a:r>
              <a:rPr lang="en-US" sz="1600" b="1" dirty="0">
                <a:solidFill>
                  <a:srgbClr val="16181D"/>
                </a:solidFill>
                <a:latin typeface="Space Grotesk" pitchFamily="34" charset="0"/>
                <a:ea typeface="Space Grotesk" pitchFamily="34" charset="-122"/>
                <a:cs typeface="Space Grotesk" pitchFamily="34" charset="-120"/>
              </a:rPr>
              <a:t>Application interne : 29 / 33, la meilleure réponse au besoin et aux formats Transactis</a:t>
            </a:r>
            <a:endParaRPr lang="en-US" sz="1600" dirty="0"/>
          </a:p>
        </p:txBody>
      </p:sp>
      <p:sp>
        <p:nvSpPr>
          <p:cNvPr id="13" name="Text 7"/>
          <p:cNvSpPr txBox="1"/>
          <p:nvPr/>
        </p:nvSpPr>
        <p:spPr>
          <a:xfrm>
            <a:off x="812800" y="5308600"/>
            <a:ext cx="10566400" cy="228600"/>
          </a:xfrm>
          <a:prstGeom prst="rect">
            <a:avLst/>
          </a:prstGeom>
          <a:noFill/>
          <a:ln/>
        </p:spPr>
        <p:txBody>
          <a:bodyPr wrap="square" lIns="0" tIns="0" rIns="0" bIns="0" rtlCol="0" anchor="t"/>
          <a:lstStyle/>
          <a:p>
            <a:pPr indent="0" marL="0">
              <a:buNone/>
            </a:pPr>
            <a:r>
              <a:rPr lang="en-US" sz="1200" dirty="0">
                <a:solidFill>
                  <a:srgbClr val="4B5159"/>
                </a:solidFill>
                <a:latin typeface="IBM Plex Sans" pitchFamily="34" charset="0"/>
                <a:ea typeface="IBM Plex Sans" pitchFamily="34" charset="-122"/>
                <a:cs typeface="IBM Plex Sans" pitchFamily="34" charset="-120"/>
              </a:rPr>
              <a:t>Notation de 1 (faible) à 3 (fort), multipliée par le poids du critère.</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4229100" cy="127000"/>
          </a:xfrm>
          <a:prstGeom prst="rect">
            <a:avLst/>
          </a:prstGeom>
          <a:solidFill>
            <a:srgbClr val="0B4F7A"/>
          </a:solidFill>
          <a:ln w="19050">
            <a:solidFill>
              <a:srgbClr val="16181D"/>
            </a:solidFill>
            <a:prstDash val="solid"/>
          </a:ln>
        </p:spPr>
      </p:sp>
      <p:sp>
        <p:nvSpPr>
          <p:cNvPr id="4" name="!!mk-sq"/>
          <p:cNvSpPr/>
          <p:nvPr/>
        </p:nvSpPr>
        <p:spPr>
          <a:xfrm rot="18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06 / 15 — DÉMARCHE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Un MVP itératif en co-pilotage</a:t>
            </a:r>
            <a:endParaRPr lang="en-US" sz="3600" dirty="0"/>
          </a:p>
        </p:txBody>
      </p:sp>
      <p:sp>
        <p:nvSpPr>
          <p:cNvPr id="11" name="Shape 6"/>
          <p:cNvSpPr/>
          <p:nvPr/>
        </p:nvSpPr>
        <p:spPr>
          <a:xfrm>
            <a:off x="812800" y="1587500"/>
            <a:ext cx="5156200" cy="3810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1816100"/>
            <a:ext cx="4699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Méthode</a:t>
            </a:r>
            <a:endParaRPr lang="en-US" sz="2000" dirty="0"/>
          </a:p>
        </p:txBody>
      </p:sp>
      <p:sp>
        <p:nvSpPr>
          <p:cNvPr id="13" name="Text 8"/>
          <p:cNvSpPr txBox="1"/>
          <p:nvPr/>
        </p:nvSpPr>
        <p:spPr>
          <a:xfrm>
            <a:off x="1041400" y="2349500"/>
            <a:ext cx="4699000" cy="2794000"/>
          </a:xfrm>
          <a:prstGeom prst="rect">
            <a:avLst/>
          </a:prstGeom>
          <a:noFill/>
          <a:ln/>
        </p:spPr>
        <p:txBody>
          <a:bodyPr wrap="square" lIns="0" tIns="0" rIns="0" bIns="0" rtlCol="0" anchor="t"/>
          <a:lstStyle/>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Backlog priorisé avec le maître d’apprentissage</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Suivi Kanban bimensuel</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Cycles courts : import, recherche, permissions, DNS, export, sauvegarde</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Phase de test utilisateur avant la production</a:t>
            </a:r>
            <a:endParaRPr lang="en-US" sz="1600" dirty="0"/>
          </a:p>
        </p:txBody>
      </p:sp>
      <p:sp>
        <p:nvSpPr>
          <p:cNvPr id="14" name="Shape 9"/>
          <p:cNvSpPr/>
          <p:nvPr/>
        </p:nvSpPr>
        <p:spPr>
          <a:xfrm>
            <a:off x="6223000" y="1587500"/>
            <a:ext cx="5156200" cy="3810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5" name="Text 10"/>
          <p:cNvSpPr txBox="1"/>
          <p:nvPr/>
        </p:nvSpPr>
        <p:spPr>
          <a:xfrm>
            <a:off x="6451600" y="1816100"/>
            <a:ext cx="4699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Stack Transactis</a:t>
            </a:r>
            <a:endParaRPr lang="en-US" sz="2000" dirty="0"/>
          </a:p>
        </p:txBody>
      </p:sp>
      <p:sp>
        <p:nvSpPr>
          <p:cNvPr id="16" name="Text 11"/>
          <p:cNvSpPr txBox="1"/>
          <p:nvPr/>
        </p:nvSpPr>
        <p:spPr>
          <a:xfrm>
            <a:off x="6451600" y="2540000"/>
            <a:ext cx="1333500" cy="228600"/>
          </a:xfrm>
          <a:prstGeom prst="rect">
            <a:avLst/>
          </a:prstGeom>
          <a:noFill/>
          <a:ln/>
        </p:spPr>
        <p:txBody>
          <a:bodyPr wrap="square" lIns="0" tIns="0" rIns="0" bIns="0" rtlCol="0" anchor="t"/>
          <a:lstStyle/>
          <a:p>
            <a:pPr indent="0" marL="0">
              <a:buNone/>
            </a:pPr>
            <a:r>
              <a:rPr lang="en-US" sz="1200" b="1" dirty="0">
                <a:solidFill>
                  <a:srgbClr val="0B4F7A"/>
                </a:solidFill>
                <a:latin typeface="JetBrains Mono" pitchFamily="34" charset="0"/>
                <a:ea typeface="JetBrains Mono" pitchFamily="34" charset="-122"/>
                <a:cs typeface="JetBrains Mono" pitchFamily="34" charset="-120"/>
              </a:rPr>
              <a:t>FRONT</a:t>
            </a:r>
            <a:endParaRPr lang="en-US" sz="1200" dirty="0"/>
          </a:p>
        </p:txBody>
      </p:sp>
      <p:pic>
        <p:nvPicPr>
          <p:cNvPr id="17" name="Image 2" descr="Logo Next.js">    </p:cNvPr>
          <p:cNvPicPr>
            <a:picLocks noChangeAspect="1"/>
          </p:cNvPicPr>
          <p:nvPr/>
        </p:nvPicPr>
        <p:blipFill>
          <a:blip r:embed="rId3"/>
          <a:stretch>
            <a:fillRect/>
          </a:stretch>
        </p:blipFill>
        <p:spPr>
          <a:xfrm>
            <a:off x="7848600" y="2476500"/>
            <a:ext cx="304800" cy="304800"/>
          </a:xfrm>
          <a:prstGeom prst="rect">
            <a:avLst/>
          </a:prstGeom>
        </p:spPr>
      </p:pic>
      <p:sp>
        <p:nvSpPr>
          <p:cNvPr id="18" name="Text 12"/>
          <p:cNvSpPr txBox="1"/>
          <p:nvPr/>
        </p:nvSpPr>
        <p:spPr>
          <a:xfrm>
            <a:off x="8216900" y="2527300"/>
            <a:ext cx="70485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Next.js</a:t>
            </a:r>
            <a:endParaRPr lang="en-US" sz="1300" dirty="0"/>
          </a:p>
        </p:txBody>
      </p:sp>
      <p:pic>
        <p:nvPicPr>
          <p:cNvPr id="19" name="Image 3" descr="Logo React">    </p:cNvPr>
          <p:cNvPicPr>
            <a:picLocks noChangeAspect="1"/>
          </p:cNvPicPr>
          <p:nvPr/>
        </p:nvPicPr>
        <p:blipFill>
          <a:blip r:embed="rId4"/>
          <a:stretch>
            <a:fillRect/>
          </a:stretch>
        </p:blipFill>
        <p:spPr>
          <a:xfrm>
            <a:off x="9061450" y="2476500"/>
            <a:ext cx="304800" cy="304800"/>
          </a:xfrm>
          <a:prstGeom prst="rect">
            <a:avLst/>
          </a:prstGeom>
        </p:spPr>
      </p:pic>
      <p:sp>
        <p:nvSpPr>
          <p:cNvPr id="20" name="Text 13"/>
          <p:cNvSpPr txBox="1"/>
          <p:nvPr/>
        </p:nvSpPr>
        <p:spPr>
          <a:xfrm>
            <a:off x="9429750" y="2527300"/>
            <a:ext cx="51435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React</a:t>
            </a:r>
            <a:endParaRPr lang="en-US" sz="1300" dirty="0"/>
          </a:p>
        </p:txBody>
      </p:sp>
      <p:pic>
        <p:nvPicPr>
          <p:cNvPr id="21" name="Image 4" descr="Logo TypeScript">    </p:cNvPr>
          <p:cNvPicPr>
            <a:picLocks noChangeAspect="1"/>
          </p:cNvPicPr>
          <p:nvPr/>
        </p:nvPicPr>
        <p:blipFill>
          <a:blip r:embed="rId5"/>
          <a:stretch>
            <a:fillRect/>
          </a:stretch>
        </p:blipFill>
        <p:spPr>
          <a:xfrm>
            <a:off x="10083800" y="2476500"/>
            <a:ext cx="304800" cy="304800"/>
          </a:xfrm>
          <a:prstGeom prst="rect">
            <a:avLst/>
          </a:prstGeom>
        </p:spPr>
      </p:pic>
      <p:sp>
        <p:nvSpPr>
          <p:cNvPr id="22" name="Text 14"/>
          <p:cNvSpPr txBox="1"/>
          <p:nvPr/>
        </p:nvSpPr>
        <p:spPr>
          <a:xfrm>
            <a:off x="10452100" y="2527300"/>
            <a:ext cx="99060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TypeScript</a:t>
            </a:r>
            <a:endParaRPr lang="en-US" sz="1300" dirty="0"/>
          </a:p>
        </p:txBody>
      </p:sp>
      <p:sp>
        <p:nvSpPr>
          <p:cNvPr id="23" name="Text 15"/>
          <p:cNvSpPr txBox="1"/>
          <p:nvPr/>
        </p:nvSpPr>
        <p:spPr>
          <a:xfrm>
            <a:off x="6451600" y="3098800"/>
            <a:ext cx="1333500" cy="228600"/>
          </a:xfrm>
          <a:prstGeom prst="rect">
            <a:avLst/>
          </a:prstGeom>
          <a:noFill/>
          <a:ln/>
        </p:spPr>
        <p:txBody>
          <a:bodyPr wrap="square" lIns="0" tIns="0" rIns="0" bIns="0" rtlCol="0" anchor="t"/>
          <a:lstStyle/>
          <a:p>
            <a:pPr indent="0" marL="0">
              <a:buNone/>
            </a:pPr>
            <a:r>
              <a:rPr lang="en-US" sz="1200" b="1" dirty="0">
                <a:solidFill>
                  <a:srgbClr val="0B4F7A"/>
                </a:solidFill>
                <a:latin typeface="JetBrains Mono" pitchFamily="34" charset="0"/>
                <a:ea typeface="JetBrains Mono" pitchFamily="34" charset="-122"/>
                <a:cs typeface="JetBrains Mono" pitchFamily="34" charset="-120"/>
              </a:rPr>
              <a:t>BACK</a:t>
            </a:r>
            <a:endParaRPr lang="en-US" sz="1200" dirty="0"/>
          </a:p>
        </p:txBody>
      </p:sp>
      <p:pic>
        <p:nvPicPr>
          <p:cNvPr id="24" name="Image 5" descr="Logo Node.js">    </p:cNvPr>
          <p:cNvPicPr>
            <a:picLocks noChangeAspect="1"/>
          </p:cNvPicPr>
          <p:nvPr/>
        </p:nvPicPr>
        <p:blipFill>
          <a:blip r:embed="rId6"/>
          <a:stretch>
            <a:fillRect/>
          </a:stretch>
        </p:blipFill>
        <p:spPr>
          <a:xfrm>
            <a:off x="7848600" y="3035300"/>
            <a:ext cx="304800" cy="304800"/>
          </a:xfrm>
          <a:prstGeom prst="rect">
            <a:avLst/>
          </a:prstGeom>
        </p:spPr>
      </p:pic>
      <p:sp>
        <p:nvSpPr>
          <p:cNvPr id="25" name="Text 16"/>
          <p:cNvSpPr txBox="1"/>
          <p:nvPr/>
        </p:nvSpPr>
        <p:spPr>
          <a:xfrm>
            <a:off x="8216900" y="3086100"/>
            <a:ext cx="70485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Node.js</a:t>
            </a:r>
            <a:endParaRPr lang="en-US" sz="1300" dirty="0"/>
          </a:p>
        </p:txBody>
      </p:sp>
      <p:pic>
        <p:nvPicPr>
          <p:cNvPr id="26" name="Image 6" descr="Logo Express">    </p:cNvPr>
          <p:cNvPicPr>
            <a:picLocks noChangeAspect="1"/>
          </p:cNvPicPr>
          <p:nvPr/>
        </p:nvPicPr>
        <p:blipFill>
          <a:blip r:embed="rId7"/>
          <a:stretch>
            <a:fillRect/>
          </a:stretch>
        </p:blipFill>
        <p:spPr>
          <a:xfrm>
            <a:off x="9061450" y="3035300"/>
            <a:ext cx="304800" cy="304800"/>
          </a:xfrm>
          <a:prstGeom prst="rect">
            <a:avLst/>
          </a:prstGeom>
        </p:spPr>
      </p:pic>
      <p:sp>
        <p:nvSpPr>
          <p:cNvPr id="27" name="Text 17"/>
          <p:cNvSpPr txBox="1"/>
          <p:nvPr/>
        </p:nvSpPr>
        <p:spPr>
          <a:xfrm>
            <a:off x="9429750" y="3086100"/>
            <a:ext cx="70485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Express</a:t>
            </a:r>
            <a:endParaRPr lang="en-US" sz="1300" dirty="0"/>
          </a:p>
        </p:txBody>
      </p:sp>
      <p:sp>
        <p:nvSpPr>
          <p:cNvPr id="28" name="Text 18"/>
          <p:cNvSpPr txBox="1"/>
          <p:nvPr/>
        </p:nvSpPr>
        <p:spPr>
          <a:xfrm>
            <a:off x="6451600" y="3657600"/>
            <a:ext cx="1333500" cy="228600"/>
          </a:xfrm>
          <a:prstGeom prst="rect">
            <a:avLst/>
          </a:prstGeom>
          <a:noFill/>
          <a:ln/>
        </p:spPr>
        <p:txBody>
          <a:bodyPr wrap="square" lIns="0" tIns="0" rIns="0" bIns="0" rtlCol="0" anchor="t"/>
          <a:lstStyle/>
          <a:p>
            <a:pPr indent="0" marL="0">
              <a:buNone/>
            </a:pPr>
            <a:r>
              <a:rPr lang="en-US" sz="1200" b="1" dirty="0">
                <a:solidFill>
                  <a:srgbClr val="0B4F7A"/>
                </a:solidFill>
                <a:latin typeface="JetBrains Mono" pitchFamily="34" charset="0"/>
                <a:ea typeface="JetBrains Mono" pitchFamily="34" charset="-122"/>
                <a:cs typeface="JetBrains Mono" pitchFamily="34" charset="-120"/>
              </a:rPr>
              <a:t>DONNÉES</a:t>
            </a:r>
            <a:endParaRPr lang="en-US" sz="1200" dirty="0"/>
          </a:p>
        </p:txBody>
      </p:sp>
      <p:pic>
        <p:nvPicPr>
          <p:cNvPr id="29" name="Image 7" descr="Logo PostgreSQL">    </p:cNvPr>
          <p:cNvPicPr>
            <a:picLocks noChangeAspect="1"/>
          </p:cNvPicPr>
          <p:nvPr/>
        </p:nvPicPr>
        <p:blipFill>
          <a:blip r:embed="rId8"/>
          <a:stretch>
            <a:fillRect/>
          </a:stretch>
        </p:blipFill>
        <p:spPr>
          <a:xfrm>
            <a:off x="7848600" y="3594100"/>
            <a:ext cx="304800" cy="304800"/>
          </a:xfrm>
          <a:prstGeom prst="rect">
            <a:avLst/>
          </a:prstGeom>
        </p:spPr>
      </p:pic>
      <p:sp>
        <p:nvSpPr>
          <p:cNvPr id="30" name="Text 19"/>
          <p:cNvSpPr txBox="1"/>
          <p:nvPr/>
        </p:nvSpPr>
        <p:spPr>
          <a:xfrm>
            <a:off x="8216900" y="3644900"/>
            <a:ext cx="99060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PostgreSQL</a:t>
            </a:r>
            <a:endParaRPr lang="en-US" sz="1300" dirty="0"/>
          </a:p>
        </p:txBody>
      </p:sp>
      <p:pic>
        <p:nvPicPr>
          <p:cNvPr id="31" name="Image 8" descr="Logo Sequelize">    </p:cNvPr>
          <p:cNvPicPr>
            <a:picLocks noChangeAspect="1"/>
          </p:cNvPicPr>
          <p:nvPr/>
        </p:nvPicPr>
        <p:blipFill>
          <a:blip r:embed="rId9"/>
          <a:stretch>
            <a:fillRect/>
          </a:stretch>
        </p:blipFill>
        <p:spPr>
          <a:xfrm>
            <a:off x="9347200" y="3594100"/>
            <a:ext cx="304800" cy="304800"/>
          </a:xfrm>
          <a:prstGeom prst="rect">
            <a:avLst/>
          </a:prstGeom>
        </p:spPr>
      </p:pic>
      <p:sp>
        <p:nvSpPr>
          <p:cNvPr id="32" name="Text 20"/>
          <p:cNvSpPr txBox="1"/>
          <p:nvPr/>
        </p:nvSpPr>
        <p:spPr>
          <a:xfrm>
            <a:off x="9715500" y="3644900"/>
            <a:ext cx="89535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Sequelize</a:t>
            </a:r>
            <a:endParaRPr lang="en-US" sz="1300" dirty="0"/>
          </a:p>
        </p:txBody>
      </p:sp>
      <p:sp>
        <p:nvSpPr>
          <p:cNvPr id="33" name="Text 21"/>
          <p:cNvSpPr txBox="1"/>
          <p:nvPr/>
        </p:nvSpPr>
        <p:spPr>
          <a:xfrm>
            <a:off x="6451600" y="4216400"/>
            <a:ext cx="1333500" cy="228600"/>
          </a:xfrm>
          <a:prstGeom prst="rect">
            <a:avLst/>
          </a:prstGeom>
          <a:noFill/>
          <a:ln/>
        </p:spPr>
        <p:txBody>
          <a:bodyPr wrap="square" lIns="0" tIns="0" rIns="0" bIns="0" rtlCol="0" anchor="t"/>
          <a:lstStyle/>
          <a:p>
            <a:pPr indent="0" marL="0">
              <a:buNone/>
            </a:pPr>
            <a:r>
              <a:rPr lang="en-US" sz="1200" b="1" dirty="0">
                <a:solidFill>
                  <a:srgbClr val="0B4F7A"/>
                </a:solidFill>
                <a:latin typeface="JetBrains Mono" pitchFamily="34" charset="0"/>
                <a:ea typeface="JetBrains Mono" pitchFamily="34" charset="-122"/>
                <a:cs typeface="JetBrains Mono" pitchFamily="34" charset="-120"/>
              </a:rPr>
              <a:t>AUTH</a:t>
            </a:r>
            <a:endParaRPr lang="en-US" sz="1200" dirty="0"/>
          </a:p>
        </p:txBody>
      </p:sp>
      <p:pic>
        <p:nvPicPr>
          <p:cNvPr id="34" name="Image 9" descr="Logo OIDC">    </p:cNvPr>
          <p:cNvPicPr>
            <a:picLocks noChangeAspect="1"/>
          </p:cNvPicPr>
          <p:nvPr/>
        </p:nvPicPr>
        <p:blipFill>
          <a:blip r:embed="rId10"/>
          <a:stretch>
            <a:fillRect/>
          </a:stretch>
        </p:blipFill>
        <p:spPr>
          <a:xfrm>
            <a:off x="7848600" y="4152900"/>
            <a:ext cx="304800" cy="304800"/>
          </a:xfrm>
          <a:prstGeom prst="rect">
            <a:avLst/>
          </a:prstGeom>
        </p:spPr>
      </p:pic>
      <p:sp>
        <p:nvSpPr>
          <p:cNvPr id="35" name="Text 22"/>
          <p:cNvSpPr txBox="1"/>
          <p:nvPr/>
        </p:nvSpPr>
        <p:spPr>
          <a:xfrm>
            <a:off x="8216900" y="4203700"/>
            <a:ext cx="41910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OIDC</a:t>
            </a:r>
            <a:endParaRPr lang="en-US" sz="1300" dirty="0"/>
          </a:p>
        </p:txBody>
      </p:sp>
      <p:sp>
        <p:nvSpPr>
          <p:cNvPr id="36" name="Text 23"/>
          <p:cNvSpPr txBox="1"/>
          <p:nvPr/>
        </p:nvSpPr>
        <p:spPr>
          <a:xfrm>
            <a:off x="6451600" y="4775200"/>
            <a:ext cx="1333500" cy="228600"/>
          </a:xfrm>
          <a:prstGeom prst="rect">
            <a:avLst/>
          </a:prstGeom>
          <a:noFill/>
          <a:ln/>
        </p:spPr>
        <p:txBody>
          <a:bodyPr wrap="square" lIns="0" tIns="0" rIns="0" bIns="0" rtlCol="0" anchor="t"/>
          <a:lstStyle/>
          <a:p>
            <a:pPr indent="0" marL="0">
              <a:buNone/>
            </a:pPr>
            <a:r>
              <a:rPr lang="en-US" sz="1200" b="1" dirty="0">
                <a:solidFill>
                  <a:srgbClr val="0B4F7A"/>
                </a:solidFill>
                <a:latin typeface="JetBrains Mono" pitchFamily="34" charset="0"/>
                <a:ea typeface="JetBrains Mono" pitchFamily="34" charset="-122"/>
                <a:cs typeface="JetBrains Mono" pitchFamily="34" charset="-120"/>
              </a:rPr>
              <a:t>DÉPLOIEMENT</a:t>
            </a:r>
            <a:endParaRPr lang="en-US" sz="1200" dirty="0"/>
          </a:p>
        </p:txBody>
      </p:sp>
      <p:pic>
        <p:nvPicPr>
          <p:cNvPr id="37" name="Image 10" descr="Logo Docker">    </p:cNvPr>
          <p:cNvPicPr>
            <a:picLocks noChangeAspect="1"/>
          </p:cNvPicPr>
          <p:nvPr/>
        </p:nvPicPr>
        <p:blipFill>
          <a:blip r:embed="rId11"/>
          <a:stretch>
            <a:fillRect/>
          </a:stretch>
        </p:blipFill>
        <p:spPr>
          <a:xfrm>
            <a:off x="7848600" y="4711700"/>
            <a:ext cx="304800" cy="304800"/>
          </a:xfrm>
          <a:prstGeom prst="rect">
            <a:avLst/>
          </a:prstGeom>
        </p:spPr>
      </p:pic>
      <p:sp>
        <p:nvSpPr>
          <p:cNvPr id="38" name="Text 24"/>
          <p:cNvSpPr txBox="1"/>
          <p:nvPr/>
        </p:nvSpPr>
        <p:spPr>
          <a:xfrm>
            <a:off x="8216900" y="4762500"/>
            <a:ext cx="60960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Docker</a:t>
            </a:r>
            <a:endParaRPr lang="en-US" sz="1300" dirty="0"/>
          </a:p>
        </p:txBody>
      </p:sp>
      <p:pic>
        <p:nvPicPr>
          <p:cNvPr id="39" name="Image 11" descr="Logo Jenkins">    </p:cNvPr>
          <p:cNvPicPr>
            <a:picLocks noChangeAspect="1"/>
          </p:cNvPicPr>
          <p:nvPr/>
        </p:nvPicPr>
        <p:blipFill>
          <a:blip r:embed="rId12"/>
          <a:stretch>
            <a:fillRect/>
          </a:stretch>
        </p:blipFill>
        <p:spPr>
          <a:xfrm>
            <a:off x="8966200" y="4711700"/>
            <a:ext cx="304800" cy="304800"/>
          </a:xfrm>
          <a:prstGeom prst="rect">
            <a:avLst/>
          </a:prstGeom>
        </p:spPr>
      </p:pic>
      <p:sp>
        <p:nvSpPr>
          <p:cNvPr id="40" name="Text 25"/>
          <p:cNvSpPr txBox="1"/>
          <p:nvPr/>
        </p:nvSpPr>
        <p:spPr>
          <a:xfrm>
            <a:off x="9334500" y="4762500"/>
            <a:ext cx="70485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Jenkins</a:t>
            </a:r>
            <a:endParaRPr lang="en-US" sz="1300" dirty="0"/>
          </a:p>
        </p:txBody>
      </p:sp>
      <p:pic>
        <p:nvPicPr>
          <p:cNvPr id="41" name="Image 12" descr="Logo Kubernetes">    </p:cNvPr>
          <p:cNvPicPr>
            <a:picLocks noChangeAspect="1"/>
          </p:cNvPicPr>
          <p:nvPr/>
        </p:nvPicPr>
        <p:blipFill>
          <a:blip r:embed="rId13"/>
          <a:stretch>
            <a:fillRect/>
          </a:stretch>
        </p:blipFill>
        <p:spPr>
          <a:xfrm>
            <a:off x="10179050" y="4711700"/>
            <a:ext cx="304800" cy="304800"/>
          </a:xfrm>
          <a:prstGeom prst="rect">
            <a:avLst/>
          </a:prstGeom>
        </p:spPr>
      </p:pic>
      <p:sp>
        <p:nvSpPr>
          <p:cNvPr id="42" name="Text 26"/>
          <p:cNvSpPr txBox="1"/>
          <p:nvPr/>
        </p:nvSpPr>
        <p:spPr>
          <a:xfrm>
            <a:off x="10547350" y="4762500"/>
            <a:ext cx="99060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Kubernetes</a:t>
            </a:r>
            <a:endParaRPr lang="en-US" sz="13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493395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07 / 15 — DÉMARCHE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Un mois de décalage en fin de projet</a:t>
            </a:r>
            <a:endParaRPr lang="en-US" sz="3600" dirty="0"/>
          </a:p>
        </p:txBody>
      </p:sp>
      <p:sp>
        <p:nvSpPr>
          <p:cNvPr id="11" name="Shape 6"/>
          <p:cNvSpPr/>
          <p:nvPr/>
        </p:nvSpPr>
        <p:spPr>
          <a:xfrm>
            <a:off x="812800" y="1587500"/>
            <a:ext cx="6985000" cy="362585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pic>
        <p:nvPicPr>
          <p:cNvPr id="12" name="Image 2" descr="Planning prévisionnel et réalisé sur la même échelle de temps">    </p:cNvPr>
          <p:cNvPicPr>
            <a:picLocks noChangeAspect="1"/>
          </p:cNvPicPr>
          <p:nvPr/>
        </p:nvPicPr>
        <p:blipFill>
          <a:blip r:embed="rId3"/>
          <a:stretch>
            <a:fillRect/>
          </a:stretch>
        </p:blipFill>
        <p:spPr>
          <a:xfrm>
            <a:off x="838200" y="1612900"/>
            <a:ext cx="6934200" cy="3575050"/>
          </a:xfrm>
          <a:prstGeom prst="rect">
            <a:avLst/>
          </a:prstGeom>
        </p:spPr>
      </p:pic>
      <p:sp>
        <p:nvSpPr>
          <p:cNvPr id="13" name="Shape 7"/>
          <p:cNvSpPr/>
          <p:nvPr/>
        </p:nvSpPr>
        <p:spPr>
          <a:xfrm>
            <a:off x="8102600" y="1587500"/>
            <a:ext cx="3276600" cy="1397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4" name="Text 8"/>
          <p:cNvSpPr txBox="1"/>
          <p:nvPr/>
        </p:nvSpPr>
        <p:spPr>
          <a:xfrm>
            <a:off x="8331200" y="1841500"/>
            <a:ext cx="2794000" cy="215900"/>
          </a:xfrm>
          <a:prstGeom prst="rect">
            <a:avLst/>
          </a:prstGeom>
          <a:noFill/>
          <a:ln/>
        </p:spPr>
        <p:txBody>
          <a:bodyPr wrap="square" lIns="0" tIns="0" rIns="0" bIns="0" rtlCol="0" anchor="t"/>
          <a:lstStyle/>
          <a:p>
            <a:pPr indent="0" marL="0">
              <a:buNone/>
            </a:pPr>
            <a:r>
              <a:rPr lang="en-US" sz="1200" b="1" spc="200" kern="0" dirty="0">
                <a:solidFill>
                  <a:srgbClr val="0B4F7A"/>
                </a:solidFill>
                <a:latin typeface="JetBrains Mono" pitchFamily="34" charset="0"/>
                <a:ea typeface="JetBrains Mono" pitchFamily="34" charset="-122"/>
                <a:cs typeface="JetBrains Mono" pitchFamily="34" charset="-120"/>
              </a:rPr>
              <a:t>PRÉVU</a:t>
            </a:r>
            <a:endParaRPr lang="en-US" sz="1200" dirty="0"/>
          </a:p>
        </p:txBody>
      </p:sp>
      <p:sp>
        <p:nvSpPr>
          <p:cNvPr id="15" name="Text 9"/>
          <p:cNvSpPr txBox="1"/>
          <p:nvPr/>
        </p:nvSpPr>
        <p:spPr>
          <a:xfrm>
            <a:off x="8331200" y="2222500"/>
            <a:ext cx="2794000" cy="4064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Juillet 2026</a:t>
            </a:r>
            <a:endParaRPr lang="en-US" sz="2000" dirty="0"/>
          </a:p>
        </p:txBody>
      </p:sp>
      <p:sp>
        <p:nvSpPr>
          <p:cNvPr id="16" name="Shape 10"/>
          <p:cNvSpPr/>
          <p:nvPr/>
        </p:nvSpPr>
        <p:spPr>
          <a:xfrm>
            <a:off x="8102600" y="3136900"/>
            <a:ext cx="3276600" cy="1397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7" name="Text 11"/>
          <p:cNvSpPr txBox="1"/>
          <p:nvPr/>
        </p:nvSpPr>
        <p:spPr>
          <a:xfrm>
            <a:off x="8331200" y="3390900"/>
            <a:ext cx="2794000" cy="215900"/>
          </a:xfrm>
          <a:prstGeom prst="rect">
            <a:avLst/>
          </a:prstGeom>
          <a:noFill/>
          <a:ln/>
        </p:spPr>
        <p:txBody>
          <a:bodyPr wrap="square" lIns="0" tIns="0" rIns="0" bIns="0" rtlCol="0" anchor="t"/>
          <a:lstStyle/>
          <a:p>
            <a:pPr indent="0" marL="0">
              <a:buNone/>
            </a:pPr>
            <a:r>
              <a:rPr lang="en-US" sz="1200" b="1" spc="200" kern="0" dirty="0">
                <a:solidFill>
                  <a:srgbClr val="0B4F7A"/>
                </a:solidFill>
                <a:latin typeface="JetBrains Mono" pitchFamily="34" charset="0"/>
                <a:ea typeface="JetBrains Mono" pitchFamily="34" charset="-122"/>
                <a:cs typeface="JetBrains Mono" pitchFamily="34" charset="-120"/>
              </a:rPr>
              <a:t>RÉALISÉ</a:t>
            </a:r>
            <a:endParaRPr lang="en-US" sz="1200" dirty="0"/>
          </a:p>
        </p:txBody>
      </p:sp>
      <p:sp>
        <p:nvSpPr>
          <p:cNvPr id="18" name="Text 12"/>
          <p:cNvSpPr txBox="1"/>
          <p:nvPr/>
        </p:nvSpPr>
        <p:spPr>
          <a:xfrm>
            <a:off x="8331200" y="3771900"/>
            <a:ext cx="2794000" cy="4064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20 août 2026</a:t>
            </a:r>
            <a:endParaRPr lang="en-US" sz="2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5632450" cy="127000"/>
          </a:xfrm>
          <a:prstGeom prst="rect">
            <a:avLst/>
          </a:prstGeom>
          <a:solidFill>
            <a:srgbClr val="0B4F7A"/>
          </a:solidFill>
          <a:ln w="19050">
            <a:solidFill>
              <a:srgbClr val="16181D"/>
            </a:solidFill>
            <a:prstDash val="solid"/>
          </a:ln>
        </p:spPr>
      </p:sp>
      <p:sp>
        <p:nvSpPr>
          <p:cNvPr id="4" name="!!mk-sq"/>
          <p:cNvSpPr/>
          <p:nvPr/>
        </p:nvSpPr>
        <p:spPr>
          <a:xfrm>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08 / 15 — DÉMARCHE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Deux imprévus, un arbitrage</a:t>
            </a:r>
            <a:endParaRPr lang="en-US" sz="3600" dirty="0"/>
          </a:p>
        </p:txBody>
      </p:sp>
      <p:sp>
        <p:nvSpPr>
          <p:cNvPr id="11" name="Shape 6"/>
          <p:cNvSpPr/>
          <p:nvPr/>
        </p:nvSpPr>
        <p:spPr>
          <a:xfrm>
            <a:off x="812800" y="1587500"/>
            <a:ext cx="5156200" cy="2540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1816100"/>
            <a:ext cx="3810000" cy="215900"/>
          </a:xfrm>
          <a:prstGeom prst="rect">
            <a:avLst/>
          </a:prstGeom>
          <a:noFill/>
          <a:ln/>
        </p:spPr>
        <p:txBody>
          <a:bodyPr wrap="square" lIns="0" tIns="0" rIns="0" bIns="0" rtlCol="0" anchor="t"/>
          <a:lstStyle/>
          <a:p>
            <a:pPr indent="0" marL="0">
              <a:buNone/>
            </a:pPr>
            <a:r>
              <a:rPr lang="en-US" sz="1200" b="1" spc="200" kern="0" dirty="0">
                <a:solidFill>
                  <a:srgbClr val="0B4F7A"/>
                </a:solidFill>
                <a:latin typeface="JetBrains Mono" pitchFamily="34" charset="0"/>
                <a:ea typeface="JetBrains Mono" pitchFamily="34" charset="-122"/>
                <a:cs typeface="JetBrains Mono" pitchFamily="34" charset="-120"/>
              </a:rPr>
              <a:t>IMPRÉVU 01</a:t>
            </a:r>
            <a:endParaRPr lang="en-US" sz="1200" dirty="0"/>
          </a:p>
        </p:txBody>
      </p:sp>
      <p:sp>
        <p:nvSpPr>
          <p:cNvPr id="13" name="Text 8"/>
          <p:cNvSpPr txBox="1"/>
          <p:nvPr/>
        </p:nvSpPr>
        <p:spPr>
          <a:xfrm>
            <a:off x="1041400" y="2133600"/>
            <a:ext cx="4699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Accès et droits</a:t>
            </a:r>
            <a:endParaRPr lang="en-US" sz="2000" dirty="0"/>
          </a:p>
        </p:txBody>
      </p:sp>
      <p:sp>
        <p:nvSpPr>
          <p:cNvPr id="14" name="Text 9"/>
          <p:cNvSpPr txBox="1"/>
          <p:nvPr/>
        </p:nvSpPr>
        <p:spPr>
          <a:xfrm>
            <a:off x="1041400" y="2667000"/>
            <a:ext cx="4699000" cy="12700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Autorisations nécessaires avant de pouvoir développer et tester. Demande anticipée dès mars 2026.</a:t>
            </a:r>
            <a:endParaRPr lang="en-US" sz="1600" dirty="0"/>
          </a:p>
        </p:txBody>
      </p:sp>
      <p:sp>
        <p:nvSpPr>
          <p:cNvPr id="15" name="Shape 10"/>
          <p:cNvSpPr/>
          <p:nvPr/>
        </p:nvSpPr>
        <p:spPr>
          <a:xfrm>
            <a:off x="6223000" y="1587500"/>
            <a:ext cx="5156200" cy="2540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6" name="Text 11"/>
          <p:cNvSpPr txBox="1"/>
          <p:nvPr/>
        </p:nvSpPr>
        <p:spPr>
          <a:xfrm>
            <a:off x="6451600" y="1816100"/>
            <a:ext cx="3810000" cy="215900"/>
          </a:xfrm>
          <a:prstGeom prst="rect">
            <a:avLst/>
          </a:prstGeom>
          <a:noFill/>
          <a:ln/>
        </p:spPr>
        <p:txBody>
          <a:bodyPr wrap="square" lIns="0" tIns="0" rIns="0" bIns="0" rtlCol="0" anchor="t"/>
          <a:lstStyle/>
          <a:p>
            <a:pPr indent="0" marL="0">
              <a:buNone/>
            </a:pPr>
            <a:r>
              <a:rPr lang="en-US" sz="1200" b="1" spc="200" kern="0" dirty="0">
                <a:solidFill>
                  <a:srgbClr val="0B4F7A"/>
                </a:solidFill>
                <a:latin typeface="JetBrains Mono" pitchFamily="34" charset="0"/>
                <a:ea typeface="JetBrains Mono" pitchFamily="34" charset="-122"/>
                <a:cs typeface="JetBrains Mono" pitchFamily="34" charset="-120"/>
              </a:rPr>
              <a:t>IMPRÉVU 02</a:t>
            </a:r>
            <a:endParaRPr lang="en-US" sz="1200" dirty="0"/>
          </a:p>
        </p:txBody>
      </p:sp>
      <p:sp>
        <p:nvSpPr>
          <p:cNvPr id="17" name="Text 12"/>
          <p:cNvSpPr txBox="1"/>
          <p:nvPr/>
        </p:nvSpPr>
        <p:spPr>
          <a:xfrm>
            <a:off x="6451600" y="2133600"/>
            <a:ext cx="4699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Fichiers hétérogènes</a:t>
            </a:r>
            <a:endParaRPr lang="en-US" sz="2000" dirty="0"/>
          </a:p>
        </p:txBody>
      </p:sp>
      <p:sp>
        <p:nvSpPr>
          <p:cNvPr id="18" name="Text 13"/>
          <p:cNvSpPr txBox="1"/>
          <p:nvPr/>
        </p:nvSpPr>
        <p:spPr>
          <a:xfrm>
            <a:off x="6451600" y="2667000"/>
            <a:ext cx="4699000" cy="12700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Structures variées, jusqu’à 2003. Une vingtaine de fichiers particuliers identifiés en test.</a:t>
            </a:r>
            <a:endParaRPr lang="en-US" sz="1600" dirty="0"/>
          </a:p>
        </p:txBody>
      </p:sp>
      <p:sp>
        <p:nvSpPr>
          <p:cNvPr id="19" name="Shape 14"/>
          <p:cNvSpPr/>
          <p:nvPr/>
        </p:nvSpPr>
        <p:spPr>
          <a:xfrm>
            <a:off x="812800" y="4572000"/>
            <a:ext cx="10566400" cy="1016000"/>
          </a:xfrm>
          <a:prstGeom prst="rect">
            <a:avLst/>
          </a:prstGeom>
          <a:solidFill>
            <a:srgbClr val="16181D"/>
          </a:solidFill>
          <a:ln/>
        </p:spPr>
      </p:sp>
      <p:sp>
        <p:nvSpPr>
          <p:cNvPr id="20" name="Text 15"/>
          <p:cNvSpPr txBox="1"/>
          <p:nvPr/>
        </p:nvSpPr>
        <p:spPr>
          <a:xfrm>
            <a:off x="1066800" y="4572000"/>
            <a:ext cx="10058400" cy="1016000"/>
          </a:xfrm>
          <a:prstGeom prst="rect">
            <a:avLst/>
          </a:prstGeom>
          <a:noFill/>
          <a:ln/>
        </p:spPr>
        <p:txBody>
          <a:bodyPr wrap="square" lIns="0" tIns="0" rIns="0" bIns="0" rtlCol="0" anchor="ctr"/>
          <a:lstStyle/>
          <a:p>
            <a:pPr indent="0" marL="0">
              <a:buNone/>
            </a:pPr>
            <a:r>
              <a:rPr lang="en-US" sz="2000" b="1" dirty="0">
                <a:solidFill>
                  <a:srgbClr val="F3F0E8"/>
                </a:solidFill>
                <a:latin typeface="Space Grotesk" pitchFamily="34" charset="0"/>
                <a:ea typeface="Space Grotesk" pitchFamily="34" charset="-122"/>
                <a:cs typeface="Space Grotesk" pitchFamily="34" charset="-120"/>
              </a:rPr>
              <a:t>Arbitrage : privilégier la robustesse du moteur d’import plutôt que le calendrier initial.</a:t>
            </a:r>
            <a:endParaRPr lang="en-US" sz="2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6337300" cy="127000"/>
          </a:xfrm>
          <a:prstGeom prst="rect">
            <a:avLst/>
          </a:prstGeom>
          <a:solidFill>
            <a:srgbClr val="0B4F7A"/>
          </a:solidFill>
          <a:ln w="19050">
            <a:solidFill>
              <a:srgbClr val="16181D"/>
            </a:solidFill>
            <a:prstDash val="solid"/>
          </a:ln>
        </p:spPr>
      </p:sp>
      <p:sp>
        <p:nvSpPr>
          <p:cNvPr id="4" name="!!mk-sq"/>
          <p:cNvSpPr/>
          <p:nvPr/>
        </p:nvSpPr>
        <p:spPr>
          <a:xfrm>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09 / 15 — RÉSULTATS</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RIPTIS en production le 20 août 2026</a:t>
            </a:r>
            <a:endParaRPr lang="en-US" sz="3600" dirty="0"/>
          </a:p>
        </p:txBody>
      </p:sp>
      <p:sp>
        <p:nvSpPr>
          <p:cNvPr id="11" name="Shape 6"/>
          <p:cNvSpPr/>
          <p:nvPr/>
        </p:nvSpPr>
        <p:spPr>
          <a:xfrm>
            <a:off x="812800" y="1587500"/>
            <a:ext cx="6096000" cy="404495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pic>
        <p:nvPicPr>
          <p:cNvPr id="12" name="Image 2" descr="Tableau de bord d’accueil de RIPTIS : 2 432 matrices centralisées">    </p:cNvPr>
          <p:cNvPicPr>
            <a:picLocks noChangeAspect="1"/>
          </p:cNvPicPr>
          <p:nvPr/>
        </p:nvPicPr>
        <p:blipFill>
          <a:blip r:embed="rId3"/>
          <a:stretch>
            <a:fillRect/>
          </a:stretch>
        </p:blipFill>
        <p:spPr>
          <a:xfrm>
            <a:off x="838200" y="1612900"/>
            <a:ext cx="6045200" cy="3994150"/>
          </a:xfrm>
          <a:prstGeom prst="rect">
            <a:avLst/>
          </a:prstGeom>
        </p:spPr>
      </p:pic>
      <p:sp>
        <p:nvSpPr>
          <p:cNvPr id="13" name="Text 7"/>
          <p:cNvSpPr txBox="1"/>
          <p:nvPr/>
        </p:nvSpPr>
        <p:spPr>
          <a:xfrm>
            <a:off x="7213600" y="1587500"/>
            <a:ext cx="4165600" cy="355600"/>
          </a:xfrm>
          <a:prstGeom prst="rect">
            <a:avLst/>
          </a:prstGeom>
          <a:noFill/>
          <a:ln/>
        </p:spPr>
        <p:txBody>
          <a:bodyPr wrap="square" lIns="0" tIns="0" rIns="0" bIns="0" rtlCol="0" anchor="t"/>
          <a:lstStyle/>
          <a:p>
            <a:pPr indent="0" marL="0">
              <a:buNone/>
            </a:pPr>
            <a:r>
              <a:rPr lang="en-US" sz="2000" b="1" dirty="0">
                <a:solidFill>
                  <a:srgbClr val="0B4F7A"/>
                </a:solidFill>
                <a:latin typeface="Space Grotesk" pitchFamily="34" charset="0"/>
                <a:ea typeface="Space Grotesk" pitchFamily="34" charset="-122"/>
                <a:cs typeface="Space Grotesk" pitchFamily="34" charset="-120"/>
              </a:rPr>
              <a:t>2 432 matrices</a:t>
            </a:r>
            <a:endParaRPr lang="en-US" sz="2000" dirty="0"/>
          </a:p>
        </p:txBody>
      </p:sp>
      <p:sp>
        <p:nvSpPr>
          <p:cNvPr id="14" name="Text 8"/>
          <p:cNvSpPr txBox="1"/>
          <p:nvPr/>
        </p:nvSpPr>
        <p:spPr>
          <a:xfrm>
            <a:off x="7213600" y="2159000"/>
            <a:ext cx="4165600" cy="2667000"/>
          </a:xfrm>
          <a:prstGeom prst="rect">
            <a:avLst/>
          </a:prstGeom>
          <a:noFill/>
          <a:ln/>
        </p:spPr>
        <p:txBody>
          <a:bodyPr wrap="square" lIns="0" tIns="0" rIns="0" bIns="0" rtlCol="0" anchor="t"/>
          <a:lstStyle/>
          <a:p>
            <a:pPr marL="279400" indent="-279400">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Import Excel multi-formats</a:t>
            </a:r>
            <a:endParaRPr lang="en-US" sz="1600" dirty="0"/>
          </a:p>
          <a:p>
            <a:pPr marL="279400" indent="-279400">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Recherche multicritère</a:t>
            </a:r>
            <a:endParaRPr lang="en-US" sz="1600" dirty="0"/>
          </a:p>
          <a:p>
            <a:pPr marL="279400" indent="-279400">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Recherche DNS</a:t>
            </a:r>
            <a:endParaRPr lang="en-US" sz="1600" dirty="0"/>
          </a:p>
          <a:p>
            <a:pPr marL="279400" indent="-279400">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Droits par OIDC</a:t>
            </a:r>
            <a:endParaRPr lang="en-US" sz="1600" dirty="0"/>
          </a:p>
          <a:p>
            <a:pPr marL="279400" indent="-279400">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Export Excel</a:t>
            </a:r>
            <a:endParaRPr lang="en-US" sz="1600" dirty="0"/>
          </a:p>
          <a:p>
            <a:pPr marL="279400" indent="-279400">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Sauvegarde PostgreSQL</a:t>
            </a:r>
            <a:endParaRPr lang="en-US" sz="16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704215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10 / 15 — RÉSULTATS</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Une recherche IP en quelques secondes</a:t>
            </a:r>
            <a:endParaRPr lang="en-US" sz="3600" dirty="0"/>
          </a:p>
        </p:txBody>
      </p:sp>
      <p:sp>
        <p:nvSpPr>
          <p:cNvPr id="11" name="Shape 6"/>
          <p:cNvSpPr/>
          <p:nvPr/>
        </p:nvSpPr>
        <p:spPr>
          <a:xfrm>
            <a:off x="812800" y="1587500"/>
            <a:ext cx="5130800" cy="337185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pic>
        <p:nvPicPr>
          <p:cNvPr id="12" name="Image 2" descr="Recherche multicritère par IP : 2 fichiers trouvés avec le détail de la route">    </p:cNvPr>
          <p:cNvPicPr>
            <a:picLocks noChangeAspect="1"/>
          </p:cNvPicPr>
          <p:nvPr/>
        </p:nvPicPr>
        <p:blipFill>
          <a:blip r:embed="rId3"/>
          <a:stretch>
            <a:fillRect/>
          </a:stretch>
        </p:blipFill>
        <p:spPr>
          <a:xfrm>
            <a:off x="838200" y="1612900"/>
            <a:ext cx="5080000" cy="3321050"/>
          </a:xfrm>
          <a:prstGeom prst="rect">
            <a:avLst/>
          </a:prstGeom>
        </p:spPr>
      </p:pic>
      <p:sp>
        <p:nvSpPr>
          <p:cNvPr id="13" name="Shape 7"/>
          <p:cNvSpPr/>
          <p:nvPr/>
        </p:nvSpPr>
        <p:spPr>
          <a:xfrm>
            <a:off x="6248400" y="1587500"/>
            <a:ext cx="5130800" cy="337185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pic>
        <p:nvPicPr>
          <p:cNvPr id="14" name="Image 3" descr="Recherche DNS : adresse IPv4 et alias CNAME">    </p:cNvPr>
          <p:cNvPicPr>
            <a:picLocks noChangeAspect="1"/>
          </p:cNvPicPr>
          <p:nvPr/>
        </p:nvPicPr>
        <p:blipFill>
          <a:blip r:embed="rId4"/>
          <a:stretch>
            <a:fillRect/>
          </a:stretch>
        </p:blipFill>
        <p:spPr>
          <a:xfrm>
            <a:off x="6273800" y="1612900"/>
            <a:ext cx="5080000" cy="3321050"/>
          </a:xfrm>
          <a:prstGeom prst="rect">
            <a:avLst/>
          </a:prstGeom>
        </p:spPr>
      </p:pic>
      <p:sp>
        <p:nvSpPr>
          <p:cNvPr id="15" name="Text 8"/>
          <p:cNvSpPr txBox="1"/>
          <p:nvPr/>
        </p:nvSpPr>
        <p:spPr>
          <a:xfrm>
            <a:off x="812800" y="5143500"/>
            <a:ext cx="5130800" cy="571500"/>
          </a:xfrm>
          <a:prstGeom prst="rect">
            <a:avLst/>
          </a:prstGeom>
          <a:noFill/>
          <a:ln/>
        </p:spPr>
        <p:txBody>
          <a:bodyPr wrap="square" lIns="0" tIns="0" rIns="0" bIns="0" rtlCol="0" anchor="t"/>
          <a:lstStyle/>
          <a:p>
            <a:pPr indent="0" marL="0">
              <a:buNone/>
            </a:pPr>
            <a:r>
              <a:rPr lang="en-US" sz="1400" dirty="0">
                <a:solidFill>
                  <a:srgbClr val="16181D"/>
                </a:solidFill>
                <a:latin typeface="IBM Plex Sans" pitchFamily="34" charset="0"/>
                <a:ea typeface="IBM Plex Sans" pitchFamily="34" charset="-122"/>
                <a:cs typeface="IBM Plex Sans" pitchFamily="34" charset="-120"/>
              </a:rPr>
              <a:t>Recherche multicritère : 2 fichiers sur 2 432 matrices, route détaillée</a:t>
            </a:r>
            <a:endParaRPr lang="en-US" sz="1400" dirty="0"/>
          </a:p>
        </p:txBody>
      </p:sp>
      <p:sp>
        <p:nvSpPr>
          <p:cNvPr id="16" name="Text 9"/>
          <p:cNvSpPr txBox="1"/>
          <p:nvPr/>
        </p:nvSpPr>
        <p:spPr>
          <a:xfrm>
            <a:off x="6248400" y="5143500"/>
            <a:ext cx="5130800" cy="571500"/>
          </a:xfrm>
          <a:prstGeom prst="rect">
            <a:avLst/>
          </a:prstGeom>
          <a:noFill/>
          <a:ln/>
        </p:spPr>
        <p:txBody>
          <a:bodyPr wrap="square" lIns="0" tIns="0" rIns="0" bIns="0" rtlCol="0" anchor="t"/>
          <a:lstStyle/>
          <a:p>
            <a:pPr indent="0" marL="0">
              <a:buNone/>
            </a:pPr>
            <a:r>
              <a:rPr lang="en-US" sz="1400" dirty="0">
                <a:solidFill>
                  <a:srgbClr val="16181D"/>
                </a:solidFill>
                <a:latin typeface="IBM Plex Sans" pitchFamily="34" charset="0"/>
                <a:ea typeface="IBM Plex Sans" pitchFamily="34" charset="-122"/>
                <a:cs typeface="IBM Plex Sans" pitchFamily="34" charset="-120"/>
              </a:rPr>
              <a:t>Recherche DNS : enrichissement des résultats</a:t>
            </a:r>
            <a:endParaRPr lang="en-US" sz="14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774700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11 / 15 — RÉSULTATS</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Des gains estimés à confirmer</a:t>
            </a:r>
            <a:endParaRPr lang="en-US" sz="3600" dirty="0"/>
          </a:p>
        </p:txBody>
      </p:sp>
      <p:sp>
        <p:nvSpPr>
          <p:cNvPr id="11" name="Shape 6"/>
          <p:cNvSpPr/>
          <p:nvPr/>
        </p:nvSpPr>
        <p:spPr>
          <a:xfrm>
            <a:off x="812800" y="1587500"/>
            <a:ext cx="5181600" cy="16256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1714500"/>
            <a:ext cx="4724400" cy="6985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30 s</a:t>
            </a:r>
            <a:endParaRPr lang="en-US" sz="4800" dirty="0"/>
          </a:p>
        </p:txBody>
      </p:sp>
      <p:sp>
        <p:nvSpPr>
          <p:cNvPr id="13" name="Text 8"/>
          <p:cNvSpPr txBox="1"/>
          <p:nvPr/>
        </p:nvSpPr>
        <p:spPr>
          <a:xfrm>
            <a:off x="1041400" y="2476500"/>
            <a:ext cx="4724400" cy="6096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au lieu de 30–50 min pour retrouver une information</a:t>
            </a:r>
            <a:endParaRPr lang="en-US" sz="1600" dirty="0"/>
          </a:p>
        </p:txBody>
      </p:sp>
      <p:sp>
        <p:nvSpPr>
          <p:cNvPr id="14" name="Shape 9"/>
          <p:cNvSpPr/>
          <p:nvPr/>
        </p:nvSpPr>
        <p:spPr>
          <a:xfrm>
            <a:off x="6197600" y="1587500"/>
            <a:ext cx="5181600" cy="16256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5" name="Text 10"/>
          <p:cNvSpPr txBox="1"/>
          <p:nvPr/>
        </p:nvSpPr>
        <p:spPr>
          <a:xfrm>
            <a:off x="6426200" y="1714500"/>
            <a:ext cx="4724400" cy="6985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−98,8 %</a:t>
            </a:r>
            <a:endParaRPr lang="en-US" sz="4800" dirty="0"/>
          </a:p>
        </p:txBody>
      </p:sp>
      <p:sp>
        <p:nvSpPr>
          <p:cNvPr id="16" name="Text 11"/>
          <p:cNvSpPr txBox="1"/>
          <p:nvPr/>
        </p:nvSpPr>
        <p:spPr>
          <a:xfrm>
            <a:off x="6426200" y="2476500"/>
            <a:ext cx="4724400" cy="6096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de temps de recherche (estimation)</a:t>
            </a:r>
            <a:endParaRPr lang="en-US" sz="1600" dirty="0"/>
          </a:p>
        </p:txBody>
      </p:sp>
      <p:sp>
        <p:nvSpPr>
          <p:cNvPr id="17" name="Shape 12"/>
          <p:cNvSpPr/>
          <p:nvPr/>
        </p:nvSpPr>
        <p:spPr>
          <a:xfrm>
            <a:off x="812800" y="3390900"/>
            <a:ext cx="5181600" cy="16256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8" name="Text 13"/>
          <p:cNvSpPr txBox="1"/>
          <p:nvPr/>
        </p:nvSpPr>
        <p:spPr>
          <a:xfrm>
            <a:off x="1041400" y="3517900"/>
            <a:ext cx="4724400" cy="6985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 30</a:t>
            </a:r>
            <a:endParaRPr lang="en-US" sz="4800" dirty="0"/>
          </a:p>
        </p:txBody>
      </p:sp>
      <p:sp>
        <p:nvSpPr>
          <p:cNvPr id="19" name="Text 14"/>
          <p:cNvSpPr txBox="1"/>
          <p:nvPr/>
        </p:nvSpPr>
        <p:spPr>
          <a:xfrm>
            <a:off x="1041400" y="4279900"/>
            <a:ext cx="4724400" cy="6096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recherches par heure : 1,5 → 120</a:t>
            </a:r>
            <a:endParaRPr lang="en-US" sz="1600" dirty="0"/>
          </a:p>
        </p:txBody>
      </p:sp>
      <p:sp>
        <p:nvSpPr>
          <p:cNvPr id="20" name="Shape 15"/>
          <p:cNvSpPr/>
          <p:nvPr/>
        </p:nvSpPr>
        <p:spPr>
          <a:xfrm>
            <a:off x="6197600" y="3390900"/>
            <a:ext cx="5181600" cy="16256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21" name="Text 16"/>
          <p:cNvSpPr txBox="1"/>
          <p:nvPr/>
        </p:nvSpPr>
        <p:spPr>
          <a:xfrm>
            <a:off x="6426200" y="3517900"/>
            <a:ext cx="4724400" cy="6985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 21 400 €</a:t>
            </a:r>
            <a:endParaRPr lang="en-US" sz="4800" dirty="0"/>
          </a:p>
        </p:txBody>
      </p:sp>
      <p:sp>
        <p:nvSpPr>
          <p:cNvPr id="22" name="Text 17"/>
          <p:cNvSpPr txBox="1"/>
          <p:nvPr/>
        </p:nvSpPr>
        <p:spPr>
          <a:xfrm>
            <a:off x="6426200" y="4279900"/>
            <a:ext cx="4724400" cy="6096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de temps libéré par an et par utilisateur (50 €/h)</a:t>
            </a:r>
            <a:endParaRPr lang="en-US" sz="1600" dirty="0"/>
          </a:p>
        </p:txBody>
      </p:sp>
      <p:sp>
        <p:nvSpPr>
          <p:cNvPr id="23" name="Text 18"/>
          <p:cNvSpPr txBox="1"/>
          <p:nvPr/>
        </p:nvSpPr>
        <p:spPr>
          <a:xfrm>
            <a:off x="812800" y="5334000"/>
            <a:ext cx="10566400" cy="444500"/>
          </a:xfrm>
          <a:prstGeom prst="rect">
            <a:avLst/>
          </a:prstGeom>
          <a:noFill/>
          <a:ln/>
        </p:spPr>
        <p:txBody>
          <a:bodyPr wrap="square" lIns="0" tIns="0" rIns="0" bIns="0" rtlCol="0" anchor="t"/>
          <a:lstStyle/>
          <a:p>
            <a:pPr indent="0" marL="0">
              <a:buNone/>
            </a:pPr>
            <a:r>
              <a:rPr lang="en-US" sz="1200" dirty="0">
                <a:solidFill>
                  <a:srgbClr val="4B5159"/>
                </a:solidFill>
                <a:latin typeface="IBM Plex Sans" pitchFamily="34" charset="0"/>
                <a:ea typeface="IBM Plex Sans" pitchFamily="34" charset="-122"/>
                <a:cs typeface="IBM Plex Sans" pitchFamily="34" charset="-120"/>
              </a:rPr>
              <a:t>Estimation de travail (moyenne de 40 minutes avant RIPTIS, environ 12 recherches par semaine) : aucun chronométrage n’a été réalisé avant le projet.</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8451850" cy="127000"/>
          </a:xfrm>
          <a:prstGeom prst="rect">
            <a:avLst/>
          </a:prstGeom>
          <a:solidFill>
            <a:srgbClr val="0B4F7A"/>
          </a:solidFill>
          <a:ln w="19050">
            <a:solidFill>
              <a:srgbClr val="16181D"/>
            </a:solidFill>
            <a:prstDash val="solid"/>
          </a:ln>
        </p:spPr>
      </p:sp>
      <p:sp>
        <p:nvSpPr>
          <p:cNvPr id="4" name="!!mk-sq"/>
          <p:cNvSpPr/>
          <p:nvPr/>
        </p:nvSpPr>
        <p:spPr>
          <a:xfrm>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12 / 15 — BILAN</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Bilan des objectifs initiaux</a:t>
            </a:r>
            <a:endParaRPr lang="en-US" sz="3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12800" y="1587500"/>
          <a:ext cx="10566400" cy="914400"/>
        </p:xfrm>
        <a:graphic>
          <a:graphicData uri="http://schemas.openxmlformats.org/drawingml/2006/table">
            <a:tbl>
              <a:tblPr/>
              <a:tblGrid>
                <a:gridCol w="3594100"/>
                <a:gridCol w="5073650"/>
                <a:gridCol w="1898650"/>
              </a:tblGrid>
              <a:tr h="431800">
                <a:tc>
                  <a:txBody>
                    <a:bodyPr/>
                    <a:lstStyle/>
                    <a:p>
                      <a:pPr indent="0" marL="0">
                        <a:buNone/>
                      </a:pPr>
                      <a:r>
                        <a:rPr lang="en-US" sz="1500" b="1" dirty="0">
                          <a:solidFill>
                            <a:srgbClr val="F3F0E8"/>
                          </a:solidFill>
                          <a:latin typeface="Space Grotesk" pitchFamily="34" charset="0"/>
                          <a:ea typeface="Space Grotesk" pitchFamily="34" charset="-122"/>
                          <a:cs typeface="Space Grotesk" pitchFamily="34" charset="-120"/>
                        </a:rPr>
                        <a:t>Objectif</a:t>
                      </a:r>
                      <a:endParaRPr lang="en-US" sz="15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indent="0" marL="0">
                        <a:buNone/>
                      </a:pPr>
                      <a:r>
                        <a:rPr lang="en-US" sz="1500" b="1" dirty="0">
                          <a:solidFill>
                            <a:srgbClr val="F3F0E8"/>
                          </a:solidFill>
                          <a:latin typeface="Space Grotesk" pitchFamily="34" charset="0"/>
                          <a:ea typeface="Space Grotesk" pitchFamily="34" charset="-122"/>
                          <a:cs typeface="Space Grotesk" pitchFamily="34" charset="-120"/>
                        </a:rPr>
                        <a:t>Résultat</a:t>
                      </a:r>
                      <a:endParaRPr lang="en-US" sz="15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indent="0" marL="0">
                        <a:buNone/>
                      </a:pPr>
                      <a:r>
                        <a:rPr lang="en-US" sz="1500" b="1" dirty="0">
                          <a:solidFill>
                            <a:srgbClr val="F3F0E8"/>
                          </a:solidFill>
                          <a:latin typeface="Space Grotesk" pitchFamily="34" charset="0"/>
                          <a:ea typeface="Space Grotesk" pitchFamily="34" charset="-122"/>
                          <a:cs typeface="Space Grotesk" pitchFamily="34" charset="-120"/>
                        </a:rPr>
                        <a:t>Statut</a:t>
                      </a:r>
                      <a:endParaRPr lang="en-US" sz="15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Centraliser les matrices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Import validé sur les fichiers testés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Atteint</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Gérer les formats historiques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~20 fichiers particuliers traités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Atteint</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Sécuriser l’accès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OIDC, rôles et permissions actifs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Atteint</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Préserver les données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Sauvegarde en place, procédure à écrire</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Partiel</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Recherche −70 %</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−98,8 % estimé, à chronométrer</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À mesurer</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Satisfaction ≥ 80 %</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Retours positifs, sans mesure formelle</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À mesurer</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Réponse &lt; 2 secondes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Indexation PostgreSQL, à mesurer</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À mesurer</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bl>
          </a:graphicData>
        </a:graphic>
      </p:graphicFrame>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915670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13 / 15 — BILAN</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Compétences et retour critique</a:t>
            </a:r>
            <a:endParaRPr lang="en-US" sz="3600" dirty="0"/>
          </a:p>
        </p:txBody>
      </p:sp>
      <p:sp>
        <p:nvSpPr>
          <p:cNvPr id="11" name="Shape 6"/>
          <p:cNvSpPr/>
          <p:nvPr/>
        </p:nvSpPr>
        <p:spPr>
          <a:xfrm>
            <a:off x="812800" y="1587500"/>
            <a:ext cx="5156200" cy="3302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1816100"/>
            <a:ext cx="4699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Compétences</a:t>
            </a:r>
            <a:endParaRPr lang="en-US" sz="2000" dirty="0"/>
          </a:p>
        </p:txBody>
      </p:sp>
      <p:sp>
        <p:nvSpPr>
          <p:cNvPr id="13" name="Text 8"/>
          <p:cNvSpPr txBox="1"/>
          <p:nvPr/>
        </p:nvSpPr>
        <p:spPr>
          <a:xfrm>
            <a:off x="1041400" y="2349500"/>
            <a:ext cx="4699000" cy="2413000"/>
          </a:xfrm>
          <a:prstGeom prst="rect">
            <a:avLst/>
          </a:prstGeom>
          <a:noFill/>
          <a:ln/>
        </p:spPr>
        <p:txBody>
          <a:bodyPr wrap="square" lIns="0" tIns="0" rIns="0" bIns="0" rtlCol="0" anchor="t"/>
          <a:lstStyle/>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Conception complète d’une application web</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Authentification OIDC et déploiement Kubernetes</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Moteur d’import générique sur données hétérogènes</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Co-pilotage : backlog, arbitrages, coordination</a:t>
            </a:r>
            <a:endParaRPr lang="en-US" sz="1600" dirty="0"/>
          </a:p>
        </p:txBody>
      </p:sp>
      <p:sp>
        <p:nvSpPr>
          <p:cNvPr id="14" name="Shape 9"/>
          <p:cNvSpPr/>
          <p:nvPr/>
        </p:nvSpPr>
        <p:spPr>
          <a:xfrm>
            <a:off x="6223000" y="1587500"/>
            <a:ext cx="5156200" cy="3302000"/>
          </a:xfrm>
          <a:prstGeom prst="rect">
            <a:avLst/>
          </a:prstGeom>
          <a:solidFill>
            <a:srgbClr val="16181D"/>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5" name="Text 10"/>
          <p:cNvSpPr txBox="1"/>
          <p:nvPr/>
        </p:nvSpPr>
        <p:spPr>
          <a:xfrm>
            <a:off x="6451600" y="1816100"/>
            <a:ext cx="4699000" cy="355600"/>
          </a:xfrm>
          <a:prstGeom prst="rect">
            <a:avLst/>
          </a:prstGeom>
          <a:noFill/>
          <a:ln/>
        </p:spPr>
        <p:txBody>
          <a:bodyPr wrap="square" lIns="0" tIns="0" rIns="0" bIns="0" rtlCol="0" anchor="t"/>
          <a:lstStyle/>
          <a:p>
            <a:pPr indent="0" marL="0">
              <a:buNone/>
            </a:pPr>
            <a:r>
              <a:rPr lang="en-US" sz="2000" b="1" dirty="0">
                <a:solidFill>
                  <a:srgbClr val="F3F0E8"/>
                </a:solidFill>
                <a:latin typeface="Space Grotesk" pitchFamily="34" charset="0"/>
                <a:ea typeface="Space Grotesk" pitchFamily="34" charset="-122"/>
                <a:cs typeface="Space Grotesk" pitchFamily="34" charset="-120"/>
              </a:rPr>
              <a:t>Retour critique</a:t>
            </a:r>
            <a:endParaRPr lang="en-US" sz="2000" dirty="0"/>
          </a:p>
        </p:txBody>
      </p:sp>
      <p:sp>
        <p:nvSpPr>
          <p:cNvPr id="16" name="Text 11"/>
          <p:cNvSpPr txBox="1"/>
          <p:nvPr/>
        </p:nvSpPr>
        <p:spPr>
          <a:xfrm>
            <a:off x="6451600" y="2349500"/>
            <a:ext cx="4699000" cy="1079500"/>
          </a:xfrm>
          <a:prstGeom prst="rect">
            <a:avLst/>
          </a:prstGeom>
          <a:noFill/>
          <a:ln/>
        </p:spPr>
        <p:txBody>
          <a:bodyPr wrap="square" lIns="0" tIns="0" rIns="0" bIns="0" rtlCol="0" anchor="t"/>
          <a:lstStyle/>
          <a:p>
            <a:pPr indent="0" marL="0">
              <a:lnSpc>
                <a:spcPct val="105000"/>
              </a:lnSpc>
              <a:buNone/>
            </a:pPr>
            <a:r>
              <a:rPr lang="en-US" sz="1600" dirty="0">
                <a:solidFill>
                  <a:srgbClr val="F3F0E8"/>
                </a:solidFill>
                <a:latin typeface="IBM Plex Sans" pitchFamily="34" charset="0"/>
                <a:ea typeface="IBM Plex Sans" pitchFamily="34" charset="-122"/>
                <a:cs typeface="IBM Plex Sans" pitchFamily="34" charset="-120"/>
              </a:rPr>
              <a:t>Pas de chronométrage avant/après dès le cadrage : les gains reposent sur une estimation.</a:t>
            </a:r>
            <a:endParaRPr lang="en-US" sz="1600" dirty="0"/>
          </a:p>
        </p:txBody>
      </p:sp>
      <p:sp>
        <p:nvSpPr>
          <p:cNvPr id="17" name="Text 12"/>
          <p:cNvSpPr txBox="1"/>
          <p:nvPr/>
        </p:nvSpPr>
        <p:spPr>
          <a:xfrm>
            <a:off x="6451600" y="3556000"/>
            <a:ext cx="4699000" cy="1079500"/>
          </a:xfrm>
          <a:prstGeom prst="rect">
            <a:avLst/>
          </a:prstGeom>
          <a:noFill/>
          <a:ln/>
        </p:spPr>
        <p:txBody>
          <a:bodyPr wrap="square" lIns="0" tIns="0" rIns="0" bIns="0" rtlCol="0" anchor="t"/>
          <a:lstStyle/>
          <a:p>
            <a:pPr indent="0" marL="0">
              <a:lnSpc>
                <a:spcPct val="105000"/>
              </a:lnSpc>
              <a:buNone/>
            </a:pPr>
            <a:r>
              <a:rPr lang="en-US" sz="1600" b="1" dirty="0">
                <a:solidFill>
                  <a:srgbClr val="F3F0E8"/>
                </a:solidFill>
                <a:latin typeface="IBM Plex Sans" pitchFamily="34" charset="0"/>
                <a:ea typeface="IBM Plex Sans" pitchFamily="34" charset="-122"/>
                <a:cs typeface="IBM Plex Sans" pitchFamily="34" charset="-120"/>
              </a:rPr>
              <a:t>La mesure d’impact aurait dû être instrumentée dès la note de cadrage.</a:t>
            </a:r>
            <a:endParaRPr lang="en-US" sz="16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986155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14 / 15 — BILAN</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Perspectives d’évolution</a:t>
            </a:r>
            <a:endParaRPr lang="en-US" sz="3600" dirty="0"/>
          </a:p>
        </p:txBody>
      </p:sp>
      <p:sp>
        <p:nvSpPr>
          <p:cNvPr id="11" name="Shape 6"/>
          <p:cNvSpPr/>
          <p:nvPr/>
        </p:nvSpPr>
        <p:spPr>
          <a:xfrm>
            <a:off x="812800" y="1587500"/>
            <a:ext cx="609600" cy="609600"/>
          </a:xfrm>
          <a:prstGeom prst="rect">
            <a:avLst/>
          </a:prstGeom>
          <a:solidFill>
            <a:srgbClr val="16181D"/>
          </a:solidFill>
          <a:ln w="25400">
            <a:solidFill>
              <a:srgbClr val="16181D"/>
            </a:solidFill>
            <a:prstDash val="solid"/>
          </a:ln>
        </p:spPr>
      </p:sp>
      <p:sp>
        <p:nvSpPr>
          <p:cNvPr id="12" name="Text 7"/>
          <p:cNvSpPr txBox="1"/>
          <p:nvPr/>
        </p:nvSpPr>
        <p:spPr>
          <a:xfrm>
            <a:off x="812800" y="1587500"/>
            <a:ext cx="609600" cy="609600"/>
          </a:xfrm>
          <a:prstGeom prst="rect">
            <a:avLst/>
          </a:prstGeom>
          <a:noFill/>
          <a:ln/>
        </p:spPr>
        <p:txBody>
          <a:bodyPr wrap="square" lIns="0" tIns="0" rIns="0" bIns="0" rtlCol="0" anchor="ctr"/>
          <a:lstStyle/>
          <a:p>
            <a:pPr algn="ctr" indent="0" marL="0">
              <a:buNone/>
            </a:pPr>
            <a:r>
              <a:rPr lang="en-US" sz="2000" b="1" dirty="0">
                <a:solidFill>
                  <a:srgbClr val="F3F0E8"/>
                </a:solidFill>
                <a:latin typeface="Space Grotesk" pitchFamily="34" charset="0"/>
                <a:ea typeface="Space Grotesk" pitchFamily="34" charset="-122"/>
                <a:cs typeface="Space Grotesk" pitchFamily="34" charset="-120"/>
              </a:rPr>
              <a:t>01</a:t>
            </a:r>
            <a:endParaRPr lang="en-US" sz="2000" dirty="0"/>
          </a:p>
        </p:txBody>
      </p:sp>
      <p:sp>
        <p:nvSpPr>
          <p:cNvPr id="13" name="Shape 8"/>
          <p:cNvSpPr/>
          <p:nvPr/>
        </p:nvSpPr>
        <p:spPr>
          <a:xfrm>
            <a:off x="1422400" y="1587500"/>
            <a:ext cx="9956800" cy="609600"/>
          </a:xfrm>
          <a:prstGeom prst="rect">
            <a:avLst/>
          </a:prstGeom>
          <a:solidFill>
            <a:srgbClr val="FBF9F3"/>
          </a:solidFill>
          <a:ln w="25400">
            <a:solidFill>
              <a:srgbClr val="16181D"/>
            </a:solidFill>
            <a:prstDash val="solid"/>
          </a:ln>
        </p:spPr>
      </p:sp>
      <p:sp>
        <p:nvSpPr>
          <p:cNvPr id="14" name="Text 9"/>
          <p:cNvSpPr txBox="1"/>
          <p:nvPr/>
        </p:nvSpPr>
        <p:spPr>
          <a:xfrm>
            <a:off x="1625600" y="1587500"/>
            <a:ext cx="9588500" cy="609600"/>
          </a:xfrm>
          <a:prstGeom prst="rect">
            <a:avLst/>
          </a:prstGeom>
          <a:noFill/>
          <a:ln/>
        </p:spPr>
        <p:txBody>
          <a:bodyPr wrap="square" lIns="0" tIns="0" rIns="0" bIns="0" rtlCol="0" anchor="ctr"/>
          <a:lstStyle/>
          <a:p>
            <a:pPr indent="0" marL="0">
              <a:buNone/>
            </a:pPr>
            <a:r>
              <a:rPr lang="en-US" sz="1600" dirty="0">
                <a:solidFill>
                  <a:srgbClr val="16181D"/>
                </a:solidFill>
                <a:latin typeface="IBM Plex Sans" pitchFamily="34" charset="0"/>
                <a:ea typeface="IBM Plex Sans" pitchFamily="34" charset="-122"/>
                <a:cs typeface="IBM Plex Sans" pitchFamily="34" charset="-120"/>
              </a:rPr>
              <a:t>Mesurer sur le terrain le temps de recherche et la satisfaction</a:t>
            </a:r>
            <a:endParaRPr lang="en-US" sz="1600" dirty="0"/>
          </a:p>
        </p:txBody>
      </p:sp>
      <p:sp>
        <p:nvSpPr>
          <p:cNvPr id="15" name="Shape 10"/>
          <p:cNvSpPr/>
          <p:nvPr/>
        </p:nvSpPr>
        <p:spPr>
          <a:xfrm>
            <a:off x="812800" y="2324100"/>
            <a:ext cx="609600" cy="609600"/>
          </a:xfrm>
          <a:prstGeom prst="rect">
            <a:avLst/>
          </a:prstGeom>
          <a:solidFill>
            <a:srgbClr val="16181D"/>
          </a:solidFill>
          <a:ln w="25400">
            <a:solidFill>
              <a:srgbClr val="16181D"/>
            </a:solidFill>
            <a:prstDash val="solid"/>
          </a:ln>
        </p:spPr>
      </p:sp>
      <p:sp>
        <p:nvSpPr>
          <p:cNvPr id="16" name="Text 11"/>
          <p:cNvSpPr txBox="1"/>
          <p:nvPr/>
        </p:nvSpPr>
        <p:spPr>
          <a:xfrm>
            <a:off x="812800" y="2324100"/>
            <a:ext cx="609600" cy="609600"/>
          </a:xfrm>
          <a:prstGeom prst="rect">
            <a:avLst/>
          </a:prstGeom>
          <a:noFill/>
          <a:ln/>
        </p:spPr>
        <p:txBody>
          <a:bodyPr wrap="square" lIns="0" tIns="0" rIns="0" bIns="0" rtlCol="0" anchor="ctr"/>
          <a:lstStyle/>
          <a:p>
            <a:pPr algn="ctr" indent="0" marL="0">
              <a:buNone/>
            </a:pPr>
            <a:r>
              <a:rPr lang="en-US" sz="2000" b="1" dirty="0">
                <a:solidFill>
                  <a:srgbClr val="F3F0E8"/>
                </a:solidFill>
                <a:latin typeface="Space Grotesk" pitchFamily="34" charset="0"/>
                <a:ea typeface="Space Grotesk" pitchFamily="34" charset="-122"/>
                <a:cs typeface="Space Grotesk" pitchFamily="34" charset="-120"/>
              </a:rPr>
              <a:t>02</a:t>
            </a:r>
            <a:endParaRPr lang="en-US" sz="2000" dirty="0"/>
          </a:p>
        </p:txBody>
      </p:sp>
      <p:sp>
        <p:nvSpPr>
          <p:cNvPr id="17" name="Shape 12"/>
          <p:cNvSpPr/>
          <p:nvPr/>
        </p:nvSpPr>
        <p:spPr>
          <a:xfrm>
            <a:off x="1422400" y="2324100"/>
            <a:ext cx="9956800" cy="609600"/>
          </a:xfrm>
          <a:prstGeom prst="rect">
            <a:avLst/>
          </a:prstGeom>
          <a:solidFill>
            <a:srgbClr val="FBF9F3"/>
          </a:solidFill>
          <a:ln w="25400">
            <a:solidFill>
              <a:srgbClr val="16181D"/>
            </a:solidFill>
            <a:prstDash val="solid"/>
          </a:ln>
        </p:spPr>
      </p:sp>
      <p:sp>
        <p:nvSpPr>
          <p:cNvPr id="18" name="Text 13"/>
          <p:cNvSpPr txBox="1"/>
          <p:nvPr/>
        </p:nvSpPr>
        <p:spPr>
          <a:xfrm>
            <a:off x="1625600" y="2324100"/>
            <a:ext cx="9588500" cy="609600"/>
          </a:xfrm>
          <a:prstGeom prst="rect">
            <a:avLst/>
          </a:prstGeom>
          <a:noFill/>
          <a:ln/>
        </p:spPr>
        <p:txBody>
          <a:bodyPr wrap="square" lIns="0" tIns="0" rIns="0" bIns="0" rtlCol="0" anchor="ctr"/>
          <a:lstStyle/>
          <a:p>
            <a:pPr indent="0" marL="0">
              <a:buNone/>
            </a:pPr>
            <a:r>
              <a:rPr lang="en-US" sz="1600" dirty="0">
                <a:solidFill>
                  <a:srgbClr val="16181D"/>
                </a:solidFill>
                <a:latin typeface="IBM Plex Sans" pitchFamily="34" charset="0"/>
                <a:ea typeface="IBM Plex Sans" pitchFamily="34" charset="-122"/>
                <a:cs typeface="IBM Plex Sans" pitchFamily="34" charset="-120"/>
              </a:rPr>
              <a:t>Étendre le moteur d’import aux nouveaux formats de fichiers</a:t>
            </a:r>
            <a:endParaRPr lang="en-US" sz="1600" dirty="0"/>
          </a:p>
        </p:txBody>
      </p:sp>
      <p:sp>
        <p:nvSpPr>
          <p:cNvPr id="19" name="Shape 14"/>
          <p:cNvSpPr/>
          <p:nvPr/>
        </p:nvSpPr>
        <p:spPr>
          <a:xfrm>
            <a:off x="812800" y="3060700"/>
            <a:ext cx="609600" cy="609600"/>
          </a:xfrm>
          <a:prstGeom prst="rect">
            <a:avLst/>
          </a:prstGeom>
          <a:solidFill>
            <a:srgbClr val="16181D"/>
          </a:solidFill>
          <a:ln w="25400">
            <a:solidFill>
              <a:srgbClr val="16181D"/>
            </a:solidFill>
            <a:prstDash val="solid"/>
          </a:ln>
        </p:spPr>
      </p:sp>
      <p:sp>
        <p:nvSpPr>
          <p:cNvPr id="20" name="Text 15"/>
          <p:cNvSpPr txBox="1"/>
          <p:nvPr/>
        </p:nvSpPr>
        <p:spPr>
          <a:xfrm>
            <a:off x="812800" y="3060700"/>
            <a:ext cx="609600" cy="609600"/>
          </a:xfrm>
          <a:prstGeom prst="rect">
            <a:avLst/>
          </a:prstGeom>
          <a:noFill/>
          <a:ln/>
        </p:spPr>
        <p:txBody>
          <a:bodyPr wrap="square" lIns="0" tIns="0" rIns="0" bIns="0" rtlCol="0" anchor="ctr"/>
          <a:lstStyle/>
          <a:p>
            <a:pPr algn="ctr" indent="0" marL="0">
              <a:buNone/>
            </a:pPr>
            <a:r>
              <a:rPr lang="en-US" sz="2000" b="1" dirty="0">
                <a:solidFill>
                  <a:srgbClr val="F3F0E8"/>
                </a:solidFill>
                <a:latin typeface="Space Grotesk" pitchFamily="34" charset="0"/>
                <a:ea typeface="Space Grotesk" pitchFamily="34" charset="-122"/>
                <a:cs typeface="Space Grotesk" pitchFamily="34" charset="-120"/>
              </a:rPr>
              <a:t>03</a:t>
            </a:r>
            <a:endParaRPr lang="en-US" sz="2000" dirty="0"/>
          </a:p>
        </p:txBody>
      </p:sp>
      <p:sp>
        <p:nvSpPr>
          <p:cNvPr id="21" name="Shape 16"/>
          <p:cNvSpPr/>
          <p:nvPr/>
        </p:nvSpPr>
        <p:spPr>
          <a:xfrm>
            <a:off x="1422400" y="3060700"/>
            <a:ext cx="9956800" cy="609600"/>
          </a:xfrm>
          <a:prstGeom prst="rect">
            <a:avLst/>
          </a:prstGeom>
          <a:solidFill>
            <a:srgbClr val="FBF9F3"/>
          </a:solidFill>
          <a:ln w="25400">
            <a:solidFill>
              <a:srgbClr val="16181D"/>
            </a:solidFill>
            <a:prstDash val="solid"/>
          </a:ln>
        </p:spPr>
      </p:sp>
      <p:sp>
        <p:nvSpPr>
          <p:cNvPr id="22" name="Text 17"/>
          <p:cNvSpPr txBox="1"/>
          <p:nvPr/>
        </p:nvSpPr>
        <p:spPr>
          <a:xfrm>
            <a:off x="1625600" y="3060700"/>
            <a:ext cx="9588500" cy="609600"/>
          </a:xfrm>
          <a:prstGeom prst="rect">
            <a:avLst/>
          </a:prstGeom>
          <a:noFill/>
          <a:ln/>
        </p:spPr>
        <p:txBody>
          <a:bodyPr wrap="square" lIns="0" tIns="0" rIns="0" bIns="0" rtlCol="0" anchor="ctr"/>
          <a:lstStyle/>
          <a:p>
            <a:pPr indent="0" marL="0">
              <a:buNone/>
            </a:pPr>
            <a:r>
              <a:rPr lang="en-US" sz="1600" dirty="0">
                <a:solidFill>
                  <a:srgbClr val="16181D"/>
                </a:solidFill>
                <a:latin typeface="IBM Plex Sans" pitchFamily="34" charset="0"/>
                <a:ea typeface="IBM Plex Sans" pitchFamily="34" charset="-122"/>
                <a:cs typeface="IBM Plex Sans" pitchFamily="34" charset="-120"/>
              </a:rPr>
              <a:t>Enrichir la recherche avec d’autres sources réseau, au-delà du DNS</a:t>
            </a:r>
            <a:endParaRPr lang="en-US" sz="1600" dirty="0"/>
          </a:p>
        </p:txBody>
      </p:sp>
      <p:sp>
        <p:nvSpPr>
          <p:cNvPr id="23" name="Shape 18"/>
          <p:cNvSpPr/>
          <p:nvPr/>
        </p:nvSpPr>
        <p:spPr>
          <a:xfrm>
            <a:off x="812800" y="3797300"/>
            <a:ext cx="609600" cy="609600"/>
          </a:xfrm>
          <a:prstGeom prst="rect">
            <a:avLst/>
          </a:prstGeom>
          <a:solidFill>
            <a:srgbClr val="16181D"/>
          </a:solidFill>
          <a:ln w="25400">
            <a:solidFill>
              <a:srgbClr val="16181D"/>
            </a:solidFill>
            <a:prstDash val="solid"/>
          </a:ln>
        </p:spPr>
      </p:sp>
      <p:sp>
        <p:nvSpPr>
          <p:cNvPr id="24" name="Text 19"/>
          <p:cNvSpPr txBox="1"/>
          <p:nvPr/>
        </p:nvSpPr>
        <p:spPr>
          <a:xfrm>
            <a:off x="812800" y="3797300"/>
            <a:ext cx="609600" cy="609600"/>
          </a:xfrm>
          <a:prstGeom prst="rect">
            <a:avLst/>
          </a:prstGeom>
          <a:noFill/>
          <a:ln/>
        </p:spPr>
        <p:txBody>
          <a:bodyPr wrap="square" lIns="0" tIns="0" rIns="0" bIns="0" rtlCol="0" anchor="ctr"/>
          <a:lstStyle/>
          <a:p>
            <a:pPr algn="ctr" indent="0" marL="0">
              <a:buNone/>
            </a:pPr>
            <a:r>
              <a:rPr lang="en-US" sz="2000" b="1" dirty="0">
                <a:solidFill>
                  <a:srgbClr val="F3F0E8"/>
                </a:solidFill>
                <a:latin typeface="Space Grotesk" pitchFamily="34" charset="0"/>
                <a:ea typeface="Space Grotesk" pitchFamily="34" charset="-122"/>
                <a:cs typeface="Space Grotesk" pitchFamily="34" charset="-120"/>
              </a:rPr>
              <a:t>04</a:t>
            </a:r>
            <a:endParaRPr lang="en-US" sz="2000" dirty="0"/>
          </a:p>
        </p:txBody>
      </p:sp>
      <p:sp>
        <p:nvSpPr>
          <p:cNvPr id="25" name="Shape 20"/>
          <p:cNvSpPr/>
          <p:nvPr/>
        </p:nvSpPr>
        <p:spPr>
          <a:xfrm>
            <a:off x="1422400" y="3797300"/>
            <a:ext cx="9956800" cy="609600"/>
          </a:xfrm>
          <a:prstGeom prst="rect">
            <a:avLst/>
          </a:prstGeom>
          <a:solidFill>
            <a:srgbClr val="DCE6EE"/>
          </a:solidFill>
          <a:ln w="25400">
            <a:solidFill>
              <a:srgbClr val="16181D"/>
            </a:solidFill>
            <a:prstDash val="solid"/>
          </a:ln>
        </p:spPr>
      </p:sp>
      <p:sp>
        <p:nvSpPr>
          <p:cNvPr id="26" name="Text 21"/>
          <p:cNvSpPr txBox="1"/>
          <p:nvPr/>
        </p:nvSpPr>
        <p:spPr>
          <a:xfrm>
            <a:off x="1625600" y="3797300"/>
            <a:ext cx="8001000" cy="609600"/>
          </a:xfrm>
          <a:prstGeom prst="rect">
            <a:avLst/>
          </a:prstGeom>
          <a:noFill/>
          <a:ln/>
        </p:spPr>
        <p:txBody>
          <a:bodyPr wrap="square" lIns="0" tIns="0" rIns="0" bIns="0" rtlCol="0" anchor="ctr"/>
          <a:lstStyle/>
          <a:p>
            <a:pPr indent="0" marL="0">
              <a:buNone/>
            </a:pPr>
            <a:r>
              <a:rPr lang="en-US" sz="1600" dirty="0">
                <a:solidFill>
                  <a:srgbClr val="16181D"/>
                </a:solidFill>
                <a:latin typeface="IBM Plex Sans" pitchFamily="34" charset="0"/>
                <a:ea typeface="IBM Plex Sans" pitchFamily="34" charset="-122"/>
                <a:cs typeface="IBM Plex Sans" pitchFamily="34" charset="-120"/>
              </a:rPr>
              <a:t>Formaliser la sauvegarde : fréquence, conservation, restauration</a:t>
            </a:r>
            <a:endParaRPr lang="en-US" sz="1600" dirty="0"/>
          </a:p>
        </p:txBody>
      </p:sp>
      <p:sp>
        <p:nvSpPr>
          <p:cNvPr id="27" name="Shape 22"/>
          <p:cNvSpPr/>
          <p:nvPr/>
        </p:nvSpPr>
        <p:spPr>
          <a:xfrm>
            <a:off x="10185400" y="3949700"/>
            <a:ext cx="1016000" cy="304800"/>
          </a:xfrm>
          <a:prstGeom prst="rect">
            <a:avLst/>
          </a:prstGeom>
          <a:solidFill>
            <a:srgbClr val="0B4F7A"/>
          </a:solidFill>
          <a:ln/>
        </p:spPr>
      </p:sp>
      <p:sp>
        <p:nvSpPr>
          <p:cNvPr id="28" name="Text 23"/>
          <p:cNvSpPr txBox="1"/>
          <p:nvPr/>
        </p:nvSpPr>
        <p:spPr>
          <a:xfrm>
            <a:off x="10185400" y="3949700"/>
            <a:ext cx="1016000" cy="304800"/>
          </a:xfrm>
          <a:prstGeom prst="rect">
            <a:avLst/>
          </a:prstGeom>
          <a:noFill/>
          <a:ln/>
        </p:spPr>
        <p:txBody>
          <a:bodyPr wrap="square" lIns="0" tIns="0" rIns="0" bIns="0" rtlCol="0" anchor="ctr"/>
          <a:lstStyle/>
          <a:p>
            <a:pPr algn="ct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VALIDÉ</a:t>
            </a:r>
            <a:endParaRPr lang="en-US" sz="1200" dirty="0"/>
          </a:p>
        </p:txBody>
      </p:sp>
      <p:sp>
        <p:nvSpPr>
          <p:cNvPr id="29" name="Shape 24"/>
          <p:cNvSpPr/>
          <p:nvPr/>
        </p:nvSpPr>
        <p:spPr>
          <a:xfrm>
            <a:off x="812800" y="4533900"/>
            <a:ext cx="609600" cy="609600"/>
          </a:xfrm>
          <a:prstGeom prst="rect">
            <a:avLst/>
          </a:prstGeom>
          <a:solidFill>
            <a:srgbClr val="16181D"/>
          </a:solidFill>
          <a:ln w="25400">
            <a:solidFill>
              <a:srgbClr val="16181D"/>
            </a:solidFill>
            <a:prstDash val="solid"/>
          </a:ln>
        </p:spPr>
      </p:sp>
      <p:sp>
        <p:nvSpPr>
          <p:cNvPr id="30" name="Text 25"/>
          <p:cNvSpPr txBox="1"/>
          <p:nvPr/>
        </p:nvSpPr>
        <p:spPr>
          <a:xfrm>
            <a:off x="812800" y="4533900"/>
            <a:ext cx="609600" cy="609600"/>
          </a:xfrm>
          <a:prstGeom prst="rect">
            <a:avLst/>
          </a:prstGeom>
          <a:noFill/>
          <a:ln/>
        </p:spPr>
        <p:txBody>
          <a:bodyPr wrap="square" lIns="0" tIns="0" rIns="0" bIns="0" rtlCol="0" anchor="ctr"/>
          <a:lstStyle/>
          <a:p>
            <a:pPr algn="ctr" indent="0" marL="0">
              <a:buNone/>
            </a:pPr>
            <a:r>
              <a:rPr lang="en-US" sz="2000" b="1" dirty="0">
                <a:solidFill>
                  <a:srgbClr val="F3F0E8"/>
                </a:solidFill>
                <a:latin typeface="Space Grotesk" pitchFamily="34" charset="0"/>
                <a:ea typeface="Space Grotesk" pitchFamily="34" charset="-122"/>
                <a:cs typeface="Space Grotesk" pitchFamily="34" charset="-120"/>
              </a:rPr>
              <a:t>05</a:t>
            </a:r>
            <a:endParaRPr lang="en-US" sz="2000" dirty="0"/>
          </a:p>
        </p:txBody>
      </p:sp>
      <p:sp>
        <p:nvSpPr>
          <p:cNvPr id="31" name="Shape 26"/>
          <p:cNvSpPr/>
          <p:nvPr/>
        </p:nvSpPr>
        <p:spPr>
          <a:xfrm>
            <a:off x="1422400" y="4533900"/>
            <a:ext cx="9956800" cy="609600"/>
          </a:xfrm>
          <a:prstGeom prst="rect">
            <a:avLst/>
          </a:prstGeom>
          <a:solidFill>
            <a:srgbClr val="DCE6EE"/>
          </a:solidFill>
          <a:ln w="25400">
            <a:solidFill>
              <a:srgbClr val="16181D"/>
            </a:solidFill>
            <a:prstDash val="solid"/>
          </a:ln>
        </p:spPr>
      </p:sp>
      <p:sp>
        <p:nvSpPr>
          <p:cNvPr id="32" name="Text 27"/>
          <p:cNvSpPr txBox="1"/>
          <p:nvPr/>
        </p:nvSpPr>
        <p:spPr>
          <a:xfrm>
            <a:off x="1625600" y="4533900"/>
            <a:ext cx="8001000" cy="609600"/>
          </a:xfrm>
          <a:prstGeom prst="rect">
            <a:avLst/>
          </a:prstGeom>
          <a:noFill/>
          <a:ln/>
        </p:spPr>
        <p:txBody>
          <a:bodyPr wrap="square" lIns="0" tIns="0" rIns="0" bIns="0" rtlCol="0" anchor="ctr"/>
          <a:lstStyle/>
          <a:p>
            <a:pPr indent="0" marL="0">
              <a:buNone/>
            </a:pPr>
            <a:r>
              <a:rPr lang="en-US" sz="1600" dirty="0">
                <a:solidFill>
                  <a:srgbClr val="16181D"/>
                </a:solidFill>
                <a:latin typeface="IBM Plex Sans" pitchFamily="34" charset="0"/>
                <a:ea typeface="IBM Plex Sans" pitchFamily="34" charset="-122"/>
                <a:cs typeface="IBM Plex Sans" pitchFamily="34" charset="-120"/>
              </a:rPr>
              <a:t>Développer des tableaux de bord de type Grafana</a:t>
            </a:r>
            <a:endParaRPr lang="en-US" sz="1600" dirty="0"/>
          </a:p>
        </p:txBody>
      </p:sp>
      <p:sp>
        <p:nvSpPr>
          <p:cNvPr id="33" name="Shape 28"/>
          <p:cNvSpPr/>
          <p:nvPr/>
        </p:nvSpPr>
        <p:spPr>
          <a:xfrm>
            <a:off x="10185400" y="4686300"/>
            <a:ext cx="1016000" cy="304800"/>
          </a:xfrm>
          <a:prstGeom prst="rect">
            <a:avLst/>
          </a:prstGeom>
          <a:solidFill>
            <a:srgbClr val="0B4F7A"/>
          </a:solidFill>
          <a:ln/>
        </p:spPr>
      </p:sp>
      <p:sp>
        <p:nvSpPr>
          <p:cNvPr id="34" name="Text 29"/>
          <p:cNvSpPr txBox="1"/>
          <p:nvPr/>
        </p:nvSpPr>
        <p:spPr>
          <a:xfrm>
            <a:off x="10185400" y="4686300"/>
            <a:ext cx="1016000" cy="304800"/>
          </a:xfrm>
          <a:prstGeom prst="rect">
            <a:avLst/>
          </a:prstGeom>
          <a:noFill/>
          <a:ln/>
        </p:spPr>
        <p:txBody>
          <a:bodyPr wrap="square" lIns="0" tIns="0" rIns="0" bIns="0" rtlCol="0" anchor="ctr"/>
          <a:lstStyle/>
          <a:p>
            <a:pPr algn="ct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VALIDÉ</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10566400" cy="127000"/>
          </a:xfrm>
          <a:prstGeom prst="rect">
            <a:avLst/>
          </a:prstGeom>
          <a:solidFill>
            <a:srgbClr val="0B4F7A"/>
          </a:solidFill>
          <a:ln w="19050">
            <a:solidFill>
              <a:srgbClr val="16181D"/>
            </a:solidFill>
            <a:prstDash val="solid"/>
          </a:ln>
        </p:spPr>
      </p:sp>
      <p:sp>
        <p:nvSpPr>
          <p:cNvPr id="4" name="!!mk-sq"/>
          <p:cNvSpPr/>
          <p:nvPr/>
        </p:nvSpPr>
        <p:spPr>
          <a:xfrm>
            <a:off x="7823200" y="1270000"/>
            <a:ext cx="3048000" cy="30480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15 / 15 — CONCLUSION</a:t>
            </a:r>
            <a:endParaRPr lang="en-US" sz="1200" dirty="0"/>
          </a:p>
        </p:txBody>
      </p:sp>
      <p:sp>
        <p:nvSpPr>
          <p:cNvPr id="6" name="!!logo-plate"/>
          <p:cNvSpPr/>
          <p:nvPr/>
        </p:nvSpPr>
        <p:spPr>
          <a:xfrm>
            <a:off x="7823200" y="4699000"/>
            <a:ext cx="3556000" cy="5080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255000" y="4768850"/>
            <a:ext cx="673100" cy="361950"/>
          </a:xfrm>
          <a:prstGeom prst="rect">
            <a:avLst/>
          </a:prstGeom>
        </p:spPr>
      </p:pic>
      <p:pic>
        <p:nvPicPr>
          <p:cNvPr id="8" name="!!logo-tx" descr="Logo Transactis">    </p:cNvPr>
          <p:cNvPicPr>
            <a:picLocks noChangeAspect="1"/>
          </p:cNvPicPr>
          <p:nvPr/>
        </p:nvPicPr>
        <p:blipFill>
          <a:blip r:embed="rId2"/>
          <a:stretch>
            <a:fillRect/>
          </a:stretch>
        </p:blipFill>
        <p:spPr>
          <a:xfrm>
            <a:off x="9144000" y="4806950"/>
            <a:ext cx="1803400" cy="2921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Conclusion</a:t>
            </a:r>
            <a:endParaRPr lang="en-US" sz="3600" dirty="0"/>
          </a:p>
        </p:txBody>
      </p:sp>
      <p:sp>
        <p:nvSpPr>
          <p:cNvPr id="11" name="Text 6"/>
          <p:cNvSpPr txBox="1"/>
          <p:nvPr/>
        </p:nvSpPr>
        <p:spPr>
          <a:xfrm>
            <a:off x="812800" y="2095500"/>
            <a:ext cx="5715000" cy="215900"/>
          </a:xfrm>
          <a:prstGeom prst="rect">
            <a:avLst/>
          </a:prstGeom>
          <a:noFill/>
          <a:ln/>
        </p:spPr>
        <p:txBody>
          <a:bodyPr wrap="square" lIns="0" tIns="0" rIns="0" bIns="0" rtlCol="0" anchor="t"/>
          <a:lstStyle/>
          <a:p>
            <a:pPr indent="0" marL="0">
              <a:buNone/>
            </a:pPr>
            <a:r>
              <a:rPr lang="en-US" sz="1200" b="1" spc="200" kern="0" dirty="0">
                <a:solidFill>
                  <a:srgbClr val="0B4F7A"/>
                </a:solidFill>
                <a:latin typeface="JetBrains Mono" pitchFamily="34" charset="0"/>
                <a:ea typeface="JetBrains Mono" pitchFamily="34" charset="-122"/>
                <a:cs typeface="JetBrains Mono" pitchFamily="34" charset="-120"/>
              </a:rPr>
              <a:t>À RETENIR</a:t>
            </a:r>
            <a:endParaRPr lang="en-US" sz="1200" dirty="0"/>
          </a:p>
        </p:txBody>
      </p:sp>
      <p:sp>
        <p:nvSpPr>
          <p:cNvPr id="12" name="Text 7"/>
          <p:cNvSpPr txBox="1"/>
          <p:nvPr/>
        </p:nvSpPr>
        <p:spPr>
          <a:xfrm>
            <a:off x="812800" y="2565400"/>
            <a:ext cx="381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01</a:t>
            </a:r>
            <a:endParaRPr lang="en-US" sz="1400" dirty="0"/>
          </a:p>
        </p:txBody>
      </p:sp>
      <p:sp>
        <p:nvSpPr>
          <p:cNvPr id="13" name="Text 8"/>
          <p:cNvSpPr txBox="1"/>
          <p:nvPr/>
        </p:nvSpPr>
        <p:spPr>
          <a:xfrm>
            <a:off x="1270000" y="2540000"/>
            <a:ext cx="6146800" cy="635000"/>
          </a:xfrm>
          <a:prstGeom prst="rect">
            <a:avLst/>
          </a:prstGeom>
          <a:noFill/>
          <a:ln/>
        </p:spPr>
        <p:txBody>
          <a:bodyPr wrap="square" lIns="0" tIns="0" rIns="0" bIns="0" rtlCol="0" anchor="t"/>
          <a:lstStyle/>
          <a:p>
            <a:pPr indent="0" marL="0">
              <a:buNone/>
            </a:pPr>
            <a:r>
              <a:rPr lang="en-US" sz="1600" dirty="0">
                <a:solidFill>
                  <a:srgbClr val="16181D"/>
                </a:solidFill>
                <a:latin typeface="IBM Plex Sans" pitchFamily="34" charset="0"/>
                <a:ea typeface="IBM Plex Sans" pitchFamily="34" charset="-122"/>
                <a:cs typeface="IBM Plex Sans" pitchFamily="34" charset="-120"/>
              </a:rPr>
              <a:t>Un besoin réel comblé : 2 432 matrices centralisées et consultables en quelques secondes</a:t>
            </a:r>
            <a:endParaRPr lang="en-US" sz="1600" dirty="0"/>
          </a:p>
        </p:txBody>
      </p:sp>
      <p:sp>
        <p:nvSpPr>
          <p:cNvPr id="14" name="Text 9"/>
          <p:cNvSpPr txBox="1"/>
          <p:nvPr/>
        </p:nvSpPr>
        <p:spPr>
          <a:xfrm>
            <a:off x="812800" y="3263900"/>
            <a:ext cx="381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02</a:t>
            </a:r>
            <a:endParaRPr lang="en-US" sz="1400" dirty="0"/>
          </a:p>
        </p:txBody>
      </p:sp>
      <p:sp>
        <p:nvSpPr>
          <p:cNvPr id="15" name="Text 10"/>
          <p:cNvSpPr txBox="1"/>
          <p:nvPr/>
        </p:nvSpPr>
        <p:spPr>
          <a:xfrm>
            <a:off x="1270000" y="3238500"/>
            <a:ext cx="6146800" cy="635000"/>
          </a:xfrm>
          <a:prstGeom prst="rect">
            <a:avLst/>
          </a:prstGeom>
          <a:noFill/>
          <a:ln/>
        </p:spPr>
        <p:txBody>
          <a:bodyPr wrap="square" lIns="0" tIns="0" rIns="0" bIns="0" rtlCol="0" anchor="t"/>
          <a:lstStyle/>
          <a:p>
            <a:pPr indent="0" marL="0">
              <a:buNone/>
            </a:pPr>
            <a:r>
              <a:rPr lang="en-US" sz="1600" dirty="0">
                <a:solidFill>
                  <a:srgbClr val="16181D"/>
                </a:solidFill>
                <a:latin typeface="IBM Plex Sans" pitchFamily="34" charset="0"/>
                <a:ea typeface="IBM Plex Sans" pitchFamily="34" charset="-122"/>
                <a:cs typeface="IBM Plex Sans" pitchFamily="34" charset="-120"/>
              </a:rPr>
              <a:t>Mise en production le 20 août 2026, avec un mois de décalage assumé pour la robustesse de l’import</a:t>
            </a:r>
            <a:endParaRPr lang="en-US" sz="1600" dirty="0"/>
          </a:p>
        </p:txBody>
      </p:sp>
      <p:sp>
        <p:nvSpPr>
          <p:cNvPr id="16" name="Text 11"/>
          <p:cNvSpPr txBox="1"/>
          <p:nvPr/>
        </p:nvSpPr>
        <p:spPr>
          <a:xfrm>
            <a:off x="812800" y="3962400"/>
            <a:ext cx="381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03</a:t>
            </a:r>
            <a:endParaRPr lang="en-US" sz="1400" dirty="0"/>
          </a:p>
        </p:txBody>
      </p:sp>
      <p:sp>
        <p:nvSpPr>
          <p:cNvPr id="17" name="Text 12"/>
          <p:cNvSpPr txBox="1"/>
          <p:nvPr/>
        </p:nvSpPr>
        <p:spPr>
          <a:xfrm>
            <a:off x="1270000" y="3937000"/>
            <a:ext cx="6146800" cy="635000"/>
          </a:xfrm>
          <a:prstGeom prst="rect">
            <a:avLst/>
          </a:prstGeom>
          <a:noFill/>
          <a:ln/>
        </p:spPr>
        <p:txBody>
          <a:bodyPr wrap="square" lIns="0" tIns="0" rIns="0" bIns="0" rtlCol="0" anchor="t"/>
          <a:lstStyle/>
          <a:p>
            <a:pPr indent="0" marL="0">
              <a:buNone/>
            </a:pPr>
            <a:r>
              <a:rPr lang="en-US" sz="1600" dirty="0">
                <a:solidFill>
                  <a:srgbClr val="16181D"/>
                </a:solidFill>
                <a:latin typeface="IBM Plex Sans" pitchFamily="34" charset="0"/>
                <a:ea typeface="IBM Plex Sans" pitchFamily="34" charset="-122"/>
                <a:cs typeface="IBM Plex Sans" pitchFamily="34" charset="-120"/>
              </a:rPr>
              <a:t>Une expérience de co-pilotage technique en autonomie, transférable au métier d’ingénieur</a:t>
            </a:r>
            <a:endParaRPr lang="en-US" sz="1600" dirty="0"/>
          </a:p>
        </p:txBody>
      </p:sp>
      <p:sp>
        <p:nvSpPr>
          <p:cNvPr id="18" name="Text 13"/>
          <p:cNvSpPr txBox="1"/>
          <p:nvPr/>
        </p:nvSpPr>
        <p:spPr>
          <a:xfrm>
            <a:off x="812800" y="5080000"/>
            <a:ext cx="6604000" cy="825500"/>
          </a:xfrm>
          <a:prstGeom prst="rect">
            <a:avLst/>
          </a:prstGeom>
          <a:noFill/>
          <a:ln/>
        </p:spPr>
        <p:txBody>
          <a:bodyPr wrap="square" lIns="0" tIns="0" rIns="0" bIns="0" rtlCol="0" anchor="t"/>
          <a:lstStyle/>
          <a:p>
            <a:pPr indent="0" marL="0">
              <a:buNone/>
            </a:pPr>
            <a:r>
              <a:rPr lang="en-US" sz="4800" b="1" dirty="0">
                <a:solidFill>
                  <a:srgbClr val="16181D"/>
                </a:solidFill>
                <a:latin typeface="Space Grotesk" pitchFamily="34" charset="0"/>
                <a:ea typeface="Space Grotesk" pitchFamily="34" charset="-122"/>
                <a:cs typeface="Space Grotesk" pitchFamily="34" charset="-120"/>
              </a:rPr>
              <a:t>Merci.</a:t>
            </a:r>
            <a:endParaRPr lang="en-US" sz="48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Soutenance RIPTIS</dc:title>
  <dc:subject>PptxGenJS Presentation</dc:subject>
  <dc:creator>PptxGenJS</dc:creator>
  <cp:lastModifiedBy>PptxGenJS</cp:lastModifiedBy>
  <cp:revision>1</cp:revision>
  <dcterms:created xsi:type="dcterms:W3CDTF">2026-09-30T22:35:59Z</dcterms:created>
  <dcterms:modified xsi:type="dcterms:W3CDTF">2026-09-30T22:35:59Z</dcterms:modified>
</cp:coreProperties>
</file>