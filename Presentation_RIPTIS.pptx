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un référentiel de flux réseau sous forme d’application web, que j’ai conçu, développé et mis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La mise en production est décalée d’environ un mois ; les causes sont détaillées à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imprévu : un projet Logtis est passé en priorité P1 devant RIPTIS, ce qui a décalé les tâches de RIPTIS. Deuxième imprévu : l’hétérogénéité des fichiers Excel ; une vingtaine de fichiers particuliers m’ont conduit à généraliser le moteur d’import plutôt que de les traiter un par un. Troisième imprévu : une instance externe a alerté Transactis sur de potentielles vulnérabilités liées à Nexus, l’outil de gestion des librairies. Il fallait cesser de l’utiliser et trouver une alternative pour installer les packages. À chaque fois, j’ai priorisé et privilégié la robustesse.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socle initial : import Excel multi-formats, recherche multicritère, export, droits par OIDC et sauvegarde. En cours de projet, des modules sont venus s’ajouter : recherche DNS, VPN, RSSI et REF IP.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de centralisation, de formats historiques, de sauvegarde et de temps de réponse des requêtes sont atteints. Côté satisfaction, mes collaborateurs trouvent l’outil génial ; un formulaire de satisfaction va permettre de le mesurer. Le gain de 70 % sur la recherche reste à chronométrer.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j’ai appris à m’adapter : face à trois imprévus, j’ai priorisé et arbitré sans renoncer à la mise en production. J’en retiens un réflexe : prévoir une marge pour les imprévus dès la construction du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termine par une question : et si retrouver un flux réseau prenait 30 secondes ? [pause] Merci de votre attention,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 référentiel de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Planning prévisionnel et réalisé</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imprévus, un projet livré</a:t>
            </a:r>
            <a:endParaRPr lang="en-US" sz="3600" dirty="0"/>
          </a:p>
        </p:txBody>
      </p:sp>
      <p:sp>
        <p:nvSpPr>
          <p:cNvPr id="11" name="Shape 6"/>
          <p:cNvSpPr/>
          <p:nvPr/>
        </p:nvSpPr>
        <p:spPr>
          <a:xfrm>
            <a:off x="812800" y="1587500"/>
            <a:ext cx="3384550" cy="2730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2921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2927350" cy="355600"/>
          </a:xfrm>
          <a:prstGeom prst="rect">
            <a:avLst/>
          </a:prstGeom>
          <a:noFill/>
          <a:ln/>
        </p:spPr>
        <p:txBody>
          <a:bodyPr wrap="square" lIns="0" tIns="0" rIns="0" bIns="0" rtlCol="0" anchor="t"/>
          <a:lstStyle/>
          <a:p>
            <a:pPr indent="0" marL="0">
              <a:buNone/>
            </a:pPr>
            <a:r>
              <a:rPr lang="en-US" sz="1800" b="1" dirty="0">
                <a:solidFill>
                  <a:srgbClr val="16181D"/>
                </a:solidFill>
                <a:latin typeface="Space Grotesk" pitchFamily="34" charset="0"/>
                <a:ea typeface="Space Grotesk" pitchFamily="34" charset="-122"/>
                <a:cs typeface="Space Grotesk" pitchFamily="34" charset="-120"/>
              </a:rPr>
              <a:t>Projet Logtis en P1</a:t>
            </a:r>
            <a:endParaRPr lang="en-US" sz="1800" dirty="0"/>
          </a:p>
        </p:txBody>
      </p:sp>
      <p:sp>
        <p:nvSpPr>
          <p:cNvPr id="14" name="Text 9"/>
          <p:cNvSpPr txBox="1"/>
          <p:nvPr/>
        </p:nvSpPr>
        <p:spPr>
          <a:xfrm>
            <a:off x="1041400" y="2603500"/>
            <a:ext cx="2927350" cy="1587500"/>
          </a:xfrm>
          <a:prstGeom prst="rect">
            <a:avLst/>
          </a:prstGeom>
          <a:noFill/>
          <a:ln/>
        </p:spPr>
        <p:txBody>
          <a:bodyPr wrap="square" lIns="0" tIns="0" rIns="0" bIns="0" rtlCol="0" anchor="t"/>
          <a:lstStyle/>
          <a:p>
            <a:pPr indent="0" marL="0">
              <a:lnSpc>
                <a:spcPct val="105000"/>
              </a:lnSpc>
              <a:buNone/>
            </a:pPr>
            <a:r>
              <a:rPr lang="en-US" sz="1400" dirty="0">
                <a:solidFill>
                  <a:srgbClr val="16181D"/>
                </a:solidFill>
                <a:latin typeface="IBM Plex Sans" pitchFamily="34" charset="0"/>
                <a:ea typeface="IBM Plex Sans" pitchFamily="34" charset="-122"/>
                <a:cs typeface="IBM Plex Sans" pitchFamily="34" charset="-120"/>
              </a:rPr>
              <a:t>Un projet Logtis, passé en priorité P1 devant RIPTIS, a décalé les tâches de RIPTIS.</a:t>
            </a:r>
            <a:endParaRPr lang="en-US" sz="1400" dirty="0"/>
          </a:p>
        </p:txBody>
      </p:sp>
      <p:sp>
        <p:nvSpPr>
          <p:cNvPr id="15" name="Shape 10"/>
          <p:cNvSpPr/>
          <p:nvPr/>
        </p:nvSpPr>
        <p:spPr>
          <a:xfrm>
            <a:off x="4400550" y="1587500"/>
            <a:ext cx="3384550" cy="2730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4629150" y="1816100"/>
            <a:ext cx="2921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4629150" y="2133600"/>
            <a:ext cx="2927350" cy="355600"/>
          </a:xfrm>
          <a:prstGeom prst="rect">
            <a:avLst/>
          </a:prstGeom>
          <a:noFill/>
          <a:ln/>
        </p:spPr>
        <p:txBody>
          <a:bodyPr wrap="square" lIns="0" tIns="0" rIns="0" bIns="0" rtlCol="0" anchor="t"/>
          <a:lstStyle/>
          <a:p>
            <a:pPr indent="0" marL="0">
              <a:buNone/>
            </a:pPr>
            <a:r>
              <a:rPr lang="en-US" sz="1800" b="1" dirty="0">
                <a:solidFill>
                  <a:srgbClr val="16181D"/>
                </a:solidFill>
                <a:latin typeface="Space Grotesk" pitchFamily="34" charset="0"/>
                <a:ea typeface="Space Grotesk" pitchFamily="34" charset="-122"/>
                <a:cs typeface="Space Grotesk" pitchFamily="34" charset="-120"/>
              </a:rPr>
              <a:t>Fichiers hétérogènes</a:t>
            </a:r>
            <a:endParaRPr lang="en-US" sz="1800" dirty="0"/>
          </a:p>
        </p:txBody>
      </p:sp>
      <p:sp>
        <p:nvSpPr>
          <p:cNvPr id="18" name="Text 13"/>
          <p:cNvSpPr txBox="1"/>
          <p:nvPr/>
        </p:nvSpPr>
        <p:spPr>
          <a:xfrm>
            <a:off x="4629150" y="2603500"/>
            <a:ext cx="2927350" cy="1587500"/>
          </a:xfrm>
          <a:prstGeom prst="rect">
            <a:avLst/>
          </a:prstGeom>
          <a:noFill/>
          <a:ln/>
        </p:spPr>
        <p:txBody>
          <a:bodyPr wrap="square" lIns="0" tIns="0" rIns="0" bIns="0" rtlCol="0" anchor="t"/>
          <a:lstStyle/>
          <a:p>
            <a:pPr indent="0" marL="0">
              <a:lnSpc>
                <a:spcPct val="105000"/>
              </a:lnSpc>
              <a:buNone/>
            </a:pPr>
            <a:r>
              <a:rPr lang="en-US" sz="14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400" dirty="0"/>
          </a:p>
        </p:txBody>
      </p:sp>
      <p:sp>
        <p:nvSpPr>
          <p:cNvPr id="19" name="Shape 14"/>
          <p:cNvSpPr/>
          <p:nvPr/>
        </p:nvSpPr>
        <p:spPr>
          <a:xfrm>
            <a:off x="7988300" y="1587500"/>
            <a:ext cx="3384550" cy="2730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8216900" y="1816100"/>
            <a:ext cx="2921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03</a:t>
            </a:r>
            <a:endParaRPr lang="en-US" sz="1200" dirty="0"/>
          </a:p>
        </p:txBody>
      </p:sp>
      <p:sp>
        <p:nvSpPr>
          <p:cNvPr id="21" name="Text 16"/>
          <p:cNvSpPr txBox="1"/>
          <p:nvPr/>
        </p:nvSpPr>
        <p:spPr>
          <a:xfrm>
            <a:off x="8216900" y="2133600"/>
            <a:ext cx="2927350" cy="355600"/>
          </a:xfrm>
          <a:prstGeom prst="rect">
            <a:avLst/>
          </a:prstGeom>
          <a:noFill/>
          <a:ln/>
        </p:spPr>
        <p:txBody>
          <a:bodyPr wrap="square" lIns="0" tIns="0" rIns="0" bIns="0" rtlCol="0" anchor="t"/>
          <a:lstStyle/>
          <a:p>
            <a:pPr indent="0" marL="0">
              <a:buNone/>
            </a:pPr>
            <a:r>
              <a:rPr lang="en-US" sz="1800" b="1" dirty="0">
                <a:solidFill>
                  <a:srgbClr val="16181D"/>
                </a:solidFill>
                <a:latin typeface="Space Grotesk" pitchFamily="34" charset="0"/>
                <a:ea typeface="Space Grotesk" pitchFamily="34" charset="-122"/>
                <a:cs typeface="Space Grotesk" pitchFamily="34" charset="-120"/>
              </a:rPr>
              <a:t>Alerte sur Nexus</a:t>
            </a:r>
            <a:endParaRPr lang="en-US" sz="1800" dirty="0"/>
          </a:p>
        </p:txBody>
      </p:sp>
      <p:sp>
        <p:nvSpPr>
          <p:cNvPr id="22" name="Text 17"/>
          <p:cNvSpPr txBox="1"/>
          <p:nvPr/>
        </p:nvSpPr>
        <p:spPr>
          <a:xfrm>
            <a:off x="8216900" y="2603500"/>
            <a:ext cx="2927350" cy="1587500"/>
          </a:xfrm>
          <a:prstGeom prst="rect">
            <a:avLst/>
          </a:prstGeom>
          <a:noFill/>
          <a:ln/>
        </p:spPr>
        <p:txBody>
          <a:bodyPr wrap="square" lIns="0" tIns="0" rIns="0" bIns="0" rtlCol="0" anchor="t"/>
          <a:lstStyle/>
          <a:p>
            <a:pPr indent="0" marL="0">
              <a:lnSpc>
                <a:spcPct val="105000"/>
              </a:lnSpc>
              <a:buNone/>
            </a:pPr>
            <a:r>
              <a:rPr lang="en-US" sz="1400" dirty="0">
                <a:solidFill>
                  <a:srgbClr val="16181D"/>
                </a:solidFill>
                <a:latin typeface="IBM Plex Sans" pitchFamily="34" charset="0"/>
                <a:ea typeface="IBM Plex Sans" pitchFamily="34" charset="-122"/>
                <a:cs typeface="IBM Plex Sans" pitchFamily="34" charset="-120"/>
              </a:rPr>
              <a:t>Une instance externe a alerté Transactis sur des vulnérabilités potentielles de Nexus, l’outil de gestion des librairies. Il a fallu cesser de l’utiliser et trouver une alternative pour installer les packages.</a:t>
            </a:r>
            <a:endParaRPr lang="en-US" sz="1400" dirty="0"/>
          </a:p>
        </p:txBody>
      </p:sp>
      <p:sp>
        <p:nvSpPr>
          <p:cNvPr id="23" name="Shape 18"/>
          <p:cNvSpPr/>
          <p:nvPr/>
        </p:nvSpPr>
        <p:spPr>
          <a:xfrm>
            <a:off x="812800" y="4699000"/>
            <a:ext cx="10566400" cy="952500"/>
          </a:xfrm>
          <a:prstGeom prst="rect">
            <a:avLst/>
          </a:prstGeom>
          <a:solidFill>
            <a:srgbClr val="16181D"/>
          </a:solidFill>
          <a:ln/>
        </p:spPr>
      </p:sp>
      <p:sp>
        <p:nvSpPr>
          <p:cNvPr id="24" name="Text 19"/>
          <p:cNvSpPr txBox="1"/>
          <p:nvPr/>
        </p:nvSpPr>
        <p:spPr>
          <a:xfrm>
            <a:off x="1066800" y="4699000"/>
            <a:ext cx="10058400" cy="9525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Face aux imprévus : prioriser, arbitrer et privilégier la robustesse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044700"/>
            <a:ext cx="41656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SOCLE INITIAL</a:t>
            </a:r>
            <a:endParaRPr lang="en-US" sz="1200" dirty="0"/>
          </a:p>
        </p:txBody>
      </p:sp>
      <p:sp>
        <p:nvSpPr>
          <p:cNvPr id="15" name="Text 9"/>
          <p:cNvSpPr txBox="1"/>
          <p:nvPr/>
        </p:nvSpPr>
        <p:spPr>
          <a:xfrm>
            <a:off x="7213600" y="2298700"/>
            <a:ext cx="4165600" cy="14605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Import Excel multi-formats</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Recherche multicritère</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Export Excel</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Droits par OIDC</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Sauvegarde PostgreSQL</a:t>
            </a:r>
            <a:endParaRPr lang="en-US" sz="1400" dirty="0"/>
          </a:p>
        </p:txBody>
      </p:sp>
      <p:sp>
        <p:nvSpPr>
          <p:cNvPr id="16" name="Text 10"/>
          <p:cNvSpPr txBox="1"/>
          <p:nvPr/>
        </p:nvSpPr>
        <p:spPr>
          <a:xfrm>
            <a:off x="7213600" y="3911600"/>
            <a:ext cx="41656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AJOUTS EN COURS DE PROJET</a:t>
            </a:r>
            <a:endParaRPr lang="en-US" sz="1200" dirty="0"/>
          </a:p>
        </p:txBody>
      </p:sp>
      <p:sp>
        <p:nvSpPr>
          <p:cNvPr id="17" name="Text 11"/>
          <p:cNvSpPr txBox="1"/>
          <p:nvPr/>
        </p:nvSpPr>
        <p:spPr>
          <a:xfrm>
            <a:off x="7213600" y="4165600"/>
            <a:ext cx="4165600" cy="12700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Recherche DNS</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VPN</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RSSI</a:t>
            </a:r>
            <a:endParaRPr lang="en-US" sz="1400" dirty="0"/>
          </a:p>
          <a:p>
            <a:pPr marL="279400" indent="-279400">
              <a:spcAft>
                <a:spcPts val="800"/>
              </a:spcAft>
              <a:buSzPct val="100000"/>
              <a:buChar char="•"/>
            </a:pPr>
            <a:r>
              <a:rPr lang="en-US" sz="1400" dirty="0">
                <a:solidFill>
                  <a:srgbClr val="16181D"/>
                </a:solidFill>
                <a:latin typeface="IBM Plex Sans" pitchFamily="34" charset="0"/>
                <a:ea typeface="IBM Plex Sans" pitchFamily="34" charset="-122"/>
                <a:cs typeface="IBM Plex Sans" pitchFamily="34" charset="-120"/>
              </a:rPr>
              <a:t>REF IP</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mise en place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Requêtes base de données rapides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Équipe très satisfaite, formulaire à venir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En cours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adaptabilité</a:t>
            </a:r>
            <a:endParaRPr lang="en-US" sz="3600" dirty="0"/>
          </a:p>
        </p:txBody>
      </p:sp>
      <p:sp>
        <p:nvSpPr>
          <p:cNvPr id="11" name="Shape 6"/>
          <p:cNvSpPr/>
          <p:nvPr/>
        </p:nvSpPr>
        <p:spPr>
          <a:xfrm>
            <a:off x="812800" y="1587500"/>
            <a:ext cx="5156200" cy="3683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Travail en équipe : réseau, IT/Infra, maître d’apprentissage</a:t>
            </a:r>
            <a:endParaRPr lang="en-US" sz="1600" dirty="0"/>
          </a:p>
        </p:txBody>
      </p:sp>
      <p:sp>
        <p:nvSpPr>
          <p:cNvPr id="14" name="Shape 9"/>
          <p:cNvSpPr/>
          <p:nvPr/>
        </p:nvSpPr>
        <p:spPr>
          <a:xfrm>
            <a:off x="6223000" y="1587500"/>
            <a:ext cx="5156200" cy="3683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Adaptabilité</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Trois imprévus (Logtis en P1, fichiers hétérogènes, alerte sur Nexus) : j’ai su prioriser, arbitrer et adapter le planning, et RIPTIS est en production.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Réflexe acquis : prévoir une marge pour les imprévus dès la construction du planning.</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sauvegarde : fréquence, conservation, restauration</a:t>
            </a:r>
            <a:endParaRPr lang="en-US" sz="1600" dirty="0"/>
          </a:p>
        </p:txBody>
      </p:sp>
      <p:sp>
        <p:nvSpPr>
          <p:cNvPr id="27" name="Shape 22"/>
          <p:cNvSpPr/>
          <p:nvPr/>
        </p:nvSpPr>
        <p:spPr>
          <a:xfrm>
            <a:off x="10185400" y="3949700"/>
            <a:ext cx="1016000" cy="304800"/>
          </a:xfrm>
          <a:prstGeom prst="rect">
            <a:avLst/>
          </a:prstGeom>
          <a:solidFill>
            <a:srgbClr val="0B4F7A"/>
          </a:solidFill>
          <a:ln/>
        </p:spPr>
      </p:sp>
      <p:sp>
        <p:nvSpPr>
          <p:cNvPr id="28" name="Text 23"/>
          <p:cNvSpPr txBox="1"/>
          <p:nvPr/>
        </p:nvSpPr>
        <p:spPr>
          <a:xfrm>
            <a:off x="10185400" y="39497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10185400" y="4686300"/>
            <a:ext cx="1016000" cy="304800"/>
          </a:xfrm>
          <a:prstGeom prst="rect">
            <a:avLst/>
          </a:prstGeom>
          <a:solidFill>
            <a:srgbClr val="0B4F7A"/>
          </a:solidFill>
          <a:ln/>
        </p:spPr>
      </p:sp>
      <p:sp>
        <p:nvSpPr>
          <p:cNvPr id="34" name="Text 29"/>
          <p:cNvSpPr txBox="1"/>
          <p:nvPr/>
        </p:nvSpPr>
        <p:spPr>
          <a:xfrm>
            <a:off x="10185400" y="46863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À RETENIR</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 besoin réel comblé : 2 432 matrices centralisées et consultables en quelques secondes</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Mise en production le 20 août 2026, avec un mois de décalage assumé pour la robustesse de l’import</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Une expérience de co-pilotage technique en autonomie, transférable au métier d’ingénieur</a:t>
            </a:r>
            <a:endParaRPr lang="en-US" sz="1600" dirty="0"/>
          </a:p>
        </p:txBody>
      </p:sp>
      <p:sp>
        <p:nvSpPr>
          <p:cNvPr id="18" name="Text 13"/>
          <p:cNvSpPr txBox="1"/>
          <p:nvPr/>
        </p:nvSpPr>
        <p:spPr>
          <a:xfrm>
            <a:off x="812800" y="4889500"/>
            <a:ext cx="6604000" cy="889000"/>
          </a:xfrm>
          <a:prstGeom prst="rect">
            <a:avLst/>
          </a:prstGeom>
          <a:noFill/>
          <a:ln/>
        </p:spPr>
        <p:txBody>
          <a:bodyPr wrap="square" lIns="0" tIns="0" rIns="0" bIns="0" rtlCol="0" anchor="t"/>
          <a:lstStyle/>
          <a:p>
            <a:pPr indent="0" marL="0">
              <a:lnSpc>
                <a:spcPct val="95000"/>
              </a:lnSpc>
              <a:buNone/>
            </a:pPr>
            <a:r>
              <a:rPr lang="en-US" sz="2800" b="1" dirty="0">
                <a:solidFill>
                  <a:srgbClr val="16181D"/>
                </a:solidFill>
                <a:latin typeface="Space Grotesk" pitchFamily="34" charset="0"/>
                <a:ea typeface="Space Grotesk" pitchFamily="34" charset="-122"/>
                <a:cs typeface="Space Grotesk" pitchFamily="34" charset="-120"/>
              </a:rPr>
              <a:t>Et si retrouver un flux réseau prenait 30 secondes ?</a:t>
            </a:r>
            <a:endParaRPr lang="en-US" sz="2800" dirty="0"/>
          </a:p>
        </p:txBody>
      </p:sp>
      <p:sp>
        <p:nvSpPr>
          <p:cNvPr id="19" name="Text 14"/>
          <p:cNvSpPr txBox="1"/>
          <p:nvPr/>
        </p:nvSpPr>
        <p:spPr>
          <a:xfrm>
            <a:off x="812800" y="581025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Merci de votre attention.</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2026-10-01T22:21:17Z</dcterms:created>
  <dcterms:modified xsi:type="dcterms:W3CDTF">2026-10-01T22:21:17Z</dcterms:modified>
</cp:coreProperties>
</file>